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emf" ContentType="image/x-emf"/>
  <Default Extension="rels" ContentType="application/vnd.openxmlformats-package.relationships+xml"/>
  <Default Extension="wdp" ContentType="image/vnd.ms-photo"/>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9" r:id="rId3"/>
    <p:sldMasterId id="2147483703" r:id="rId4"/>
    <p:sldMasterId id="2147483718" r:id="rId5"/>
  </p:sldMasterIdLst>
  <p:notesMasterIdLst>
    <p:notesMasterId r:id="rId61"/>
  </p:notesMasterIdLst>
  <p:sldIdLst>
    <p:sldId id="274" r:id="rId6"/>
    <p:sldId id="266" r:id="rId7"/>
    <p:sldId id="363" r:id="rId8"/>
    <p:sldId id="364" r:id="rId9"/>
    <p:sldId id="300" r:id="rId10"/>
    <p:sldId id="365" r:id="rId11"/>
    <p:sldId id="326" r:id="rId12"/>
    <p:sldId id="328" r:id="rId13"/>
    <p:sldId id="338" r:id="rId14"/>
    <p:sldId id="339" r:id="rId15"/>
    <p:sldId id="340" r:id="rId16"/>
    <p:sldId id="341" r:id="rId17"/>
    <p:sldId id="370" r:id="rId18"/>
    <p:sldId id="366" r:id="rId19"/>
    <p:sldId id="367" r:id="rId20"/>
    <p:sldId id="331" r:id="rId21"/>
    <p:sldId id="375" r:id="rId22"/>
    <p:sldId id="371" r:id="rId23"/>
    <p:sldId id="372" r:id="rId24"/>
    <p:sldId id="374" r:id="rId25"/>
    <p:sldId id="332" r:id="rId26"/>
    <p:sldId id="333" r:id="rId27"/>
    <p:sldId id="334" r:id="rId28"/>
    <p:sldId id="264" r:id="rId29"/>
    <p:sldId id="265" r:id="rId30"/>
    <p:sldId id="277" r:id="rId31"/>
    <p:sldId id="369" r:id="rId32"/>
    <p:sldId id="259" r:id="rId33"/>
    <p:sldId id="280" r:id="rId34"/>
    <p:sldId id="275" r:id="rId35"/>
    <p:sldId id="295" r:id="rId36"/>
    <p:sldId id="376" r:id="rId37"/>
    <p:sldId id="377" r:id="rId38"/>
    <p:sldId id="378" r:id="rId39"/>
    <p:sldId id="379" r:id="rId40"/>
    <p:sldId id="380" r:id="rId41"/>
    <p:sldId id="381" r:id="rId42"/>
    <p:sldId id="382" r:id="rId43"/>
    <p:sldId id="383" r:id="rId44"/>
    <p:sldId id="384" r:id="rId45"/>
    <p:sldId id="386" r:id="rId46"/>
    <p:sldId id="288" r:id="rId47"/>
    <p:sldId id="261" r:id="rId48"/>
    <p:sldId id="319" r:id="rId49"/>
    <p:sldId id="291" r:id="rId50"/>
    <p:sldId id="282" r:id="rId51"/>
    <p:sldId id="356" r:id="rId52"/>
    <p:sldId id="361" r:id="rId53"/>
    <p:sldId id="354" r:id="rId54"/>
    <p:sldId id="360" r:id="rId55"/>
    <p:sldId id="359" r:id="rId56"/>
    <p:sldId id="355" r:id="rId57"/>
    <p:sldId id="357" r:id="rId58"/>
    <p:sldId id="362" r:id="rId59"/>
    <p:sldId id="358" r:id="rId60"/>
  </p:sldIdLst>
  <p:sldSz cx="9144000" cy="6858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FC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BDBED569-4797-4DF1-A0F4-6AAB3CD982D8}" styleName="Ljust format 3 - Dekorfärg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6D9F66E-5EB9-4882-86FB-DCBF35E3C3E4}" styleName="Mellanmörkt format 4 - Dekorfärg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FD4443E-F989-4FC4-A0C8-D5A2AF1F390B}" styleName="Mörkt format 1 - Dekorfärg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Format med tema 1 - dekorfärg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Format med tema 1 - dekorfärg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Format med tema 1 - dekorfärg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Inget format, tabellrutnät">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Format med tema 1 - dekorfärg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64" autoAdjust="0"/>
    <p:restoredTop sz="95366" autoAdjust="0"/>
  </p:normalViewPr>
  <p:slideViewPr>
    <p:cSldViewPr snapToGrid="0" snapToObjects="1">
      <p:cViewPr varScale="1">
        <p:scale>
          <a:sx n="132" d="100"/>
          <a:sy n="132" d="100"/>
        </p:scale>
        <p:origin x="-104" y="-1744"/>
      </p:cViewPr>
      <p:guideLst>
        <p:guide orient="horz" pos="2160"/>
        <p:guide pos="2880"/>
      </p:guideLst>
    </p:cSldViewPr>
  </p:slideViewPr>
  <p:outlineViewPr>
    <p:cViewPr>
      <p:scale>
        <a:sx n="33" d="100"/>
        <a:sy n="33" d="100"/>
      </p:scale>
      <p:origin x="8" y="23464"/>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60" Type="http://schemas.openxmlformats.org/officeDocument/2006/relationships/slide" Target="slides/slide55.xml"/><Relationship Id="rId61" Type="http://schemas.openxmlformats.org/officeDocument/2006/relationships/notesMaster" Target="notesMasters/notesMaster1.xml"/><Relationship Id="rId62" Type="http://schemas.openxmlformats.org/officeDocument/2006/relationships/printerSettings" Target="printerSettings/printerSettings1.bin"/><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diagrams/_rels/data2.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ata4.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ata6.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ata8.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rawing2.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rawing4.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rawing6.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_rels/drawing8.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g"/><Relationship Id="rId3" Type="http://schemas.openxmlformats.org/officeDocument/2006/relationships/image" Target="../media/image22.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CBEF6D-7A27-B945-A1DF-6210B9747C3B}" type="doc">
      <dgm:prSet loTypeId="urn:microsoft.com/office/officeart/2005/8/layout/default" loCatId="" qsTypeId="urn:microsoft.com/office/officeart/2005/8/quickstyle/simple4" qsCatId="simple" csTypeId="urn:microsoft.com/office/officeart/2005/8/colors/accent1_2" csCatId="accent1" phldr="1"/>
      <dgm:spPr/>
      <dgm:t>
        <a:bodyPr/>
        <a:lstStyle/>
        <a:p>
          <a:endParaRPr lang="sv-SE"/>
        </a:p>
      </dgm:t>
    </dgm:pt>
    <dgm:pt modelId="{DEEC7A65-3EEC-A94B-A3CF-9DFC1524FD53}">
      <dgm:prSet phldrT="[Text]" custT="1">
        <dgm:style>
          <a:lnRef idx="1">
            <a:schemeClr val="dk1"/>
          </a:lnRef>
          <a:fillRef idx="2">
            <a:schemeClr val="dk1"/>
          </a:fillRef>
          <a:effectRef idx="1">
            <a:schemeClr val="dk1"/>
          </a:effectRef>
          <a:fontRef idx="minor">
            <a:schemeClr val="dk1"/>
          </a:fontRef>
        </dgm:style>
      </dgm:prSet>
      <dgm:spPr/>
      <dgm:t>
        <a:bodyPr/>
        <a:lstStyle/>
        <a:p>
          <a:r>
            <a:rPr lang="sv-SE" sz="1000" dirty="0" smtClean="0">
              <a:solidFill>
                <a:schemeClr val="tx1"/>
              </a:solidFill>
            </a:rPr>
            <a:t>Expedierings-underlag </a:t>
          </a:r>
          <a:br>
            <a:rPr lang="sv-SE" sz="1000" dirty="0" smtClean="0">
              <a:solidFill>
                <a:schemeClr val="tx1"/>
              </a:solidFill>
            </a:rPr>
          </a:br>
          <a:r>
            <a:rPr lang="sv-SE" sz="1000" dirty="0" smtClean="0">
              <a:solidFill>
                <a:schemeClr val="tx1"/>
              </a:solidFill>
            </a:rPr>
            <a:t>(Recept)</a:t>
          </a:r>
          <a:endParaRPr lang="sv-SE" sz="1000" dirty="0">
            <a:solidFill>
              <a:srgbClr val="382819"/>
            </a:solidFill>
          </a:endParaRPr>
        </a:p>
      </dgm:t>
    </dgm:pt>
    <dgm:pt modelId="{EB7F0031-CB7A-754F-BD5B-679DF7C67DEA}" type="parTrans" cxnId="{768C17DB-45E9-0746-82B8-582A59C04684}">
      <dgm:prSet/>
      <dgm:spPr/>
      <dgm:t>
        <a:bodyPr/>
        <a:lstStyle/>
        <a:p>
          <a:endParaRPr lang="sv-SE"/>
        </a:p>
      </dgm:t>
    </dgm:pt>
    <dgm:pt modelId="{7EBB0590-C471-354F-90A2-B6C726FDA59A}" type="sibTrans" cxnId="{768C17DB-45E9-0746-82B8-582A59C04684}">
      <dgm:prSet/>
      <dgm:spPr/>
      <dgm:t>
        <a:bodyPr/>
        <a:lstStyle/>
        <a:p>
          <a:endParaRPr lang="sv-SE"/>
        </a:p>
      </dgm:t>
    </dgm:pt>
    <dgm:pt modelId="{0D4945D6-6A66-9C46-99FA-5824A7760151}">
      <dgm:prSet phldrT="[Text]" custT="1">
        <dgm:style>
          <a:lnRef idx="1">
            <a:schemeClr val="dk1"/>
          </a:lnRef>
          <a:fillRef idx="2">
            <a:schemeClr val="dk1"/>
          </a:fillRef>
          <a:effectRef idx="1">
            <a:schemeClr val="dk1"/>
          </a:effectRef>
          <a:fontRef idx="minor">
            <a:schemeClr val="dk1"/>
          </a:fontRef>
        </dgm:style>
      </dgm:prSet>
      <dgm:spPr/>
      <dgm:t>
        <a:bodyPr/>
        <a:lstStyle/>
        <a:p>
          <a:r>
            <a:rPr lang="sv-SE" sz="1050" dirty="0" smtClean="0">
              <a:solidFill>
                <a:schemeClr val="tx1"/>
              </a:solidFill>
            </a:rPr>
            <a:t>Uthämtade läkemedel</a:t>
          </a:r>
          <a:endParaRPr lang="sv-SE" sz="1050" dirty="0">
            <a:solidFill>
              <a:srgbClr val="382819"/>
            </a:solidFill>
          </a:endParaRPr>
        </a:p>
      </dgm:t>
    </dgm:pt>
    <dgm:pt modelId="{27180289-FDAF-AF4F-ADC4-F1E299B20820}" type="parTrans" cxnId="{4B05E889-AB4A-D842-8871-6C8D802272A5}">
      <dgm:prSet/>
      <dgm:spPr/>
      <dgm:t>
        <a:bodyPr/>
        <a:lstStyle/>
        <a:p>
          <a:endParaRPr lang="sv-SE"/>
        </a:p>
      </dgm:t>
    </dgm:pt>
    <dgm:pt modelId="{77BEBA60-F540-AE48-895C-C1E5D1248149}" type="sibTrans" cxnId="{4B05E889-AB4A-D842-8871-6C8D802272A5}">
      <dgm:prSet/>
      <dgm:spPr/>
      <dgm:t>
        <a:bodyPr/>
        <a:lstStyle/>
        <a:p>
          <a:endParaRPr lang="sv-SE"/>
        </a:p>
      </dgm:t>
    </dgm:pt>
    <dgm:pt modelId="{2D1902E3-033F-DC4E-9269-BE6E075CEB8A}" type="pres">
      <dgm:prSet presAssocID="{7DCBEF6D-7A27-B945-A1DF-6210B9747C3B}" presName="diagram" presStyleCnt="0">
        <dgm:presLayoutVars>
          <dgm:dir/>
          <dgm:resizeHandles val="exact"/>
        </dgm:presLayoutVars>
      </dgm:prSet>
      <dgm:spPr/>
      <dgm:t>
        <a:bodyPr/>
        <a:lstStyle/>
        <a:p>
          <a:endParaRPr lang="sv-SE"/>
        </a:p>
      </dgm:t>
    </dgm:pt>
    <dgm:pt modelId="{163AC0F3-0F4F-314D-9CD4-397B1FAF3FE4}" type="pres">
      <dgm:prSet presAssocID="{DEEC7A65-3EEC-A94B-A3CF-9DFC1524FD53}" presName="node" presStyleLbl="node1" presStyleIdx="0" presStyleCnt="2" custScaleX="94966" custScaleY="72261">
        <dgm:presLayoutVars>
          <dgm:bulletEnabled val="1"/>
        </dgm:presLayoutVars>
      </dgm:prSet>
      <dgm:spPr/>
      <dgm:t>
        <a:bodyPr/>
        <a:lstStyle/>
        <a:p>
          <a:endParaRPr lang="sv-SE"/>
        </a:p>
      </dgm:t>
    </dgm:pt>
    <dgm:pt modelId="{B1CBB65A-655E-F94F-B1BC-A9E89F1EA0F9}" type="pres">
      <dgm:prSet presAssocID="{7EBB0590-C471-354F-90A2-B6C726FDA59A}" presName="sibTrans" presStyleCnt="0"/>
      <dgm:spPr/>
    </dgm:pt>
    <dgm:pt modelId="{9824311D-41EE-5C42-BF21-7F538129D4FA}" type="pres">
      <dgm:prSet presAssocID="{0D4945D6-6A66-9C46-99FA-5824A7760151}" presName="node" presStyleLbl="node1" presStyleIdx="1" presStyleCnt="2" custScaleX="75190" custScaleY="60129" custLinFactNeighborX="1237" custLinFactNeighborY="33578">
        <dgm:presLayoutVars>
          <dgm:bulletEnabled val="1"/>
        </dgm:presLayoutVars>
      </dgm:prSet>
      <dgm:spPr/>
      <dgm:t>
        <a:bodyPr/>
        <a:lstStyle/>
        <a:p>
          <a:endParaRPr lang="sv-SE"/>
        </a:p>
      </dgm:t>
    </dgm:pt>
  </dgm:ptLst>
  <dgm:cxnLst>
    <dgm:cxn modelId="{768C17DB-45E9-0746-82B8-582A59C04684}" srcId="{7DCBEF6D-7A27-B945-A1DF-6210B9747C3B}" destId="{DEEC7A65-3EEC-A94B-A3CF-9DFC1524FD53}" srcOrd="0" destOrd="0" parTransId="{EB7F0031-CB7A-754F-BD5B-679DF7C67DEA}" sibTransId="{7EBB0590-C471-354F-90A2-B6C726FDA59A}"/>
    <dgm:cxn modelId="{4B05E889-AB4A-D842-8871-6C8D802272A5}" srcId="{7DCBEF6D-7A27-B945-A1DF-6210B9747C3B}" destId="{0D4945D6-6A66-9C46-99FA-5824A7760151}" srcOrd="1" destOrd="0" parTransId="{27180289-FDAF-AF4F-ADC4-F1E299B20820}" sibTransId="{77BEBA60-F540-AE48-895C-C1E5D1248149}"/>
    <dgm:cxn modelId="{961895AF-2625-F24F-A5D9-67F85D1DAE47}" type="presOf" srcId="{7DCBEF6D-7A27-B945-A1DF-6210B9747C3B}" destId="{2D1902E3-033F-DC4E-9269-BE6E075CEB8A}" srcOrd="0" destOrd="0" presId="urn:microsoft.com/office/officeart/2005/8/layout/default"/>
    <dgm:cxn modelId="{A6B46161-8661-2148-A2E5-CAB30B797DEC}" type="presOf" srcId="{0D4945D6-6A66-9C46-99FA-5824A7760151}" destId="{9824311D-41EE-5C42-BF21-7F538129D4FA}" srcOrd="0" destOrd="0" presId="urn:microsoft.com/office/officeart/2005/8/layout/default"/>
    <dgm:cxn modelId="{1254C742-974B-4D42-9797-04A92124979F}" type="presOf" srcId="{DEEC7A65-3EEC-A94B-A3CF-9DFC1524FD53}" destId="{163AC0F3-0F4F-314D-9CD4-397B1FAF3FE4}" srcOrd="0" destOrd="0" presId="urn:microsoft.com/office/officeart/2005/8/layout/default"/>
    <dgm:cxn modelId="{E94EC9AD-6565-E448-84FE-1C9100552113}" type="presParOf" srcId="{2D1902E3-033F-DC4E-9269-BE6E075CEB8A}" destId="{163AC0F3-0F4F-314D-9CD4-397B1FAF3FE4}" srcOrd="0" destOrd="0" presId="urn:microsoft.com/office/officeart/2005/8/layout/default"/>
    <dgm:cxn modelId="{8DE35DE4-EDA8-0043-A331-FBF42EAEF771}" type="presParOf" srcId="{2D1902E3-033F-DC4E-9269-BE6E075CEB8A}" destId="{B1CBB65A-655E-F94F-B1BC-A9E89F1EA0F9}" srcOrd="1" destOrd="0" presId="urn:microsoft.com/office/officeart/2005/8/layout/default"/>
    <dgm:cxn modelId="{7EEA1B8D-DECE-0648-BC0E-BE4C55FD95F2}" type="presParOf" srcId="{2D1902E3-033F-DC4E-9269-BE6E075CEB8A}" destId="{9824311D-41EE-5C42-BF21-7F538129D4FA}" srcOrd="2"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DB8E9E-A092-8C47-9D02-B9E1F3F96C97}" type="doc">
      <dgm:prSet loTypeId="urn:microsoft.com/office/officeart/2005/8/layout/vList4" loCatId="" qsTypeId="urn:microsoft.com/office/officeart/2005/8/quickstyle/simple4" qsCatId="simple" csTypeId="urn:microsoft.com/office/officeart/2005/8/colors/accent1_2" csCatId="accent1" phldr="1"/>
      <dgm:spPr/>
      <dgm:t>
        <a:bodyPr/>
        <a:lstStyle/>
        <a:p>
          <a:endParaRPr lang="sv-SE"/>
        </a:p>
      </dgm:t>
    </dgm:pt>
    <dgm:pt modelId="{AAC8424C-82F4-ED46-93BB-5F720AB8716D}">
      <dgm:prSet phldrT="[Text]" custT="1">
        <dgm:style>
          <a:lnRef idx="2">
            <a:schemeClr val="accent1"/>
          </a:lnRef>
          <a:fillRef idx="1">
            <a:schemeClr val="lt1"/>
          </a:fillRef>
          <a:effectRef idx="0">
            <a:schemeClr val="accent1"/>
          </a:effectRef>
          <a:fontRef idx="minor">
            <a:schemeClr val="dk1"/>
          </a:fontRef>
        </dgm:style>
      </dgm:prSet>
      <dgm:spPr>
        <a:ln>
          <a:solidFill>
            <a:schemeClr val="bg1">
              <a:lumMod val="50000"/>
            </a:schemeClr>
          </a:solidFill>
        </a:ln>
      </dgm:spPr>
      <dgm:t>
        <a:bodyPr/>
        <a:lstStyle/>
        <a:p>
          <a:r>
            <a:rPr lang="sv-SE" sz="1000" dirty="0" smtClean="0">
              <a:solidFill>
                <a:srgbClr val="382819"/>
              </a:solidFill>
            </a:rPr>
            <a:t>Läkemedelsordinationer</a:t>
          </a:r>
          <a:endParaRPr lang="sv-SE" sz="1000" dirty="0">
            <a:solidFill>
              <a:srgbClr val="382819"/>
            </a:solidFill>
          </a:endParaRPr>
        </a:p>
      </dgm:t>
    </dgm:pt>
    <dgm:pt modelId="{E50B9A83-8A0A-D245-84A1-1C59DC1CE028}" type="parTrans" cxnId="{2E2AA581-342B-0141-B1B9-F7FE47C72CA5}">
      <dgm:prSet/>
      <dgm:spPr/>
      <dgm:t>
        <a:bodyPr/>
        <a:lstStyle/>
        <a:p>
          <a:endParaRPr lang="sv-SE">
            <a:solidFill>
              <a:srgbClr val="382819"/>
            </a:solidFill>
          </a:endParaRPr>
        </a:p>
      </dgm:t>
    </dgm:pt>
    <dgm:pt modelId="{9A42BE83-11CC-034C-B1FA-C2A4B24A112F}" type="sibTrans" cxnId="{2E2AA581-342B-0141-B1B9-F7FE47C72CA5}">
      <dgm:prSet/>
      <dgm:spPr/>
      <dgm:t>
        <a:bodyPr/>
        <a:lstStyle/>
        <a:p>
          <a:endParaRPr lang="sv-SE">
            <a:solidFill>
              <a:srgbClr val="382819"/>
            </a:solidFill>
          </a:endParaRPr>
        </a:p>
      </dgm:t>
    </dgm:pt>
    <dgm:pt modelId="{7A67CA74-06BA-4947-8595-DCD885DDFBD1}">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382819"/>
              </a:solidFill>
            </a:rPr>
            <a:t>Expedieringsunderlag</a:t>
          </a:r>
          <a:br>
            <a:rPr lang="sv-SE" sz="1000" dirty="0" smtClean="0">
              <a:solidFill>
                <a:srgbClr val="382819"/>
              </a:solidFill>
            </a:rPr>
          </a:br>
          <a:r>
            <a:rPr lang="sv-SE" sz="1000" dirty="0" smtClean="0">
              <a:solidFill>
                <a:srgbClr val="382819"/>
              </a:solidFill>
            </a:rPr>
            <a:t>(förskrivning)</a:t>
          </a:r>
          <a:endParaRPr lang="sv-SE" sz="1000" dirty="0">
            <a:solidFill>
              <a:srgbClr val="382819"/>
            </a:solidFill>
          </a:endParaRPr>
        </a:p>
      </dgm:t>
    </dgm:pt>
    <dgm:pt modelId="{238E6E79-1C9B-AF45-9466-C312A3D8A098}" type="parTrans" cxnId="{8192C22E-17C0-6A48-A569-993B48880531}">
      <dgm:prSet/>
      <dgm:spPr/>
      <dgm:t>
        <a:bodyPr/>
        <a:lstStyle/>
        <a:p>
          <a:endParaRPr lang="sv-SE">
            <a:solidFill>
              <a:srgbClr val="382819"/>
            </a:solidFill>
          </a:endParaRPr>
        </a:p>
      </dgm:t>
    </dgm:pt>
    <dgm:pt modelId="{35CD1148-EB44-7549-B1D7-5F8A38CDA3CD}" type="sibTrans" cxnId="{8192C22E-17C0-6A48-A569-993B48880531}">
      <dgm:prSet/>
      <dgm:spPr/>
      <dgm:t>
        <a:bodyPr/>
        <a:lstStyle/>
        <a:p>
          <a:endParaRPr lang="sv-SE">
            <a:solidFill>
              <a:srgbClr val="382819"/>
            </a:solidFill>
          </a:endParaRPr>
        </a:p>
      </dgm:t>
    </dgm:pt>
    <dgm:pt modelId="{9986EC4E-7E55-CB46-A68F-3EF9CE0AB835}">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382819"/>
              </a:solidFill>
            </a:rPr>
            <a:t>Uthämtade läkemedel</a:t>
          </a:r>
          <a:endParaRPr lang="sv-SE" sz="1000" dirty="0">
            <a:solidFill>
              <a:srgbClr val="382819"/>
            </a:solidFill>
          </a:endParaRPr>
        </a:p>
      </dgm:t>
    </dgm:pt>
    <dgm:pt modelId="{EFA7F83F-C62B-5D41-83F8-EBA2A7C088AE}" type="parTrans" cxnId="{91E2BABE-6340-8240-8274-DF43DC3A7682}">
      <dgm:prSet/>
      <dgm:spPr/>
      <dgm:t>
        <a:bodyPr/>
        <a:lstStyle/>
        <a:p>
          <a:endParaRPr lang="sv-SE">
            <a:solidFill>
              <a:srgbClr val="382819"/>
            </a:solidFill>
          </a:endParaRPr>
        </a:p>
      </dgm:t>
    </dgm:pt>
    <dgm:pt modelId="{F45F9217-2D5D-6F43-A468-DC7EBBFE793F}" type="sibTrans" cxnId="{91E2BABE-6340-8240-8274-DF43DC3A7682}">
      <dgm:prSet/>
      <dgm:spPr/>
      <dgm:t>
        <a:bodyPr/>
        <a:lstStyle/>
        <a:p>
          <a:endParaRPr lang="sv-SE">
            <a:solidFill>
              <a:srgbClr val="382819"/>
            </a:solidFill>
          </a:endParaRPr>
        </a:p>
      </dgm:t>
    </dgm:pt>
    <dgm:pt modelId="{74627B24-35E2-F841-B5D3-96ACA7C7804C}" type="pres">
      <dgm:prSet presAssocID="{46DB8E9E-A092-8C47-9D02-B9E1F3F96C97}" presName="linear" presStyleCnt="0">
        <dgm:presLayoutVars>
          <dgm:dir/>
          <dgm:resizeHandles val="exact"/>
        </dgm:presLayoutVars>
      </dgm:prSet>
      <dgm:spPr/>
      <dgm:t>
        <a:bodyPr/>
        <a:lstStyle/>
        <a:p>
          <a:endParaRPr lang="sv-SE"/>
        </a:p>
      </dgm:t>
    </dgm:pt>
    <dgm:pt modelId="{49AAA0F2-44BB-3E47-9737-A22F3D7D6AD0}" type="pres">
      <dgm:prSet presAssocID="{AAC8424C-82F4-ED46-93BB-5F720AB8716D}" presName="comp" presStyleCnt="0"/>
      <dgm:spPr/>
    </dgm:pt>
    <dgm:pt modelId="{383E6720-D94C-CB49-827C-3D6B7C0BB8FD}" type="pres">
      <dgm:prSet presAssocID="{AAC8424C-82F4-ED46-93BB-5F720AB8716D}" presName="box" presStyleLbl="node1" presStyleIdx="0" presStyleCnt="3"/>
      <dgm:spPr/>
      <dgm:t>
        <a:bodyPr/>
        <a:lstStyle/>
        <a:p>
          <a:endParaRPr lang="sv-SE"/>
        </a:p>
      </dgm:t>
    </dgm:pt>
    <dgm:pt modelId="{AC996CF2-0F7D-244A-B5FD-3DFF298717EE}" type="pres">
      <dgm:prSet presAssocID="{AAC8424C-82F4-ED46-93BB-5F720AB8716D}" presName="img" presStyleLbl="fgImgPlace1" presStyleIdx="0" presStyleCnt="3" custLinFactNeighborX="-8126"/>
      <dgm:spPr>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dgm:spPr>
      <dgm:t>
        <a:bodyPr/>
        <a:lstStyle/>
        <a:p>
          <a:endParaRPr lang="sv-SE"/>
        </a:p>
      </dgm:t>
    </dgm:pt>
    <dgm:pt modelId="{415CF7C8-2429-104F-93DB-F366281FC997}" type="pres">
      <dgm:prSet presAssocID="{AAC8424C-82F4-ED46-93BB-5F720AB8716D}" presName="text" presStyleLbl="node1" presStyleIdx="0" presStyleCnt="3">
        <dgm:presLayoutVars>
          <dgm:bulletEnabled val="1"/>
        </dgm:presLayoutVars>
      </dgm:prSet>
      <dgm:spPr/>
      <dgm:t>
        <a:bodyPr/>
        <a:lstStyle/>
        <a:p>
          <a:endParaRPr lang="sv-SE"/>
        </a:p>
      </dgm:t>
    </dgm:pt>
    <dgm:pt modelId="{66B52408-8856-E147-868C-371592EC93D1}" type="pres">
      <dgm:prSet presAssocID="{9A42BE83-11CC-034C-B1FA-C2A4B24A112F}" presName="spacer" presStyleCnt="0"/>
      <dgm:spPr/>
    </dgm:pt>
    <dgm:pt modelId="{5DA8E2DC-DA46-5F43-A4C6-921A3D925AA0}" type="pres">
      <dgm:prSet presAssocID="{7A67CA74-06BA-4947-8595-DCD885DDFBD1}" presName="comp" presStyleCnt="0"/>
      <dgm:spPr/>
    </dgm:pt>
    <dgm:pt modelId="{D7EC801B-9D09-DC44-A173-997459634361}" type="pres">
      <dgm:prSet presAssocID="{7A67CA74-06BA-4947-8595-DCD885DDFBD1}" presName="box" presStyleLbl="node1" presStyleIdx="1" presStyleCnt="3" custScaleX="90428" custLinFactNeighborX="5352"/>
      <dgm:spPr/>
      <dgm:t>
        <a:bodyPr/>
        <a:lstStyle/>
        <a:p>
          <a:endParaRPr lang="sv-SE"/>
        </a:p>
      </dgm:t>
    </dgm:pt>
    <dgm:pt modelId="{2E47990A-4A46-BB4C-A2ED-64B767D67765}" type="pres">
      <dgm:prSet presAssocID="{7A67CA74-06BA-4947-8595-DCD885DDFBD1}" presName="img" presStyleLbl="fgImgPlace1" presStyleIdx="1" presStyleCnt="3" custLinFactNeighborX="26760"/>
      <dgm:spPr>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dgm:spPr>
      <dgm:t>
        <a:bodyPr/>
        <a:lstStyle/>
        <a:p>
          <a:endParaRPr lang="sv-SE"/>
        </a:p>
      </dgm:t>
    </dgm:pt>
    <dgm:pt modelId="{3E3CD85E-A7D0-AA43-9164-389657963A59}" type="pres">
      <dgm:prSet presAssocID="{7A67CA74-06BA-4947-8595-DCD885DDFBD1}" presName="text" presStyleLbl="node1" presStyleIdx="1" presStyleCnt="3">
        <dgm:presLayoutVars>
          <dgm:bulletEnabled val="1"/>
        </dgm:presLayoutVars>
      </dgm:prSet>
      <dgm:spPr/>
      <dgm:t>
        <a:bodyPr/>
        <a:lstStyle/>
        <a:p>
          <a:endParaRPr lang="sv-SE"/>
        </a:p>
      </dgm:t>
    </dgm:pt>
    <dgm:pt modelId="{3A7BBF40-CCFB-4A46-BF05-DA8E23310B07}" type="pres">
      <dgm:prSet presAssocID="{35CD1148-EB44-7549-B1D7-5F8A38CDA3CD}" presName="spacer" presStyleCnt="0"/>
      <dgm:spPr/>
    </dgm:pt>
    <dgm:pt modelId="{DEADB46B-5D2F-0A47-8662-03B1C51D7C4F}" type="pres">
      <dgm:prSet presAssocID="{9986EC4E-7E55-CB46-A68F-3EF9CE0AB835}" presName="comp" presStyleCnt="0"/>
      <dgm:spPr/>
    </dgm:pt>
    <dgm:pt modelId="{A469B5BA-48AB-2447-968A-83A233B3619A}" type="pres">
      <dgm:prSet presAssocID="{9986EC4E-7E55-CB46-A68F-3EF9CE0AB835}" presName="box" presStyleLbl="node1" presStyleIdx="2" presStyleCnt="3" custScaleX="75785" custLinFactNeighborX="7535"/>
      <dgm:spPr/>
      <dgm:t>
        <a:bodyPr/>
        <a:lstStyle/>
        <a:p>
          <a:endParaRPr lang="sv-SE"/>
        </a:p>
      </dgm:t>
    </dgm:pt>
    <dgm:pt modelId="{5E57F427-D693-324A-B3A2-2DF82D044E0E}" type="pres">
      <dgm:prSet presAssocID="{9986EC4E-7E55-CB46-A68F-3EF9CE0AB835}" presName="img" presStyleLbl="fgImgPlace1" presStyleIdx="2" presStyleCnt="3" custLinFactNeighborX="69130"/>
      <dgm:spPr>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dgm:spPr>
      <dgm:t>
        <a:bodyPr/>
        <a:lstStyle/>
        <a:p>
          <a:endParaRPr lang="sv-SE"/>
        </a:p>
      </dgm:t>
    </dgm:pt>
    <dgm:pt modelId="{2800F71B-6FCF-324E-AE15-445F26D222A7}" type="pres">
      <dgm:prSet presAssocID="{9986EC4E-7E55-CB46-A68F-3EF9CE0AB835}" presName="text" presStyleLbl="node1" presStyleIdx="2" presStyleCnt="3">
        <dgm:presLayoutVars>
          <dgm:bulletEnabled val="1"/>
        </dgm:presLayoutVars>
      </dgm:prSet>
      <dgm:spPr/>
      <dgm:t>
        <a:bodyPr/>
        <a:lstStyle/>
        <a:p>
          <a:endParaRPr lang="sv-SE"/>
        </a:p>
      </dgm:t>
    </dgm:pt>
  </dgm:ptLst>
  <dgm:cxnLst>
    <dgm:cxn modelId="{5FC4D00B-7A12-E248-A1BF-337FDEA0866E}" type="presOf" srcId="{9986EC4E-7E55-CB46-A68F-3EF9CE0AB835}" destId="{2800F71B-6FCF-324E-AE15-445F26D222A7}" srcOrd="1" destOrd="0" presId="urn:microsoft.com/office/officeart/2005/8/layout/vList4"/>
    <dgm:cxn modelId="{5ED23BA6-F7BC-EE42-B9F0-B4175682125A}" type="presOf" srcId="{AAC8424C-82F4-ED46-93BB-5F720AB8716D}" destId="{383E6720-D94C-CB49-827C-3D6B7C0BB8FD}" srcOrd="0" destOrd="0" presId="urn:microsoft.com/office/officeart/2005/8/layout/vList4"/>
    <dgm:cxn modelId="{5E5E4233-28C8-A143-A305-18CAB2FD7E41}" type="presOf" srcId="{9986EC4E-7E55-CB46-A68F-3EF9CE0AB835}" destId="{A469B5BA-48AB-2447-968A-83A233B3619A}" srcOrd="0" destOrd="0" presId="urn:microsoft.com/office/officeart/2005/8/layout/vList4"/>
    <dgm:cxn modelId="{7EC09657-2BC0-8A4F-ACF4-91F6B49FE2A8}" type="presOf" srcId="{7A67CA74-06BA-4947-8595-DCD885DDFBD1}" destId="{D7EC801B-9D09-DC44-A173-997459634361}" srcOrd="0" destOrd="0" presId="urn:microsoft.com/office/officeart/2005/8/layout/vList4"/>
    <dgm:cxn modelId="{8192C22E-17C0-6A48-A569-993B48880531}" srcId="{46DB8E9E-A092-8C47-9D02-B9E1F3F96C97}" destId="{7A67CA74-06BA-4947-8595-DCD885DDFBD1}" srcOrd="1" destOrd="0" parTransId="{238E6E79-1C9B-AF45-9466-C312A3D8A098}" sibTransId="{35CD1148-EB44-7549-B1D7-5F8A38CDA3CD}"/>
    <dgm:cxn modelId="{2E2AA581-342B-0141-B1B9-F7FE47C72CA5}" srcId="{46DB8E9E-A092-8C47-9D02-B9E1F3F96C97}" destId="{AAC8424C-82F4-ED46-93BB-5F720AB8716D}" srcOrd="0" destOrd="0" parTransId="{E50B9A83-8A0A-D245-84A1-1C59DC1CE028}" sibTransId="{9A42BE83-11CC-034C-B1FA-C2A4B24A112F}"/>
    <dgm:cxn modelId="{91E2BABE-6340-8240-8274-DF43DC3A7682}" srcId="{46DB8E9E-A092-8C47-9D02-B9E1F3F96C97}" destId="{9986EC4E-7E55-CB46-A68F-3EF9CE0AB835}" srcOrd="2" destOrd="0" parTransId="{EFA7F83F-C62B-5D41-83F8-EBA2A7C088AE}" sibTransId="{F45F9217-2D5D-6F43-A468-DC7EBBFE793F}"/>
    <dgm:cxn modelId="{119D7C31-C066-4C4B-887B-62A959726DF5}" type="presOf" srcId="{46DB8E9E-A092-8C47-9D02-B9E1F3F96C97}" destId="{74627B24-35E2-F841-B5D3-96ACA7C7804C}" srcOrd="0" destOrd="0" presId="urn:microsoft.com/office/officeart/2005/8/layout/vList4"/>
    <dgm:cxn modelId="{579AE035-2B22-E74D-8715-FF9FBF82A925}" type="presOf" srcId="{AAC8424C-82F4-ED46-93BB-5F720AB8716D}" destId="{415CF7C8-2429-104F-93DB-F366281FC997}" srcOrd="1" destOrd="0" presId="urn:microsoft.com/office/officeart/2005/8/layout/vList4"/>
    <dgm:cxn modelId="{1809D265-5DD8-F64A-B4B7-25B519C717ED}" type="presOf" srcId="{7A67CA74-06BA-4947-8595-DCD885DDFBD1}" destId="{3E3CD85E-A7D0-AA43-9164-389657963A59}" srcOrd="1" destOrd="0" presId="urn:microsoft.com/office/officeart/2005/8/layout/vList4"/>
    <dgm:cxn modelId="{2E88611C-3A07-974B-BBC7-AA752D5F4A9A}" type="presParOf" srcId="{74627B24-35E2-F841-B5D3-96ACA7C7804C}" destId="{49AAA0F2-44BB-3E47-9737-A22F3D7D6AD0}" srcOrd="0" destOrd="0" presId="urn:microsoft.com/office/officeart/2005/8/layout/vList4"/>
    <dgm:cxn modelId="{414D171B-A810-0C41-AC96-92B74D656796}" type="presParOf" srcId="{49AAA0F2-44BB-3E47-9737-A22F3D7D6AD0}" destId="{383E6720-D94C-CB49-827C-3D6B7C0BB8FD}" srcOrd="0" destOrd="0" presId="urn:microsoft.com/office/officeart/2005/8/layout/vList4"/>
    <dgm:cxn modelId="{BCFAF5D1-B193-FB4C-9F8A-93B309C65BB1}" type="presParOf" srcId="{49AAA0F2-44BB-3E47-9737-A22F3D7D6AD0}" destId="{AC996CF2-0F7D-244A-B5FD-3DFF298717EE}" srcOrd="1" destOrd="0" presId="urn:microsoft.com/office/officeart/2005/8/layout/vList4"/>
    <dgm:cxn modelId="{D79E4BBF-0955-BC46-A09E-F3D7CD0A9E1B}" type="presParOf" srcId="{49AAA0F2-44BB-3E47-9737-A22F3D7D6AD0}" destId="{415CF7C8-2429-104F-93DB-F366281FC997}" srcOrd="2" destOrd="0" presId="urn:microsoft.com/office/officeart/2005/8/layout/vList4"/>
    <dgm:cxn modelId="{A1A3A54D-5361-4149-84D3-917FA2DB81E9}" type="presParOf" srcId="{74627B24-35E2-F841-B5D3-96ACA7C7804C}" destId="{66B52408-8856-E147-868C-371592EC93D1}" srcOrd="1" destOrd="0" presId="urn:microsoft.com/office/officeart/2005/8/layout/vList4"/>
    <dgm:cxn modelId="{3D3B5954-073A-244D-85B0-EA38CFCD9991}" type="presParOf" srcId="{74627B24-35E2-F841-B5D3-96ACA7C7804C}" destId="{5DA8E2DC-DA46-5F43-A4C6-921A3D925AA0}" srcOrd="2" destOrd="0" presId="urn:microsoft.com/office/officeart/2005/8/layout/vList4"/>
    <dgm:cxn modelId="{1F3EF93D-1C1C-0447-906E-DA58E71C11F1}" type="presParOf" srcId="{5DA8E2DC-DA46-5F43-A4C6-921A3D925AA0}" destId="{D7EC801B-9D09-DC44-A173-997459634361}" srcOrd="0" destOrd="0" presId="urn:microsoft.com/office/officeart/2005/8/layout/vList4"/>
    <dgm:cxn modelId="{6E2794BC-2E6E-CA46-BB32-D975CD8F9D71}" type="presParOf" srcId="{5DA8E2DC-DA46-5F43-A4C6-921A3D925AA0}" destId="{2E47990A-4A46-BB4C-A2ED-64B767D67765}" srcOrd="1" destOrd="0" presId="urn:microsoft.com/office/officeart/2005/8/layout/vList4"/>
    <dgm:cxn modelId="{C4FBA49A-C828-1A40-94B1-6C9293E85C07}" type="presParOf" srcId="{5DA8E2DC-DA46-5F43-A4C6-921A3D925AA0}" destId="{3E3CD85E-A7D0-AA43-9164-389657963A59}" srcOrd="2" destOrd="0" presId="urn:microsoft.com/office/officeart/2005/8/layout/vList4"/>
    <dgm:cxn modelId="{E6E3FD5D-D541-DD47-A9B6-AD51FCC037AA}" type="presParOf" srcId="{74627B24-35E2-F841-B5D3-96ACA7C7804C}" destId="{3A7BBF40-CCFB-4A46-BF05-DA8E23310B07}" srcOrd="3" destOrd="0" presId="urn:microsoft.com/office/officeart/2005/8/layout/vList4"/>
    <dgm:cxn modelId="{015F6FE7-E174-9F40-BC25-597465B73012}" type="presParOf" srcId="{74627B24-35E2-F841-B5D3-96ACA7C7804C}" destId="{DEADB46B-5D2F-0A47-8662-03B1C51D7C4F}" srcOrd="4" destOrd="0" presId="urn:microsoft.com/office/officeart/2005/8/layout/vList4"/>
    <dgm:cxn modelId="{12F857C0-555D-B44A-99E6-90064F6C4A04}" type="presParOf" srcId="{DEADB46B-5D2F-0A47-8662-03B1C51D7C4F}" destId="{A469B5BA-48AB-2447-968A-83A233B3619A}" srcOrd="0" destOrd="0" presId="urn:microsoft.com/office/officeart/2005/8/layout/vList4"/>
    <dgm:cxn modelId="{CC5B2946-D6D7-044D-8DDF-D475CCB6FBF1}" type="presParOf" srcId="{DEADB46B-5D2F-0A47-8662-03B1C51D7C4F}" destId="{5E57F427-D693-324A-B3A2-2DF82D044E0E}" srcOrd="1" destOrd="0" presId="urn:microsoft.com/office/officeart/2005/8/layout/vList4"/>
    <dgm:cxn modelId="{E5A2F01C-413A-6E4C-BA53-8A05B330ABA6}" type="presParOf" srcId="{DEADB46B-5D2F-0A47-8662-03B1C51D7C4F}" destId="{2800F71B-6FCF-324E-AE15-445F26D222A7}" srcOrd="2" destOrd="0" presId="urn:microsoft.com/office/officeart/2005/8/layout/vList4"/>
  </dgm:cxnLst>
  <dgm:bg>
    <a:noFill/>
  </dgm:bg>
  <dgm:whole/>
  <dgm:extLst>
    <a:ext uri="http://schemas.microsoft.com/office/drawing/2008/diagram">
      <dsp:dataModelExt xmlns:dsp="http://schemas.microsoft.com/office/drawing/2008/diagram" relId="rId1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CBEF6D-7A27-B945-A1DF-6210B9747C3B}" type="doc">
      <dgm:prSet loTypeId="urn:microsoft.com/office/officeart/2005/8/layout/default" loCatId="" qsTypeId="urn:microsoft.com/office/officeart/2005/8/quickstyle/simple4" qsCatId="simple" csTypeId="urn:microsoft.com/office/officeart/2005/8/colors/accent1_2" csCatId="accent1" phldr="1"/>
      <dgm:spPr/>
      <dgm:t>
        <a:bodyPr/>
        <a:lstStyle/>
        <a:p>
          <a:endParaRPr lang="sv-SE"/>
        </a:p>
      </dgm:t>
    </dgm:pt>
    <dgm:pt modelId="{DEEC7A65-3EEC-A94B-A3CF-9DFC1524FD53}">
      <dgm:prSet phldrT="[Text]" custT="1">
        <dgm:style>
          <a:lnRef idx="1">
            <a:schemeClr val="dk1"/>
          </a:lnRef>
          <a:fillRef idx="2">
            <a:schemeClr val="dk1"/>
          </a:fillRef>
          <a:effectRef idx="1">
            <a:schemeClr val="dk1"/>
          </a:effectRef>
          <a:fontRef idx="minor">
            <a:schemeClr val="dk1"/>
          </a:fontRef>
        </dgm:style>
      </dgm:prSet>
      <dgm:spPr/>
      <dgm:t>
        <a:bodyPr/>
        <a:lstStyle/>
        <a:p>
          <a:r>
            <a:rPr lang="sv-SE" sz="1000" dirty="0" smtClean="0">
              <a:solidFill>
                <a:srgbClr val="0000FF"/>
              </a:solidFill>
            </a:rPr>
            <a:t>Expedierings-underlag </a:t>
          </a:r>
          <a:br>
            <a:rPr lang="sv-SE" sz="1000" dirty="0" smtClean="0">
              <a:solidFill>
                <a:srgbClr val="0000FF"/>
              </a:solidFill>
            </a:rPr>
          </a:br>
          <a:r>
            <a:rPr lang="sv-SE" sz="1000" dirty="0" smtClean="0">
              <a:solidFill>
                <a:srgbClr val="0000FF"/>
              </a:solidFill>
            </a:rPr>
            <a:t>(Recept)</a:t>
          </a:r>
          <a:endParaRPr lang="sv-SE" sz="1000" dirty="0">
            <a:solidFill>
              <a:srgbClr val="0000FF"/>
            </a:solidFill>
          </a:endParaRPr>
        </a:p>
      </dgm:t>
    </dgm:pt>
    <dgm:pt modelId="{EB7F0031-CB7A-754F-BD5B-679DF7C67DEA}" type="parTrans" cxnId="{768C17DB-45E9-0746-82B8-582A59C04684}">
      <dgm:prSet/>
      <dgm:spPr/>
      <dgm:t>
        <a:bodyPr/>
        <a:lstStyle/>
        <a:p>
          <a:endParaRPr lang="sv-SE"/>
        </a:p>
      </dgm:t>
    </dgm:pt>
    <dgm:pt modelId="{7EBB0590-C471-354F-90A2-B6C726FDA59A}" type="sibTrans" cxnId="{768C17DB-45E9-0746-82B8-582A59C04684}">
      <dgm:prSet/>
      <dgm:spPr/>
      <dgm:t>
        <a:bodyPr/>
        <a:lstStyle/>
        <a:p>
          <a:endParaRPr lang="sv-SE"/>
        </a:p>
      </dgm:t>
    </dgm:pt>
    <dgm:pt modelId="{0D4945D6-6A66-9C46-99FA-5824A7760151}">
      <dgm:prSet phldrT="[Text]" custT="1">
        <dgm:style>
          <a:lnRef idx="1">
            <a:schemeClr val="dk1"/>
          </a:lnRef>
          <a:fillRef idx="2">
            <a:schemeClr val="dk1"/>
          </a:fillRef>
          <a:effectRef idx="1">
            <a:schemeClr val="dk1"/>
          </a:effectRef>
          <a:fontRef idx="minor">
            <a:schemeClr val="dk1"/>
          </a:fontRef>
        </dgm:style>
      </dgm:prSet>
      <dgm:spPr/>
      <dgm:t>
        <a:bodyPr/>
        <a:lstStyle/>
        <a:p>
          <a:r>
            <a:rPr lang="sv-SE" sz="1050" dirty="0" smtClean="0">
              <a:solidFill>
                <a:srgbClr val="0000FF"/>
              </a:solidFill>
            </a:rPr>
            <a:t>Uthämtade läkemedel</a:t>
          </a:r>
          <a:endParaRPr lang="sv-SE" sz="1050" dirty="0">
            <a:solidFill>
              <a:srgbClr val="0000FF"/>
            </a:solidFill>
          </a:endParaRPr>
        </a:p>
      </dgm:t>
    </dgm:pt>
    <dgm:pt modelId="{27180289-FDAF-AF4F-ADC4-F1E299B20820}" type="parTrans" cxnId="{4B05E889-AB4A-D842-8871-6C8D802272A5}">
      <dgm:prSet/>
      <dgm:spPr/>
      <dgm:t>
        <a:bodyPr/>
        <a:lstStyle/>
        <a:p>
          <a:endParaRPr lang="sv-SE"/>
        </a:p>
      </dgm:t>
    </dgm:pt>
    <dgm:pt modelId="{77BEBA60-F540-AE48-895C-C1E5D1248149}" type="sibTrans" cxnId="{4B05E889-AB4A-D842-8871-6C8D802272A5}">
      <dgm:prSet/>
      <dgm:spPr/>
      <dgm:t>
        <a:bodyPr/>
        <a:lstStyle/>
        <a:p>
          <a:endParaRPr lang="sv-SE"/>
        </a:p>
      </dgm:t>
    </dgm:pt>
    <dgm:pt modelId="{2D1902E3-033F-DC4E-9269-BE6E075CEB8A}" type="pres">
      <dgm:prSet presAssocID="{7DCBEF6D-7A27-B945-A1DF-6210B9747C3B}" presName="diagram" presStyleCnt="0">
        <dgm:presLayoutVars>
          <dgm:dir/>
          <dgm:resizeHandles val="exact"/>
        </dgm:presLayoutVars>
      </dgm:prSet>
      <dgm:spPr/>
      <dgm:t>
        <a:bodyPr/>
        <a:lstStyle/>
        <a:p>
          <a:endParaRPr lang="sv-SE"/>
        </a:p>
      </dgm:t>
    </dgm:pt>
    <dgm:pt modelId="{163AC0F3-0F4F-314D-9CD4-397B1FAF3FE4}" type="pres">
      <dgm:prSet presAssocID="{DEEC7A65-3EEC-A94B-A3CF-9DFC1524FD53}" presName="node" presStyleLbl="node1" presStyleIdx="0" presStyleCnt="2" custScaleX="94966" custScaleY="72261">
        <dgm:presLayoutVars>
          <dgm:bulletEnabled val="1"/>
        </dgm:presLayoutVars>
      </dgm:prSet>
      <dgm:spPr/>
      <dgm:t>
        <a:bodyPr/>
        <a:lstStyle/>
        <a:p>
          <a:endParaRPr lang="sv-SE"/>
        </a:p>
      </dgm:t>
    </dgm:pt>
    <dgm:pt modelId="{B1CBB65A-655E-F94F-B1BC-A9E89F1EA0F9}" type="pres">
      <dgm:prSet presAssocID="{7EBB0590-C471-354F-90A2-B6C726FDA59A}" presName="sibTrans" presStyleCnt="0"/>
      <dgm:spPr/>
    </dgm:pt>
    <dgm:pt modelId="{9824311D-41EE-5C42-BF21-7F538129D4FA}" type="pres">
      <dgm:prSet presAssocID="{0D4945D6-6A66-9C46-99FA-5824A7760151}" presName="node" presStyleLbl="node1" presStyleIdx="1" presStyleCnt="2" custScaleX="75190" custScaleY="60129" custLinFactNeighborX="1237" custLinFactNeighborY="33578">
        <dgm:presLayoutVars>
          <dgm:bulletEnabled val="1"/>
        </dgm:presLayoutVars>
      </dgm:prSet>
      <dgm:spPr/>
      <dgm:t>
        <a:bodyPr/>
        <a:lstStyle/>
        <a:p>
          <a:endParaRPr lang="sv-SE"/>
        </a:p>
      </dgm:t>
    </dgm:pt>
  </dgm:ptLst>
  <dgm:cxnLst>
    <dgm:cxn modelId="{768C17DB-45E9-0746-82B8-582A59C04684}" srcId="{7DCBEF6D-7A27-B945-A1DF-6210B9747C3B}" destId="{DEEC7A65-3EEC-A94B-A3CF-9DFC1524FD53}" srcOrd="0" destOrd="0" parTransId="{EB7F0031-CB7A-754F-BD5B-679DF7C67DEA}" sibTransId="{7EBB0590-C471-354F-90A2-B6C726FDA59A}"/>
    <dgm:cxn modelId="{E8735B17-9B52-1A41-98AB-8B500F97F22D}" type="presOf" srcId="{DEEC7A65-3EEC-A94B-A3CF-9DFC1524FD53}" destId="{163AC0F3-0F4F-314D-9CD4-397B1FAF3FE4}" srcOrd="0" destOrd="0" presId="urn:microsoft.com/office/officeart/2005/8/layout/default"/>
    <dgm:cxn modelId="{4B05E889-AB4A-D842-8871-6C8D802272A5}" srcId="{7DCBEF6D-7A27-B945-A1DF-6210B9747C3B}" destId="{0D4945D6-6A66-9C46-99FA-5824A7760151}" srcOrd="1" destOrd="0" parTransId="{27180289-FDAF-AF4F-ADC4-F1E299B20820}" sibTransId="{77BEBA60-F540-AE48-895C-C1E5D1248149}"/>
    <dgm:cxn modelId="{91805917-4F72-C14E-BD4C-6C9AFE3F2D99}" type="presOf" srcId="{0D4945D6-6A66-9C46-99FA-5824A7760151}" destId="{9824311D-41EE-5C42-BF21-7F538129D4FA}" srcOrd="0" destOrd="0" presId="urn:microsoft.com/office/officeart/2005/8/layout/default"/>
    <dgm:cxn modelId="{534BAC07-ABDE-C04F-B593-2ED7C495E715}" type="presOf" srcId="{7DCBEF6D-7A27-B945-A1DF-6210B9747C3B}" destId="{2D1902E3-033F-DC4E-9269-BE6E075CEB8A}" srcOrd="0" destOrd="0" presId="urn:microsoft.com/office/officeart/2005/8/layout/default"/>
    <dgm:cxn modelId="{7263A6FD-0D27-C74E-AC65-230168AD2FA8}" type="presParOf" srcId="{2D1902E3-033F-DC4E-9269-BE6E075CEB8A}" destId="{163AC0F3-0F4F-314D-9CD4-397B1FAF3FE4}" srcOrd="0" destOrd="0" presId="urn:microsoft.com/office/officeart/2005/8/layout/default"/>
    <dgm:cxn modelId="{DD8F1A0D-7E27-7F44-9DB0-488EDB49D30F}" type="presParOf" srcId="{2D1902E3-033F-DC4E-9269-BE6E075CEB8A}" destId="{B1CBB65A-655E-F94F-B1BC-A9E89F1EA0F9}" srcOrd="1" destOrd="0" presId="urn:microsoft.com/office/officeart/2005/8/layout/default"/>
    <dgm:cxn modelId="{76122241-9EBB-5A44-9E36-9E06D7EBFD07}" type="presParOf" srcId="{2D1902E3-033F-DC4E-9269-BE6E075CEB8A}" destId="{9824311D-41EE-5C42-BF21-7F538129D4FA}" srcOrd="2"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6DB8E9E-A092-8C47-9D02-B9E1F3F96C97}" type="doc">
      <dgm:prSet loTypeId="urn:microsoft.com/office/officeart/2005/8/layout/vList4" loCatId="" qsTypeId="urn:microsoft.com/office/officeart/2005/8/quickstyle/simple4" qsCatId="simple" csTypeId="urn:microsoft.com/office/officeart/2005/8/colors/accent1_2" csCatId="accent1" phldr="1"/>
      <dgm:spPr/>
      <dgm:t>
        <a:bodyPr/>
        <a:lstStyle/>
        <a:p>
          <a:endParaRPr lang="sv-SE"/>
        </a:p>
      </dgm:t>
    </dgm:pt>
    <dgm:pt modelId="{AAC8424C-82F4-ED46-93BB-5F720AB8716D}">
      <dgm:prSet phldrT="[Text]" custT="1">
        <dgm:style>
          <a:lnRef idx="2">
            <a:schemeClr val="accent1"/>
          </a:lnRef>
          <a:fillRef idx="1">
            <a:schemeClr val="lt1"/>
          </a:fillRef>
          <a:effectRef idx="0">
            <a:schemeClr val="accent1"/>
          </a:effectRef>
          <a:fontRef idx="minor">
            <a:schemeClr val="dk1"/>
          </a:fontRef>
        </dgm:style>
      </dgm:prSet>
      <dgm:spPr>
        <a:ln>
          <a:solidFill>
            <a:schemeClr val="bg1">
              <a:lumMod val="50000"/>
            </a:schemeClr>
          </a:solidFill>
        </a:ln>
      </dgm:spPr>
      <dgm:t>
        <a:bodyPr/>
        <a:lstStyle/>
        <a:p>
          <a:r>
            <a:rPr lang="sv-SE" sz="1000" dirty="0" smtClean="0">
              <a:solidFill>
                <a:srgbClr val="382819"/>
              </a:solidFill>
            </a:rPr>
            <a:t>Läkemedelsordinationer</a:t>
          </a:r>
          <a:endParaRPr lang="sv-SE" sz="1000" dirty="0">
            <a:solidFill>
              <a:srgbClr val="382819"/>
            </a:solidFill>
          </a:endParaRPr>
        </a:p>
      </dgm:t>
    </dgm:pt>
    <dgm:pt modelId="{E50B9A83-8A0A-D245-84A1-1C59DC1CE028}" type="parTrans" cxnId="{2E2AA581-342B-0141-B1B9-F7FE47C72CA5}">
      <dgm:prSet/>
      <dgm:spPr/>
      <dgm:t>
        <a:bodyPr/>
        <a:lstStyle/>
        <a:p>
          <a:endParaRPr lang="sv-SE">
            <a:solidFill>
              <a:srgbClr val="382819"/>
            </a:solidFill>
          </a:endParaRPr>
        </a:p>
      </dgm:t>
    </dgm:pt>
    <dgm:pt modelId="{9A42BE83-11CC-034C-B1FA-C2A4B24A112F}" type="sibTrans" cxnId="{2E2AA581-342B-0141-B1B9-F7FE47C72CA5}">
      <dgm:prSet/>
      <dgm:spPr/>
      <dgm:t>
        <a:bodyPr/>
        <a:lstStyle/>
        <a:p>
          <a:endParaRPr lang="sv-SE">
            <a:solidFill>
              <a:srgbClr val="382819"/>
            </a:solidFill>
          </a:endParaRPr>
        </a:p>
      </dgm:t>
    </dgm:pt>
    <dgm:pt modelId="{7A67CA74-06BA-4947-8595-DCD885DDFBD1}">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0000FF"/>
              </a:solidFill>
            </a:rPr>
            <a:t>Expedieringsunderlag</a:t>
          </a:r>
          <a:br>
            <a:rPr lang="sv-SE" sz="1000" dirty="0" smtClean="0">
              <a:solidFill>
                <a:srgbClr val="0000FF"/>
              </a:solidFill>
            </a:rPr>
          </a:br>
          <a:r>
            <a:rPr lang="sv-SE" sz="1000" dirty="0" smtClean="0">
              <a:solidFill>
                <a:srgbClr val="0000FF"/>
              </a:solidFill>
            </a:rPr>
            <a:t>(förskrivning)</a:t>
          </a:r>
          <a:endParaRPr lang="sv-SE" sz="1000" dirty="0">
            <a:solidFill>
              <a:srgbClr val="0000FF"/>
            </a:solidFill>
          </a:endParaRPr>
        </a:p>
      </dgm:t>
    </dgm:pt>
    <dgm:pt modelId="{238E6E79-1C9B-AF45-9466-C312A3D8A098}" type="parTrans" cxnId="{8192C22E-17C0-6A48-A569-993B48880531}">
      <dgm:prSet/>
      <dgm:spPr/>
      <dgm:t>
        <a:bodyPr/>
        <a:lstStyle/>
        <a:p>
          <a:endParaRPr lang="sv-SE">
            <a:solidFill>
              <a:srgbClr val="382819"/>
            </a:solidFill>
          </a:endParaRPr>
        </a:p>
      </dgm:t>
    </dgm:pt>
    <dgm:pt modelId="{35CD1148-EB44-7549-B1D7-5F8A38CDA3CD}" type="sibTrans" cxnId="{8192C22E-17C0-6A48-A569-993B48880531}">
      <dgm:prSet/>
      <dgm:spPr/>
      <dgm:t>
        <a:bodyPr/>
        <a:lstStyle/>
        <a:p>
          <a:endParaRPr lang="sv-SE">
            <a:solidFill>
              <a:srgbClr val="382819"/>
            </a:solidFill>
          </a:endParaRPr>
        </a:p>
      </dgm:t>
    </dgm:pt>
    <dgm:pt modelId="{9986EC4E-7E55-CB46-A68F-3EF9CE0AB835}">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0000FF"/>
              </a:solidFill>
            </a:rPr>
            <a:t>Uthämtade läkemedel</a:t>
          </a:r>
          <a:endParaRPr lang="sv-SE" sz="1000" dirty="0">
            <a:solidFill>
              <a:srgbClr val="0000FF"/>
            </a:solidFill>
          </a:endParaRPr>
        </a:p>
      </dgm:t>
    </dgm:pt>
    <dgm:pt modelId="{EFA7F83F-C62B-5D41-83F8-EBA2A7C088AE}" type="parTrans" cxnId="{91E2BABE-6340-8240-8274-DF43DC3A7682}">
      <dgm:prSet/>
      <dgm:spPr/>
      <dgm:t>
        <a:bodyPr/>
        <a:lstStyle/>
        <a:p>
          <a:endParaRPr lang="sv-SE">
            <a:solidFill>
              <a:srgbClr val="382819"/>
            </a:solidFill>
          </a:endParaRPr>
        </a:p>
      </dgm:t>
    </dgm:pt>
    <dgm:pt modelId="{F45F9217-2D5D-6F43-A468-DC7EBBFE793F}" type="sibTrans" cxnId="{91E2BABE-6340-8240-8274-DF43DC3A7682}">
      <dgm:prSet/>
      <dgm:spPr/>
      <dgm:t>
        <a:bodyPr/>
        <a:lstStyle/>
        <a:p>
          <a:endParaRPr lang="sv-SE">
            <a:solidFill>
              <a:srgbClr val="382819"/>
            </a:solidFill>
          </a:endParaRPr>
        </a:p>
      </dgm:t>
    </dgm:pt>
    <dgm:pt modelId="{74627B24-35E2-F841-B5D3-96ACA7C7804C}" type="pres">
      <dgm:prSet presAssocID="{46DB8E9E-A092-8C47-9D02-B9E1F3F96C97}" presName="linear" presStyleCnt="0">
        <dgm:presLayoutVars>
          <dgm:dir/>
          <dgm:resizeHandles val="exact"/>
        </dgm:presLayoutVars>
      </dgm:prSet>
      <dgm:spPr/>
      <dgm:t>
        <a:bodyPr/>
        <a:lstStyle/>
        <a:p>
          <a:endParaRPr lang="sv-SE"/>
        </a:p>
      </dgm:t>
    </dgm:pt>
    <dgm:pt modelId="{49AAA0F2-44BB-3E47-9737-A22F3D7D6AD0}" type="pres">
      <dgm:prSet presAssocID="{AAC8424C-82F4-ED46-93BB-5F720AB8716D}" presName="comp" presStyleCnt="0"/>
      <dgm:spPr/>
    </dgm:pt>
    <dgm:pt modelId="{383E6720-D94C-CB49-827C-3D6B7C0BB8FD}" type="pres">
      <dgm:prSet presAssocID="{AAC8424C-82F4-ED46-93BB-5F720AB8716D}" presName="box" presStyleLbl="node1" presStyleIdx="0" presStyleCnt="3"/>
      <dgm:spPr/>
      <dgm:t>
        <a:bodyPr/>
        <a:lstStyle/>
        <a:p>
          <a:endParaRPr lang="sv-SE"/>
        </a:p>
      </dgm:t>
    </dgm:pt>
    <dgm:pt modelId="{AC996CF2-0F7D-244A-B5FD-3DFF298717EE}" type="pres">
      <dgm:prSet presAssocID="{AAC8424C-82F4-ED46-93BB-5F720AB8716D}" presName="img" presStyleLbl="fgImgPlace1" presStyleIdx="0" presStyleCnt="3" custLinFactNeighborX="-8126"/>
      <dgm:spPr>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dgm:spPr>
      <dgm:t>
        <a:bodyPr/>
        <a:lstStyle/>
        <a:p>
          <a:endParaRPr lang="sv-SE"/>
        </a:p>
      </dgm:t>
    </dgm:pt>
    <dgm:pt modelId="{415CF7C8-2429-104F-93DB-F366281FC997}" type="pres">
      <dgm:prSet presAssocID="{AAC8424C-82F4-ED46-93BB-5F720AB8716D}" presName="text" presStyleLbl="node1" presStyleIdx="0" presStyleCnt="3">
        <dgm:presLayoutVars>
          <dgm:bulletEnabled val="1"/>
        </dgm:presLayoutVars>
      </dgm:prSet>
      <dgm:spPr/>
      <dgm:t>
        <a:bodyPr/>
        <a:lstStyle/>
        <a:p>
          <a:endParaRPr lang="sv-SE"/>
        </a:p>
      </dgm:t>
    </dgm:pt>
    <dgm:pt modelId="{66B52408-8856-E147-868C-371592EC93D1}" type="pres">
      <dgm:prSet presAssocID="{9A42BE83-11CC-034C-B1FA-C2A4B24A112F}" presName="spacer" presStyleCnt="0"/>
      <dgm:spPr/>
    </dgm:pt>
    <dgm:pt modelId="{5DA8E2DC-DA46-5F43-A4C6-921A3D925AA0}" type="pres">
      <dgm:prSet presAssocID="{7A67CA74-06BA-4947-8595-DCD885DDFBD1}" presName="comp" presStyleCnt="0"/>
      <dgm:spPr/>
    </dgm:pt>
    <dgm:pt modelId="{D7EC801B-9D09-DC44-A173-997459634361}" type="pres">
      <dgm:prSet presAssocID="{7A67CA74-06BA-4947-8595-DCD885DDFBD1}" presName="box" presStyleLbl="node1" presStyleIdx="1" presStyleCnt="3" custScaleX="90428" custLinFactNeighborX="5352"/>
      <dgm:spPr/>
      <dgm:t>
        <a:bodyPr/>
        <a:lstStyle/>
        <a:p>
          <a:endParaRPr lang="sv-SE"/>
        </a:p>
      </dgm:t>
    </dgm:pt>
    <dgm:pt modelId="{2E47990A-4A46-BB4C-A2ED-64B767D67765}" type="pres">
      <dgm:prSet presAssocID="{7A67CA74-06BA-4947-8595-DCD885DDFBD1}" presName="img" presStyleLbl="fgImgPlace1" presStyleIdx="1" presStyleCnt="3" custLinFactNeighborX="26760"/>
      <dgm:spPr>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dgm:spPr>
      <dgm:t>
        <a:bodyPr/>
        <a:lstStyle/>
        <a:p>
          <a:endParaRPr lang="sv-SE"/>
        </a:p>
      </dgm:t>
    </dgm:pt>
    <dgm:pt modelId="{3E3CD85E-A7D0-AA43-9164-389657963A59}" type="pres">
      <dgm:prSet presAssocID="{7A67CA74-06BA-4947-8595-DCD885DDFBD1}" presName="text" presStyleLbl="node1" presStyleIdx="1" presStyleCnt="3">
        <dgm:presLayoutVars>
          <dgm:bulletEnabled val="1"/>
        </dgm:presLayoutVars>
      </dgm:prSet>
      <dgm:spPr/>
      <dgm:t>
        <a:bodyPr/>
        <a:lstStyle/>
        <a:p>
          <a:endParaRPr lang="sv-SE"/>
        </a:p>
      </dgm:t>
    </dgm:pt>
    <dgm:pt modelId="{3A7BBF40-CCFB-4A46-BF05-DA8E23310B07}" type="pres">
      <dgm:prSet presAssocID="{35CD1148-EB44-7549-B1D7-5F8A38CDA3CD}" presName="spacer" presStyleCnt="0"/>
      <dgm:spPr/>
    </dgm:pt>
    <dgm:pt modelId="{DEADB46B-5D2F-0A47-8662-03B1C51D7C4F}" type="pres">
      <dgm:prSet presAssocID="{9986EC4E-7E55-CB46-A68F-3EF9CE0AB835}" presName="comp" presStyleCnt="0"/>
      <dgm:spPr/>
    </dgm:pt>
    <dgm:pt modelId="{A469B5BA-48AB-2447-968A-83A233B3619A}" type="pres">
      <dgm:prSet presAssocID="{9986EC4E-7E55-CB46-A68F-3EF9CE0AB835}" presName="box" presStyleLbl="node1" presStyleIdx="2" presStyleCnt="3" custScaleX="75785" custLinFactNeighborX="7535"/>
      <dgm:spPr/>
      <dgm:t>
        <a:bodyPr/>
        <a:lstStyle/>
        <a:p>
          <a:endParaRPr lang="sv-SE"/>
        </a:p>
      </dgm:t>
    </dgm:pt>
    <dgm:pt modelId="{5E57F427-D693-324A-B3A2-2DF82D044E0E}" type="pres">
      <dgm:prSet presAssocID="{9986EC4E-7E55-CB46-A68F-3EF9CE0AB835}" presName="img" presStyleLbl="fgImgPlace1" presStyleIdx="2" presStyleCnt="3" custLinFactNeighborX="69130"/>
      <dgm:spPr>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dgm:spPr>
      <dgm:t>
        <a:bodyPr/>
        <a:lstStyle/>
        <a:p>
          <a:endParaRPr lang="sv-SE"/>
        </a:p>
      </dgm:t>
    </dgm:pt>
    <dgm:pt modelId="{2800F71B-6FCF-324E-AE15-445F26D222A7}" type="pres">
      <dgm:prSet presAssocID="{9986EC4E-7E55-CB46-A68F-3EF9CE0AB835}" presName="text" presStyleLbl="node1" presStyleIdx="2" presStyleCnt="3">
        <dgm:presLayoutVars>
          <dgm:bulletEnabled val="1"/>
        </dgm:presLayoutVars>
      </dgm:prSet>
      <dgm:spPr/>
      <dgm:t>
        <a:bodyPr/>
        <a:lstStyle/>
        <a:p>
          <a:endParaRPr lang="sv-SE"/>
        </a:p>
      </dgm:t>
    </dgm:pt>
  </dgm:ptLst>
  <dgm:cxnLst>
    <dgm:cxn modelId="{3D398AF4-D483-2F49-AB0D-6473B2B49DE0}" type="presOf" srcId="{9986EC4E-7E55-CB46-A68F-3EF9CE0AB835}" destId="{2800F71B-6FCF-324E-AE15-445F26D222A7}" srcOrd="1" destOrd="0" presId="urn:microsoft.com/office/officeart/2005/8/layout/vList4"/>
    <dgm:cxn modelId="{87D87015-0DFB-E74F-B1CE-714273578977}" type="presOf" srcId="{7A67CA74-06BA-4947-8595-DCD885DDFBD1}" destId="{D7EC801B-9D09-DC44-A173-997459634361}" srcOrd="0" destOrd="0" presId="urn:microsoft.com/office/officeart/2005/8/layout/vList4"/>
    <dgm:cxn modelId="{27B372E0-5A5B-6943-A86C-560C81C35C74}" type="presOf" srcId="{9986EC4E-7E55-CB46-A68F-3EF9CE0AB835}" destId="{A469B5BA-48AB-2447-968A-83A233B3619A}" srcOrd="0" destOrd="0" presId="urn:microsoft.com/office/officeart/2005/8/layout/vList4"/>
    <dgm:cxn modelId="{8A47E355-720C-DE4E-A71A-8A765BC9F590}" type="presOf" srcId="{7A67CA74-06BA-4947-8595-DCD885DDFBD1}" destId="{3E3CD85E-A7D0-AA43-9164-389657963A59}" srcOrd="1" destOrd="0" presId="urn:microsoft.com/office/officeart/2005/8/layout/vList4"/>
    <dgm:cxn modelId="{56D6F780-4178-D944-AB0A-A80601800868}" type="presOf" srcId="{AAC8424C-82F4-ED46-93BB-5F720AB8716D}" destId="{415CF7C8-2429-104F-93DB-F366281FC997}" srcOrd="1" destOrd="0" presId="urn:microsoft.com/office/officeart/2005/8/layout/vList4"/>
    <dgm:cxn modelId="{B5A6DBD4-EC7C-F244-B594-2AF27AD2B589}" type="presOf" srcId="{46DB8E9E-A092-8C47-9D02-B9E1F3F96C97}" destId="{74627B24-35E2-F841-B5D3-96ACA7C7804C}" srcOrd="0" destOrd="0" presId="urn:microsoft.com/office/officeart/2005/8/layout/vList4"/>
    <dgm:cxn modelId="{8192C22E-17C0-6A48-A569-993B48880531}" srcId="{46DB8E9E-A092-8C47-9D02-B9E1F3F96C97}" destId="{7A67CA74-06BA-4947-8595-DCD885DDFBD1}" srcOrd="1" destOrd="0" parTransId="{238E6E79-1C9B-AF45-9466-C312A3D8A098}" sibTransId="{35CD1148-EB44-7549-B1D7-5F8A38CDA3CD}"/>
    <dgm:cxn modelId="{2E2AA581-342B-0141-B1B9-F7FE47C72CA5}" srcId="{46DB8E9E-A092-8C47-9D02-B9E1F3F96C97}" destId="{AAC8424C-82F4-ED46-93BB-5F720AB8716D}" srcOrd="0" destOrd="0" parTransId="{E50B9A83-8A0A-D245-84A1-1C59DC1CE028}" sibTransId="{9A42BE83-11CC-034C-B1FA-C2A4B24A112F}"/>
    <dgm:cxn modelId="{91E2BABE-6340-8240-8274-DF43DC3A7682}" srcId="{46DB8E9E-A092-8C47-9D02-B9E1F3F96C97}" destId="{9986EC4E-7E55-CB46-A68F-3EF9CE0AB835}" srcOrd="2" destOrd="0" parTransId="{EFA7F83F-C62B-5D41-83F8-EBA2A7C088AE}" sibTransId="{F45F9217-2D5D-6F43-A468-DC7EBBFE793F}"/>
    <dgm:cxn modelId="{A8BD4018-A315-1F49-B440-A66580CA4C83}" type="presOf" srcId="{AAC8424C-82F4-ED46-93BB-5F720AB8716D}" destId="{383E6720-D94C-CB49-827C-3D6B7C0BB8FD}" srcOrd="0" destOrd="0" presId="urn:microsoft.com/office/officeart/2005/8/layout/vList4"/>
    <dgm:cxn modelId="{D666B39F-E267-7C48-94DB-35F045089E34}" type="presParOf" srcId="{74627B24-35E2-F841-B5D3-96ACA7C7804C}" destId="{49AAA0F2-44BB-3E47-9737-A22F3D7D6AD0}" srcOrd="0" destOrd="0" presId="urn:microsoft.com/office/officeart/2005/8/layout/vList4"/>
    <dgm:cxn modelId="{32297F76-F8F2-CB4F-B45A-074A1C46D380}" type="presParOf" srcId="{49AAA0F2-44BB-3E47-9737-A22F3D7D6AD0}" destId="{383E6720-D94C-CB49-827C-3D6B7C0BB8FD}" srcOrd="0" destOrd="0" presId="urn:microsoft.com/office/officeart/2005/8/layout/vList4"/>
    <dgm:cxn modelId="{41774B1B-79EA-6946-B86B-5D99F5321580}" type="presParOf" srcId="{49AAA0F2-44BB-3E47-9737-A22F3D7D6AD0}" destId="{AC996CF2-0F7D-244A-B5FD-3DFF298717EE}" srcOrd="1" destOrd="0" presId="urn:microsoft.com/office/officeart/2005/8/layout/vList4"/>
    <dgm:cxn modelId="{2E2BE253-E421-3342-807C-9E84C66F6E08}" type="presParOf" srcId="{49AAA0F2-44BB-3E47-9737-A22F3D7D6AD0}" destId="{415CF7C8-2429-104F-93DB-F366281FC997}" srcOrd="2" destOrd="0" presId="urn:microsoft.com/office/officeart/2005/8/layout/vList4"/>
    <dgm:cxn modelId="{EDEB635F-1F47-5B48-A769-6B240D897A55}" type="presParOf" srcId="{74627B24-35E2-F841-B5D3-96ACA7C7804C}" destId="{66B52408-8856-E147-868C-371592EC93D1}" srcOrd="1" destOrd="0" presId="urn:microsoft.com/office/officeart/2005/8/layout/vList4"/>
    <dgm:cxn modelId="{FA4CA14A-AAAB-1147-A61A-73017BAE423D}" type="presParOf" srcId="{74627B24-35E2-F841-B5D3-96ACA7C7804C}" destId="{5DA8E2DC-DA46-5F43-A4C6-921A3D925AA0}" srcOrd="2" destOrd="0" presId="urn:microsoft.com/office/officeart/2005/8/layout/vList4"/>
    <dgm:cxn modelId="{18169C82-C6D0-3343-AEA1-78D84B0B8B2B}" type="presParOf" srcId="{5DA8E2DC-DA46-5F43-A4C6-921A3D925AA0}" destId="{D7EC801B-9D09-DC44-A173-997459634361}" srcOrd="0" destOrd="0" presId="urn:microsoft.com/office/officeart/2005/8/layout/vList4"/>
    <dgm:cxn modelId="{D3295A6C-77E2-A940-8B2E-44F30BB4A524}" type="presParOf" srcId="{5DA8E2DC-DA46-5F43-A4C6-921A3D925AA0}" destId="{2E47990A-4A46-BB4C-A2ED-64B767D67765}" srcOrd="1" destOrd="0" presId="urn:microsoft.com/office/officeart/2005/8/layout/vList4"/>
    <dgm:cxn modelId="{FB0F7D29-D3FA-E14E-8AA9-5092A5071AE4}" type="presParOf" srcId="{5DA8E2DC-DA46-5F43-A4C6-921A3D925AA0}" destId="{3E3CD85E-A7D0-AA43-9164-389657963A59}" srcOrd="2" destOrd="0" presId="urn:microsoft.com/office/officeart/2005/8/layout/vList4"/>
    <dgm:cxn modelId="{465EFA63-CEF7-FA42-9815-84DDBE367C0A}" type="presParOf" srcId="{74627B24-35E2-F841-B5D3-96ACA7C7804C}" destId="{3A7BBF40-CCFB-4A46-BF05-DA8E23310B07}" srcOrd="3" destOrd="0" presId="urn:microsoft.com/office/officeart/2005/8/layout/vList4"/>
    <dgm:cxn modelId="{1279B507-52D2-D447-AC78-363FD004FF80}" type="presParOf" srcId="{74627B24-35E2-F841-B5D3-96ACA7C7804C}" destId="{DEADB46B-5D2F-0A47-8662-03B1C51D7C4F}" srcOrd="4" destOrd="0" presId="urn:microsoft.com/office/officeart/2005/8/layout/vList4"/>
    <dgm:cxn modelId="{D5A5A039-669D-8B47-97C7-9983A6C017A6}" type="presParOf" srcId="{DEADB46B-5D2F-0A47-8662-03B1C51D7C4F}" destId="{A469B5BA-48AB-2447-968A-83A233B3619A}" srcOrd="0" destOrd="0" presId="urn:microsoft.com/office/officeart/2005/8/layout/vList4"/>
    <dgm:cxn modelId="{0277ED21-95FC-3C4C-98DB-A4875DAEE540}" type="presParOf" srcId="{DEADB46B-5D2F-0A47-8662-03B1C51D7C4F}" destId="{5E57F427-D693-324A-B3A2-2DF82D044E0E}" srcOrd="1" destOrd="0" presId="urn:microsoft.com/office/officeart/2005/8/layout/vList4"/>
    <dgm:cxn modelId="{29C25F11-5E53-F64E-A691-C27B34D45BBD}" type="presParOf" srcId="{DEADB46B-5D2F-0A47-8662-03B1C51D7C4F}" destId="{2800F71B-6FCF-324E-AE15-445F26D222A7}" srcOrd="2" destOrd="0" presId="urn:microsoft.com/office/officeart/2005/8/layout/vList4"/>
  </dgm:cxnLst>
  <dgm:bg>
    <a:noFill/>
  </dgm:bg>
  <dgm:whole/>
  <dgm:extLst>
    <a:ext uri="http://schemas.microsoft.com/office/drawing/2008/diagram">
      <dsp:dataModelExt xmlns:dsp="http://schemas.microsoft.com/office/drawing/2008/diagram" relId="rId1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CBEF6D-7A27-B945-A1DF-6210B9747C3B}" type="doc">
      <dgm:prSet loTypeId="urn:microsoft.com/office/officeart/2005/8/layout/default" loCatId="" qsTypeId="urn:microsoft.com/office/officeart/2005/8/quickstyle/simple4" qsCatId="simple" csTypeId="urn:microsoft.com/office/officeart/2005/8/colors/accent1_2" csCatId="accent1" phldr="1"/>
      <dgm:spPr/>
      <dgm:t>
        <a:bodyPr/>
        <a:lstStyle/>
        <a:p>
          <a:endParaRPr lang="sv-SE"/>
        </a:p>
      </dgm:t>
    </dgm:pt>
    <dgm:pt modelId="{DEEC7A65-3EEC-A94B-A3CF-9DFC1524FD53}">
      <dgm:prSet phldrT="[Text]" custT="1">
        <dgm:style>
          <a:lnRef idx="1">
            <a:schemeClr val="dk1"/>
          </a:lnRef>
          <a:fillRef idx="2">
            <a:schemeClr val="dk1"/>
          </a:fillRef>
          <a:effectRef idx="1">
            <a:schemeClr val="dk1"/>
          </a:effectRef>
          <a:fontRef idx="minor">
            <a:schemeClr val="dk1"/>
          </a:fontRef>
        </dgm:style>
      </dgm:prSet>
      <dgm:spPr/>
      <dgm:t>
        <a:bodyPr/>
        <a:lstStyle/>
        <a:p>
          <a:r>
            <a:rPr lang="sv-SE" sz="1000" dirty="0" smtClean="0">
              <a:solidFill>
                <a:srgbClr val="0000FF"/>
              </a:solidFill>
            </a:rPr>
            <a:t>Expedierings-underlag </a:t>
          </a:r>
          <a:br>
            <a:rPr lang="sv-SE" sz="1000" dirty="0" smtClean="0">
              <a:solidFill>
                <a:srgbClr val="0000FF"/>
              </a:solidFill>
            </a:rPr>
          </a:br>
          <a:r>
            <a:rPr lang="sv-SE" sz="1000" dirty="0" smtClean="0">
              <a:solidFill>
                <a:srgbClr val="0000FF"/>
              </a:solidFill>
            </a:rPr>
            <a:t>(Recept)</a:t>
          </a:r>
          <a:endParaRPr lang="sv-SE" sz="1000" dirty="0">
            <a:solidFill>
              <a:srgbClr val="0000FF"/>
            </a:solidFill>
          </a:endParaRPr>
        </a:p>
      </dgm:t>
    </dgm:pt>
    <dgm:pt modelId="{EB7F0031-CB7A-754F-BD5B-679DF7C67DEA}" type="parTrans" cxnId="{768C17DB-45E9-0746-82B8-582A59C04684}">
      <dgm:prSet/>
      <dgm:spPr/>
      <dgm:t>
        <a:bodyPr/>
        <a:lstStyle/>
        <a:p>
          <a:endParaRPr lang="sv-SE"/>
        </a:p>
      </dgm:t>
    </dgm:pt>
    <dgm:pt modelId="{7EBB0590-C471-354F-90A2-B6C726FDA59A}" type="sibTrans" cxnId="{768C17DB-45E9-0746-82B8-582A59C04684}">
      <dgm:prSet/>
      <dgm:spPr/>
      <dgm:t>
        <a:bodyPr/>
        <a:lstStyle/>
        <a:p>
          <a:endParaRPr lang="sv-SE"/>
        </a:p>
      </dgm:t>
    </dgm:pt>
    <dgm:pt modelId="{0D4945D6-6A66-9C46-99FA-5824A7760151}">
      <dgm:prSet phldrT="[Text]" custT="1">
        <dgm:style>
          <a:lnRef idx="1">
            <a:schemeClr val="dk1"/>
          </a:lnRef>
          <a:fillRef idx="2">
            <a:schemeClr val="dk1"/>
          </a:fillRef>
          <a:effectRef idx="1">
            <a:schemeClr val="dk1"/>
          </a:effectRef>
          <a:fontRef idx="minor">
            <a:schemeClr val="dk1"/>
          </a:fontRef>
        </dgm:style>
      </dgm:prSet>
      <dgm:spPr/>
      <dgm:t>
        <a:bodyPr/>
        <a:lstStyle/>
        <a:p>
          <a:r>
            <a:rPr lang="sv-SE" sz="1050" dirty="0" smtClean="0">
              <a:solidFill>
                <a:srgbClr val="382819"/>
              </a:solidFill>
            </a:rPr>
            <a:t>Uthämtade läkemedel</a:t>
          </a:r>
          <a:endParaRPr lang="sv-SE" sz="1050" dirty="0">
            <a:solidFill>
              <a:srgbClr val="382819"/>
            </a:solidFill>
          </a:endParaRPr>
        </a:p>
      </dgm:t>
    </dgm:pt>
    <dgm:pt modelId="{27180289-FDAF-AF4F-ADC4-F1E299B20820}" type="parTrans" cxnId="{4B05E889-AB4A-D842-8871-6C8D802272A5}">
      <dgm:prSet/>
      <dgm:spPr/>
      <dgm:t>
        <a:bodyPr/>
        <a:lstStyle/>
        <a:p>
          <a:endParaRPr lang="sv-SE"/>
        </a:p>
      </dgm:t>
    </dgm:pt>
    <dgm:pt modelId="{77BEBA60-F540-AE48-895C-C1E5D1248149}" type="sibTrans" cxnId="{4B05E889-AB4A-D842-8871-6C8D802272A5}">
      <dgm:prSet/>
      <dgm:spPr/>
      <dgm:t>
        <a:bodyPr/>
        <a:lstStyle/>
        <a:p>
          <a:endParaRPr lang="sv-SE"/>
        </a:p>
      </dgm:t>
    </dgm:pt>
    <dgm:pt modelId="{2D1902E3-033F-DC4E-9269-BE6E075CEB8A}" type="pres">
      <dgm:prSet presAssocID="{7DCBEF6D-7A27-B945-A1DF-6210B9747C3B}" presName="diagram" presStyleCnt="0">
        <dgm:presLayoutVars>
          <dgm:dir/>
          <dgm:resizeHandles val="exact"/>
        </dgm:presLayoutVars>
      </dgm:prSet>
      <dgm:spPr/>
      <dgm:t>
        <a:bodyPr/>
        <a:lstStyle/>
        <a:p>
          <a:endParaRPr lang="sv-SE"/>
        </a:p>
      </dgm:t>
    </dgm:pt>
    <dgm:pt modelId="{163AC0F3-0F4F-314D-9CD4-397B1FAF3FE4}" type="pres">
      <dgm:prSet presAssocID="{DEEC7A65-3EEC-A94B-A3CF-9DFC1524FD53}" presName="node" presStyleLbl="node1" presStyleIdx="0" presStyleCnt="2" custScaleX="94966" custScaleY="72261">
        <dgm:presLayoutVars>
          <dgm:bulletEnabled val="1"/>
        </dgm:presLayoutVars>
      </dgm:prSet>
      <dgm:spPr/>
      <dgm:t>
        <a:bodyPr/>
        <a:lstStyle/>
        <a:p>
          <a:endParaRPr lang="sv-SE"/>
        </a:p>
      </dgm:t>
    </dgm:pt>
    <dgm:pt modelId="{B1CBB65A-655E-F94F-B1BC-A9E89F1EA0F9}" type="pres">
      <dgm:prSet presAssocID="{7EBB0590-C471-354F-90A2-B6C726FDA59A}" presName="sibTrans" presStyleCnt="0"/>
      <dgm:spPr/>
    </dgm:pt>
    <dgm:pt modelId="{9824311D-41EE-5C42-BF21-7F538129D4FA}" type="pres">
      <dgm:prSet presAssocID="{0D4945D6-6A66-9C46-99FA-5824A7760151}" presName="node" presStyleLbl="node1" presStyleIdx="1" presStyleCnt="2" custScaleX="75190" custScaleY="60129" custLinFactNeighborX="1237" custLinFactNeighborY="33578">
        <dgm:presLayoutVars>
          <dgm:bulletEnabled val="1"/>
        </dgm:presLayoutVars>
      </dgm:prSet>
      <dgm:spPr/>
      <dgm:t>
        <a:bodyPr/>
        <a:lstStyle/>
        <a:p>
          <a:endParaRPr lang="sv-SE"/>
        </a:p>
      </dgm:t>
    </dgm:pt>
  </dgm:ptLst>
  <dgm:cxnLst>
    <dgm:cxn modelId="{13F886C4-B5EB-1247-B860-0C37D0B12175}" type="presOf" srcId="{0D4945D6-6A66-9C46-99FA-5824A7760151}" destId="{9824311D-41EE-5C42-BF21-7F538129D4FA}" srcOrd="0" destOrd="0" presId="urn:microsoft.com/office/officeart/2005/8/layout/default"/>
    <dgm:cxn modelId="{768C17DB-45E9-0746-82B8-582A59C04684}" srcId="{7DCBEF6D-7A27-B945-A1DF-6210B9747C3B}" destId="{DEEC7A65-3EEC-A94B-A3CF-9DFC1524FD53}" srcOrd="0" destOrd="0" parTransId="{EB7F0031-CB7A-754F-BD5B-679DF7C67DEA}" sibTransId="{7EBB0590-C471-354F-90A2-B6C726FDA59A}"/>
    <dgm:cxn modelId="{4B05E889-AB4A-D842-8871-6C8D802272A5}" srcId="{7DCBEF6D-7A27-B945-A1DF-6210B9747C3B}" destId="{0D4945D6-6A66-9C46-99FA-5824A7760151}" srcOrd="1" destOrd="0" parTransId="{27180289-FDAF-AF4F-ADC4-F1E299B20820}" sibTransId="{77BEBA60-F540-AE48-895C-C1E5D1248149}"/>
    <dgm:cxn modelId="{5592BC33-C643-654D-8775-1A3B5A38CBDF}" type="presOf" srcId="{DEEC7A65-3EEC-A94B-A3CF-9DFC1524FD53}" destId="{163AC0F3-0F4F-314D-9CD4-397B1FAF3FE4}" srcOrd="0" destOrd="0" presId="urn:microsoft.com/office/officeart/2005/8/layout/default"/>
    <dgm:cxn modelId="{496869BA-D689-7B42-B147-975202DFC281}" type="presOf" srcId="{7DCBEF6D-7A27-B945-A1DF-6210B9747C3B}" destId="{2D1902E3-033F-DC4E-9269-BE6E075CEB8A}" srcOrd="0" destOrd="0" presId="urn:microsoft.com/office/officeart/2005/8/layout/default"/>
    <dgm:cxn modelId="{7E9B610B-9298-C64F-BD46-2052AC969323}" type="presParOf" srcId="{2D1902E3-033F-DC4E-9269-BE6E075CEB8A}" destId="{163AC0F3-0F4F-314D-9CD4-397B1FAF3FE4}" srcOrd="0" destOrd="0" presId="urn:microsoft.com/office/officeart/2005/8/layout/default"/>
    <dgm:cxn modelId="{1956E838-EF2C-5F4D-886B-517CB87D337E}" type="presParOf" srcId="{2D1902E3-033F-DC4E-9269-BE6E075CEB8A}" destId="{B1CBB65A-655E-F94F-B1BC-A9E89F1EA0F9}" srcOrd="1" destOrd="0" presId="urn:microsoft.com/office/officeart/2005/8/layout/default"/>
    <dgm:cxn modelId="{3CB8AFB9-FF46-0248-8F60-8B9FC80AD75A}" type="presParOf" srcId="{2D1902E3-033F-DC4E-9269-BE6E075CEB8A}" destId="{9824311D-41EE-5C42-BF21-7F538129D4FA}" srcOrd="2"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6DB8E9E-A092-8C47-9D02-B9E1F3F96C97}" type="doc">
      <dgm:prSet loTypeId="urn:microsoft.com/office/officeart/2005/8/layout/vList4" loCatId="" qsTypeId="urn:microsoft.com/office/officeart/2005/8/quickstyle/simple4" qsCatId="simple" csTypeId="urn:microsoft.com/office/officeart/2005/8/colors/accent1_2" csCatId="accent1" phldr="1"/>
      <dgm:spPr/>
      <dgm:t>
        <a:bodyPr/>
        <a:lstStyle/>
        <a:p>
          <a:endParaRPr lang="sv-SE"/>
        </a:p>
      </dgm:t>
    </dgm:pt>
    <dgm:pt modelId="{AAC8424C-82F4-ED46-93BB-5F720AB8716D}">
      <dgm:prSet phldrT="[Text]" custT="1">
        <dgm:style>
          <a:lnRef idx="2">
            <a:schemeClr val="accent1"/>
          </a:lnRef>
          <a:fillRef idx="1">
            <a:schemeClr val="lt1"/>
          </a:fillRef>
          <a:effectRef idx="0">
            <a:schemeClr val="accent1"/>
          </a:effectRef>
          <a:fontRef idx="minor">
            <a:schemeClr val="dk1"/>
          </a:fontRef>
        </dgm:style>
      </dgm:prSet>
      <dgm:spPr>
        <a:ln>
          <a:solidFill>
            <a:schemeClr val="bg1">
              <a:lumMod val="50000"/>
            </a:schemeClr>
          </a:solidFill>
        </a:ln>
      </dgm:spPr>
      <dgm:t>
        <a:bodyPr/>
        <a:lstStyle/>
        <a:p>
          <a:r>
            <a:rPr lang="sv-SE" sz="1000" dirty="0" smtClean="0">
              <a:solidFill>
                <a:srgbClr val="382819"/>
              </a:solidFill>
            </a:rPr>
            <a:t>Läkemedelsordinationer</a:t>
          </a:r>
          <a:endParaRPr lang="sv-SE" sz="1000" dirty="0">
            <a:solidFill>
              <a:srgbClr val="382819"/>
            </a:solidFill>
          </a:endParaRPr>
        </a:p>
      </dgm:t>
    </dgm:pt>
    <dgm:pt modelId="{E50B9A83-8A0A-D245-84A1-1C59DC1CE028}" type="parTrans" cxnId="{2E2AA581-342B-0141-B1B9-F7FE47C72CA5}">
      <dgm:prSet/>
      <dgm:spPr/>
      <dgm:t>
        <a:bodyPr/>
        <a:lstStyle/>
        <a:p>
          <a:endParaRPr lang="sv-SE">
            <a:solidFill>
              <a:srgbClr val="382819"/>
            </a:solidFill>
          </a:endParaRPr>
        </a:p>
      </dgm:t>
    </dgm:pt>
    <dgm:pt modelId="{9A42BE83-11CC-034C-B1FA-C2A4B24A112F}" type="sibTrans" cxnId="{2E2AA581-342B-0141-B1B9-F7FE47C72CA5}">
      <dgm:prSet/>
      <dgm:spPr/>
      <dgm:t>
        <a:bodyPr/>
        <a:lstStyle/>
        <a:p>
          <a:endParaRPr lang="sv-SE">
            <a:solidFill>
              <a:srgbClr val="382819"/>
            </a:solidFill>
          </a:endParaRPr>
        </a:p>
      </dgm:t>
    </dgm:pt>
    <dgm:pt modelId="{7A67CA74-06BA-4947-8595-DCD885DDFBD1}">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0000FF"/>
              </a:solidFill>
            </a:rPr>
            <a:t>Expedieringsunderlag</a:t>
          </a:r>
          <a:br>
            <a:rPr lang="sv-SE" sz="1000" dirty="0" smtClean="0">
              <a:solidFill>
                <a:srgbClr val="0000FF"/>
              </a:solidFill>
            </a:rPr>
          </a:br>
          <a:r>
            <a:rPr lang="sv-SE" sz="1000" dirty="0" smtClean="0">
              <a:solidFill>
                <a:srgbClr val="0000FF"/>
              </a:solidFill>
            </a:rPr>
            <a:t>(förskrivning)</a:t>
          </a:r>
          <a:endParaRPr lang="sv-SE" sz="1000" dirty="0">
            <a:solidFill>
              <a:srgbClr val="0000FF"/>
            </a:solidFill>
          </a:endParaRPr>
        </a:p>
      </dgm:t>
    </dgm:pt>
    <dgm:pt modelId="{238E6E79-1C9B-AF45-9466-C312A3D8A098}" type="parTrans" cxnId="{8192C22E-17C0-6A48-A569-993B48880531}">
      <dgm:prSet/>
      <dgm:spPr/>
      <dgm:t>
        <a:bodyPr/>
        <a:lstStyle/>
        <a:p>
          <a:endParaRPr lang="sv-SE">
            <a:solidFill>
              <a:srgbClr val="382819"/>
            </a:solidFill>
          </a:endParaRPr>
        </a:p>
      </dgm:t>
    </dgm:pt>
    <dgm:pt modelId="{35CD1148-EB44-7549-B1D7-5F8A38CDA3CD}" type="sibTrans" cxnId="{8192C22E-17C0-6A48-A569-993B48880531}">
      <dgm:prSet/>
      <dgm:spPr/>
      <dgm:t>
        <a:bodyPr/>
        <a:lstStyle/>
        <a:p>
          <a:endParaRPr lang="sv-SE">
            <a:solidFill>
              <a:srgbClr val="382819"/>
            </a:solidFill>
          </a:endParaRPr>
        </a:p>
      </dgm:t>
    </dgm:pt>
    <dgm:pt modelId="{9986EC4E-7E55-CB46-A68F-3EF9CE0AB835}">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0000FF"/>
              </a:solidFill>
            </a:rPr>
            <a:t>Uthämtade läkemedel</a:t>
          </a:r>
          <a:endParaRPr lang="sv-SE" sz="1000" dirty="0">
            <a:solidFill>
              <a:srgbClr val="0000FF"/>
            </a:solidFill>
          </a:endParaRPr>
        </a:p>
      </dgm:t>
    </dgm:pt>
    <dgm:pt modelId="{EFA7F83F-C62B-5D41-83F8-EBA2A7C088AE}" type="parTrans" cxnId="{91E2BABE-6340-8240-8274-DF43DC3A7682}">
      <dgm:prSet/>
      <dgm:spPr/>
      <dgm:t>
        <a:bodyPr/>
        <a:lstStyle/>
        <a:p>
          <a:endParaRPr lang="sv-SE">
            <a:solidFill>
              <a:srgbClr val="382819"/>
            </a:solidFill>
          </a:endParaRPr>
        </a:p>
      </dgm:t>
    </dgm:pt>
    <dgm:pt modelId="{F45F9217-2D5D-6F43-A468-DC7EBBFE793F}" type="sibTrans" cxnId="{91E2BABE-6340-8240-8274-DF43DC3A7682}">
      <dgm:prSet/>
      <dgm:spPr/>
      <dgm:t>
        <a:bodyPr/>
        <a:lstStyle/>
        <a:p>
          <a:endParaRPr lang="sv-SE">
            <a:solidFill>
              <a:srgbClr val="382819"/>
            </a:solidFill>
          </a:endParaRPr>
        </a:p>
      </dgm:t>
    </dgm:pt>
    <dgm:pt modelId="{74627B24-35E2-F841-B5D3-96ACA7C7804C}" type="pres">
      <dgm:prSet presAssocID="{46DB8E9E-A092-8C47-9D02-B9E1F3F96C97}" presName="linear" presStyleCnt="0">
        <dgm:presLayoutVars>
          <dgm:dir/>
          <dgm:resizeHandles val="exact"/>
        </dgm:presLayoutVars>
      </dgm:prSet>
      <dgm:spPr/>
      <dgm:t>
        <a:bodyPr/>
        <a:lstStyle/>
        <a:p>
          <a:endParaRPr lang="sv-SE"/>
        </a:p>
      </dgm:t>
    </dgm:pt>
    <dgm:pt modelId="{49AAA0F2-44BB-3E47-9737-A22F3D7D6AD0}" type="pres">
      <dgm:prSet presAssocID="{AAC8424C-82F4-ED46-93BB-5F720AB8716D}" presName="comp" presStyleCnt="0"/>
      <dgm:spPr/>
    </dgm:pt>
    <dgm:pt modelId="{383E6720-D94C-CB49-827C-3D6B7C0BB8FD}" type="pres">
      <dgm:prSet presAssocID="{AAC8424C-82F4-ED46-93BB-5F720AB8716D}" presName="box" presStyleLbl="node1" presStyleIdx="0" presStyleCnt="3"/>
      <dgm:spPr/>
      <dgm:t>
        <a:bodyPr/>
        <a:lstStyle/>
        <a:p>
          <a:endParaRPr lang="sv-SE"/>
        </a:p>
      </dgm:t>
    </dgm:pt>
    <dgm:pt modelId="{AC996CF2-0F7D-244A-B5FD-3DFF298717EE}" type="pres">
      <dgm:prSet presAssocID="{AAC8424C-82F4-ED46-93BB-5F720AB8716D}" presName="img" presStyleLbl="fgImgPlace1" presStyleIdx="0" presStyleCnt="3" custLinFactNeighborX="-8126"/>
      <dgm:spPr>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dgm:spPr>
      <dgm:t>
        <a:bodyPr/>
        <a:lstStyle/>
        <a:p>
          <a:endParaRPr lang="sv-SE"/>
        </a:p>
      </dgm:t>
    </dgm:pt>
    <dgm:pt modelId="{415CF7C8-2429-104F-93DB-F366281FC997}" type="pres">
      <dgm:prSet presAssocID="{AAC8424C-82F4-ED46-93BB-5F720AB8716D}" presName="text" presStyleLbl="node1" presStyleIdx="0" presStyleCnt="3">
        <dgm:presLayoutVars>
          <dgm:bulletEnabled val="1"/>
        </dgm:presLayoutVars>
      </dgm:prSet>
      <dgm:spPr/>
      <dgm:t>
        <a:bodyPr/>
        <a:lstStyle/>
        <a:p>
          <a:endParaRPr lang="sv-SE"/>
        </a:p>
      </dgm:t>
    </dgm:pt>
    <dgm:pt modelId="{66B52408-8856-E147-868C-371592EC93D1}" type="pres">
      <dgm:prSet presAssocID="{9A42BE83-11CC-034C-B1FA-C2A4B24A112F}" presName="spacer" presStyleCnt="0"/>
      <dgm:spPr/>
    </dgm:pt>
    <dgm:pt modelId="{5DA8E2DC-DA46-5F43-A4C6-921A3D925AA0}" type="pres">
      <dgm:prSet presAssocID="{7A67CA74-06BA-4947-8595-DCD885DDFBD1}" presName="comp" presStyleCnt="0"/>
      <dgm:spPr/>
    </dgm:pt>
    <dgm:pt modelId="{D7EC801B-9D09-DC44-A173-997459634361}" type="pres">
      <dgm:prSet presAssocID="{7A67CA74-06BA-4947-8595-DCD885DDFBD1}" presName="box" presStyleLbl="node1" presStyleIdx="1" presStyleCnt="3" custScaleX="90428" custLinFactNeighborX="5352"/>
      <dgm:spPr/>
      <dgm:t>
        <a:bodyPr/>
        <a:lstStyle/>
        <a:p>
          <a:endParaRPr lang="sv-SE"/>
        </a:p>
      </dgm:t>
    </dgm:pt>
    <dgm:pt modelId="{2E47990A-4A46-BB4C-A2ED-64B767D67765}" type="pres">
      <dgm:prSet presAssocID="{7A67CA74-06BA-4947-8595-DCD885DDFBD1}" presName="img" presStyleLbl="fgImgPlace1" presStyleIdx="1" presStyleCnt="3" custLinFactNeighborX="26760"/>
      <dgm:spPr>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dgm:spPr>
      <dgm:t>
        <a:bodyPr/>
        <a:lstStyle/>
        <a:p>
          <a:endParaRPr lang="sv-SE"/>
        </a:p>
      </dgm:t>
    </dgm:pt>
    <dgm:pt modelId="{3E3CD85E-A7D0-AA43-9164-389657963A59}" type="pres">
      <dgm:prSet presAssocID="{7A67CA74-06BA-4947-8595-DCD885DDFBD1}" presName="text" presStyleLbl="node1" presStyleIdx="1" presStyleCnt="3">
        <dgm:presLayoutVars>
          <dgm:bulletEnabled val="1"/>
        </dgm:presLayoutVars>
      </dgm:prSet>
      <dgm:spPr/>
      <dgm:t>
        <a:bodyPr/>
        <a:lstStyle/>
        <a:p>
          <a:endParaRPr lang="sv-SE"/>
        </a:p>
      </dgm:t>
    </dgm:pt>
    <dgm:pt modelId="{3A7BBF40-CCFB-4A46-BF05-DA8E23310B07}" type="pres">
      <dgm:prSet presAssocID="{35CD1148-EB44-7549-B1D7-5F8A38CDA3CD}" presName="spacer" presStyleCnt="0"/>
      <dgm:spPr/>
    </dgm:pt>
    <dgm:pt modelId="{DEADB46B-5D2F-0A47-8662-03B1C51D7C4F}" type="pres">
      <dgm:prSet presAssocID="{9986EC4E-7E55-CB46-A68F-3EF9CE0AB835}" presName="comp" presStyleCnt="0"/>
      <dgm:spPr/>
    </dgm:pt>
    <dgm:pt modelId="{A469B5BA-48AB-2447-968A-83A233B3619A}" type="pres">
      <dgm:prSet presAssocID="{9986EC4E-7E55-CB46-A68F-3EF9CE0AB835}" presName="box" presStyleLbl="node1" presStyleIdx="2" presStyleCnt="3" custScaleX="75785" custLinFactNeighborX="7535"/>
      <dgm:spPr/>
      <dgm:t>
        <a:bodyPr/>
        <a:lstStyle/>
        <a:p>
          <a:endParaRPr lang="sv-SE"/>
        </a:p>
      </dgm:t>
    </dgm:pt>
    <dgm:pt modelId="{5E57F427-D693-324A-B3A2-2DF82D044E0E}" type="pres">
      <dgm:prSet presAssocID="{9986EC4E-7E55-CB46-A68F-3EF9CE0AB835}" presName="img" presStyleLbl="fgImgPlace1" presStyleIdx="2" presStyleCnt="3" custLinFactNeighborX="69130"/>
      <dgm:spPr>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dgm:spPr>
      <dgm:t>
        <a:bodyPr/>
        <a:lstStyle/>
        <a:p>
          <a:endParaRPr lang="sv-SE"/>
        </a:p>
      </dgm:t>
    </dgm:pt>
    <dgm:pt modelId="{2800F71B-6FCF-324E-AE15-445F26D222A7}" type="pres">
      <dgm:prSet presAssocID="{9986EC4E-7E55-CB46-A68F-3EF9CE0AB835}" presName="text" presStyleLbl="node1" presStyleIdx="2" presStyleCnt="3">
        <dgm:presLayoutVars>
          <dgm:bulletEnabled val="1"/>
        </dgm:presLayoutVars>
      </dgm:prSet>
      <dgm:spPr/>
      <dgm:t>
        <a:bodyPr/>
        <a:lstStyle/>
        <a:p>
          <a:endParaRPr lang="sv-SE"/>
        </a:p>
      </dgm:t>
    </dgm:pt>
  </dgm:ptLst>
  <dgm:cxnLst>
    <dgm:cxn modelId="{B3114227-31C8-5D45-9233-C2F0690CB80C}" type="presOf" srcId="{AAC8424C-82F4-ED46-93BB-5F720AB8716D}" destId="{383E6720-D94C-CB49-827C-3D6B7C0BB8FD}" srcOrd="0" destOrd="0" presId="urn:microsoft.com/office/officeart/2005/8/layout/vList4"/>
    <dgm:cxn modelId="{82CD4369-14A7-CE43-9951-8860E760E22D}" type="presOf" srcId="{7A67CA74-06BA-4947-8595-DCD885DDFBD1}" destId="{3E3CD85E-A7D0-AA43-9164-389657963A59}" srcOrd="1" destOrd="0" presId="urn:microsoft.com/office/officeart/2005/8/layout/vList4"/>
    <dgm:cxn modelId="{E06CA193-F9F9-0345-8975-A11BEDB740E9}" type="presOf" srcId="{9986EC4E-7E55-CB46-A68F-3EF9CE0AB835}" destId="{A469B5BA-48AB-2447-968A-83A233B3619A}" srcOrd="0" destOrd="0" presId="urn:microsoft.com/office/officeart/2005/8/layout/vList4"/>
    <dgm:cxn modelId="{4E8DEC23-6B2A-1744-839A-DB3B9693025D}" type="presOf" srcId="{AAC8424C-82F4-ED46-93BB-5F720AB8716D}" destId="{415CF7C8-2429-104F-93DB-F366281FC997}" srcOrd="1" destOrd="0" presId="urn:microsoft.com/office/officeart/2005/8/layout/vList4"/>
    <dgm:cxn modelId="{89EF6039-AE90-AF4C-8232-D6593908131E}" type="presOf" srcId="{9986EC4E-7E55-CB46-A68F-3EF9CE0AB835}" destId="{2800F71B-6FCF-324E-AE15-445F26D222A7}" srcOrd="1" destOrd="0" presId="urn:microsoft.com/office/officeart/2005/8/layout/vList4"/>
    <dgm:cxn modelId="{4F0CD7B4-88E9-1440-90DA-993C2400F431}" type="presOf" srcId="{7A67CA74-06BA-4947-8595-DCD885DDFBD1}" destId="{D7EC801B-9D09-DC44-A173-997459634361}" srcOrd="0" destOrd="0" presId="urn:microsoft.com/office/officeart/2005/8/layout/vList4"/>
    <dgm:cxn modelId="{8192C22E-17C0-6A48-A569-993B48880531}" srcId="{46DB8E9E-A092-8C47-9D02-B9E1F3F96C97}" destId="{7A67CA74-06BA-4947-8595-DCD885DDFBD1}" srcOrd="1" destOrd="0" parTransId="{238E6E79-1C9B-AF45-9466-C312A3D8A098}" sibTransId="{35CD1148-EB44-7549-B1D7-5F8A38CDA3CD}"/>
    <dgm:cxn modelId="{2E2AA581-342B-0141-B1B9-F7FE47C72CA5}" srcId="{46DB8E9E-A092-8C47-9D02-B9E1F3F96C97}" destId="{AAC8424C-82F4-ED46-93BB-5F720AB8716D}" srcOrd="0" destOrd="0" parTransId="{E50B9A83-8A0A-D245-84A1-1C59DC1CE028}" sibTransId="{9A42BE83-11CC-034C-B1FA-C2A4B24A112F}"/>
    <dgm:cxn modelId="{EC94E4EF-221A-8F47-B83C-17EE6C25EF4C}" type="presOf" srcId="{46DB8E9E-A092-8C47-9D02-B9E1F3F96C97}" destId="{74627B24-35E2-F841-B5D3-96ACA7C7804C}" srcOrd="0" destOrd="0" presId="urn:microsoft.com/office/officeart/2005/8/layout/vList4"/>
    <dgm:cxn modelId="{91E2BABE-6340-8240-8274-DF43DC3A7682}" srcId="{46DB8E9E-A092-8C47-9D02-B9E1F3F96C97}" destId="{9986EC4E-7E55-CB46-A68F-3EF9CE0AB835}" srcOrd="2" destOrd="0" parTransId="{EFA7F83F-C62B-5D41-83F8-EBA2A7C088AE}" sibTransId="{F45F9217-2D5D-6F43-A468-DC7EBBFE793F}"/>
    <dgm:cxn modelId="{D42AC005-69EA-224D-AE46-E438E846F69D}" type="presParOf" srcId="{74627B24-35E2-F841-B5D3-96ACA7C7804C}" destId="{49AAA0F2-44BB-3E47-9737-A22F3D7D6AD0}" srcOrd="0" destOrd="0" presId="urn:microsoft.com/office/officeart/2005/8/layout/vList4"/>
    <dgm:cxn modelId="{33331A25-0337-D148-A83A-EAEFCE4BF0FA}" type="presParOf" srcId="{49AAA0F2-44BB-3E47-9737-A22F3D7D6AD0}" destId="{383E6720-D94C-CB49-827C-3D6B7C0BB8FD}" srcOrd="0" destOrd="0" presId="urn:microsoft.com/office/officeart/2005/8/layout/vList4"/>
    <dgm:cxn modelId="{7EA4843A-5AF2-EF4F-89C8-7268D7152C84}" type="presParOf" srcId="{49AAA0F2-44BB-3E47-9737-A22F3D7D6AD0}" destId="{AC996CF2-0F7D-244A-B5FD-3DFF298717EE}" srcOrd="1" destOrd="0" presId="urn:microsoft.com/office/officeart/2005/8/layout/vList4"/>
    <dgm:cxn modelId="{94375FDD-2F3E-8345-BDF7-7FC468A5F2A6}" type="presParOf" srcId="{49AAA0F2-44BB-3E47-9737-A22F3D7D6AD0}" destId="{415CF7C8-2429-104F-93DB-F366281FC997}" srcOrd="2" destOrd="0" presId="urn:microsoft.com/office/officeart/2005/8/layout/vList4"/>
    <dgm:cxn modelId="{2E7EC2CF-5E88-EF46-92AC-0029629ADD76}" type="presParOf" srcId="{74627B24-35E2-F841-B5D3-96ACA7C7804C}" destId="{66B52408-8856-E147-868C-371592EC93D1}" srcOrd="1" destOrd="0" presId="urn:microsoft.com/office/officeart/2005/8/layout/vList4"/>
    <dgm:cxn modelId="{F9E7C81D-16C2-4049-9C5B-8D4747ABBAF1}" type="presParOf" srcId="{74627B24-35E2-F841-B5D3-96ACA7C7804C}" destId="{5DA8E2DC-DA46-5F43-A4C6-921A3D925AA0}" srcOrd="2" destOrd="0" presId="urn:microsoft.com/office/officeart/2005/8/layout/vList4"/>
    <dgm:cxn modelId="{5C312F86-06BC-ED41-BB8A-2469CFB9DAFE}" type="presParOf" srcId="{5DA8E2DC-DA46-5F43-A4C6-921A3D925AA0}" destId="{D7EC801B-9D09-DC44-A173-997459634361}" srcOrd="0" destOrd="0" presId="urn:microsoft.com/office/officeart/2005/8/layout/vList4"/>
    <dgm:cxn modelId="{15F5A841-3022-EB48-BB34-91BFC4B4C1B0}" type="presParOf" srcId="{5DA8E2DC-DA46-5F43-A4C6-921A3D925AA0}" destId="{2E47990A-4A46-BB4C-A2ED-64B767D67765}" srcOrd="1" destOrd="0" presId="urn:microsoft.com/office/officeart/2005/8/layout/vList4"/>
    <dgm:cxn modelId="{D7B90971-00D2-244F-8C17-CF3F92379AB8}" type="presParOf" srcId="{5DA8E2DC-DA46-5F43-A4C6-921A3D925AA0}" destId="{3E3CD85E-A7D0-AA43-9164-389657963A59}" srcOrd="2" destOrd="0" presId="urn:microsoft.com/office/officeart/2005/8/layout/vList4"/>
    <dgm:cxn modelId="{70D513A5-E233-8446-B32B-8C32C8D5D0AD}" type="presParOf" srcId="{74627B24-35E2-F841-B5D3-96ACA7C7804C}" destId="{3A7BBF40-CCFB-4A46-BF05-DA8E23310B07}" srcOrd="3" destOrd="0" presId="urn:microsoft.com/office/officeart/2005/8/layout/vList4"/>
    <dgm:cxn modelId="{9CC3D8CE-D733-994F-9CE4-20CE08154618}" type="presParOf" srcId="{74627B24-35E2-F841-B5D3-96ACA7C7804C}" destId="{DEADB46B-5D2F-0A47-8662-03B1C51D7C4F}" srcOrd="4" destOrd="0" presId="urn:microsoft.com/office/officeart/2005/8/layout/vList4"/>
    <dgm:cxn modelId="{AF235F60-3F71-5340-916F-EE64872B8F04}" type="presParOf" srcId="{DEADB46B-5D2F-0A47-8662-03B1C51D7C4F}" destId="{A469B5BA-48AB-2447-968A-83A233B3619A}" srcOrd="0" destOrd="0" presId="urn:microsoft.com/office/officeart/2005/8/layout/vList4"/>
    <dgm:cxn modelId="{A6E157A3-DE81-7643-95A0-627E74CE11B4}" type="presParOf" srcId="{DEADB46B-5D2F-0A47-8662-03B1C51D7C4F}" destId="{5E57F427-D693-324A-B3A2-2DF82D044E0E}" srcOrd="1" destOrd="0" presId="urn:microsoft.com/office/officeart/2005/8/layout/vList4"/>
    <dgm:cxn modelId="{67245140-0A1B-0C4F-A219-78505817DD1D}" type="presParOf" srcId="{DEADB46B-5D2F-0A47-8662-03B1C51D7C4F}" destId="{2800F71B-6FCF-324E-AE15-445F26D222A7}" srcOrd="2" destOrd="0" presId="urn:microsoft.com/office/officeart/2005/8/layout/vList4"/>
  </dgm:cxnLst>
  <dgm:bg>
    <a:noFill/>
  </dgm:bg>
  <dgm:whole/>
  <dgm:extLst>
    <a:ext uri="http://schemas.microsoft.com/office/drawing/2008/diagram">
      <dsp:dataModelExt xmlns:dsp="http://schemas.microsoft.com/office/drawing/2008/diagram" relId="rId1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DCBEF6D-7A27-B945-A1DF-6210B9747C3B}" type="doc">
      <dgm:prSet loTypeId="urn:microsoft.com/office/officeart/2005/8/layout/default" loCatId="" qsTypeId="urn:microsoft.com/office/officeart/2005/8/quickstyle/simple4" qsCatId="simple" csTypeId="urn:microsoft.com/office/officeart/2005/8/colors/accent1_2" csCatId="accent1" phldr="1"/>
      <dgm:spPr/>
      <dgm:t>
        <a:bodyPr/>
        <a:lstStyle/>
        <a:p>
          <a:endParaRPr lang="sv-SE"/>
        </a:p>
      </dgm:t>
    </dgm:pt>
    <dgm:pt modelId="{DEEC7A65-3EEC-A94B-A3CF-9DFC1524FD53}">
      <dgm:prSet phldrT="[Text]" custT="1">
        <dgm:style>
          <a:lnRef idx="1">
            <a:schemeClr val="dk1"/>
          </a:lnRef>
          <a:fillRef idx="2">
            <a:schemeClr val="dk1"/>
          </a:fillRef>
          <a:effectRef idx="1">
            <a:schemeClr val="dk1"/>
          </a:effectRef>
          <a:fontRef idx="minor">
            <a:schemeClr val="dk1"/>
          </a:fontRef>
        </dgm:style>
      </dgm:prSet>
      <dgm:spPr/>
      <dgm:t>
        <a:bodyPr/>
        <a:lstStyle/>
        <a:p>
          <a:r>
            <a:rPr lang="sv-SE" sz="1000" dirty="0" smtClean="0">
              <a:solidFill>
                <a:srgbClr val="382819"/>
              </a:solidFill>
            </a:rPr>
            <a:t>Expedierings-underlag </a:t>
          </a:r>
          <a:br>
            <a:rPr lang="sv-SE" sz="1000" dirty="0" smtClean="0">
              <a:solidFill>
                <a:srgbClr val="382819"/>
              </a:solidFill>
            </a:rPr>
          </a:br>
          <a:r>
            <a:rPr lang="sv-SE" sz="1000" dirty="0" smtClean="0">
              <a:solidFill>
                <a:srgbClr val="382819"/>
              </a:solidFill>
            </a:rPr>
            <a:t>(Recept)</a:t>
          </a:r>
          <a:endParaRPr lang="sv-SE" sz="1000" dirty="0">
            <a:solidFill>
              <a:srgbClr val="382819"/>
            </a:solidFill>
          </a:endParaRPr>
        </a:p>
      </dgm:t>
    </dgm:pt>
    <dgm:pt modelId="{EB7F0031-CB7A-754F-BD5B-679DF7C67DEA}" type="parTrans" cxnId="{768C17DB-45E9-0746-82B8-582A59C04684}">
      <dgm:prSet/>
      <dgm:spPr/>
      <dgm:t>
        <a:bodyPr/>
        <a:lstStyle/>
        <a:p>
          <a:endParaRPr lang="sv-SE"/>
        </a:p>
      </dgm:t>
    </dgm:pt>
    <dgm:pt modelId="{7EBB0590-C471-354F-90A2-B6C726FDA59A}" type="sibTrans" cxnId="{768C17DB-45E9-0746-82B8-582A59C04684}">
      <dgm:prSet/>
      <dgm:spPr/>
      <dgm:t>
        <a:bodyPr/>
        <a:lstStyle/>
        <a:p>
          <a:endParaRPr lang="sv-SE"/>
        </a:p>
      </dgm:t>
    </dgm:pt>
    <dgm:pt modelId="{0D4945D6-6A66-9C46-99FA-5824A7760151}">
      <dgm:prSet phldrT="[Text]" custT="1">
        <dgm:style>
          <a:lnRef idx="1">
            <a:schemeClr val="dk1"/>
          </a:lnRef>
          <a:fillRef idx="2">
            <a:schemeClr val="dk1"/>
          </a:fillRef>
          <a:effectRef idx="1">
            <a:schemeClr val="dk1"/>
          </a:effectRef>
          <a:fontRef idx="minor">
            <a:schemeClr val="dk1"/>
          </a:fontRef>
        </dgm:style>
      </dgm:prSet>
      <dgm:spPr/>
      <dgm:t>
        <a:bodyPr/>
        <a:lstStyle/>
        <a:p>
          <a:r>
            <a:rPr lang="sv-SE" sz="1050" dirty="0" smtClean="0">
              <a:solidFill>
                <a:srgbClr val="382819"/>
              </a:solidFill>
            </a:rPr>
            <a:t>Uthämtade läkemedel</a:t>
          </a:r>
          <a:endParaRPr lang="sv-SE" sz="1050" dirty="0">
            <a:solidFill>
              <a:srgbClr val="382819"/>
            </a:solidFill>
          </a:endParaRPr>
        </a:p>
      </dgm:t>
    </dgm:pt>
    <dgm:pt modelId="{27180289-FDAF-AF4F-ADC4-F1E299B20820}" type="parTrans" cxnId="{4B05E889-AB4A-D842-8871-6C8D802272A5}">
      <dgm:prSet/>
      <dgm:spPr/>
      <dgm:t>
        <a:bodyPr/>
        <a:lstStyle/>
        <a:p>
          <a:endParaRPr lang="sv-SE"/>
        </a:p>
      </dgm:t>
    </dgm:pt>
    <dgm:pt modelId="{77BEBA60-F540-AE48-895C-C1E5D1248149}" type="sibTrans" cxnId="{4B05E889-AB4A-D842-8871-6C8D802272A5}">
      <dgm:prSet/>
      <dgm:spPr/>
      <dgm:t>
        <a:bodyPr/>
        <a:lstStyle/>
        <a:p>
          <a:endParaRPr lang="sv-SE"/>
        </a:p>
      </dgm:t>
    </dgm:pt>
    <dgm:pt modelId="{2D1902E3-033F-DC4E-9269-BE6E075CEB8A}" type="pres">
      <dgm:prSet presAssocID="{7DCBEF6D-7A27-B945-A1DF-6210B9747C3B}" presName="diagram" presStyleCnt="0">
        <dgm:presLayoutVars>
          <dgm:dir/>
          <dgm:resizeHandles val="exact"/>
        </dgm:presLayoutVars>
      </dgm:prSet>
      <dgm:spPr/>
      <dgm:t>
        <a:bodyPr/>
        <a:lstStyle/>
        <a:p>
          <a:endParaRPr lang="sv-SE"/>
        </a:p>
      </dgm:t>
    </dgm:pt>
    <dgm:pt modelId="{163AC0F3-0F4F-314D-9CD4-397B1FAF3FE4}" type="pres">
      <dgm:prSet presAssocID="{DEEC7A65-3EEC-A94B-A3CF-9DFC1524FD53}" presName="node" presStyleLbl="node1" presStyleIdx="0" presStyleCnt="2" custScaleX="94966" custScaleY="72261">
        <dgm:presLayoutVars>
          <dgm:bulletEnabled val="1"/>
        </dgm:presLayoutVars>
      </dgm:prSet>
      <dgm:spPr/>
      <dgm:t>
        <a:bodyPr/>
        <a:lstStyle/>
        <a:p>
          <a:endParaRPr lang="sv-SE"/>
        </a:p>
      </dgm:t>
    </dgm:pt>
    <dgm:pt modelId="{B1CBB65A-655E-F94F-B1BC-A9E89F1EA0F9}" type="pres">
      <dgm:prSet presAssocID="{7EBB0590-C471-354F-90A2-B6C726FDA59A}" presName="sibTrans" presStyleCnt="0"/>
      <dgm:spPr/>
    </dgm:pt>
    <dgm:pt modelId="{9824311D-41EE-5C42-BF21-7F538129D4FA}" type="pres">
      <dgm:prSet presAssocID="{0D4945D6-6A66-9C46-99FA-5824A7760151}" presName="node" presStyleLbl="node1" presStyleIdx="1" presStyleCnt="2" custScaleX="75190" custScaleY="60129" custLinFactNeighborX="1237" custLinFactNeighborY="33578">
        <dgm:presLayoutVars>
          <dgm:bulletEnabled val="1"/>
        </dgm:presLayoutVars>
      </dgm:prSet>
      <dgm:spPr/>
      <dgm:t>
        <a:bodyPr/>
        <a:lstStyle/>
        <a:p>
          <a:endParaRPr lang="sv-SE"/>
        </a:p>
      </dgm:t>
    </dgm:pt>
  </dgm:ptLst>
  <dgm:cxnLst>
    <dgm:cxn modelId="{5E5D9A3F-F556-624C-8690-F4A516AE29C9}" type="presOf" srcId="{0D4945D6-6A66-9C46-99FA-5824A7760151}" destId="{9824311D-41EE-5C42-BF21-7F538129D4FA}" srcOrd="0" destOrd="0" presId="urn:microsoft.com/office/officeart/2005/8/layout/default"/>
    <dgm:cxn modelId="{768C17DB-45E9-0746-82B8-582A59C04684}" srcId="{7DCBEF6D-7A27-B945-A1DF-6210B9747C3B}" destId="{DEEC7A65-3EEC-A94B-A3CF-9DFC1524FD53}" srcOrd="0" destOrd="0" parTransId="{EB7F0031-CB7A-754F-BD5B-679DF7C67DEA}" sibTransId="{7EBB0590-C471-354F-90A2-B6C726FDA59A}"/>
    <dgm:cxn modelId="{36BFCE2C-693C-9143-A341-C127C0A2CA10}" type="presOf" srcId="{7DCBEF6D-7A27-B945-A1DF-6210B9747C3B}" destId="{2D1902E3-033F-DC4E-9269-BE6E075CEB8A}" srcOrd="0" destOrd="0" presId="urn:microsoft.com/office/officeart/2005/8/layout/default"/>
    <dgm:cxn modelId="{4B05E889-AB4A-D842-8871-6C8D802272A5}" srcId="{7DCBEF6D-7A27-B945-A1DF-6210B9747C3B}" destId="{0D4945D6-6A66-9C46-99FA-5824A7760151}" srcOrd="1" destOrd="0" parTransId="{27180289-FDAF-AF4F-ADC4-F1E299B20820}" sibTransId="{77BEBA60-F540-AE48-895C-C1E5D1248149}"/>
    <dgm:cxn modelId="{E8198A34-2765-2B41-9355-EAC11A6F4BE9}" type="presOf" srcId="{DEEC7A65-3EEC-A94B-A3CF-9DFC1524FD53}" destId="{163AC0F3-0F4F-314D-9CD4-397B1FAF3FE4}" srcOrd="0" destOrd="0" presId="urn:microsoft.com/office/officeart/2005/8/layout/default"/>
    <dgm:cxn modelId="{26596E8B-5397-8940-98C0-ED4474A6BDD3}" type="presParOf" srcId="{2D1902E3-033F-DC4E-9269-BE6E075CEB8A}" destId="{163AC0F3-0F4F-314D-9CD4-397B1FAF3FE4}" srcOrd="0" destOrd="0" presId="urn:microsoft.com/office/officeart/2005/8/layout/default"/>
    <dgm:cxn modelId="{8A5FA7A0-FDA0-2A4D-A740-99AC7BE9AFF7}" type="presParOf" srcId="{2D1902E3-033F-DC4E-9269-BE6E075CEB8A}" destId="{B1CBB65A-655E-F94F-B1BC-A9E89F1EA0F9}" srcOrd="1" destOrd="0" presId="urn:microsoft.com/office/officeart/2005/8/layout/default"/>
    <dgm:cxn modelId="{E1FB6F80-CBA6-7741-886B-BE62A354DFAC}" type="presParOf" srcId="{2D1902E3-033F-DC4E-9269-BE6E075CEB8A}" destId="{9824311D-41EE-5C42-BF21-7F538129D4FA}" srcOrd="2"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6DB8E9E-A092-8C47-9D02-B9E1F3F96C97}" type="doc">
      <dgm:prSet loTypeId="urn:microsoft.com/office/officeart/2005/8/layout/vList4" loCatId="" qsTypeId="urn:microsoft.com/office/officeart/2005/8/quickstyle/simple4" qsCatId="simple" csTypeId="urn:microsoft.com/office/officeart/2005/8/colors/accent1_2" csCatId="accent1" phldr="1"/>
      <dgm:spPr/>
      <dgm:t>
        <a:bodyPr/>
        <a:lstStyle/>
        <a:p>
          <a:endParaRPr lang="sv-SE"/>
        </a:p>
      </dgm:t>
    </dgm:pt>
    <dgm:pt modelId="{AAC8424C-82F4-ED46-93BB-5F720AB8716D}">
      <dgm:prSet phldrT="[Text]" custT="1">
        <dgm:style>
          <a:lnRef idx="2">
            <a:schemeClr val="accent1"/>
          </a:lnRef>
          <a:fillRef idx="1">
            <a:schemeClr val="lt1"/>
          </a:fillRef>
          <a:effectRef idx="0">
            <a:schemeClr val="accent1"/>
          </a:effectRef>
          <a:fontRef idx="minor">
            <a:schemeClr val="dk1"/>
          </a:fontRef>
        </dgm:style>
      </dgm:prSet>
      <dgm:spPr>
        <a:ln>
          <a:solidFill>
            <a:schemeClr val="bg1">
              <a:lumMod val="50000"/>
            </a:schemeClr>
          </a:solidFill>
        </a:ln>
      </dgm:spPr>
      <dgm:t>
        <a:bodyPr/>
        <a:lstStyle/>
        <a:p>
          <a:r>
            <a:rPr lang="sv-SE" sz="1000" dirty="0" smtClean="0">
              <a:solidFill>
                <a:srgbClr val="382819"/>
              </a:solidFill>
            </a:rPr>
            <a:t>Läkemedelsordinationer</a:t>
          </a:r>
          <a:endParaRPr lang="sv-SE" sz="1000" dirty="0">
            <a:solidFill>
              <a:srgbClr val="382819"/>
            </a:solidFill>
          </a:endParaRPr>
        </a:p>
      </dgm:t>
    </dgm:pt>
    <dgm:pt modelId="{E50B9A83-8A0A-D245-84A1-1C59DC1CE028}" type="parTrans" cxnId="{2E2AA581-342B-0141-B1B9-F7FE47C72CA5}">
      <dgm:prSet/>
      <dgm:spPr/>
      <dgm:t>
        <a:bodyPr/>
        <a:lstStyle/>
        <a:p>
          <a:endParaRPr lang="sv-SE">
            <a:solidFill>
              <a:srgbClr val="382819"/>
            </a:solidFill>
          </a:endParaRPr>
        </a:p>
      </dgm:t>
    </dgm:pt>
    <dgm:pt modelId="{9A42BE83-11CC-034C-B1FA-C2A4B24A112F}" type="sibTrans" cxnId="{2E2AA581-342B-0141-B1B9-F7FE47C72CA5}">
      <dgm:prSet/>
      <dgm:spPr/>
      <dgm:t>
        <a:bodyPr/>
        <a:lstStyle/>
        <a:p>
          <a:endParaRPr lang="sv-SE">
            <a:solidFill>
              <a:srgbClr val="382819"/>
            </a:solidFill>
          </a:endParaRPr>
        </a:p>
      </dgm:t>
    </dgm:pt>
    <dgm:pt modelId="{7A67CA74-06BA-4947-8595-DCD885DDFBD1}">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382819"/>
              </a:solidFill>
            </a:rPr>
            <a:t>Expedieringsunderlag</a:t>
          </a:r>
          <a:br>
            <a:rPr lang="sv-SE" sz="1000" dirty="0" smtClean="0">
              <a:solidFill>
                <a:srgbClr val="382819"/>
              </a:solidFill>
            </a:rPr>
          </a:br>
          <a:r>
            <a:rPr lang="sv-SE" sz="1000" dirty="0" smtClean="0">
              <a:solidFill>
                <a:srgbClr val="382819"/>
              </a:solidFill>
            </a:rPr>
            <a:t>(förskrivning)</a:t>
          </a:r>
          <a:endParaRPr lang="sv-SE" sz="1000" dirty="0">
            <a:solidFill>
              <a:srgbClr val="382819"/>
            </a:solidFill>
          </a:endParaRPr>
        </a:p>
      </dgm:t>
    </dgm:pt>
    <dgm:pt modelId="{238E6E79-1C9B-AF45-9466-C312A3D8A098}" type="parTrans" cxnId="{8192C22E-17C0-6A48-A569-993B48880531}">
      <dgm:prSet/>
      <dgm:spPr/>
      <dgm:t>
        <a:bodyPr/>
        <a:lstStyle/>
        <a:p>
          <a:endParaRPr lang="sv-SE">
            <a:solidFill>
              <a:srgbClr val="382819"/>
            </a:solidFill>
          </a:endParaRPr>
        </a:p>
      </dgm:t>
    </dgm:pt>
    <dgm:pt modelId="{35CD1148-EB44-7549-B1D7-5F8A38CDA3CD}" type="sibTrans" cxnId="{8192C22E-17C0-6A48-A569-993B48880531}">
      <dgm:prSet/>
      <dgm:spPr/>
      <dgm:t>
        <a:bodyPr/>
        <a:lstStyle/>
        <a:p>
          <a:endParaRPr lang="sv-SE">
            <a:solidFill>
              <a:srgbClr val="382819"/>
            </a:solidFill>
          </a:endParaRPr>
        </a:p>
      </dgm:t>
    </dgm:pt>
    <dgm:pt modelId="{9986EC4E-7E55-CB46-A68F-3EF9CE0AB835}">
      <dgm:prSet phldrT="[Text]" custT="1">
        <dgm:style>
          <a:lnRef idx="2">
            <a:schemeClr val="accent1"/>
          </a:lnRef>
          <a:fillRef idx="1">
            <a:schemeClr val="lt1"/>
          </a:fillRef>
          <a:effectRef idx="0">
            <a:schemeClr val="accent1"/>
          </a:effectRef>
          <a:fontRef idx="minor">
            <a:schemeClr val="dk1"/>
          </a:fontRef>
        </dgm:style>
      </dgm:prSet>
      <dgm:spPr>
        <a:ln>
          <a:solidFill>
            <a:srgbClr val="7F7F7F"/>
          </a:solidFill>
        </a:ln>
      </dgm:spPr>
      <dgm:t>
        <a:bodyPr/>
        <a:lstStyle/>
        <a:p>
          <a:r>
            <a:rPr lang="sv-SE" sz="1000" dirty="0" smtClean="0">
              <a:solidFill>
                <a:srgbClr val="382819"/>
              </a:solidFill>
            </a:rPr>
            <a:t>Uthämtade läkemedel</a:t>
          </a:r>
          <a:endParaRPr lang="sv-SE" sz="1000" dirty="0">
            <a:solidFill>
              <a:srgbClr val="382819"/>
            </a:solidFill>
          </a:endParaRPr>
        </a:p>
      </dgm:t>
    </dgm:pt>
    <dgm:pt modelId="{EFA7F83F-C62B-5D41-83F8-EBA2A7C088AE}" type="parTrans" cxnId="{91E2BABE-6340-8240-8274-DF43DC3A7682}">
      <dgm:prSet/>
      <dgm:spPr/>
      <dgm:t>
        <a:bodyPr/>
        <a:lstStyle/>
        <a:p>
          <a:endParaRPr lang="sv-SE">
            <a:solidFill>
              <a:srgbClr val="382819"/>
            </a:solidFill>
          </a:endParaRPr>
        </a:p>
      </dgm:t>
    </dgm:pt>
    <dgm:pt modelId="{F45F9217-2D5D-6F43-A468-DC7EBBFE793F}" type="sibTrans" cxnId="{91E2BABE-6340-8240-8274-DF43DC3A7682}">
      <dgm:prSet/>
      <dgm:spPr/>
      <dgm:t>
        <a:bodyPr/>
        <a:lstStyle/>
        <a:p>
          <a:endParaRPr lang="sv-SE">
            <a:solidFill>
              <a:srgbClr val="382819"/>
            </a:solidFill>
          </a:endParaRPr>
        </a:p>
      </dgm:t>
    </dgm:pt>
    <dgm:pt modelId="{74627B24-35E2-F841-B5D3-96ACA7C7804C}" type="pres">
      <dgm:prSet presAssocID="{46DB8E9E-A092-8C47-9D02-B9E1F3F96C97}" presName="linear" presStyleCnt="0">
        <dgm:presLayoutVars>
          <dgm:dir/>
          <dgm:resizeHandles val="exact"/>
        </dgm:presLayoutVars>
      </dgm:prSet>
      <dgm:spPr/>
      <dgm:t>
        <a:bodyPr/>
        <a:lstStyle/>
        <a:p>
          <a:endParaRPr lang="sv-SE"/>
        </a:p>
      </dgm:t>
    </dgm:pt>
    <dgm:pt modelId="{49AAA0F2-44BB-3E47-9737-A22F3D7D6AD0}" type="pres">
      <dgm:prSet presAssocID="{AAC8424C-82F4-ED46-93BB-5F720AB8716D}" presName="comp" presStyleCnt="0"/>
      <dgm:spPr/>
    </dgm:pt>
    <dgm:pt modelId="{383E6720-D94C-CB49-827C-3D6B7C0BB8FD}" type="pres">
      <dgm:prSet presAssocID="{AAC8424C-82F4-ED46-93BB-5F720AB8716D}" presName="box" presStyleLbl="node1" presStyleIdx="0" presStyleCnt="3"/>
      <dgm:spPr/>
      <dgm:t>
        <a:bodyPr/>
        <a:lstStyle/>
        <a:p>
          <a:endParaRPr lang="sv-SE"/>
        </a:p>
      </dgm:t>
    </dgm:pt>
    <dgm:pt modelId="{AC996CF2-0F7D-244A-B5FD-3DFF298717EE}" type="pres">
      <dgm:prSet presAssocID="{AAC8424C-82F4-ED46-93BB-5F720AB8716D}" presName="img" presStyleLbl="fgImgPlace1" presStyleIdx="0" presStyleCnt="3" custLinFactNeighborX="-8126"/>
      <dgm:spPr>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dgm:spPr>
      <dgm:t>
        <a:bodyPr/>
        <a:lstStyle/>
        <a:p>
          <a:endParaRPr lang="sv-SE"/>
        </a:p>
      </dgm:t>
    </dgm:pt>
    <dgm:pt modelId="{415CF7C8-2429-104F-93DB-F366281FC997}" type="pres">
      <dgm:prSet presAssocID="{AAC8424C-82F4-ED46-93BB-5F720AB8716D}" presName="text" presStyleLbl="node1" presStyleIdx="0" presStyleCnt="3">
        <dgm:presLayoutVars>
          <dgm:bulletEnabled val="1"/>
        </dgm:presLayoutVars>
      </dgm:prSet>
      <dgm:spPr/>
      <dgm:t>
        <a:bodyPr/>
        <a:lstStyle/>
        <a:p>
          <a:endParaRPr lang="sv-SE"/>
        </a:p>
      </dgm:t>
    </dgm:pt>
    <dgm:pt modelId="{66B52408-8856-E147-868C-371592EC93D1}" type="pres">
      <dgm:prSet presAssocID="{9A42BE83-11CC-034C-B1FA-C2A4B24A112F}" presName="spacer" presStyleCnt="0"/>
      <dgm:spPr/>
    </dgm:pt>
    <dgm:pt modelId="{5DA8E2DC-DA46-5F43-A4C6-921A3D925AA0}" type="pres">
      <dgm:prSet presAssocID="{7A67CA74-06BA-4947-8595-DCD885DDFBD1}" presName="comp" presStyleCnt="0"/>
      <dgm:spPr/>
    </dgm:pt>
    <dgm:pt modelId="{D7EC801B-9D09-DC44-A173-997459634361}" type="pres">
      <dgm:prSet presAssocID="{7A67CA74-06BA-4947-8595-DCD885DDFBD1}" presName="box" presStyleLbl="node1" presStyleIdx="1" presStyleCnt="3" custScaleX="90428" custLinFactNeighborX="5352"/>
      <dgm:spPr/>
      <dgm:t>
        <a:bodyPr/>
        <a:lstStyle/>
        <a:p>
          <a:endParaRPr lang="sv-SE"/>
        </a:p>
      </dgm:t>
    </dgm:pt>
    <dgm:pt modelId="{2E47990A-4A46-BB4C-A2ED-64B767D67765}" type="pres">
      <dgm:prSet presAssocID="{7A67CA74-06BA-4947-8595-DCD885DDFBD1}" presName="img" presStyleLbl="fgImgPlace1" presStyleIdx="1" presStyleCnt="3" custLinFactNeighborX="26760"/>
      <dgm:spPr>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dgm:spPr>
      <dgm:t>
        <a:bodyPr/>
        <a:lstStyle/>
        <a:p>
          <a:endParaRPr lang="sv-SE"/>
        </a:p>
      </dgm:t>
    </dgm:pt>
    <dgm:pt modelId="{3E3CD85E-A7D0-AA43-9164-389657963A59}" type="pres">
      <dgm:prSet presAssocID="{7A67CA74-06BA-4947-8595-DCD885DDFBD1}" presName="text" presStyleLbl="node1" presStyleIdx="1" presStyleCnt="3">
        <dgm:presLayoutVars>
          <dgm:bulletEnabled val="1"/>
        </dgm:presLayoutVars>
      </dgm:prSet>
      <dgm:spPr/>
      <dgm:t>
        <a:bodyPr/>
        <a:lstStyle/>
        <a:p>
          <a:endParaRPr lang="sv-SE"/>
        </a:p>
      </dgm:t>
    </dgm:pt>
    <dgm:pt modelId="{3A7BBF40-CCFB-4A46-BF05-DA8E23310B07}" type="pres">
      <dgm:prSet presAssocID="{35CD1148-EB44-7549-B1D7-5F8A38CDA3CD}" presName="spacer" presStyleCnt="0"/>
      <dgm:spPr/>
    </dgm:pt>
    <dgm:pt modelId="{DEADB46B-5D2F-0A47-8662-03B1C51D7C4F}" type="pres">
      <dgm:prSet presAssocID="{9986EC4E-7E55-CB46-A68F-3EF9CE0AB835}" presName="comp" presStyleCnt="0"/>
      <dgm:spPr/>
    </dgm:pt>
    <dgm:pt modelId="{A469B5BA-48AB-2447-968A-83A233B3619A}" type="pres">
      <dgm:prSet presAssocID="{9986EC4E-7E55-CB46-A68F-3EF9CE0AB835}" presName="box" presStyleLbl="node1" presStyleIdx="2" presStyleCnt="3" custScaleX="75785" custLinFactNeighborX="7535"/>
      <dgm:spPr/>
      <dgm:t>
        <a:bodyPr/>
        <a:lstStyle/>
        <a:p>
          <a:endParaRPr lang="sv-SE"/>
        </a:p>
      </dgm:t>
    </dgm:pt>
    <dgm:pt modelId="{5E57F427-D693-324A-B3A2-2DF82D044E0E}" type="pres">
      <dgm:prSet presAssocID="{9986EC4E-7E55-CB46-A68F-3EF9CE0AB835}" presName="img" presStyleLbl="fgImgPlace1" presStyleIdx="2" presStyleCnt="3" custLinFactNeighborX="69130"/>
      <dgm:spPr>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dgm:spPr>
      <dgm:t>
        <a:bodyPr/>
        <a:lstStyle/>
        <a:p>
          <a:endParaRPr lang="sv-SE"/>
        </a:p>
      </dgm:t>
    </dgm:pt>
    <dgm:pt modelId="{2800F71B-6FCF-324E-AE15-445F26D222A7}" type="pres">
      <dgm:prSet presAssocID="{9986EC4E-7E55-CB46-A68F-3EF9CE0AB835}" presName="text" presStyleLbl="node1" presStyleIdx="2" presStyleCnt="3">
        <dgm:presLayoutVars>
          <dgm:bulletEnabled val="1"/>
        </dgm:presLayoutVars>
      </dgm:prSet>
      <dgm:spPr/>
      <dgm:t>
        <a:bodyPr/>
        <a:lstStyle/>
        <a:p>
          <a:endParaRPr lang="sv-SE"/>
        </a:p>
      </dgm:t>
    </dgm:pt>
  </dgm:ptLst>
  <dgm:cxnLst>
    <dgm:cxn modelId="{C402BC66-E984-334F-A7E2-2DFFBA82CAD2}" type="presOf" srcId="{46DB8E9E-A092-8C47-9D02-B9E1F3F96C97}" destId="{74627B24-35E2-F841-B5D3-96ACA7C7804C}" srcOrd="0" destOrd="0" presId="urn:microsoft.com/office/officeart/2005/8/layout/vList4"/>
    <dgm:cxn modelId="{33C16AFE-7CB9-E643-8AF6-EB271DBAF2B2}" type="presOf" srcId="{AAC8424C-82F4-ED46-93BB-5F720AB8716D}" destId="{415CF7C8-2429-104F-93DB-F366281FC997}" srcOrd="1" destOrd="0" presId="urn:microsoft.com/office/officeart/2005/8/layout/vList4"/>
    <dgm:cxn modelId="{3EB622D2-FEB1-204C-ABF5-A9B9147550C3}" type="presOf" srcId="{9986EC4E-7E55-CB46-A68F-3EF9CE0AB835}" destId="{A469B5BA-48AB-2447-968A-83A233B3619A}" srcOrd="0" destOrd="0" presId="urn:microsoft.com/office/officeart/2005/8/layout/vList4"/>
    <dgm:cxn modelId="{B8F94B4C-C81E-6F43-BC6C-F2D15BFC6BBB}" type="presOf" srcId="{AAC8424C-82F4-ED46-93BB-5F720AB8716D}" destId="{383E6720-D94C-CB49-827C-3D6B7C0BB8FD}" srcOrd="0" destOrd="0" presId="urn:microsoft.com/office/officeart/2005/8/layout/vList4"/>
    <dgm:cxn modelId="{3407E705-FD05-1743-9A43-76A85BEF7359}" type="presOf" srcId="{7A67CA74-06BA-4947-8595-DCD885DDFBD1}" destId="{D7EC801B-9D09-DC44-A173-997459634361}" srcOrd="0" destOrd="0" presId="urn:microsoft.com/office/officeart/2005/8/layout/vList4"/>
    <dgm:cxn modelId="{91E2BABE-6340-8240-8274-DF43DC3A7682}" srcId="{46DB8E9E-A092-8C47-9D02-B9E1F3F96C97}" destId="{9986EC4E-7E55-CB46-A68F-3EF9CE0AB835}" srcOrd="2" destOrd="0" parTransId="{EFA7F83F-C62B-5D41-83F8-EBA2A7C088AE}" sibTransId="{F45F9217-2D5D-6F43-A468-DC7EBBFE793F}"/>
    <dgm:cxn modelId="{E0228BFE-224D-2544-B4A4-16FD6445E13B}" type="presOf" srcId="{7A67CA74-06BA-4947-8595-DCD885DDFBD1}" destId="{3E3CD85E-A7D0-AA43-9164-389657963A59}" srcOrd="1" destOrd="0" presId="urn:microsoft.com/office/officeart/2005/8/layout/vList4"/>
    <dgm:cxn modelId="{5AEEDCDD-EA0C-D845-98D0-D043C3712628}" type="presOf" srcId="{9986EC4E-7E55-CB46-A68F-3EF9CE0AB835}" destId="{2800F71B-6FCF-324E-AE15-445F26D222A7}" srcOrd="1" destOrd="0" presId="urn:microsoft.com/office/officeart/2005/8/layout/vList4"/>
    <dgm:cxn modelId="{2E2AA581-342B-0141-B1B9-F7FE47C72CA5}" srcId="{46DB8E9E-A092-8C47-9D02-B9E1F3F96C97}" destId="{AAC8424C-82F4-ED46-93BB-5F720AB8716D}" srcOrd="0" destOrd="0" parTransId="{E50B9A83-8A0A-D245-84A1-1C59DC1CE028}" sibTransId="{9A42BE83-11CC-034C-B1FA-C2A4B24A112F}"/>
    <dgm:cxn modelId="{8192C22E-17C0-6A48-A569-993B48880531}" srcId="{46DB8E9E-A092-8C47-9D02-B9E1F3F96C97}" destId="{7A67CA74-06BA-4947-8595-DCD885DDFBD1}" srcOrd="1" destOrd="0" parTransId="{238E6E79-1C9B-AF45-9466-C312A3D8A098}" sibTransId="{35CD1148-EB44-7549-B1D7-5F8A38CDA3CD}"/>
    <dgm:cxn modelId="{A6FDE175-D38C-FD47-8E0A-7BFDA4CC2888}" type="presParOf" srcId="{74627B24-35E2-F841-B5D3-96ACA7C7804C}" destId="{49AAA0F2-44BB-3E47-9737-A22F3D7D6AD0}" srcOrd="0" destOrd="0" presId="urn:microsoft.com/office/officeart/2005/8/layout/vList4"/>
    <dgm:cxn modelId="{AE9F1275-2CEB-B345-9486-C991DE837477}" type="presParOf" srcId="{49AAA0F2-44BB-3E47-9737-A22F3D7D6AD0}" destId="{383E6720-D94C-CB49-827C-3D6B7C0BB8FD}" srcOrd="0" destOrd="0" presId="urn:microsoft.com/office/officeart/2005/8/layout/vList4"/>
    <dgm:cxn modelId="{40EF8047-93A4-0546-8DA0-9AF29E248709}" type="presParOf" srcId="{49AAA0F2-44BB-3E47-9737-A22F3D7D6AD0}" destId="{AC996CF2-0F7D-244A-B5FD-3DFF298717EE}" srcOrd="1" destOrd="0" presId="urn:microsoft.com/office/officeart/2005/8/layout/vList4"/>
    <dgm:cxn modelId="{0EB80B9F-4853-C749-8165-43AFADA3A35F}" type="presParOf" srcId="{49AAA0F2-44BB-3E47-9737-A22F3D7D6AD0}" destId="{415CF7C8-2429-104F-93DB-F366281FC997}" srcOrd="2" destOrd="0" presId="urn:microsoft.com/office/officeart/2005/8/layout/vList4"/>
    <dgm:cxn modelId="{7F49EA2B-C0D3-DC4A-A283-D3C72CEBAEDA}" type="presParOf" srcId="{74627B24-35E2-F841-B5D3-96ACA7C7804C}" destId="{66B52408-8856-E147-868C-371592EC93D1}" srcOrd="1" destOrd="0" presId="urn:microsoft.com/office/officeart/2005/8/layout/vList4"/>
    <dgm:cxn modelId="{D567CCC7-D9CA-5B43-B95F-8A897495B299}" type="presParOf" srcId="{74627B24-35E2-F841-B5D3-96ACA7C7804C}" destId="{5DA8E2DC-DA46-5F43-A4C6-921A3D925AA0}" srcOrd="2" destOrd="0" presId="urn:microsoft.com/office/officeart/2005/8/layout/vList4"/>
    <dgm:cxn modelId="{175C4C12-C0A3-4D49-B32C-6ADFB6C9BD5E}" type="presParOf" srcId="{5DA8E2DC-DA46-5F43-A4C6-921A3D925AA0}" destId="{D7EC801B-9D09-DC44-A173-997459634361}" srcOrd="0" destOrd="0" presId="urn:microsoft.com/office/officeart/2005/8/layout/vList4"/>
    <dgm:cxn modelId="{4CB88BAD-435D-E44E-B609-7A8B1E970FA2}" type="presParOf" srcId="{5DA8E2DC-DA46-5F43-A4C6-921A3D925AA0}" destId="{2E47990A-4A46-BB4C-A2ED-64B767D67765}" srcOrd="1" destOrd="0" presId="urn:microsoft.com/office/officeart/2005/8/layout/vList4"/>
    <dgm:cxn modelId="{2F700087-6AE5-9B48-8F0F-A7182E096F41}" type="presParOf" srcId="{5DA8E2DC-DA46-5F43-A4C6-921A3D925AA0}" destId="{3E3CD85E-A7D0-AA43-9164-389657963A59}" srcOrd="2" destOrd="0" presId="urn:microsoft.com/office/officeart/2005/8/layout/vList4"/>
    <dgm:cxn modelId="{DB3B7BE8-49FC-3441-B154-B9B4098B8DBD}" type="presParOf" srcId="{74627B24-35E2-F841-B5D3-96ACA7C7804C}" destId="{3A7BBF40-CCFB-4A46-BF05-DA8E23310B07}" srcOrd="3" destOrd="0" presId="urn:microsoft.com/office/officeart/2005/8/layout/vList4"/>
    <dgm:cxn modelId="{764E7E7F-5396-584A-A464-7040A6B1B4FA}" type="presParOf" srcId="{74627B24-35E2-F841-B5D3-96ACA7C7804C}" destId="{DEADB46B-5D2F-0A47-8662-03B1C51D7C4F}" srcOrd="4" destOrd="0" presId="urn:microsoft.com/office/officeart/2005/8/layout/vList4"/>
    <dgm:cxn modelId="{C088CA87-3444-FE48-A2B0-A3C22CBC219F}" type="presParOf" srcId="{DEADB46B-5D2F-0A47-8662-03B1C51D7C4F}" destId="{A469B5BA-48AB-2447-968A-83A233B3619A}" srcOrd="0" destOrd="0" presId="urn:microsoft.com/office/officeart/2005/8/layout/vList4"/>
    <dgm:cxn modelId="{68A3D74E-DC63-D845-ADA2-0B9EEFC303C9}" type="presParOf" srcId="{DEADB46B-5D2F-0A47-8662-03B1C51D7C4F}" destId="{5E57F427-D693-324A-B3A2-2DF82D044E0E}" srcOrd="1" destOrd="0" presId="urn:microsoft.com/office/officeart/2005/8/layout/vList4"/>
    <dgm:cxn modelId="{8F270D23-0C0B-B541-B4EF-0DBDD20F741B}" type="presParOf" srcId="{DEADB46B-5D2F-0A47-8662-03B1C51D7C4F}" destId="{2800F71B-6FCF-324E-AE15-445F26D222A7}" srcOrd="2" destOrd="0" presId="urn:microsoft.com/office/officeart/2005/8/layout/vList4"/>
  </dgm:cxnLst>
  <dgm:bg>
    <a:noFill/>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AC0F3-0F4F-314D-9CD4-397B1FAF3FE4}">
      <dsp:nvSpPr>
        <dsp:cNvPr id="0" name=""/>
        <dsp:cNvSpPr/>
      </dsp:nvSpPr>
      <dsp:spPr>
        <a:xfrm>
          <a:off x="29079" y="99048"/>
          <a:ext cx="1097160" cy="500907"/>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sv-SE" sz="1000" kern="1200" dirty="0" smtClean="0">
              <a:solidFill>
                <a:schemeClr val="tx1"/>
              </a:solidFill>
            </a:rPr>
            <a:t>Expedierings-underlag </a:t>
          </a:r>
          <a:br>
            <a:rPr lang="sv-SE" sz="1000" kern="1200" dirty="0" smtClean="0">
              <a:solidFill>
                <a:schemeClr val="tx1"/>
              </a:solidFill>
            </a:rPr>
          </a:br>
          <a:r>
            <a:rPr lang="sv-SE" sz="1000" kern="1200" dirty="0" smtClean="0">
              <a:solidFill>
                <a:schemeClr val="tx1"/>
              </a:solidFill>
            </a:rPr>
            <a:t>(Recept)</a:t>
          </a:r>
          <a:endParaRPr lang="sv-SE" sz="1000" kern="1200" dirty="0">
            <a:solidFill>
              <a:srgbClr val="382819"/>
            </a:solidFill>
          </a:endParaRPr>
        </a:p>
      </dsp:txBody>
      <dsp:txXfrm>
        <a:off x="29079" y="99048"/>
        <a:ext cx="1097160" cy="500907"/>
      </dsp:txXfrm>
    </dsp:sp>
    <dsp:sp modelId="{9824311D-41EE-5C42-BF21-7F538129D4FA}">
      <dsp:nvSpPr>
        <dsp:cNvPr id="0" name=""/>
        <dsp:cNvSpPr/>
      </dsp:nvSpPr>
      <dsp:spPr>
        <a:xfrm>
          <a:off x="157608" y="814534"/>
          <a:ext cx="868684" cy="416809"/>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sv-SE" sz="1050" kern="1200" dirty="0" smtClean="0">
              <a:solidFill>
                <a:schemeClr val="tx1"/>
              </a:solidFill>
            </a:rPr>
            <a:t>Uthämtade läkemedel</a:t>
          </a:r>
          <a:endParaRPr lang="sv-SE" sz="1050" kern="1200" dirty="0">
            <a:solidFill>
              <a:srgbClr val="382819"/>
            </a:solidFill>
          </a:endParaRPr>
        </a:p>
      </dsp:txBody>
      <dsp:txXfrm>
        <a:off x="157608" y="814534"/>
        <a:ext cx="868684" cy="4168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6720-D94C-CB49-827C-3D6B7C0BB8FD}">
      <dsp:nvSpPr>
        <dsp:cNvPr id="0" name=""/>
        <dsp:cNvSpPr/>
      </dsp:nvSpPr>
      <dsp:spPr>
        <a:xfrm>
          <a:off x="0" y="0"/>
          <a:ext cx="1898142" cy="393150"/>
        </a:xfrm>
        <a:prstGeom prst="roundRect">
          <a:avLst>
            <a:gd name="adj" fmla="val 10000"/>
          </a:avLst>
        </a:prstGeom>
        <a:solidFill>
          <a:schemeClr val="lt1"/>
        </a:solidFill>
        <a:ln w="25400" cap="flat" cmpd="sng" algn="ctr">
          <a:solidFill>
            <a:schemeClr val="bg1">
              <a:lumMod val="50000"/>
            </a:schemeClr>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Läkemedelsordinationer</a:t>
          </a:r>
          <a:endParaRPr lang="sv-SE" sz="1000" kern="1200" dirty="0">
            <a:solidFill>
              <a:srgbClr val="382819"/>
            </a:solidFill>
          </a:endParaRPr>
        </a:p>
      </dsp:txBody>
      <dsp:txXfrm>
        <a:off x="418943" y="0"/>
        <a:ext cx="1479198" cy="393150"/>
      </dsp:txXfrm>
    </dsp:sp>
    <dsp:sp modelId="{AC996CF2-0F7D-244A-B5FD-3DFF298717EE}">
      <dsp:nvSpPr>
        <dsp:cNvPr id="0" name=""/>
        <dsp:cNvSpPr/>
      </dsp:nvSpPr>
      <dsp:spPr>
        <a:xfrm>
          <a:off x="8466" y="39315"/>
          <a:ext cx="379628" cy="314520"/>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7EC801B-9D09-DC44-A173-997459634361}">
      <dsp:nvSpPr>
        <dsp:cNvPr id="0" name=""/>
        <dsp:cNvSpPr/>
      </dsp:nvSpPr>
      <dsp:spPr>
        <a:xfrm>
          <a:off x="181690" y="432466"/>
          <a:ext cx="1716451"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Expedieringsunderlag</a:t>
          </a:r>
          <a:br>
            <a:rPr lang="sv-SE" sz="1000" kern="1200" dirty="0" smtClean="0">
              <a:solidFill>
                <a:srgbClr val="382819"/>
              </a:solidFill>
            </a:rPr>
          </a:br>
          <a:r>
            <a:rPr lang="sv-SE" sz="1000" kern="1200" dirty="0" smtClean="0">
              <a:solidFill>
                <a:srgbClr val="382819"/>
              </a:solidFill>
            </a:rPr>
            <a:t>(förskrivning)</a:t>
          </a:r>
          <a:endParaRPr lang="sv-SE" sz="1000" kern="1200" dirty="0">
            <a:solidFill>
              <a:srgbClr val="382819"/>
            </a:solidFill>
          </a:endParaRPr>
        </a:p>
      </dsp:txBody>
      <dsp:txXfrm>
        <a:off x="560532" y="432466"/>
        <a:ext cx="1337609" cy="393150"/>
      </dsp:txXfrm>
    </dsp:sp>
    <dsp:sp modelId="{2E47990A-4A46-BB4C-A2ED-64B767D67765}">
      <dsp:nvSpPr>
        <dsp:cNvPr id="0" name=""/>
        <dsp:cNvSpPr/>
      </dsp:nvSpPr>
      <dsp:spPr>
        <a:xfrm>
          <a:off x="166668" y="471781"/>
          <a:ext cx="379628" cy="314520"/>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469B5BA-48AB-2447-968A-83A233B3619A}">
      <dsp:nvSpPr>
        <dsp:cNvPr id="0" name=""/>
        <dsp:cNvSpPr/>
      </dsp:nvSpPr>
      <dsp:spPr>
        <a:xfrm>
          <a:off x="459635" y="864932"/>
          <a:ext cx="1438506"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Uthämtade läkemedel</a:t>
          </a:r>
          <a:endParaRPr lang="sv-SE" sz="1000" kern="1200" dirty="0">
            <a:solidFill>
              <a:srgbClr val="382819"/>
            </a:solidFill>
          </a:endParaRPr>
        </a:p>
      </dsp:txBody>
      <dsp:txXfrm>
        <a:off x="777131" y="864932"/>
        <a:ext cx="1121010" cy="393150"/>
      </dsp:txXfrm>
    </dsp:sp>
    <dsp:sp modelId="{5E57F427-D693-324A-B3A2-2DF82D044E0E}">
      <dsp:nvSpPr>
        <dsp:cNvPr id="0" name=""/>
        <dsp:cNvSpPr/>
      </dsp:nvSpPr>
      <dsp:spPr>
        <a:xfrm>
          <a:off x="397003" y="904247"/>
          <a:ext cx="379628" cy="314520"/>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AC0F3-0F4F-314D-9CD4-397B1FAF3FE4}">
      <dsp:nvSpPr>
        <dsp:cNvPr id="0" name=""/>
        <dsp:cNvSpPr/>
      </dsp:nvSpPr>
      <dsp:spPr>
        <a:xfrm>
          <a:off x="29079" y="99048"/>
          <a:ext cx="1097160" cy="500907"/>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sv-SE" sz="1000" kern="1200" dirty="0" smtClean="0">
              <a:solidFill>
                <a:srgbClr val="0000FF"/>
              </a:solidFill>
            </a:rPr>
            <a:t>Expedierings-underlag </a:t>
          </a:r>
          <a:br>
            <a:rPr lang="sv-SE" sz="1000" kern="1200" dirty="0" smtClean="0">
              <a:solidFill>
                <a:srgbClr val="0000FF"/>
              </a:solidFill>
            </a:rPr>
          </a:br>
          <a:r>
            <a:rPr lang="sv-SE" sz="1000" kern="1200" dirty="0" smtClean="0">
              <a:solidFill>
                <a:srgbClr val="0000FF"/>
              </a:solidFill>
            </a:rPr>
            <a:t>(Recept)</a:t>
          </a:r>
          <a:endParaRPr lang="sv-SE" sz="1000" kern="1200" dirty="0">
            <a:solidFill>
              <a:srgbClr val="0000FF"/>
            </a:solidFill>
          </a:endParaRPr>
        </a:p>
      </dsp:txBody>
      <dsp:txXfrm>
        <a:off x="29079" y="99048"/>
        <a:ext cx="1097160" cy="500907"/>
      </dsp:txXfrm>
    </dsp:sp>
    <dsp:sp modelId="{9824311D-41EE-5C42-BF21-7F538129D4FA}">
      <dsp:nvSpPr>
        <dsp:cNvPr id="0" name=""/>
        <dsp:cNvSpPr/>
      </dsp:nvSpPr>
      <dsp:spPr>
        <a:xfrm>
          <a:off x="157608" y="814534"/>
          <a:ext cx="868684" cy="416809"/>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sv-SE" sz="1050" kern="1200" dirty="0" smtClean="0">
              <a:solidFill>
                <a:srgbClr val="0000FF"/>
              </a:solidFill>
            </a:rPr>
            <a:t>Uthämtade läkemedel</a:t>
          </a:r>
          <a:endParaRPr lang="sv-SE" sz="1050" kern="1200" dirty="0">
            <a:solidFill>
              <a:srgbClr val="0000FF"/>
            </a:solidFill>
          </a:endParaRPr>
        </a:p>
      </dsp:txBody>
      <dsp:txXfrm>
        <a:off x="157608" y="814534"/>
        <a:ext cx="868684" cy="4168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6720-D94C-CB49-827C-3D6B7C0BB8FD}">
      <dsp:nvSpPr>
        <dsp:cNvPr id="0" name=""/>
        <dsp:cNvSpPr/>
      </dsp:nvSpPr>
      <dsp:spPr>
        <a:xfrm>
          <a:off x="0" y="0"/>
          <a:ext cx="1898142" cy="393150"/>
        </a:xfrm>
        <a:prstGeom prst="roundRect">
          <a:avLst>
            <a:gd name="adj" fmla="val 10000"/>
          </a:avLst>
        </a:prstGeom>
        <a:solidFill>
          <a:schemeClr val="lt1"/>
        </a:solidFill>
        <a:ln w="25400" cap="flat" cmpd="sng" algn="ctr">
          <a:solidFill>
            <a:schemeClr val="bg1">
              <a:lumMod val="50000"/>
            </a:schemeClr>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Läkemedelsordinationer</a:t>
          </a:r>
          <a:endParaRPr lang="sv-SE" sz="1000" kern="1200" dirty="0">
            <a:solidFill>
              <a:srgbClr val="382819"/>
            </a:solidFill>
          </a:endParaRPr>
        </a:p>
      </dsp:txBody>
      <dsp:txXfrm>
        <a:off x="418943" y="0"/>
        <a:ext cx="1479198" cy="393150"/>
      </dsp:txXfrm>
    </dsp:sp>
    <dsp:sp modelId="{AC996CF2-0F7D-244A-B5FD-3DFF298717EE}">
      <dsp:nvSpPr>
        <dsp:cNvPr id="0" name=""/>
        <dsp:cNvSpPr/>
      </dsp:nvSpPr>
      <dsp:spPr>
        <a:xfrm>
          <a:off x="8466" y="39315"/>
          <a:ext cx="379628" cy="314520"/>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7EC801B-9D09-DC44-A173-997459634361}">
      <dsp:nvSpPr>
        <dsp:cNvPr id="0" name=""/>
        <dsp:cNvSpPr/>
      </dsp:nvSpPr>
      <dsp:spPr>
        <a:xfrm>
          <a:off x="181690" y="432466"/>
          <a:ext cx="1716451"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0000FF"/>
              </a:solidFill>
            </a:rPr>
            <a:t>Expedieringsunderlag</a:t>
          </a:r>
          <a:br>
            <a:rPr lang="sv-SE" sz="1000" kern="1200" dirty="0" smtClean="0">
              <a:solidFill>
                <a:srgbClr val="0000FF"/>
              </a:solidFill>
            </a:rPr>
          </a:br>
          <a:r>
            <a:rPr lang="sv-SE" sz="1000" kern="1200" dirty="0" smtClean="0">
              <a:solidFill>
                <a:srgbClr val="0000FF"/>
              </a:solidFill>
            </a:rPr>
            <a:t>(förskrivning)</a:t>
          </a:r>
          <a:endParaRPr lang="sv-SE" sz="1000" kern="1200" dirty="0">
            <a:solidFill>
              <a:srgbClr val="0000FF"/>
            </a:solidFill>
          </a:endParaRPr>
        </a:p>
      </dsp:txBody>
      <dsp:txXfrm>
        <a:off x="560532" y="432466"/>
        <a:ext cx="1337609" cy="393150"/>
      </dsp:txXfrm>
    </dsp:sp>
    <dsp:sp modelId="{2E47990A-4A46-BB4C-A2ED-64B767D67765}">
      <dsp:nvSpPr>
        <dsp:cNvPr id="0" name=""/>
        <dsp:cNvSpPr/>
      </dsp:nvSpPr>
      <dsp:spPr>
        <a:xfrm>
          <a:off x="166668" y="471781"/>
          <a:ext cx="379628" cy="314520"/>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469B5BA-48AB-2447-968A-83A233B3619A}">
      <dsp:nvSpPr>
        <dsp:cNvPr id="0" name=""/>
        <dsp:cNvSpPr/>
      </dsp:nvSpPr>
      <dsp:spPr>
        <a:xfrm>
          <a:off x="459635" y="864932"/>
          <a:ext cx="1438506"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0000FF"/>
              </a:solidFill>
            </a:rPr>
            <a:t>Uthämtade läkemedel</a:t>
          </a:r>
          <a:endParaRPr lang="sv-SE" sz="1000" kern="1200" dirty="0">
            <a:solidFill>
              <a:srgbClr val="0000FF"/>
            </a:solidFill>
          </a:endParaRPr>
        </a:p>
      </dsp:txBody>
      <dsp:txXfrm>
        <a:off x="777131" y="864932"/>
        <a:ext cx="1121010" cy="393150"/>
      </dsp:txXfrm>
    </dsp:sp>
    <dsp:sp modelId="{5E57F427-D693-324A-B3A2-2DF82D044E0E}">
      <dsp:nvSpPr>
        <dsp:cNvPr id="0" name=""/>
        <dsp:cNvSpPr/>
      </dsp:nvSpPr>
      <dsp:spPr>
        <a:xfrm>
          <a:off x="397003" y="904247"/>
          <a:ext cx="379628" cy="314520"/>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AC0F3-0F4F-314D-9CD4-397B1FAF3FE4}">
      <dsp:nvSpPr>
        <dsp:cNvPr id="0" name=""/>
        <dsp:cNvSpPr/>
      </dsp:nvSpPr>
      <dsp:spPr>
        <a:xfrm>
          <a:off x="29079" y="99048"/>
          <a:ext cx="1097160" cy="500907"/>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sv-SE" sz="1000" kern="1200" dirty="0" smtClean="0">
              <a:solidFill>
                <a:srgbClr val="0000FF"/>
              </a:solidFill>
            </a:rPr>
            <a:t>Expedierings-underlag </a:t>
          </a:r>
          <a:br>
            <a:rPr lang="sv-SE" sz="1000" kern="1200" dirty="0" smtClean="0">
              <a:solidFill>
                <a:srgbClr val="0000FF"/>
              </a:solidFill>
            </a:rPr>
          </a:br>
          <a:r>
            <a:rPr lang="sv-SE" sz="1000" kern="1200" dirty="0" smtClean="0">
              <a:solidFill>
                <a:srgbClr val="0000FF"/>
              </a:solidFill>
            </a:rPr>
            <a:t>(Recept)</a:t>
          </a:r>
          <a:endParaRPr lang="sv-SE" sz="1000" kern="1200" dirty="0">
            <a:solidFill>
              <a:srgbClr val="0000FF"/>
            </a:solidFill>
          </a:endParaRPr>
        </a:p>
      </dsp:txBody>
      <dsp:txXfrm>
        <a:off x="29079" y="99048"/>
        <a:ext cx="1097160" cy="500907"/>
      </dsp:txXfrm>
    </dsp:sp>
    <dsp:sp modelId="{9824311D-41EE-5C42-BF21-7F538129D4FA}">
      <dsp:nvSpPr>
        <dsp:cNvPr id="0" name=""/>
        <dsp:cNvSpPr/>
      </dsp:nvSpPr>
      <dsp:spPr>
        <a:xfrm>
          <a:off x="157608" y="814534"/>
          <a:ext cx="868684" cy="416809"/>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sv-SE" sz="1050" kern="1200" dirty="0" smtClean="0">
              <a:solidFill>
                <a:srgbClr val="382819"/>
              </a:solidFill>
            </a:rPr>
            <a:t>Uthämtade läkemedel</a:t>
          </a:r>
          <a:endParaRPr lang="sv-SE" sz="1050" kern="1200" dirty="0">
            <a:solidFill>
              <a:srgbClr val="382819"/>
            </a:solidFill>
          </a:endParaRPr>
        </a:p>
      </dsp:txBody>
      <dsp:txXfrm>
        <a:off x="157608" y="814534"/>
        <a:ext cx="868684" cy="4168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6720-D94C-CB49-827C-3D6B7C0BB8FD}">
      <dsp:nvSpPr>
        <dsp:cNvPr id="0" name=""/>
        <dsp:cNvSpPr/>
      </dsp:nvSpPr>
      <dsp:spPr>
        <a:xfrm>
          <a:off x="0" y="0"/>
          <a:ext cx="1898142" cy="393150"/>
        </a:xfrm>
        <a:prstGeom prst="roundRect">
          <a:avLst>
            <a:gd name="adj" fmla="val 10000"/>
          </a:avLst>
        </a:prstGeom>
        <a:solidFill>
          <a:schemeClr val="lt1"/>
        </a:solidFill>
        <a:ln w="25400" cap="flat" cmpd="sng" algn="ctr">
          <a:solidFill>
            <a:schemeClr val="bg1">
              <a:lumMod val="50000"/>
            </a:schemeClr>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Läkemedelsordinationer</a:t>
          </a:r>
          <a:endParaRPr lang="sv-SE" sz="1000" kern="1200" dirty="0">
            <a:solidFill>
              <a:srgbClr val="382819"/>
            </a:solidFill>
          </a:endParaRPr>
        </a:p>
      </dsp:txBody>
      <dsp:txXfrm>
        <a:off x="418943" y="0"/>
        <a:ext cx="1479198" cy="393150"/>
      </dsp:txXfrm>
    </dsp:sp>
    <dsp:sp modelId="{AC996CF2-0F7D-244A-B5FD-3DFF298717EE}">
      <dsp:nvSpPr>
        <dsp:cNvPr id="0" name=""/>
        <dsp:cNvSpPr/>
      </dsp:nvSpPr>
      <dsp:spPr>
        <a:xfrm>
          <a:off x="8466" y="39315"/>
          <a:ext cx="379628" cy="314520"/>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7EC801B-9D09-DC44-A173-997459634361}">
      <dsp:nvSpPr>
        <dsp:cNvPr id="0" name=""/>
        <dsp:cNvSpPr/>
      </dsp:nvSpPr>
      <dsp:spPr>
        <a:xfrm>
          <a:off x="181690" y="432466"/>
          <a:ext cx="1716451"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0000FF"/>
              </a:solidFill>
            </a:rPr>
            <a:t>Expedieringsunderlag</a:t>
          </a:r>
          <a:br>
            <a:rPr lang="sv-SE" sz="1000" kern="1200" dirty="0" smtClean="0">
              <a:solidFill>
                <a:srgbClr val="0000FF"/>
              </a:solidFill>
            </a:rPr>
          </a:br>
          <a:r>
            <a:rPr lang="sv-SE" sz="1000" kern="1200" dirty="0" smtClean="0">
              <a:solidFill>
                <a:srgbClr val="0000FF"/>
              </a:solidFill>
            </a:rPr>
            <a:t>(förskrivning)</a:t>
          </a:r>
          <a:endParaRPr lang="sv-SE" sz="1000" kern="1200" dirty="0">
            <a:solidFill>
              <a:srgbClr val="0000FF"/>
            </a:solidFill>
          </a:endParaRPr>
        </a:p>
      </dsp:txBody>
      <dsp:txXfrm>
        <a:off x="560532" y="432466"/>
        <a:ext cx="1337609" cy="393150"/>
      </dsp:txXfrm>
    </dsp:sp>
    <dsp:sp modelId="{2E47990A-4A46-BB4C-A2ED-64B767D67765}">
      <dsp:nvSpPr>
        <dsp:cNvPr id="0" name=""/>
        <dsp:cNvSpPr/>
      </dsp:nvSpPr>
      <dsp:spPr>
        <a:xfrm>
          <a:off x="166668" y="471781"/>
          <a:ext cx="379628" cy="314520"/>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469B5BA-48AB-2447-968A-83A233B3619A}">
      <dsp:nvSpPr>
        <dsp:cNvPr id="0" name=""/>
        <dsp:cNvSpPr/>
      </dsp:nvSpPr>
      <dsp:spPr>
        <a:xfrm>
          <a:off x="459635" y="864932"/>
          <a:ext cx="1438506"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0000FF"/>
              </a:solidFill>
            </a:rPr>
            <a:t>Uthämtade läkemedel</a:t>
          </a:r>
          <a:endParaRPr lang="sv-SE" sz="1000" kern="1200" dirty="0">
            <a:solidFill>
              <a:srgbClr val="0000FF"/>
            </a:solidFill>
          </a:endParaRPr>
        </a:p>
      </dsp:txBody>
      <dsp:txXfrm>
        <a:off x="777131" y="864932"/>
        <a:ext cx="1121010" cy="393150"/>
      </dsp:txXfrm>
    </dsp:sp>
    <dsp:sp modelId="{5E57F427-D693-324A-B3A2-2DF82D044E0E}">
      <dsp:nvSpPr>
        <dsp:cNvPr id="0" name=""/>
        <dsp:cNvSpPr/>
      </dsp:nvSpPr>
      <dsp:spPr>
        <a:xfrm>
          <a:off x="397003" y="904247"/>
          <a:ext cx="379628" cy="314520"/>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AC0F3-0F4F-314D-9CD4-397B1FAF3FE4}">
      <dsp:nvSpPr>
        <dsp:cNvPr id="0" name=""/>
        <dsp:cNvSpPr/>
      </dsp:nvSpPr>
      <dsp:spPr>
        <a:xfrm>
          <a:off x="29079" y="99048"/>
          <a:ext cx="1097160" cy="500907"/>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sv-SE" sz="1000" kern="1200" dirty="0" smtClean="0">
              <a:solidFill>
                <a:srgbClr val="382819"/>
              </a:solidFill>
            </a:rPr>
            <a:t>Expedierings-underlag </a:t>
          </a:r>
          <a:br>
            <a:rPr lang="sv-SE" sz="1000" kern="1200" dirty="0" smtClean="0">
              <a:solidFill>
                <a:srgbClr val="382819"/>
              </a:solidFill>
            </a:rPr>
          </a:br>
          <a:r>
            <a:rPr lang="sv-SE" sz="1000" kern="1200" dirty="0" smtClean="0">
              <a:solidFill>
                <a:srgbClr val="382819"/>
              </a:solidFill>
            </a:rPr>
            <a:t>(Recept)</a:t>
          </a:r>
          <a:endParaRPr lang="sv-SE" sz="1000" kern="1200" dirty="0">
            <a:solidFill>
              <a:srgbClr val="382819"/>
            </a:solidFill>
          </a:endParaRPr>
        </a:p>
      </dsp:txBody>
      <dsp:txXfrm>
        <a:off x="29079" y="99048"/>
        <a:ext cx="1097160" cy="500907"/>
      </dsp:txXfrm>
    </dsp:sp>
    <dsp:sp modelId="{9824311D-41EE-5C42-BF21-7F538129D4FA}">
      <dsp:nvSpPr>
        <dsp:cNvPr id="0" name=""/>
        <dsp:cNvSpPr/>
      </dsp:nvSpPr>
      <dsp:spPr>
        <a:xfrm>
          <a:off x="157608" y="814534"/>
          <a:ext cx="868684" cy="416809"/>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sv-SE" sz="1050" kern="1200" dirty="0" smtClean="0">
              <a:solidFill>
                <a:srgbClr val="382819"/>
              </a:solidFill>
            </a:rPr>
            <a:t>Uthämtade läkemedel</a:t>
          </a:r>
          <a:endParaRPr lang="sv-SE" sz="1050" kern="1200" dirty="0">
            <a:solidFill>
              <a:srgbClr val="382819"/>
            </a:solidFill>
          </a:endParaRPr>
        </a:p>
      </dsp:txBody>
      <dsp:txXfrm>
        <a:off x="157608" y="814534"/>
        <a:ext cx="868684" cy="4168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6720-D94C-CB49-827C-3D6B7C0BB8FD}">
      <dsp:nvSpPr>
        <dsp:cNvPr id="0" name=""/>
        <dsp:cNvSpPr/>
      </dsp:nvSpPr>
      <dsp:spPr>
        <a:xfrm>
          <a:off x="0" y="0"/>
          <a:ext cx="1898142" cy="393150"/>
        </a:xfrm>
        <a:prstGeom prst="roundRect">
          <a:avLst>
            <a:gd name="adj" fmla="val 10000"/>
          </a:avLst>
        </a:prstGeom>
        <a:solidFill>
          <a:schemeClr val="lt1"/>
        </a:solidFill>
        <a:ln w="25400" cap="flat" cmpd="sng" algn="ctr">
          <a:solidFill>
            <a:schemeClr val="bg1">
              <a:lumMod val="50000"/>
            </a:schemeClr>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Läkemedelsordinationer</a:t>
          </a:r>
          <a:endParaRPr lang="sv-SE" sz="1000" kern="1200" dirty="0">
            <a:solidFill>
              <a:srgbClr val="382819"/>
            </a:solidFill>
          </a:endParaRPr>
        </a:p>
      </dsp:txBody>
      <dsp:txXfrm>
        <a:off x="418943" y="0"/>
        <a:ext cx="1479198" cy="393150"/>
      </dsp:txXfrm>
    </dsp:sp>
    <dsp:sp modelId="{AC996CF2-0F7D-244A-B5FD-3DFF298717EE}">
      <dsp:nvSpPr>
        <dsp:cNvPr id="0" name=""/>
        <dsp:cNvSpPr/>
      </dsp:nvSpPr>
      <dsp:spPr>
        <a:xfrm>
          <a:off x="8466" y="39315"/>
          <a:ext cx="379628" cy="314520"/>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7EC801B-9D09-DC44-A173-997459634361}">
      <dsp:nvSpPr>
        <dsp:cNvPr id="0" name=""/>
        <dsp:cNvSpPr/>
      </dsp:nvSpPr>
      <dsp:spPr>
        <a:xfrm>
          <a:off x="181690" y="432466"/>
          <a:ext cx="1716451"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Expedieringsunderlag</a:t>
          </a:r>
          <a:br>
            <a:rPr lang="sv-SE" sz="1000" kern="1200" dirty="0" smtClean="0">
              <a:solidFill>
                <a:srgbClr val="382819"/>
              </a:solidFill>
            </a:rPr>
          </a:br>
          <a:r>
            <a:rPr lang="sv-SE" sz="1000" kern="1200" dirty="0" smtClean="0">
              <a:solidFill>
                <a:srgbClr val="382819"/>
              </a:solidFill>
            </a:rPr>
            <a:t>(förskrivning)</a:t>
          </a:r>
          <a:endParaRPr lang="sv-SE" sz="1000" kern="1200" dirty="0">
            <a:solidFill>
              <a:srgbClr val="382819"/>
            </a:solidFill>
          </a:endParaRPr>
        </a:p>
      </dsp:txBody>
      <dsp:txXfrm>
        <a:off x="560532" y="432466"/>
        <a:ext cx="1337609" cy="393150"/>
      </dsp:txXfrm>
    </dsp:sp>
    <dsp:sp modelId="{2E47990A-4A46-BB4C-A2ED-64B767D67765}">
      <dsp:nvSpPr>
        <dsp:cNvPr id="0" name=""/>
        <dsp:cNvSpPr/>
      </dsp:nvSpPr>
      <dsp:spPr>
        <a:xfrm>
          <a:off x="166668" y="471781"/>
          <a:ext cx="379628" cy="314520"/>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5000" b="-35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469B5BA-48AB-2447-968A-83A233B3619A}">
      <dsp:nvSpPr>
        <dsp:cNvPr id="0" name=""/>
        <dsp:cNvSpPr/>
      </dsp:nvSpPr>
      <dsp:spPr>
        <a:xfrm>
          <a:off x="459635" y="864932"/>
          <a:ext cx="1438506" cy="393150"/>
        </a:xfrm>
        <a:prstGeom prst="roundRect">
          <a:avLst>
            <a:gd name="adj" fmla="val 10000"/>
          </a:avLst>
        </a:prstGeom>
        <a:solidFill>
          <a:schemeClr val="lt1"/>
        </a:solidFill>
        <a:ln w="25400" cap="flat" cmpd="sng" algn="ctr">
          <a:solidFill>
            <a:srgbClr val="7F7F7F"/>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38100" tIns="38100" rIns="38100" bIns="38100" numCol="1" spcCol="1270" anchor="ctr" anchorCtr="0">
          <a:noAutofit/>
        </a:bodyPr>
        <a:lstStyle/>
        <a:p>
          <a:pPr lvl="0" algn="l" defTabSz="444500">
            <a:lnSpc>
              <a:spcPct val="90000"/>
            </a:lnSpc>
            <a:spcBef>
              <a:spcPct val="0"/>
            </a:spcBef>
            <a:spcAft>
              <a:spcPct val="35000"/>
            </a:spcAft>
          </a:pPr>
          <a:r>
            <a:rPr lang="sv-SE" sz="1000" kern="1200" dirty="0" smtClean="0">
              <a:solidFill>
                <a:srgbClr val="382819"/>
              </a:solidFill>
            </a:rPr>
            <a:t>Uthämtade läkemedel</a:t>
          </a:r>
          <a:endParaRPr lang="sv-SE" sz="1000" kern="1200" dirty="0">
            <a:solidFill>
              <a:srgbClr val="382819"/>
            </a:solidFill>
          </a:endParaRPr>
        </a:p>
      </dsp:txBody>
      <dsp:txXfrm>
        <a:off x="777131" y="864932"/>
        <a:ext cx="1121010" cy="393150"/>
      </dsp:txXfrm>
    </dsp:sp>
    <dsp:sp modelId="{5E57F427-D693-324A-B3A2-2DF82D044E0E}">
      <dsp:nvSpPr>
        <dsp:cNvPr id="0" name=""/>
        <dsp:cNvSpPr/>
      </dsp:nvSpPr>
      <dsp:spPr>
        <a:xfrm>
          <a:off x="397003" y="904247"/>
          <a:ext cx="379628" cy="314520"/>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1F8578-F5EA-9348-9074-69EF694379CC}" type="datetimeFigureOut">
              <a:rPr lang="sv-SE" smtClean="0"/>
              <a:t>2015-07-02</a:t>
            </a:fld>
            <a:endParaRPr lang="sv-SE"/>
          </a:p>
        </p:txBody>
      </p:sp>
      <p:sp>
        <p:nvSpPr>
          <p:cNvPr id="4" name="Platshållare för bildobjekt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86C122-0624-2448-A274-9C246476B983}" type="slidenum">
              <a:rPr lang="sv-SE" smtClean="0"/>
              <a:t>‹Nr.›</a:t>
            </a:fld>
            <a:endParaRPr lang="sv-SE"/>
          </a:p>
        </p:txBody>
      </p:sp>
    </p:spTree>
    <p:extLst>
      <p:ext uri="{BB962C8B-B14F-4D97-AF65-F5344CB8AC3E}">
        <p14:creationId xmlns:p14="http://schemas.microsoft.com/office/powerpoint/2010/main" val="31820936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dirty="0"/>
          </a:p>
        </p:txBody>
      </p:sp>
      <p:sp>
        <p:nvSpPr>
          <p:cNvPr id="4" name="Platshållare för bildnummer 3"/>
          <p:cNvSpPr>
            <a:spLocks noGrp="1"/>
          </p:cNvSpPr>
          <p:nvPr>
            <p:ph type="sldNum" sz="quarter" idx="10"/>
          </p:nvPr>
        </p:nvSpPr>
        <p:spPr/>
        <p:txBody>
          <a:bodyPr/>
          <a:lstStyle/>
          <a:p>
            <a:pPr>
              <a:defRPr/>
            </a:pPr>
            <a:fld id="{76374C2A-E21E-4D86-8849-2E48A0AF7CDA}" type="slidenum">
              <a:rPr lang="sv-SE" smtClean="0">
                <a:solidFill>
                  <a:prstClr val="black"/>
                </a:solidFill>
              </a:rPr>
              <a:pPr>
                <a:defRPr/>
              </a:pPr>
              <a:t>1</a:t>
            </a:fld>
            <a:endParaRPr lang="sv-SE" dirty="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t>2</a:t>
            </a:fld>
            <a:endParaRPr lang="sv-SE" dirty="0"/>
          </a:p>
        </p:txBody>
      </p:sp>
    </p:spTree>
    <p:extLst>
      <p:ext uri="{BB962C8B-B14F-4D97-AF65-F5344CB8AC3E}">
        <p14:creationId xmlns:p14="http://schemas.microsoft.com/office/powerpoint/2010/main" val="2002825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lvl="1"/>
            <a:endParaRPr lang="sv-SE" sz="1600" dirty="0" smtClean="0"/>
          </a:p>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3</a:t>
            </a:fld>
            <a:endParaRPr lang="sv-SE" dirty="0"/>
          </a:p>
        </p:txBody>
      </p:sp>
    </p:spTree>
    <p:extLst>
      <p:ext uri="{BB962C8B-B14F-4D97-AF65-F5344CB8AC3E}">
        <p14:creationId xmlns:p14="http://schemas.microsoft.com/office/powerpoint/2010/main" val="4198123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smtClean="0"/>
          </a:p>
        </p:txBody>
      </p:sp>
      <p:sp>
        <p:nvSpPr>
          <p:cNvPr id="4" name="Platshållare för bildnummer 3"/>
          <p:cNvSpPr>
            <a:spLocks noGrp="1"/>
          </p:cNvSpPr>
          <p:nvPr>
            <p:ph type="sldNum" sz="quarter" idx="10"/>
          </p:nvPr>
        </p:nvSpPr>
        <p:spPr/>
        <p:txBody>
          <a:bodyPr/>
          <a:lstStyle/>
          <a:p>
            <a:fld id="{E2863F5B-3DAD-4C4F-97D3-0F502096753E}" type="slidenum">
              <a:rPr lang="sv-SE" smtClean="0">
                <a:solidFill>
                  <a:prstClr val="black"/>
                </a:solidFill>
                <a:latin typeface="Calibri"/>
              </a:rPr>
              <a:pPr/>
              <a:t>5</a:t>
            </a:fld>
            <a:endParaRPr lang="sv-SE">
              <a:solidFill>
                <a:prstClr val="black"/>
              </a:solidFill>
              <a:latin typeface="Calibri"/>
            </a:endParaRPr>
          </a:p>
        </p:txBody>
      </p:sp>
    </p:spTree>
    <p:extLst>
      <p:ext uri="{BB962C8B-B14F-4D97-AF65-F5344CB8AC3E}">
        <p14:creationId xmlns:p14="http://schemas.microsoft.com/office/powerpoint/2010/main" val="1314835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6</a:t>
            </a:fld>
            <a:endParaRPr lang="sv-SE"/>
          </a:p>
        </p:txBody>
      </p:sp>
    </p:spTree>
    <p:extLst>
      <p:ext uri="{BB962C8B-B14F-4D97-AF65-F5344CB8AC3E}">
        <p14:creationId xmlns:p14="http://schemas.microsoft.com/office/powerpoint/2010/main" val="4199636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smtClean="0"/>
              <a:t>* För</a:t>
            </a:r>
            <a:r>
              <a:rPr lang="sv-SE" baseline="0" dirty="0" smtClean="0"/>
              <a:t> dospatienter fås alla i RR genom direktåtkomst. För övriga fås med nuvarande regler </a:t>
            </a:r>
            <a:r>
              <a:rPr lang="sv-SE" i="1" baseline="0" dirty="0" smtClean="0"/>
              <a:t>de som skickas till NOD</a:t>
            </a:r>
            <a:r>
              <a:rPr lang="sv-SE" baseline="0" dirty="0" smtClean="0"/>
              <a:t>.</a:t>
            </a:r>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7</a:t>
            </a:fld>
            <a:endParaRPr lang="sv-SE"/>
          </a:p>
        </p:txBody>
      </p:sp>
    </p:spTree>
    <p:extLst>
      <p:ext uri="{BB962C8B-B14F-4D97-AF65-F5344CB8AC3E}">
        <p14:creationId xmlns:p14="http://schemas.microsoft.com/office/powerpoint/2010/main" val="1099190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sv-SE" sz="1200" dirty="0" smtClean="0">
              <a:solidFill>
                <a:srgbClr val="0000FF"/>
              </a:solidFill>
            </a:endParaRPr>
          </a:p>
          <a:p>
            <a:endParaRPr lang="sv-SE" dirty="0"/>
          </a:p>
        </p:txBody>
      </p:sp>
      <p:sp>
        <p:nvSpPr>
          <p:cNvPr id="4" name="Platshållare för bildnummer 3"/>
          <p:cNvSpPr>
            <a:spLocks noGrp="1"/>
          </p:cNvSpPr>
          <p:nvPr>
            <p:ph type="sldNum" sz="quarter" idx="10"/>
          </p:nvPr>
        </p:nvSpPr>
        <p:spPr/>
        <p:txBody>
          <a:bodyPr/>
          <a:lstStyle/>
          <a:p>
            <a:fld id="{CE705624-3C60-554C-B565-7E72896AA14F}" type="slidenum">
              <a:rPr lang="sv-SE" smtClean="0">
                <a:solidFill>
                  <a:prstClr val="black"/>
                </a:solidFill>
                <a:latin typeface="Calibri"/>
              </a:rPr>
              <a:pPr/>
              <a:t>9</a:t>
            </a:fld>
            <a:endParaRPr lang="sv-SE">
              <a:solidFill>
                <a:prstClr val="black"/>
              </a:solidFill>
              <a:latin typeface="Calibri"/>
            </a:endParaRPr>
          </a:p>
        </p:txBody>
      </p:sp>
    </p:spTree>
    <p:extLst>
      <p:ext uri="{BB962C8B-B14F-4D97-AF65-F5344CB8AC3E}">
        <p14:creationId xmlns:p14="http://schemas.microsoft.com/office/powerpoint/2010/main" val="379129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CE705624-3C60-554C-B565-7E72896AA14F}" type="slidenum">
              <a:rPr lang="sv-SE" smtClean="0">
                <a:solidFill>
                  <a:prstClr val="black"/>
                </a:solidFill>
                <a:latin typeface="Calibri"/>
              </a:rPr>
              <a:pPr/>
              <a:t>10</a:t>
            </a:fld>
            <a:endParaRPr lang="sv-SE">
              <a:solidFill>
                <a:prstClr val="black"/>
              </a:solidFill>
              <a:latin typeface="Calibri"/>
            </a:endParaRPr>
          </a:p>
        </p:txBody>
      </p:sp>
    </p:spTree>
    <p:extLst>
      <p:ext uri="{BB962C8B-B14F-4D97-AF65-F5344CB8AC3E}">
        <p14:creationId xmlns:p14="http://schemas.microsoft.com/office/powerpoint/2010/main" val="379129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sv-SE" sz="1200" b="1" dirty="0" smtClean="0">
              <a:solidFill>
                <a:srgbClr val="0000FF"/>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sv-SE" sz="1200" b="1" dirty="0" smtClean="0">
                <a:solidFill>
                  <a:srgbClr val="0000FF"/>
                </a:solidFill>
              </a:rPr>
              <a:t>Krav för att </a:t>
            </a:r>
          </a:p>
          <a:p>
            <a:pPr marL="171450" marR="0" indent="-171450" algn="l" defTabSz="457200" rtl="0" eaLnBrk="1" fontAlgn="auto" latinLnBrk="0" hangingPunct="1">
              <a:lnSpc>
                <a:spcPct val="100000"/>
              </a:lnSpc>
              <a:spcBef>
                <a:spcPts val="0"/>
              </a:spcBef>
              <a:spcAft>
                <a:spcPts val="0"/>
              </a:spcAft>
              <a:buClrTx/>
              <a:buSzTx/>
              <a:buFontTx/>
              <a:buChar char="-"/>
              <a:tabLst/>
              <a:defRPr/>
            </a:pPr>
            <a:r>
              <a:rPr lang="sv-SE" sz="1200" b="1" dirty="0" smtClean="0">
                <a:solidFill>
                  <a:srgbClr val="0000FF"/>
                </a:solidFill>
              </a:rPr>
              <a:t>skicka/skapa</a:t>
            </a:r>
            <a:r>
              <a:rPr lang="sv-SE" sz="1200" b="1" baseline="0" dirty="0" smtClean="0">
                <a:solidFill>
                  <a:srgbClr val="0000FF"/>
                </a:solidFill>
              </a:rPr>
              <a:t> recept</a:t>
            </a:r>
            <a:r>
              <a:rPr lang="sv-SE" sz="1200" dirty="0" smtClean="0">
                <a:solidFill>
                  <a:srgbClr val="0000FF"/>
                </a:solidFill>
              </a:rPr>
              <a:t>: anslut tjänstekontrakt </a:t>
            </a:r>
            <a:r>
              <a:rPr lang="sv-SE" sz="1200" kern="1200" dirty="0" err="1" smtClean="0">
                <a:solidFill>
                  <a:schemeClr val="tx1"/>
                </a:solidFill>
                <a:latin typeface="Courier New"/>
                <a:ea typeface="+mn-ea"/>
                <a:cs typeface="Courier New"/>
              </a:rPr>
              <a:t>RegisterMedicationDispenseAuthorization</a:t>
            </a:r>
            <a:r>
              <a:rPr lang="sv-SE" sz="1200" kern="1200" baseline="0" dirty="0" smtClean="0">
                <a:solidFill>
                  <a:schemeClr val="tx1"/>
                </a:solidFill>
                <a:latin typeface="Courier New"/>
                <a:ea typeface="+mn-ea"/>
                <a:cs typeface="Courier New"/>
              </a:rPr>
              <a:t> </a:t>
            </a:r>
            <a:r>
              <a:rPr lang="sv-SE" sz="1200" dirty="0" smtClean="0">
                <a:solidFill>
                  <a:srgbClr val="0000FF"/>
                </a:solidFill>
              </a:rPr>
              <a:t> för att leverera ett ”löst recept”,</a:t>
            </a:r>
            <a:r>
              <a:rPr lang="sv-SE" sz="1200" baseline="0" dirty="0" smtClean="0">
                <a:solidFill>
                  <a:srgbClr val="0000FF"/>
                </a:solidFill>
              </a:rPr>
              <a:t> blir vidarebefordrat till RR. Kräver ingen förändring i journalsystems användargränssnitt</a:t>
            </a:r>
          </a:p>
          <a:p>
            <a:pPr marL="171450" marR="0" indent="-171450" algn="l" defTabSz="457200" rtl="0" eaLnBrk="1" fontAlgn="auto" latinLnBrk="0" hangingPunct="1">
              <a:lnSpc>
                <a:spcPct val="100000"/>
              </a:lnSpc>
              <a:spcBef>
                <a:spcPts val="0"/>
              </a:spcBef>
              <a:spcAft>
                <a:spcPts val="0"/>
              </a:spcAft>
              <a:buClrTx/>
              <a:buSzTx/>
              <a:buFontTx/>
              <a:buChar char="-"/>
              <a:tabLst/>
              <a:defRPr/>
            </a:pPr>
            <a:r>
              <a:rPr lang="sv-SE" sz="1200" b="1" baseline="0" dirty="0" smtClean="0">
                <a:solidFill>
                  <a:srgbClr val="0000FF"/>
                </a:solidFill>
              </a:rPr>
              <a:t>makulera recept </a:t>
            </a:r>
            <a:r>
              <a:rPr lang="sv-SE" sz="1200" baseline="0" dirty="0" smtClean="0">
                <a:solidFill>
                  <a:srgbClr val="0000FF"/>
                </a:solidFill>
              </a:rPr>
              <a:t>som du skickat: anslut tjänstekontrakt (</a:t>
            </a:r>
            <a:r>
              <a:rPr lang="sv-SE" sz="1200" kern="1200" dirty="0" err="1" smtClean="0">
                <a:solidFill>
                  <a:schemeClr val="tx1"/>
                </a:solidFill>
                <a:latin typeface="+mn-lt"/>
                <a:ea typeface="+mn-ea"/>
                <a:cs typeface="+mn-cs"/>
              </a:rPr>
              <a:t>RevokeMedicationDispenseAuthorization</a:t>
            </a:r>
            <a:r>
              <a:rPr lang="sv-SE" sz="1200" b="1" kern="1200" dirty="0" smtClean="0">
                <a:solidFill>
                  <a:schemeClr val="tx1"/>
                </a:solidFill>
                <a:latin typeface="+mn-lt"/>
                <a:ea typeface="+mn-ea"/>
                <a:cs typeface="+mn-cs"/>
              </a:rPr>
              <a:t>)</a:t>
            </a:r>
            <a:r>
              <a:rPr lang="sv-SE" sz="1200" baseline="0" dirty="0" smtClean="0">
                <a:solidFill>
                  <a:srgbClr val="0000FF"/>
                </a:solidFill>
              </a:rPr>
              <a:t> . Ny funktionalitet möjlig för förskrivaren.</a:t>
            </a:r>
          </a:p>
        </p:txBody>
      </p:sp>
      <p:sp>
        <p:nvSpPr>
          <p:cNvPr id="4" name="Platshållare för bildnummer 3"/>
          <p:cNvSpPr>
            <a:spLocks noGrp="1"/>
          </p:cNvSpPr>
          <p:nvPr>
            <p:ph type="sldNum" sz="quarter" idx="10"/>
          </p:nvPr>
        </p:nvSpPr>
        <p:spPr/>
        <p:txBody>
          <a:bodyPr/>
          <a:lstStyle/>
          <a:p>
            <a:fld id="{CE705624-3C60-554C-B565-7E72896AA14F}" type="slidenum">
              <a:rPr lang="sv-SE" smtClean="0">
                <a:solidFill>
                  <a:prstClr val="black"/>
                </a:solidFill>
                <a:latin typeface="Calibri"/>
              </a:rPr>
              <a:pPr/>
              <a:t>11</a:t>
            </a:fld>
            <a:endParaRPr lang="sv-SE">
              <a:solidFill>
                <a:prstClr val="black"/>
              </a:solidFill>
              <a:latin typeface="Calibri"/>
            </a:endParaRPr>
          </a:p>
        </p:txBody>
      </p:sp>
    </p:spTree>
    <p:extLst>
      <p:ext uri="{BB962C8B-B14F-4D97-AF65-F5344CB8AC3E}">
        <p14:creationId xmlns:p14="http://schemas.microsoft.com/office/powerpoint/2010/main" val="379129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CE705624-3C60-554C-B565-7E72896AA14F}" type="slidenum">
              <a:rPr lang="sv-SE" smtClean="0">
                <a:solidFill>
                  <a:prstClr val="black"/>
                </a:solidFill>
                <a:latin typeface="Calibri"/>
              </a:rPr>
              <a:pPr/>
              <a:t>12</a:t>
            </a:fld>
            <a:endParaRPr lang="sv-SE">
              <a:solidFill>
                <a:prstClr val="black"/>
              </a:solidFill>
              <a:latin typeface="Calibri"/>
            </a:endParaRPr>
          </a:p>
        </p:txBody>
      </p:sp>
    </p:spTree>
    <p:extLst>
      <p:ext uri="{BB962C8B-B14F-4D97-AF65-F5344CB8AC3E}">
        <p14:creationId xmlns:p14="http://schemas.microsoft.com/office/powerpoint/2010/main" val="379129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solidFill>
                  <a:prstClr val="black"/>
                </a:solidFill>
                <a:latin typeface="Calibri"/>
              </a:rPr>
              <a:pPr/>
              <a:t>13</a:t>
            </a:fld>
            <a:endParaRPr lang="sv-SE">
              <a:solidFill>
                <a:prstClr val="black"/>
              </a:solidFill>
              <a:latin typeface="Calibri"/>
            </a:endParaRPr>
          </a:p>
        </p:txBody>
      </p:sp>
    </p:spTree>
    <p:extLst>
      <p:ext uri="{BB962C8B-B14F-4D97-AF65-F5344CB8AC3E}">
        <p14:creationId xmlns:p14="http://schemas.microsoft.com/office/powerpoint/2010/main" val="2002825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baseline="0"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t>14</a:t>
            </a:fld>
            <a:endParaRPr lang="sv-SE"/>
          </a:p>
        </p:txBody>
      </p:sp>
    </p:spTree>
    <p:extLst>
      <p:ext uri="{BB962C8B-B14F-4D97-AF65-F5344CB8AC3E}">
        <p14:creationId xmlns:p14="http://schemas.microsoft.com/office/powerpoint/2010/main" val="508775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pPr/>
              <a:t>15</a:t>
            </a:fld>
            <a:endParaRPr lang="sv-S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solidFill>
                  <a:prstClr val="black"/>
                </a:solidFill>
                <a:latin typeface="Calibri"/>
              </a:rPr>
              <a:pPr/>
              <a:t>17</a:t>
            </a:fld>
            <a:endParaRPr lang="sv-SE">
              <a:solidFill>
                <a:prstClr val="black"/>
              </a:solidFill>
              <a:latin typeface="Calibri"/>
            </a:endParaRPr>
          </a:p>
        </p:txBody>
      </p:sp>
    </p:spTree>
    <p:extLst>
      <p:ext uri="{BB962C8B-B14F-4D97-AF65-F5344CB8AC3E}">
        <p14:creationId xmlns:p14="http://schemas.microsoft.com/office/powerpoint/2010/main" val="2002825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a:p>
        </p:txBody>
      </p:sp>
      <p:sp>
        <p:nvSpPr>
          <p:cNvPr id="4" name="Platshållare för bildnummer 3"/>
          <p:cNvSpPr>
            <a:spLocks noGrp="1"/>
          </p:cNvSpPr>
          <p:nvPr>
            <p:ph type="sldNum" sz="quarter" idx="10"/>
          </p:nvPr>
        </p:nvSpPr>
        <p:spPr/>
        <p:txBody>
          <a:bodyPr/>
          <a:lstStyle/>
          <a:p>
            <a:fld id="{BE86C122-0624-2448-A274-9C246476B983}" type="slidenum">
              <a:rPr lang="sv-SE" smtClean="0"/>
              <a:pPr/>
              <a:t>18</a:t>
            </a:fld>
            <a:endParaRPr lang="sv-S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a:p>
        </p:txBody>
      </p:sp>
      <p:sp>
        <p:nvSpPr>
          <p:cNvPr id="4" name="Platshållare för bildnummer 3"/>
          <p:cNvSpPr>
            <a:spLocks noGrp="1"/>
          </p:cNvSpPr>
          <p:nvPr>
            <p:ph type="sldNum" sz="quarter" idx="10"/>
          </p:nvPr>
        </p:nvSpPr>
        <p:spPr/>
        <p:txBody>
          <a:bodyPr/>
          <a:lstStyle/>
          <a:p>
            <a:fld id="{BE86C122-0624-2448-A274-9C246476B983}" type="slidenum">
              <a:rPr lang="sv-SE" smtClean="0"/>
              <a:pPr/>
              <a:t>19</a:t>
            </a:fld>
            <a:endParaRPr lang="sv-S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a:p>
        </p:txBody>
      </p:sp>
      <p:sp>
        <p:nvSpPr>
          <p:cNvPr id="4" name="Platshållare för bildnummer 3"/>
          <p:cNvSpPr>
            <a:spLocks noGrp="1"/>
          </p:cNvSpPr>
          <p:nvPr>
            <p:ph type="sldNum" sz="quarter" idx="10"/>
          </p:nvPr>
        </p:nvSpPr>
        <p:spPr/>
        <p:txBody>
          <a:bodyPr/>
          <a:lstStyle/>
          <a:p>
            <a:fld id="{BE86C122-0624-2448-A274-9C246476B983}" type="slidenum">
              <a:rPr lang="sv-SE" smtClean="0"/>
              <a:pPr/>
              <a:t>20</a:t>
            </a:fld>
            <a:endParaRPr lang="sv-S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25</a:t>
            </a:fld>
            <a:endParaRPr lang="sv-SE"/>
          </a:p>
        </p:txBody>
      </p:sp>
    </p:spTree>
    <p:extLst>
      <p:ext uri="{BB962C8B-B14F-4D97-AF65-F5344CB8AC3E}">
        <p14:creationId xmlns:p14="http://schemas.microsoft.com/office/powerpoint/2010/main" val="4195813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a:p>
        </p:txBody>
      </p:sp>
      <p:sp>
        <p:nvSpPr>
          <p:cNvPr id="4" name="Platshållare för bildnummer 3"/>
          <p:cNvSpPr>
            <a:spLocks noGrp="1"/>
          </p:cNvSpPr>
          <p:nvPr>
            <p:ph type="sldNum" sz="quarter" idx="10"/>
          </p:nvPr>
        </p:nvSpPr>
        <p:spPr/>
        <p:txBody>
          <a:bodyPr/>
          <a:lstStyle/>
          <a:p>
            <a:pPr>
              <a:defRPr/>
            </a:pPr>
            <a:fld id="{76374C2A-E21E-4D86-8849-2E48A0AF7CDA}" type="slidenum">
              <a:rPr lang="sv-SE" smtClean="0"/>
              <a:pPr>
                <a:defRPr/>
              </a:pPr>
              <a:t>26</a:t>
            </a:fld>
            <a:endParaRPr lang="sv-S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28</a:t>
            </a:fld>
            <a:endParaRPr lang="sv-SE"/>
          </a:p>
        </p:txBody>
      </p:sp>
    </p:spTree>
    <p:extLst>
      <p:ext uri="{BB962C8B-B14F-4D97-AF65-F5344CB8AC3E}">
        <p14:creationId xmlns:p14="http://schemas.microsoft.com/office/powerpoint/2010/main" val="4195813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29</a:t>
            </a:fld>
            <a:endParaRPr lang="sv-SE"/>
          </a:p>
        </p:txBody>
      </p:sp>
    </p:spTree>
    <p:extLst>
      <p:ext uri="{BB962C8B-B14F-4D97-AF65-F5344CB8AC3E}">
        <p14:creationId xmlns:p14="http://schemas.microsoft.com/office/powerpoint/2010/main" val="4195813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30</a:t>
            </a:fld>
            <a:endParaRPr lang="sv-SE"/>
          </a:p>
        </p:txBody>
      </p:sp>
    </p:spTree>
    <p:extLst>
      <p:ext uri="{BB962C8B-B14F-4D97-AF65-F5344CB8AC3E}">
        <p14:creationId xmlns:p14="http://schemas.microsoft.com/office/powerpoint/2010/main" val="4195813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smtClean="0"/>
              <a:t>E3: </a:t>
            </a:r>
            <a:r>
              <a:rPr lang="sv-SE" dirty="0" err="1" smtClean="0"/>
              <a:t>Sobril</a:t>
            </a:r>
            <a:r>
              <a:rPr lang="sv-SE" dirty="0" smtClean="0"/>
              <a:t> är en aktuell</a:t>
            </a:r>
            <a:r>
              <a:rPr lang="sv-SE" baseline="0" dirty="0" smtClean="0"/>
              <a:t> läkemedelsbehandling. Det finns redan en registrerad </a:t>
            </a:r>
            <a:r>
              <a:rPr lang="sv-SE" i="1" baseline="0" dirty="0" smtClean="0"/>
              <a:t>Läkemedelsbehandling</a:t>
            </a:r>
            <a:r>
              <a:rPr lang="sv-SE" baseline="0" dirty="0" smtClean="0"/>
              <a:t> med </a:t>
            </a:r>
            <a:r>
              <a:rPr lang="sv-SE" baseline="0" dirty="0" err="1" smtClean="0"/>
              <a:t>Sobril</a:t>
            </a:r>
            <a:r>
              <a:rPr lang="sv-SE" baseline="0" dirty="0" smtClean="0"/>
              <a:t> i NOD. Receptet är giltigt och hör ihop med denna behandling.</a:t>
            </a:r>
            <a:br>
              <a:rPr lang="sv-SE" baseline="0" dirty="0" smtClean="0"/>
            </a:br>
            <a:r>
              <a:rPr lang="sv-SE" b="1" baseline="0" dirty="0" err="1" smtClean="0"/>
              <a:t>AttachMedicalPrescription</a:t>
            </a:r>
            <a:r>
              <a:rPr lang="sv-SE" b="1" baseline="0" dirty="0" smtClean="0"/>
              <a:t>  </a:t>
            </a:r>
          </a:p>
          <a:p>
            <a:r>
              <a:rPr lang="sv-SE" b="0" baseline="0" dirty="0" smtClean="0"/>
              <a:t>kräver rättighet som Registrerande. Förskrivare är redan given i </a:t>
            </a:r>
            <a:r>
              <a:rPr lang="sv-SE" b="0" baseline="0" dirty="0" err="1" smtClean="0"/>
              <a:t>exp.underlag</a:t>
            </a:r>
            <a:r>
              <a:rPr lang="sv-SE" b="0" baseline="0" dirty="0" smtClean="0"/>
              <a:t>. Ordinatör är redan angiven för Läkemedelsbehandlingen. [Om behandlingsansvaret också ska övertas används </a:t>
            </a:r>
            <a:r>
              <a:rPr lang="sv-SE" b="0" baseline="0" dirty="0" err="1" smtClean="0"/>
              <a:t>ChangeMedication</a:t>
            </a:r>
            <a:r>
              <a:rPr lang="sv-SE" b="0" baseline="0" dirty="0" smtClean="0"/>
              <a:t> för detta]</a:t>
            </a:r>
            <a:endParaRPr lang="sv-SE" b="1"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sv-SE" b="0"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sv-SE" b="0" baseline="0" dirty="0" smtClean="0"/>
              <a:t>E4: Entocort är en pågående behandling för patienten. Ett giltigt recept finns men ingen </a:t>
            </a:r>
            <a:r>
              <a:rPr lang="sv-SE" i="1" baseline="0" dirty="0" smtClean="0"/>
              <a:t>Läkemedelsbehandling</a:t>
            </a:r>
            <a:r>
              <a:rPr lang="sv-SE" baseline="0" dirty="0" smtClean="0"/>
              <a:t> </a:t>
            </a:r>
            <a:r>
              <a:rPr lang="sv-SE" b="0" baseline="0" dirty="0" smtClean="0"/>
              <a:t>är upplagd i NOD, och läkaren väljer att bekräfta denna som en aktuell behandling.</a:t>
            </a:r>
          </a:p>
          <a:p>
            <a:r>
              <a:rPr lang="sv-SE" b="1" baseline="0" dirty="0" err="1" smtClean="0"/>
              <a:t>RegisterMedication</a:t>
            </a:r>
            <a:r>
              <a:rPr lang="sv-SE" b="1" baseline="0" dirty="0" smtClean="0"/>
              <a:t> </a:t>
            </a:r>
            <a:r>
              <a:rPr lang="sv-SE" b="0" baseline="0" dirty="0" smtClean="0"/>
              <a:t>(baseras på information i </a:t>
            </a:r>
            <a:r>
              <a:rPr lang="sv-SE" b="0" baseline="0" dirty="0" err="1" smtClean="0"/>
              <a:t>expederingsunderlaget</a:t>
            </a:r>
            <a:r>
              <a:rPr lang="sv-SE" b="0" baseline="0" dirty="0" smtClean="0"/>
              <a:t>)</a:t>
            </a:r>
            <a:endParaRPr lang="sv-SE" b="1"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sv-SE" b="1" baseline="0" dirty="0" err="1" smtClean="0"/>
              <a:t>AttachMedicalPrescription</a:t>
            </a:r>
            <a:endParaRPr lang="sv-SE" b="0" baseline="0" dirty="0" smtClean="0"/>
          </a:p>
          <a:p>
            <a:endParaRPr lang="sv-SE" b="0"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sv-SE" b="0" baseline="0" dirty="0" smtClean="0"/>
              <a:t>E5: Valium är inte längre aktuell för patienten, det var en behandling för två månader sedan som nu är avslutad. Det finns dock kvar ett giltigt recept med uttag kvar, och läkaren sätter ut medicinen.</a:t>
            </a:r>
          </a:p>
          <a:p>
            <a:pPr marL="0" marR="0" indent="0" algn="l" defTabSz="457200" rtl="0" eaLnBrk="1" fontAlgn="auto" latinLnBrk="0" hangingPunct="1">
              <a:lnSpc>
                <a:spcPct val="100000"/>
              </a:lnSpc>
              <a:spcBef>
                <a:spcPts val="0"/>
              </a:spcBef>
              <a:spcAft>
                <a:spcPts val="0"/>
              </a:spcAft>
              <a:buClrTx/>
              <a:buSzTx/>
              <a:buFontTx/>
              <a:buNone/>
              <a:tabLst/>
              <a:defRPr/>
            </a:pPr>
            <a:r>
              <a:rPr lang="sv-SE" b="1" baseline="0" dirty="0" err="1" smtClean="0"/>
              <a:t>RegisterMedication</a:t>
            </a:r>
            <a:r>
              <a:rPr lang="sv-SE" b="1" baseline="0"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sv-SE" b="0" baseline="0" dirty="0" smtClean="0"/>
              <a:t>kräver rättighet som Registrerande. Förskrivare hämtas från </a:t>
            </a:r>
            <a:r>
              <a:rPr lang="sv-SE" b="0" baseline="0" dirty="0" err="1" smtClean="0"/>
              <a:t>exp.underlaget</a:t>
            </a:r>
            <a:r>
              <a:rPr lang="sv-SE" b="0" baseline="0" dirty="0" smtClean="0"/>
              <a:t> E5. Om behandlingsansvaret ska övertas, sätts Ordinatör till den nya ordinatören, annars anges ordinatör för den ursprungliga ordinationen (fås av patient, framgår av </a:t>
            </a:r>
            <a:r>
              <a:rPr lang="sv-SE" b="0" baseline="0" dirty="0" err="1" smtClean="0"/>
              <a:t>exp</a:t>
            </a:r>
            <a:r>
              <a:rPr lang="sv-SE" b="0" baseline="0" dirty="0" smtClean="0"/>
              <a:t> underlag </a:t>
            </a:r>
            <a:r>
              <a:rPr lang="sv-SE" b="0" baseline="0" dirty="0" err="1" smtClean="0"/>
              <a:t>etc</a:t>
            </a:r>
            <a:r>
              <a:rPr lang="sv-SE" b="0" baseline="0"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sv-SE" b="0" baseline="0" dirty="0" smtClean="0"/>
              <a:t>Uppgifter om insättningsdatum kan föreslås från </a:t>
            </a:r>
            <a:r>
              <a:rPr lang="sv-SE" b="0" baseline="0" dirty="0" err="1" smtClean="0"/>
              <a:t>exp.underlaget</a:t>
            </a:r>
            <a:r>
              <a:rPr lang="sv-SE" b="0" baseline="0" dirty="0" smtClean="0"/>
              <a:t>. Utsättningsdatum kan sättas direkt i ordinationen till nu eller annat som framkommit.</a:t>
            </a:r>
          </a:p>
          <a:p>
            <a:pPr marL="0" marR="0" indent="0" algn="l" defTabSz="457200" rtl="0" eaLnBrk="1" fontAlgn="auto" latinLnBrk="0" hangingPunct="1">
              <a:lnSpc>
                <a:spcPct val="100000"/>
              </a:lnSpc>
              <a:spcBef>
                <a:spcPts val="0"/>
              </a:spcBef>
              <a:spcAft>
                <a:spcPts val="0"/>
              </a:spcAft>
              <a:buClrTx/>
              <a:buSzTx/>
              <a:buFontTx/>
              <a:buNone/>
              <a:tabLst/>
              <a:defRPr/>
            </a:pPr>
            <a:r>
              <a:rPr lang="sv-SE" b="1" baseline="0" dirty="0" err="1" smtClean="0"/>
              <a:t>AttachMedicalPrescription</a:t>
            </a:r>
            <a:endParaRPr lang="sv-SE" b="1"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sv-SE" b="0" baseline="0" dirty="0" smtClean="0"/>
              <a:t>kräver rättighet som Registrerande. Förskrivare är redan given i </a:t>
            </a:r>
            <a:r>
              <a:rPr lang="sv-SE" b="0" baseline="0" dirty="0" err="1" smtClean="0"/>
              <a:t>exp.underlag</a:t>
            </a:r>
            <a:r>
              <a:rPr lang="sv-SE" b="0" baseline="0" dirty="0" smtClean="0"/>
              <a:t>. Ordinatör är redan angiven för Läkemedelsbehandlingen.</a:t>
            </a:r>
            <a:endParaRPr lang="sv-SE" b="1" baseline="0" dirty="0" smtClean="0"/>
          </a:p>
          <a:p>
            <a:endParaRPr lang="sv-SE" b="1" baseline="0" dirty="0" smtClean="0"/>
          </a:p>
          <a:p>
            <a:r>
              <a:rPr lang="sv-SE" b="0" baseline="0" dirty="0" smtClean="0"/>
              <a:t>E6: </a:t>
            </a:r>
            <a:r>
              <a:rPr lang="sv-SE" b="0" baseline="0" dirty="0" err="1" smtClean="0"/>
              <a:t>Panodilen</a:t>
            </a:r>
            <a:r>
              <a:rPr lang="sv-SE" b="0" baseline="0" dirty="0" smtClean="0"/>
              <a:t> skrev felaktigt ut. Förskrivaren kan makulera detta via interaktionen </a:t>
            </a:r>
            <a:r>
              <a:rPr lang="sv-SE" sz="1200" b="1" kern="1200" dirty="0" err="1" smtClean="0">
                <a:solidFill>
                  <a:schemeClr val="tx1"/>
                </a:solidFill>
                <a:latin typeface="+mn-lt"/>
                <a:ea typeface="+mn-ea"/>
                <a:cs typeface="+mn-cs"/>
              </a:rPr>
              <a:t>RevokeMedicationDispenseAuthorization</a:t>
            </a:r>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a:p>
            <a:endParaRPr lang="sv-SE" b="1" baseline="0"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t>31</a:t>
            </a:fld>
            <a:endParaRPr lang="sv-SE"/>
          </a:p>
        </p:txBody>
      </p:sp>
    </p:spTree>
    <p:extLst>
      <p:ext uri="{BB962C8B-B14F-4D97-AF65-F5344CB8AC3E}">
        <p14:creationId xmlns:p14="http://schemas.microsoft.com/office/powerpoint/2010/main" val="15329256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32</a:t>
            </a:fld>
            <a:endParaRPr lang="sv-SE"/>
          </a:p>
        </p:txBody>
      </p:sp>
    </p:spTree>
    <p:extLst>
      <p:ext uri="{BB962C8B-B14F-4D97-AF65-F5344CB8AC3E}">
        <p14:creationId xmlns:p14="http://schemas.microsoft.com/office/powerpoint/2010/main" val="2690244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solidFill>
                  <a:prstClr val="black"/>
                </a:solidFill>
                <a:latin typeface="Calibri"/>
              </a:rPr>
              <a:pPr/>
              <a:t>34</a:t>
            </a:fld>
            <a:endParaRPr lang="sv-SE">
              <a:solidFill>
                <a:prstClr val="black"/>
              </a:solidFill>
              <a:latin typeface="Calibri"/>
            </a:endParaRPr>
          </a:p>
        </p:txBody>
      </p:sp>
    </p:spTree>
    <p:extLst>
      <p:ext uri="{BB962C8B-B14F-4D97-AF65-F5344CB8AC3E}">
        <p14:creationId xmlns:p14="http://schemas.microsoft.com/office/powerpoint/2010/main" val="2002825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dirty="0"/>
          </a:p>
        </p:txBody>
      </p:sp>
      <p:sp>
        <p:nvSpPr>
          <p:cNvPr id="4" name="Platshållare för bildnummer 3"/>
          <p:cNvSpPr>
            <a:spLocks noGrp="1"/>
          </p:cNvSpPr>
          <p:nvPr>
            <p:ph type="sldNum" sz="quarter" idx="10"/>
          </p:nvPr>
        </p:nvSpPr>
        <p:spPr/>
        <p:txBody>
          <a:bodyPr/>
          <a:lstStyle/>
          <a:p>
            <a:fld id="{2AD81EF3-79B0-4C45-A3F2-B457AB84231E}" type="slidenum">
              <a:rPr lang="sv-SE" smtClean="0"/>
              <a:pPr/>
              <a:t>39</a:t>
            </a:fld>
            <a:endParaRPr lang="sv-S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endParaRPr lang="sv-SE" dirty="0"/>
          </a:p>
        </p:txBody>
      </p:sp>
      <p:sp>
        <p:nvSpPr>
          <p:cNvPr id="4" name="Platshållare för bildnummer 3"/>
          <p:cNvSpPr>
            <a:spLocks noGrp="1"/>
          </p:cNvSpPr>
          <p:nvPr>
            <p:ph type="sldNum" sz="quarter" idx="10"/>
          </p:nvPr>
        </p:nvSpPr>
        <p:spPr/>
        <p:txBody>
          <a:bodyPr/>
          <a:lstStyle/>
          <a:p>
            <a:fld id="{2AD81EF3-79B0-4C45-A3F2-B457AB84231E}" type="slidenum">
              <a:rPr lang="sv-SE" smtClean="0"/>
              <a:pPr/>
              <a:t>40</a:t>
            </a:fld>
            <a:endParaRPr lang="sv-S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smtClean="0"/>
          </a:p>
        </p:txBody>
      </p:sp>
      <p:sp>
        <p:nvSpPr>
          <p:cNvPr id="4" name="Platshållare för bildnummer 3"/>
          <p:cNvSpPr>
            <a:spLocks noGrp="1"/>
          </p:cNvSpPr>
          <p:nvPr>
            <p:ph type="sldNum" sz="quarter" idx="10"/>
          </p:nvPr>
        </p:nvSpPr>
        <p:spPr/>
        <p:txBody>
          <a:bodyPr/>
          <a:lstStyle/>
          <a:p>
            <a:fld id="{BE86C122-0624-2448-A274-9C246476B983}" type="slidenum">
              <a:rPr lang="sv-SE" smtClean="0">
                <a:solidFill>
                  <a:prstClr val="black"/>
                </a:solidFill>
                <a:latin typeface="Calibri"/>
              </a:rPr>
              <a:pPr/>
              <a:t>41</a:t>
            </a:fld>
            <a:endParaRPr lang="sv-SE">
              <a:solidFill>
                <a:prstClr val="black"/>
              </a:solidFill>
              <a:latin typeface="Calibri"/>
            </a:endParaRPr>
          </a:p>
        </p:txBody>
      </p:sp>
    </p:spTree>
    <p:extLst>
      <p:ext uri="{BB962C8B-B14F-4D97-AF65-F5344CB8AC3E}">
        <p14:creationId xmlns:p14="http://schemas.microsoft.com/office/powerpoint/2010/main" val="20028257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43</a:t>
            </a:fld>
            <a:endParaRPr lang="sv-SE"/>
          </a:p>
        </p:txBody>
      </p:sp>
    </p:spTree>
    <p:extLst>
      <p:ext uri="{BB962C8B-B14F-4D97-AF65-F5344CB8AC3E}">
        <p14:creationId xmlns:p14="http://schemas.microsoft.com/office/powerpoint/2010/main" val="7214836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46</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49</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50</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51</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52</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53</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54</a:t>
            </a:fld>
            <a:endParaRPr lang="sv-SE"/>
          </a:p>
        </p:txBody>
      </p:sp>
    </p:spTree>
    <p:extLst>
      <p:ext uri="{BB962C8B-B14F-4D97-AF65-F5344CB8AC3E}">
        <p14:creationId xmlns:p14="http://schemas.microsoft.com/office/powerpoint/2010/main" val="39089768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BE86C122-0624-2448-A274-9C246476B983}" type="slidenum">
              <a:rPr lang="sv-SE" smtClean="0"/>
              <a:t>55</a:t>
            </a:fld>
            <a:endParaRPr lang="sv-SE"/>
          </a:p>
        </p:txBody>
      </p:sp>
    </p:spTree>
    <p:extLst>
      <p:ext uri="{BB962C8B-B14F-4D97-AF65-F5344CB8AC3E}">
        <p14:creationId xmlns:p14="http://schemas.microsoft.com/office/powerpoint/2010/main" val="3908976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smtClean="0"/>
              <a:t>Klicka här för att ändra format</a:t>
            </a:r>
            <a:endParaRPr lang="sv-SE"/>
          </a:p>
        </p:txBody>
      </p:sp>
      <p:sp>
        <p:nvSpPr>
          <p:cNvPr id="3" name="Underrubri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smtClean="0"/>
              <a:t>Klicka här för att ändra format på underrubrik i bakgrunden</a:t>
            </a:r>
            <a:endParaRPr lang="sv-SE"/>
          </a:p>
        </p:txBody>
      </p:sp>
      <p:sp>
        <p:nvSpPr>
          <p:cNvPr id="4" name="Platshållare för bildnummer 3"/>
          <p:cNvSpPr>
            <a:spLocks noGrp="1"/>
          </p:cNvSpPr>
          <p:nvPr>
            <p:ph type="sldNum" sz="quarter" idx="10"/>
          </p:nvPr>
        </p:nvSpPr>
        <p:spPr/>
        <p:txBody>
          <a:bodyPr/>
          <a:lstStyle>
            <a:lvl1pPr>
              <a:defRPr/>
            </a:lvl1pPr>
          </a:lstStyle>
          <a:p>
            <a:fld id="{0B803C0C-C465-427E-B6EA-16CBA5F6D0AF}" type="slidenum">
              <a:rPr lang="sv-SE"/>
              <a:pPr/>
              <a:t>‹Nr.›</a:t>
            </a:fld>
            <a:endParaRPr lang="sv-SE"/>
          </a:p>
        </p:txBody>
      </p:sp>
    </p:spTree>
    <p:extLst>
      <p:ext uri="{BB962C8B-B14F-4D97-AF65-F5344CB8AC3E}">
        <p14:creationId xmlns:p14="http://schemas.microsoft.com/office/powerpoint/2010/main" val="354954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4F4A6512-6F32-47C0-A1DC-EECCB630EF99}" type="slidenum">
              <a:rPr lang="sv-SE"/>
              <a:pPr/>
              <a:t>‹Nr.›</a:t>
            </a:fld>
            <a:endParaRPr lang="sv-SE"/>
          </a:p>
        </p:txBody>
      </p:sp>
    </p:spTree>
    <p:extLst>
      <p:ext uri="{BB962C8B-B14F-4D97-AF65-F5344CB8AC3E}">
        <p14:creationId xmlns:p14="http://schemas.microsoft.com/office/powerpoint/2010/main" val="2988952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sv-SE"/>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sv-SE" smtClean="0"/>
              <a:t>Klicka här för att ändra format på bakgrundstexten</a:t>
            </a:r>
          </a:p>
        </p:txBody>
      </p:sp>
      <p:sp>
        <p:nvSpPr>
          <p:cNvPr id="4" name="Platshållare för bildnummer 3"/>
          <p:cNvSpPr>
            <a:spLocks noGrp="1"/>
          </p:cNvSpPr>
          <p:nvPr>
            <p:ph type="sldNum" sz="quarter" idx="10"/>
          </p:nvPr>
        </p:nvSpPr>
        <p:spPr/>
        <p:txBody>
          <a:bodyPr/>
          <a:lstStyle>
            <a:lvl1pPr>
              <a:defRPr/>
            </a:lvl1pPr>
          </a:lstStyle>
          <a:p>
            <a:fld id="{CA913EB3-8B48-4946-8FB9-D2EFC2D2D9E0}" type="slidenum">
              <a:rPr lang="sv-SE"/>
              <a:pPr/>
              <a:t>‹Nr.›</a:t>
            </a:fld>
            <a:endParaRPr lang="sv-SE"/>
          </a:p>
        </p:txBody>
      </p:sp>
    </p:spTree>
    <p:extLst>
      <p:ext uri="{BB962C8B-B14F-4D97-AF65-F5344CB8AC3E}">
        <p14:creationId xmlns:p14="http://schemas.microsoft.com/office/powerpoint/2010/main" val="914115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sz="half" idx="1"/>
          </p:nvPr>
        </p:nvSpPr>
        <p:spPr>
          <a:xfrm>
            <a:off x="1152525" y="2205038"/>
            <a:ext cx="3324225"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innehåll 3"/>
          <p:cNvSpPr>
            <a:spLocks noGrp="1"/>
          </p:cNvSpPr>
          <p:nvPr>
            <p:ph sz="half" idx="2"/>
          </p:nvPr>
        </p:nvSpPr>
        <p:spPr>
          <a:xfrm>
            <a:off x="4629150" y="2205038"/>
            <a:ext cx="3325813"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bildnummer 4"/>
          <p:cNvSpPr>
            <a:spLocks noGrp="1"/>
          </p:cNvSpPr>
          <p:nvPr>
            <p:ph type="sldNum" sz="quarter" idx="10"/>
          </p:nvPr>
        </p:nvSpPr>
        <p:spPr/>
        <p:txBody>
          <a:bodyPr/>
          <a:lstStyle>
            <a:lvl1pPr>
              <a:defRPr/>
            </a:lvl1pPr>
          </a:lstStyle>
          <a:p>
            <a:fld id="{DFA6C0D3-9F7F-4FC8-AA21-096B52A3CDF2}" type="slidenum">
              <a:rPr lang="sv-SE"/>
              <a:pPr/>
              <a:t>‹Nr.›</a:t>
            </a:fld>
            <a:endParaRPr lang="sv-SE"/>
          </a:p>
        </p:txBody>
      </p:sp>
    </p:spTree>
    <p:extLst>
      <p:ext uri="{BB962C8B-B14F-4D97-AF65-F5344CB8AC3E}">
        <p14:creationId xmlns:p14="http://schemas.microsoft.com/office/powerpoint/2010/main" val="1895010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143000"/>
          </a:xfrm>
        </p:spPr>
        <p:txBody>
          <a:bodyPr/>
          <a:lstStyle>
            <a:lvl1pPr>
              <a:defRPr/>
            </a:lvl1pPr>
          </a:lstStyle>
          <a:p>
            <a:r>
              <a:rPr lang="sv-SE" smtClean="0"/>
              <a:t>Klicka här för att ändra format</a:t>
            </a:r>
            <a:endParaRPr lang="sv-SE"/>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7" name="Platshållare för bildnummer 6"/>
          <p:cNvSpPr>
            <a:spLocks noGrp="1"/>
          </p:cNvSpPr>
          <p:nvPr>
            <p:ph type="sldNum" sz="quarter" idx="10"/>
          </p:nvPr>
        </p:nvSpPr>
        <p:spPr/>
        <p:txBody>
          <a:bodyPr/>
          <a:lstStyle>
            <a:lvl1pPr>
              <a:defRPr/>
            </a:lvl1pPr>
          </a:lstStyle>
          <a:p>
            <a:fld id="{F3BF9E3A-F993-4A31-9525-ADB541D4BF62}" type="slidenum">
              <a:rPr lang="sv-SE"/>
              <a:pPr/>
              <a:t>‹Nr.›</a:t>
            </a:fld>
            <a:endParaRPr lang="sv-SE"/>
          </a:p>
        </p:txBody>
      </p:sp>
    </p:spTree>
    <p:extLst>
      <p:ext uri="{BB962C8B-B14F-4D97-AF65-F5344CB8AC3E}">
        <p14:creationId xmlns:p14="http://schemas.microsoft.com/office/powerpoint/2010/main" val="2928780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bildnummer 2"/>
          <p:cNvSpPr>
            <a:spLocks noGrp="1"/>
          </p:cNvSpPr>
          <p:nvPr>
            <p:ph type="sldNum" sz="quarter" idx="10"/>
          </p:nvPr>
        </p:nvSpPr>
        <p:spPr/>
        <p:txBody>
          <a:bodyPr/>
          <a:lstStyle>
            <a:lvl1pPr>
              <a:defRPr/>
            </a:lvl1pPr>
          </a:lstStyle>
          <a:p>
            <a:fld id="{6EE46765-18A6-4212-A407-C65E2DCE0A05}" type="slidenum">
              <a:rPr lang="sv-SE"/>
              <a:pPr/>
              <a:t>‹Nr.›</a:t>
            </a:fld>
            <a:endParaRPr lang="sv-SE"/>
          </a:p>
        </p:txBody>
      </p:sp>
    </p:spTree>
    <p:extLst>
      <p:ext uri="{BB962C8B-B14F-4D97-AF65-F5344CB8AC3E}">
        <p14:creationId xmlns:p14="http://schemas.microsoft.com/office/powerpoint/2010/main" val="998081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lvl1pPr>
              <a:defRPr/>
            </a:lvl1pPr>
          </a:lstStyle>
          <a:p>
            <a:fld id="{0EE2C763-CBFE-4F59-B352-CEFBC3FB0977}" type="slidenum">
              <a:rPr lang="sv-SE"/>
              <a:pPr/>
              <a:t>‹Nr.›</a:t>
            </a:fld>
            <a:endParaRPr lang="sv-SE"/>
          </a:p>
        </p:txBody>
      </p:sp>
    </p:spTree>
    <p:extLst>
      <p:ext uri="{BB962C8B-B14F-4D97-AF65-F5344CB8AC3E}">
        <p14:creationId xmlns:p14="http://schemas.microsoft.com/office/powerpoint/2010/main" val="1000958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lstStyle>
            <a:lvl1pPr algn="l">
              <a:defRPr sz="2000" b="1"/>
            </a:lvl1pPr>
          </a:lstStyle>
          <a:p>
            <a:r>
              <a:rPr lang="sv-SE" smtClean="0"/>
              <a:t>Klicka här för att ändra format</a:t>
            </a:r>
            <a:endParaRPr lang="sv-SE"/>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42103545-DE09-4EAE-B994-60E0B0895D7D}" type="slidenum">
              <a:rPr lang="sv-SE"/>
              <a:pPr/>
              <a:t>‹Nr.›</a:t>
            </a:fld>
            <a:endParaRPr lang="sv-SE"/>
          </a:p>
        </p:txBody>
      </p:sp>
    </p:spTree>
    <p:extLst>
      <p:ext uri="{BB962C8B-B14F-4D97-AF65-F5344CB8AC3E}">
        <p14:creationId xmlns:p14="http://schemas.microsoft.com/office/powerpoint/2010/main" val="3929454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lstStyle>
            <a:lvl1pPr algn="l">
              <a:defRPr sz="2000" b="1"/>
            </a:lvl1pPr>
          </a:lstStyle>
          <a:p>
            <a:r>
              <a:rPr lang="sv-SE" smtClean="0"/>
              <a:t>Klicka här för att ändra format</a:t>
            </a:r>
            <a:endParaRPr lang="sv-SE"/>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29C94FE8-BDB6-476B-BB22-9719BD8B0D84}" type="slidenum">
              <a:rPr lang="sv-SE"/>
              <a:pPr/>
              <a:t>‹Nr.›</a:t>
            </a:fld>
            <a:endParaRPr lang="sv-SE"/>
          </a:p>
        </p:txBody>
      </p:sp>
    </p:spTree>
    <p:extLst>
      <p:ext uri="{BB962C8B-B14F-4D97-AF65-F5344CB8AC3E}">
        <p14:creationId xmlns:p14="http://schemas.microsoft.com/office/powerpoint/2010/main" val="2605373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714329B0-D544-4D29-A7D3-67B20C7CA455}" type="slidenum">
              <a:rPr lang="sv-SE"/>
              <a:pPr/>
              <a:t>‹Nr.›</a:t>
            </a:fld>
            <a:endParaRPr lang="sv-SE"/>
          </a:p>
        </p:txBody>
      </p:sp>
    </p:spTree>
    <p:extLst>
      <p:ext uri="{BB962C8B-B14F-4D97-AF65-F5344CB8AC3E}">
        <p14:creationId xmlns:p14="http://schemas.microsoft.com/office/powerpoint/2010/main" val="489279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254750" y="1470025"/>
            <a:ext cx="1700213" cy="3792538"/>
          </a:xfrm>
        </p:spPr>
        <p:txBody>
          <a:bodyPr vert="eaVert"/>
          <a:lstStyle/>
          <a:p>
            <a:r>
              <a:rPr lang="sv-SE" smtClean="0"/>
              <a:t>Klicka här för att ändra format</a:t>
            </a:r>
            <a:endParaRPr lang="sv-SE"/>
          </a:p>
        </p:txBody>
      </p:sp>
      <p:sp>
        <p:nvSpPr>
          <p:cNvPr id="3" name="Platshållare för lodrät text 2"/>
          <p:cNvSpPr>
            <a:spLocks noGrp="1"/>
          </p:cNvSpPr>
          <p:nvPr>
            <p:ph type="body" orient="vert" idx="1"/>
          </p:nvPr>
        </p:nvSpPr>
        <p:spPr>
          <a:xfrm>
            <a:off x="1152525" y="1470025"/>
            <a:ext cx="4949825" cy="3792538"/>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A0B7DE7A-A7EE-4C5E-A222-A0BB5DFE0E53}" type="slidenum">
              <a:rPr lang="sv-SE"/>
              <a:pPr/>
              <a:t>‹Nr.›</a:t>
            </a:fld>
            <a:endParaRPr lang="sv-SE"/>
          </a:p>
        </p:txBody>
      </p:sp>
    </p:spTree>
    <p:extLst>
      <p:ext uri="{BB962C8B-B14F-4D97-AF65-F5344CB8AC3E}">
        <p14:creationId xmlns:p14="http://schemas.microsoft.com/office/powerpoint/2010/main" val="35765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ld-Helskärm">
    <p:spTree>
      <p:nvGrpSpPr>
        <p:cNvPr id="1" name=""/>
        <p:cNvGrpSpPr/>
        <p:nvPr/>
      </p:nvGrpSpPr>
      <p:grpSpPr>
        <a:xfrm>
          <a:off x="0" y="0"/>
          <a:ext cx="0" cy="0"/>
          <a:chOff x="0" y="0"/>
          <a:chExt cx="0" cy="0"/>
        </a:xfrm>
      </p:grpSpPr>
      <p:sp>
        <p:nvSpPr>
          <p:cNvPr id="5" name="Platshållare för innehåll 4"/>
          <p:cNvSpPr>
            <a:spLocks noGrp="1" noChangeAspect="1"/>
          </p:cNvSpPr>
          <p:nvPr>
            <p:ph sz="quarter" idx="11"/>
          </p:nvPr>
        </p:nvSpPr>
        <p:spPr>
          <a:xfrm>
            <a:off x="0" y="0"/>
            <a:ext cx="9144000" cy="6734844"/>
          </a:xfrm>
        </p:spPr>
        <p:txBody>
          <a:bodyPr anchor="t">
            <a:noAutofit/>
          </a:bodyPr>
          <a:lstStyle>
            <a:lvl1pPr marL="0" indent="0" algn="ctr">
              <a:buNone/>
              <a:defRPr sz="1500" baseline="0">
                <a:solidFill>
                  <a:srgbClr val="000000"/>
                </a:solidFill>
              </a:defRPr>
            </a:lvl1pPr>
            <a:lvl2pPr>
              <a:defRPr sz="1500">
                <a:solidFill>
                  <a:srgbClr val="000000"/>
                </a:solidFill>
              </a:defRPr>
            </a:lvl2pPr>
            <a:lvl3pPr>
              <a:defRPr sz="1500">
                <a:solidFill>
                  <a:srgbClr val="000000"/>
                </a:solidFill>
              </a:defRPr>
            </a:lvl3pPr>
            <a:lvl4pPr>
              <a:defRPr sz="1500">
                <a:solidFill>
                  <a:srgbClr val="000000"/>
                </a:solidFill>
              </a:defRPr>
            </a:lvl4pPr>
            <a:lvl5pPr>
              <a:defRPr sz="1500">
                <a:solidFill>
                  <a:srgbClr val="000000"/>
                </a:solidFill>
              </a:defRPr>
            </a:lvl5pPr>
          </a:lstStyle>
          <a:p>
            <a:pPr lvl="0"/>
            <a:r>
              <a:rPr lang="sv-SE" smtClean="0"/>
              <a:t>Klicka här för att ändra format på bakgrundstexten</a:t>
            </a:r>
          </a:p>
          <a:p>
            <a:pPr lvl="1"/>
            <a:r>
              <a:rPr lang="sv-SE" smtClean="0"/>
              <a:t>Nivå två</a:t>
            </a:r>
          </a:p>
        </p:txBody>
      </p:sp>
    </p:spTree>
    <p:extLst>
      <p:ext uri="{BB962C8B-B14F-4D97-AF65-F5344CB8AC3E}">
        <p14:creationId xmlns:p14="http://schemas.microsoft.com/office/powerpoint/2010/main" val="3849307306"/>
      </p:ext>
    </p:extLst>
  </p:cSld>
  <p:clrMapOvr>
    <a:masterClrMapping/>
  </p:clrMapOvr>
  <p:timing>
    <p:tnLst>
      <p:par>
        <p:cTn xmlns:p14="http://schemas.microsoft.com/office/powerpoint/2010/mai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Innehåll-1 kolumn">
    <p:spTree>
      <p:nvGrpSpPr>
        <p:cNvPr id="1" name=""/>
        <p:cNvGrpSpPr/>
        <p:nvPr/>
      </p:nvGrpSpPr>
      <p:grpSpPr>
        <a:xfrm>
          <a:off x="0" y="0"/>
          <a:ext cx="0" cy="0"/>
          <a:chOff x="0" y="0"/>
          <a:chExt cx="0" cy="0"/>
        </a:xfrm>
      </p:grpSpPr>
      <p:sp>
        <p:nvSpPr>
          <p:cNvPr id="2" name="Rubrik 1"/>
          <p:cNvSpPr>
            <a:spLocks noGrp="1" noChangeAspect="1"/>
          </p:cNvSpPr>
          <p:nvPr>
            <p:ph type="title" hasCustomPrompt="1"/>
          </p:nvPr>
        </p:nvSpPr>
        <p:spPr>
          <a:xfrm>
            <a:off x="917576" y="563538"/>
            <a:ext cx="7197724" cy="692150"/>
          </a:xfrm>
        </p:spPr>
        <p:txBody>
          <a:bodyPr/>
          <a:lstStyle>
            <a:lvl1pPr>
              <a:defRPr baseline="0"/>
            </a:lvl1pPr>
          </a:lstStyle>
          <a:p>
            <a:r>
              <a:rPr lang="sv-SE" dirty="0" smtClean="0"/>
              <a:t>Klicka här för att skriva rubrik</a:t>
            </a:r>
            <a:endParaRPr lang="en-US" dirty="0"/>
          </a:p>
        </p:txBody>
      </p:sp>
      <p:sp>
        <p:nvSpPr>
          <p:cNvPr id="5" name="Platshållare för innehåll 2"/>
          <p:cNvSpPr>
            <a:spLocks noGrp="1" noChangeAspect="1"/>
          </p:cNvSpPr>
          <p:nvPr>
            <p:ph idx="13" hasCustomPrompt="1"/>
          </p:nvPr>
        </p:nvSpPr>
        <p:spPr>
          <a:xfrm>
            <a:off x="904874" y="1410047"/>
            <a:ext cx="7219951" cy="3885853"/>
          </a:xfrm>
        </p:spPr>
        <p:txBody>
          <a:bodyPr/>
          <a:lstStyle>
            <a:lvl1pPr>
              <a:buFont typeface="Symbol" pitchFamily="18" charset="2"/>
              <a:buChar char="·"/>
              <a:defRPr baseline="0"/>
            </a:lvl1pPr>
            <a:lvl4pPr marL="1119188" indent="0">
              <a:buNone/>
              <a:defRPr/>
            </a:lvl4pPr>
            <a:lvl5pPr marL="1506537" indent="0">
              <a:buNone/>
              <a:defRPr/>
            </a:lvl5pPr>
          </a:lstStyle>
          <a:p>
            <a:pPr lvl="0"/>
            <a:r>
              <a:rPr lang="sv-SE" dirty="0" smtClean="0"/>
              <a:t>Klicka för att skriva text/lägga in bild/skapa tabell/diagram.</a:t>
            </a:r>
          </a:p>
          <a:p>
            <a:pPr lvl="1"/>
            <a:r>
              <a:rPr lang="sv-SE" dirty="0" smtClean="0"/>
              <a:t>Nivå två</a:t>
            </a:r>
          </a:p>
          <a:p>
            <a:pPr lvl="2"/>
            <a:r>
              <a:rPr lang="sv-SE" dirty="0" smtClean="0"/>
              <a:t>Nivå tre</a:t>
            </a:r>
          </a:p>
        </p:txBody>
      </p:sp>
    </p:spTree>
    <p:extLst>
      <p:ext uri="{BB962C8B-B14F-4D97-AF65-F5344CB8AC3E}">
        <p14:creationId xmlns:p14="http://schemas.microsoft.com/office/powerpoint/2010/main" val="2535419895"/>
      </p:ext>
    </p:extLst>
  </p:cSld>
  <p:clrMapOvr>
    <a:masterClrMapping/>
  </p:clrMapOvr>
  <p:timing>
    <p:tnLst>
      <p:par>
        <p:cTn xmlns:p14="http://schemas.microsoft.com/office/powerpoint/2010/mai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tartsida-brun">
    <p:spTree>
      <p:nvGrpSpPr>
        <p:cNvPr id="1" name=""/>
        <p:cNvGrpSpPr/>
        <p:nvPr/>
      </p:nvGrpSpPr>
      <p:grpSpPr>
        <a:xfrm>
          <a:off x="0" y="0"/>
          <a:ext cx="0" cy="0"/>
          <a:chOff x="0" y="0"/>
          <a:chExt cx="0" cy="0"/>
        </a:xfrm>
      </p:grpSpPr>
      <p:sp>
        <p:nvSpPr>
          <p:cNvPr id="5" name="Rectangle 4"/>
          <p:cNvSpPr/>
          <p:nvPr userDrawn="1"/>
        </p:nvSpPr>
        <p:spPr bwMode="auto">
          <a:xfrm>
            <a:off x="0" y="0"/>
            <a:ext cx="9144000" cy="6858000"/>
          </a:xfrm>
          <a:prstGeom prst="rect">
            <a:avLst/>
          </a:prstGeom>
          <a:solidFill>
            <a:srgbClr val="382819"/>
          </a:solidFill>
          <a:ln w="1905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defTabSz="957263" fontAlgn="base">
              <a:spcBef>
                <a:spcPct val="0"/>
              </a:spcBef>
              <a:spcAft>
                <a:spcPct val="0"/>
              </a:spcAft>
            </a:pPr>
            <a:endParaRPr lang="en-US" sz="1900" smtClean="0">
              <a:solidFill>
                <a:srgbClr val="382819"/>
              </a:solidFill>
              <a:latin typeface="Arial" charset="0"/>
              <a:cs typeface="Arial"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29398" y="1688675"/>
            <a:ext cx="3725035" cy="2985349"/>
          </a:xfrm>
          <a:prstGeom prst="rect">
            <a:avLst/>
          </a:prstGeom>
        </p:spPr>
      </p:pic>
    </p:spTree>
    <p:extLst>
      <p:ext uri="{BB962C8B-B14F-4D97-AF65-F5344CB8AC3E}">
        <p14:creationId xmlns:p14="http://schemas.microsoft.com/office/powerpoint/2010/main" val="1369635857"/>
      </p:ext>
    </p:extLst>
  </p:cSld>
  <p:clrMapOvr>
    <a:masterClrMapping/>
  </p:clrMapOvr>
  <p:timing>
    <p:tnLst>
      <p:par>
        <p:cTn xmlns:p14="http://schemas.microsoft.com/office/powerpoint/2010/mai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tartsida-vit">
    <p:spTree>
      <p:nvGrpSpPr>
        <p:cNvPr id="1" name=""/>
        <p:cNvGrpSpPr/>
        <p:nvPr/>
      </p:nvGrpSpPr>
      <p:grpSpPr>
        <a:xfrm>
          <a:off x="0" y="0"/>
          <a:ext cx="0" cy="0"/>
          <a:chOff x="0" y="0"/>
          <a:chExt cx="0" cy="0"/>
        </a:xfrm>
      </p:grpSpPr>
      <p:pic>
        <p:nvPicPr>
          <p:cNvPr id="4" name="Picture 8" descr="Omslag-White-200procent"/>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9144000" cy="685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bwMode="auto">
          <a:xfrm>
            <a:off x="0" y="0"/>
            <a:ext cx="9144000" cy="6856413"/>
          </a:xfrm>
          <a:prstGeom prst="rect">
            <a:avLst/>
          </a:prstGeom>
          <a:solidFill>
            <a:schemeClr val="bg1"/>
          </a:solidFill>
          <a:ln w="1905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noAutofit/>
          </a:bodyPr>
          <a:lstStyle/>
          <a:p>
            <a:pPr defTabSz="957263" fontAlgn="base">
              <a:spcBef>
                <a:spcPct val="0"/>
              </a:spcBef>
              <a:spcAft>
                <a:spcPct val="0"/>
              </a:spcAft>
            </a:pPr>
            <a:endParaRPr lang="en-US" sz="1900" smtClean="0">
              <a:solidFill>
                <a:srgbClr val="382819"/>
              </a:solidFill>
              <a:latin typeface="Arial" charset="0"/>
              <a:cs typeface="Arial" charset="0"/>
            </a:endParaRP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529398" y="1688675"/>
            <a:ext cx="3725034" cy="2985349"/>
          </a:xfrm>
          <a:prstGeom prst="rect">
            <a:avLst/>
          </a:prstGeom>
        </p:spPr>
      </p:pic>
    </p:spTree>
    <p:extLst>
      <p:ext uri="{BB962C8B-B14F-4D97-AF65-F5344CB8AC3E}">
        <p14:creationId xmlns:p14="http://schemas.microsoft.com/office/powerpoint/2010/main" val="2585279761"/>
      </p:ext>
    </p:extLst>
  </p:cSld>
  <p:clrMapOvr>
    <a:masterClrMapping/>
  </p:clrMapOvr>
  <p:timing>
    <p:tnLst>
      <p:par>
        <p:cTn xmlns:p14="http://schemas.microsoft.com/office/powerpoint/2010/mai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Rubriksida">
    <p:spTree>
      <p:nvGrpSpPr>
        <p:cNvPr id="1" name=""/>
        <p:cNvGrpSpPr/>
        <p:nvPr/>
      </p:nvGrpSpPr>
      <p:grpSpPr>
        <a:xfrm>
          <a:off x="0" y="0"/>
          <a:ext cx="0" cy="0"/>
          <a:chOff x="0" y="0"/>
          <a:chExt cx="0" cy="0"/>
        </a:xfrm>
      </p:grpSpPr>
      <p:sp>
        <p:nvSpPr>
          <p:cNvPr id="2" name="Rubrik 1"/>
          <p:cNvSpPr>
            <a:spLocks noGrp="1" noChangeAspect="1"/>
          </p:cNvSpPr>
          <p:nvPr>
            <p:ph type="ctrTitle" hasCustomPrompt="1"/>
          </p:nvPr>
        </p:nvSpPr>
        <p:spPr>
          <a:xfrm>
            <a:off x="971600" y="2286397"/>
            <a:ext cx="7344816" cy="1470025"/>
          </a:xfrm>
        </p:spPr>
        <p:txBody>
          <a:bodyPr/>
          <a:lstStyle>
            <a:lvl1pPr algn="l">
              <a:defRPr/>
            </a:lvl1pPr>
          </a:lstStyle>
          <a:p>
            <a:r>
              <a:rPr lang="sv-SE" dirty="0" smtClean="0"/>
              <a:t>Klicka här för att skriva rubrik</a:t>
            </a:r>
            <a:endParaRPr lang="en-US" dirty="0"/>
          </a:p>
        </p:txBody>
      </p:sp>
      <p:sp>
        <p:nvSpPr>
          <p:cNvPr id="3" name="Underrubrik 2"/>
          <p:cNvSpPr>
            <a:spLocks noGrp="1" noChangeAspect="1"/>
          </p:cNvSpPr>
          <p:nvPr>
            <p:ph type="subTitle" idx="1" hasCustomPrompt="1"/>
          </p:nvPr>
        </p:nvSpPr>
        <p:spPr>
          <a:xfrm>
            <a:off x="971600" y="3861048"/>
            <a:ext cx="6400800" cy="17526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dirty="0" smtClean="0"/>
              <a:t>Klicka här för att skriva underrubrik</a:t>
            </a:r>
            <a:endParaRPr lang="en-US" dirty="0"/>
          </a:p>
        </p:txBody>
      </p:sp>
      <p:sp>
        <p:nvSpPr>
          <p:cNvPr id="12" name="Line 67"/>
          <p:cNvSpPr>
            <a:spLocks noChangeShapeType="1"/>
          </p:cNvSpPr>
          <p:nvPr/>
        </p:nvSpPr>
        <p:spPr bwMode="auto">
          <a:xfrm>
            <a:off x="1265238" y="6038850"/>
            <a:ext cx="0" cy="719138"/>
          </a:xfrm>
          <a:prstGeom prst="line">
            <a:avLst/>
          </a:prstGeom>
          <a:noFill/>
          <a:ln w="12700">
            <a:solidFill>
              <a:srgbClr val="00A9A7"/>
            </a:solidFill>
            <a:round/>
            <a:headEnd/>
            <a:tailEnd/>
          </a:ln>
          <a:extLst>
            <a:ext uri="{909E8E84-426E-40dd-AFC4-6F175D3DCCD1}">
              <a14:hiddenFill xmlns:a14="http://schemas.microsoft.com/office/drawing/2010/main">
                <a:noFill/>
              </a14:hiddenFill>
            </a:ext>
          </a:extLst>
        </p:spPr>
        <p:txBody>
          <a:bodyPr lIns="0" tIns="0" rIns="0" bIns="0"/>
          <a:lstStyle/>
          <a:p>
            <a:pPr defTabSz="914400" fontAlgn="base">
              <a:spcBef>
                <a:spcPct val="0"/>
              </a:spcBef>
              <a:spcAft>
                <a:spcPct val="0"/>
              </a:spcAft>
            </a:pPr>
            <a:endParaRPr lang="sv-SE" sz="1900">
              <a:solidFill>
                <a:srgbClr val="382819"/>
              </a:solidFill>
              <a:latin typeface="Arial" charset="0"/>
              <a:cs typeface="Arial" charset="0"/>
            </a:endParaRPr>
          </a:p>
        </p:txBody>
      </p:sp>
      <p:sp>
        <p:nvSpPr>
          <p:cNvPr id="13" name="Line 68"/>
          <p:cNvSpPr>
            <a:spLocks noChangeShapeType="1"/>
          </p:cNvSpPr>
          <p:nvPr/>
        </p:nvSpPr>
        <p:spPr bwMode="auto">
          <a:xfrm>
            <a:off x="3779912" y="6043613"/>
            <a:ext cx="0" cy="717550"/>
          </a:xfrm>
          <a:prstGeom prst="line">
            <a:avLst/>
          </a:prstGeom>
          <a:noFill/>
          <a:ln w="12700">
            <a:solidFill>
              <a:srgbClr val="00A9A7"/>
            </a:solidFill>
            <a:round/>
            <a:headEnd/>
            <a:tailEnd/>
          </a:ln>
          <a:extLst>
            <a:ext uri="{909E8E84-426E-40dd-AFC4-6F175D3DCCD1}">
              <a14:hiddenFill xmlns:a14="http://schemas.microsoft.com/office/drawing/2010/main">
                <a:noFill/>
              </a14:hiddenFill>
            </a:ext>
          </a:extLst>
        </p:spPr>
        <p:txBody>
          <a:bodyPr lIns="0" tIns="0" rIns="0" bIns="0"/>
          <a:lstStyle/>
          <a:p>
            <a:pPr defTabSz="914400" fontAlgn="base">
              <a:spcBef>
                <a:spcPct val="0"/>
              </a:spcBef>
              <a:spcAft>
                <a:spcPct val="0"/>
              </a:spcAft>
            </a:pPr>
            <a:endParaRPr lang="sv-SE" sz="1900">
              <a:solidFill>
                <a:srgbClr val="382819"/>
              </a:solidFill>
              <a:latin typeface="Arial" charset="0"/>
              <a:cs typeface="Arial" charset="0"/>
            </a:endParaRPr>
          </a:p>
        </p:txBody>
      </p:sp>
      <p:sp>
        <p:nvSpPr>
          <p:cNvPr id="22" name="Platshållare för text 21"/>
          <p:cNvSpPr>
            <a:spLocks noGrp="1" noChangeAspect="1"/>
          </p:cNvSpPr>
          <p:nvPr>
            <p:ph type="body" sz="quarter" idx="14" hasCustomPrompt="1"/>
          </p:nvPr>
        </p:nvSpPr>
        <p:spPr>
          <a:xfrm>
            <a:off x="3904878" y="6187381"/>
            <a:ext cx="3467522" cy="481979"/>
          </a:xfrm>
        </p:spPr>
        <p:txBody>
          <a:bodyPr lIns="0" tIns="0"/>
          <a:lstStyle>
            <a:lvl1pPr marL="0" indent="0">
              <a:buNone/>
              <a:defRPr sz="1500">
                <a:solidFill>
                  <a:srgbClr val="00A9A7"/>
                </a:solidFill>
              </a:defRPr>
            </a:lvl1pPr>
          </a:lstStyle>
          <a:p>
            <a:pPr lvl="0"/>
            <a:r>
              <a:rPr lang="sv-SE" dirty="0" smtClean="0"/>
              <a:t>fornamn.efternamn@inera.se</a:t>
            </a:r>
            <a:endParaRPr lang="sv-SE" dirty="0"/>
          </a:p>
        </p:txBody>
      </p:sp>
      <p:sp>
        <p:nvSpPr>
          <p:cNvPr id="24" name="Platshållare för text 23"/>
          <p:cNvSpPr>
            <a:spLocks noGrp="1" noChangeAspect="1"/>
          </p:cNvSpPr>
          <p:nvPr>
            <p:ph type="body" sz="quarter" idx="15" hasCustomPrompt="1"/>
          </p:nvPr>
        </p:nvSpPr>
        <p:spPr>
          <a:xfrm>
            <a:off x="3906415" y="5959152"/>
            <a:ext cx="3475449" cy="287685"/>
          </a:xfrm>
        </p:spPr>
        <p:txBody>
          <a:bodyPr lIns="0" tIns="0"/>
          <a:lstStyle>
            <a:lvl1pPr marL="0" indent="0">
              <a:buNone/>
              <a:defRPr sz="1500">
                <a:solidFill>
                  <a:srgbClr val="00A9A7"/>
                </a:solidFill>
              </a:defRPr>
            </a:lvl1pPr>
          </a:lstStyle>
          <a:p>
            <a:pPr lvl="0"/>
            <a:r>
              <a:rPr lang="sv-SE" dirty="0" smtClean="0"/>
              <a:t>Förnamn Efternamn</a:t>
            </a:r>
            <a:endParaRPr lang="sv-SE" dirty="0"/>
          </a:p>
        </p:txBody>
      </p:sp>
      <p:sp>
        <p:nvSpPr>
          <p:cNvPr id="26" name="Platshållare för text 25"/>
          <p:cNvSpPr>
            <a:spLocks noGrp="1" noChangeAspect="1"/>
          </p:cNvSpPr>
          <p:nvPr>
            <p:ph type="body" sz="quarter" idx="16" hasCustomPrompt="1"/>
          </p:nvPr>
        </p:nvSpPr>
        <p:spPr>
          <a:xfrm>
            <a:off x="1367557" y="5968330"/>
            <a:ext cx="2340347" cy="359941"/>
          </a:xfrm>
        </p:spPr>
        <p:txBody>
          <a:bodyPr lIns="0" tIns="0"/>
          <a:lstStyle>
            <a:lvl1pPr marL="0" indent="0">
              <a:buNone/>
              <a:defRPr sz="1500" baseline="0">
                <a:solidFill>
                  <a:srgbClr val="00A9A7"/>
                </a:solidFill>
              </a:defRPr>
            </a:lvl1pPr>
          </a:lstStyle>
          <a:p>
            <a:pPr lvl="0"/>
            <a:r>
              <a:rPr lang="sv-SE" dirty="0" smtClean="0"/>
              <a:t>DD månad ÅÅÅÅ</a:t>
            </a:r>
            <a:endParaRPr lang="sv-SE" dirty="0"/>
          </a:p>
        </p:txBody>
      </p:sp>
      <p:sp>
        <p:nvSpPr>
          <p:cNvPr id="10" name="Line 67"/>
          <p:cNvSpPr>
            <a:spLocks noChangeShapeType="1"/>
          </p:cNvSpPr>
          <p:nvPr userDrawn="1"/>
        </p:nvSpPr>
        <p:spPr bwMode="auto">
          <a:xfrm>
            <a:off x="1265238" y="6038850"/>
            <a:ext cx="0" cy="719138"/>
          </a:xfrm>
          <a:prstGeom prst="line">
            <a:avLst/>
          </a:prstGeom>
          <a:noFill/>
          <a:ln w="12700">
            <a:solidFill>
              <a:srgbClr val="00A9A7"/>
            </a:solidFill>
            <a:round/>
            <a:headEnd/>
            <a:tailEnd/>
          </a:ln>
          <a:extLst>
            <a:ext uri="{909E8E84-426E-40dd-AFC4-6F175D3DCCD1}">
              <a14:hiddenFill xmlns:a14="http://schemas.microsoft.com/office/drawing/2010/main">
                <a:noFill/>
              </a14:hiddenFill>
            </a:ext>
          </a:extLst>
        </p:spPr>
        <p:txBody>
          <a:bodyPr lIns="0" tIns="0" rIns="0" bIns="0"/>
          <a:lstStyle/>
          <a:p>
            <a:pPr defTabSz="914400" fontAlgn="base">
              <a:spcBef>
                <a:spcPct val="0"/>
              </a:spcBef>
              <a:spcAft>
                <a:spcPct val="0"/>
              </a:spcAft>
            </a:pPr>
            <a:endParaRPr lang="sv-SE" sz="1900">
              <a:solidFill>
                <a:srgbClr val="382819"/>
              </a:solidFill>
              <a:latin typeface="Arial" charset="0"/>
              <a:cs typeface="Arial" charset="0"/>
            </a:endParaRPr>
          </a:p>
        </p:txBody>
      </p:sp>
      <p:sp>
        <p:nvSpPr>
          <p:cNvPr id="11" name="Line 68"/>
          <p:cNvSpPr>
            <a:spLocks noChangeShapeType="1"/>
          </p:cNvSpPr>
          <p:nvPr userDrawn="1"/>
        </p:nvSpPr>
        <p:spPr bwMode="auto">
          <a:xfrm>
            <a:off x="3779912" y="6043613"/>
            <a:ext cx="0" cy="717550"/>
          </a:xfrm>
          <a:prstGeom prst="line">
            <a:avLst/>
          </a:prstGeom>
          <a:noFill/>
          <a:ln w="12700">
            <a:solidFill>
              <a:srgbClr val="00A9A7"/>
            </a:solidFill>
            <a:round/>
            <a:headEnd/>
            <a:tailEnd/>
          </a:ln>
          <a:extLst>
            <a:ext uri="{909E8E84-426E-40dd-AFC4-6F175D3DCCD1}">
              <a14:hiddenFill xmlns:a14="http://schemas.microsoft.com/office/drawing/2010/main">
                <a:noFill/>
              </a14:hiddenFill>
            </a:ext>
          </a:extLst>
        </p:spPr>
        <p:txBody>
          <a:bodyPr lIns="0" tIns="0" rIns="0" bIns="0"/>
          <a:lstStyle/>
          <a:p>
            <a:pPr defTabSz="914400" fontAlgn="base">
              <a:spcBef>
                <a:spcPct val="0"/>
              </a:spcBef>
              <a:spcAft>
                <a:spcPct val="0"/>
              </a:spcAft>
            </a:pPr>
            <a:endParaRPr lang="sv-SE" sz="1900">
              <a:solidFill>
                <a:srgbClr val="382819"/>
              </a:solidFill>
              <a:latin typeface="Arial" charset="0"/>
              <a:cs typeface="Arial" charset="0"/>
            </a:endParaRPr>
          </a:p>
        </p:txBody>
      </p:sp>
    </p:spTree>
    <p:extLst>
      <p:ext uri="{BB962C8B-B14F-4D97-AF65-F5344CB8AC3E}">
        <p14:creationId xmlns:p14="http://schemas.microsoft.com/office/powerpoint/2010/main" val="1955926871"/>
      </p:ext>
    </p:extLst>
  </p:cSld>
  <p:clrMapOvr>
    <a:masterClrMapping/>
  </p:clrMapOvr>
  <p:timing>
    <p:tnLst>
      <p:par>
        <p:cTn xmlns:p14="http://schemas.microsoft.com/office/powerpoint/2010/mai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nnehåll-1 kolumn">
    <p:spTree>
      <p:nvGrpSpPr>
        <p:cNvPr id="1" name=""/>
        <p:cNvGrpSpPr/>
        <p:nvPr/>
      </p:nvGrpSpPr>
      <p:grpSpPr>
        <a:xfrm>
          <a:off x="0" y="0"/>
          <a:ext cx="0" cy="0"/>
          <a:chOff x="0" y="0"/>
          <a:chExt cx="0" cy="0"/>
        </a:xfrm>
      </p:grpSpPr>
      <p:sp>
        <p:nvSpPr>
          <p:cNvPr id="2" name="Rubrik 1"/>
          <p:cNvSpPr>
            <a:spLocks noGrp="1" noChangeAspect="1"/>
          </p:cNvSpPr>
          <p:nvPr>
            <p:ph type="title" hasCustomPrompt="1"/>
          </p:nvPr>
        </p:nvSpPr>
        <p:spPr>
          <a:xfrm>
            <a:off x="917576" y="563538"/>
            <a:ext cx="7197724" cy="692150"/>
          </a:xfrm>
        </p:spPr>
        <p:txBody>
          <a:bodyPr/>
          <a:lstStyle>
            <a:lvl1pPr>
              <a:defRPr baseline="0"/>
            </a:lvl1pPr>
          </a:lstStyle>
          <a:p>
            <a:r>
              <a:rPr lang="sv-SE" dirty="0" smtClean="0"/>
              <a:t>Klicka här för att skriva rubrik</a:t>
            </a:r>
            <a:endParaRPr lang="en-US" dirty="0"/>
          </a:p>
        </p:txBody>
      </p:sp>
      <p:sp>
        <p:nvSpPr>
          <p:cNvPr id="5" name="Platshållare för innehåll 2"/>
          <p:cNvSpPr>
            <a:spLocks noGrp="1" noChangeAspect="1"/>
          </p:cNvSpPr>
          <p:nvPr>
            <p:ph idx="13" hasCustomPrompt="1"/>
          </p:nvPr>
        </p:nvSpPr>
        <p:spPr>
          <a:xfrm>
            <a:off x="904874" y="1410047"/>
            <a:ext cx="7219951" cy="3885853"/>
          </a:xfrm>
        </p:spPr>
        <p:txBody>
          <a:bodyPr/>
          <a:lstStyle>
            <a:lvl1pPr>
              <a:buFont typeface="Symbol" pitchFamily="18" charset="2"/>
              <a:buChar char="·"/>
              <a:defRPr baseline="0"/>
            </a:lvl1pPr>
            <a:lvl4pPr marL="1119188" indent="0">
              <a:buNone/>
              <a:defRPr/>
            </a:lvl4pPr>
            <a:lvl5pPr marL="1506537" indent="0">
              <a:buNone/>
              <a:defRPr/>
            </a:lvl5pPr>
          </a:lstStyle>
          <a:p>
            <a:pPr lvl="0"/>
            <a:r>
              <a:rPr lang="sv-SE" dirty="0" smtClean="0"/>
              <a:t>Klicka för att skriva text/lägga in bild/skapa tabell/diagram.</a:t>
            </a:r>
          </a:p>
          <a:p>
            <a:pPr lvl="1"/>
            <a:r>
              <a:rPr lang="sv-SE" dirty="0" smtClean="0"/>
              <a:t>Nivå två</a:t>
            </a:r>
          </a:p>
          <a:p>
            <a:pPr lvl="2"/>
            <a:r>
              <a:rPr lang="sv-SE" dirty="0" smtClean="0"/>
              <a:t>Nivå tre</a:t>
            </a:r>
          </a:p>
        </p:txBody>
      </p:sp>
    </p:spTree>
    <p:extLst>
      <p:ext uri="{BB962C8B-B14F-4D97-AF65-F5344CB8AC3E}">
        <p14:creationId xmlns:p14="http://schemas.microsoft.com/office/powerpoint/2010/main" val="1176755860"/>
      </p:ext>
    </p:extLst>
  </p:cSld>
  <p:clrMapOvr>
    <a:masterClrMapping/>
  </p:clrMapOvr>
  <p:timing>
    <p:tnLst>
      <p:par>
        <p:cTn xmlns:p14="http://schemas.microsoft.com/office/powerpoint/2010/mai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nehåll-2 kolumn">
    <p:spTree>
      <p:nvGrpSpPr>
        <p:cNvPr id="1" name=""/>
        <p:cNvGrpSpPr/>
        <p:nvPr/>
      </p:nvGrpSpPr>
      <p:grpSpPr>
        <a:xfrm>
          <a:off x="0" y="0"/>
          <a:ext cx="0" cy="0"/>
          <a:chOff x="0" y="0"/>
          <a:chExt cx="0" cy="0"/>
        </a:xfrm>
      </p:grpSpPr>
      <p:sp>
        <p:nvSpPr>
          <p:cNvPr id="2" name="Rubrik 1"/>
          <p:cNvSpPr>
            <a:spLocks noGrp="1" noChangeAspect="1"/>
          </p:cNvSpPr>
          <p:nvPr>
            <p:ph type="title" hasCustomPrompt="1"/>
          </p:nvPr>
        </p:nvSpPr>
        <p:spPr/>
        <p:txBody>
          <a:bodyPr/>
          <a:lstStyle>
            <a:lvl1pPr>
              <a:defRPr/>
            </a:lvl1pPr>
          </a:lstStyle>
          <a:p>
            <a:r>
              <a:rPr lang="sv-SE" dirty="0" smtClean="0"/>
              <a:t>Klicka här för att skriva rubrik</a:t>
            </a:r>
            <a:endParaRPr lang="en-US" dirty="0"/>
          </a:p>
        </p:txBody>
      </p:sp>
      <p:sp>
        <p:nvSpPr>
          <p:cNvPr id="6" name="Platshållare för innehåll 2"/>
          <p:cNvSpPr>
            <a:spLocks noGrp="1"/>
          </p:cNvSpPr>
          <p:nvPr>
            <p:ph sz="half" idx="11" hasCustomPrompt="1"/>
          </p:nvPr>
        </p:nvSpPr>
        <p:spPr>
          <a:xfrm>
            <a:off x="4581525" y="1412776"/>
            <a:ext cx="3543301" cy="3857724"/>
          </a:xfrm>
        </p:spPr>
        <p:txBody>
          <a:bodyPr/>
          <a:lstStyle>
            <a:lvl1pPr>
              <a:buFont typeface="Symbol" pitchFamily="18" charset="2"/>
              <a:buChar char=""/>
              <a:defRPr sz="2100"/>
            </a:lvl1pPr>
            <a:lvl2pPr>
              <a:defRPr sz="1800"/>
            </a:lvl2pPr>
            <a:lvl3pPr>
              <a:defRPr sz="1800"/>
            </a:lvl3pPr>
            <a:lvl4pPr marL="1119188" indent="0">
              <a:buNone/>
              <a:defRPr sz="1800"/>
            </a:lvl4pPr>
            <a:lvl5pPr marL="1506537" indent="0">
              <a:buNone/>
              <a:defRPr sz="1800"/>
            </a:lvl5pPr>
            <a:lvl6pPr>
              <a:defRPr sz="1800"/>
            </a:lvl6pPr>
            <a:lvl7pPr>
              <a:defRPr sz="1800"/>
            </a:lvl7pPr>
            <a:lvl8pPr>
              <a:defRPr sz="1800"/>
            </a:lvl8pPr>
            <a:lvl9pPr>
              <a:defRPr sz="1800"/>
            </a:lvl9pPr>
          </a:lstStyle>
          <a:p>
            <a:pPr lvl="0"/>
            <a:r>
              <a:rPr lang="sv-SE" dirty="0" smtClean="0"/>
              <a:t>Text/bild/tabell/diagram</a:t>
            </a:r>
          </a:p>
          <a:p>
            <a:pPr lvl="1"/>
            <a:r>
              <a:rPr lang="sv-SE" dirty="0" smtClean="0"/>
              <a:t>Nivå två</a:t>
            </a:r>
          </a:p>
          <a:p>
            <a:pPr lvl="2"/>
            <a:r>
              <a:rPr lang="sv-SE" dirty="0" smtClean="0"/>
              <a:t>Nivå tre</a:t>
            </a:r>
          </a:p>
        </p:txBody>
      </p:sp>
      <p:sp>
        <p:nvSpPr>
          <p:cNvPr id="5" name="Platshållare för innehåll 2"/>
          <p:cNvSpPr>
            <a:spLocks noGrp="1"/>
          </p:cNvSpPr>
          <p:nvPr>
            <p:ph sz="half" idx="12" hasCustomPrompt="1"/>
          </p:nvPr>
        </p:nvSpPr>
        <p:spPr>
          <a:xfrm>
            <a:off x="899592" y="1412776"/>
            <a:ext cx="3543301" cy="3857724"/>
          </a:xfrm>
        </p:spPr>
        <p:txBody>
          <a:bodyPr/>
          <a:lstStyle>
            <a:lvl1pPr>
              <a:buFont typeface="Symbol" pitchFamily="18" charset="2"/>
              <a:buChar char=""/>
              <a:defRPr sz="2100"/>
            </a:lvl1pPr>
            <a:lvl2pPr>
              <a:defRPr sz="1800"/>
            </a:lvl2pPr>
            <a:lvl3pPr>
              <a:defRPr sz="1800"/>
            </a:lvl3pPr>
            <a:lvl4pPr marL="1119188" indent="0">
              <a:buNone/>
              <a:defRPr sz="1800"/>
            </a:lvl4pPr>
            <a:lvl5pPr marL="1506537" indent="0">
              <a:buNone/>
              <a:defRPr sz="1800"/>
            </a:lvl5pPr>
            <a:lvl6pPr>
              <a:defRPr sz="1800"/>
            </a:lvl6pPr>
            <a:lvl7pPr>
              <a:defRPr sz="1800"/>
            </a:lvl7pPr>
            <a:lvl8pPr>
              <a:defRPr sz="1800"/>
            </a:lvl8pPr>
            <a:lvl9pPr>
              <a:defRPr sz="1800"/>
            </a:lvl9pPr>
          </a:lstStyle>
          <a:p>
            <a:pPr lvl="0"/>
            <a:r>
              <a:rPr lang="sv-SE" dirty="0" smtClean="0"/>
              <a:t>Text/bild/tabell/diagram. Beskär </a:t>
            </a:r>
            <a:r>
              <a:rPr lang="sv-SE" smtClean="0"/>
              <a:t>bild till 11,6 </a:t>
            </a:r>
            <a:r>
              <a:rPr lang="sv-SE" dirty="0" smtClean="0"/>
              <a:t>x </a:t>
            </a:r>
            <a:r>
              <a:rPr lang="sv-SE" smtClean="0"/>
              <a:t>9,84 cm för </a:t>
            </a:r>
            <a:r>
              <a:rPr lang="sv-SE" dirty="0" smtClean="0"/>
              <a:t>att passa</a:t>
            </a:r>
          </a:p>
          <a:p>
            <a:pPr lvl="0"/>
            <a:endParaRPr lang="sv-SE" dirty="0" smtClean="0"/>
          </a:p>
          <a:p>
            <a:pPr lvl="1"/>
            <a:r>
              <a:rPr lang="sv-SE" dirty="0" smtClean="0"/>
              <a:t>Nivå två</a:t>
            </a:r>
          </a:p>
          <a:p>
            <a:pPr lvl="2"/>
            <a:r>
              <a:rPr lang="sv-SE" dirty="0" smtClean="0"/>
              <a:t>Nivå tre</a:t>
            </a:r>
          </a:p>
        </p:txBody>
      </p:sp>
    </p:spTree>
    <p:extLst>
      <p:ext uri="{BB962C8B-B14F-4D97-AF65-F5344CB8AC3E}">
        <p14:creationId xmlns:p14="http://schemas.microsoft.com/office/powerpoint/2010/main" val="4247897342"/>
      </p:ext>
    </p:extLst>
  </p:cSld>
  <p:clrMapOvr>
    <a:masterClrMapping/>
  </p:clrMapOvr>
  <p:timing>
    <p:tnLst>
      <p:par>
        <p:cTn xmlns:p14="http://schemas.microsoft.com/office/powerpoint/2010/mai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ld-Bildtext">
    <p:spTree>
      <p:nvGrpSpPr>
        <p:cNvPr id="1" name=""/>
        <p:cNvGrpSpPr/>
        <p:nvPr/>
      </p:nvGrpSpPr>
      <p:grpSpPr>
        <a:xfrm>
          <a:off x="0" y="0"/>
          <a:ext cx="0" cy="0"/>
          <a:chOff x="0" y="0"/>
          <a:chExt cx="0" cy="0"/>
        </a:xfrm>
      </p:grpSpPr>
      <p:sp>
        <p:nvSpPr>
          <p:cNvPr id="7" name="Platshållare för text 6"/>
          <p:cNvSpPr>
            <a:spLocks noGrp="1" noChangeAspect="1"/>
          </p:cNvSpPr>
          <p:nvPr>
            <p:ph type="body" sz="quarter" idx="14" hasCustomPrompt="1"/>
          </p:nvPr>
        </p:nvSpPr>
        <p:spPr>
          <a:xfrm>
            <a:off x="918642" y="4635500"/>
            <a:ext cx="7196658" cy="705222"/>
          </a:xfrm>
        </p:spPr>
        <p:txBody>
          <a:bodyPr lIns="0" rIns="0">
            <a:normAutofit/>
          </a:bodyPr>
          <a:lstStyle>
            <a:lvl1pPr marL="0" indent="0">
              <a:buNone/>
              <a:defRPr sz="1500" baseline="0">
                <a:solidFill>
                  <a:srgbClr val="000000"/>
                </a:solidFill>
              </a:defRPr>
            </a:lvl1pPr>
          </a:lstStyle>
          <a:p>
            <a:pPr lvl="0"/>
            <a:r>
              <a:rPr lang="sv-SE" dirty="0" smtClean="0"/>
              <a:t>Skriv bildtext här (aldrig mer än två rader)</a:t>
            </a:r>
            <a:endParaRPr lang="sv-SE" dirty="0"/>
          </a:p>
        </p:txBody>
      </p:sp>
      <p:sp>
        <p:nvSpPr>
          <p:cNvPr id="9" name="Platshållare för innehåll 8"/>
          <p:cNvSpPr>
            <a:spLocks noGrp="1"/>
          </p:cNvSpPr>
          <p:nvPr>
            <p:ph sz="quarter" idx="15" hasCustomPrompt="1"/>
          </p:nvPr>
        </p:nvSpPr>
        <p:spPr>
          <a:xfrm>
            <a:off x="928166" y="836711"/>
            <a:ext cx="7187134" cy="3798789"/>
          </a:xfrm>
        </p:spPr>
        <p:txBody>
          <a:bodyPr anchor="t">
            <a:normAutofit/>
          </a:bodyPr>
          <a:lstStyle>
            <a:lvl1pPr marL="0" indent="0" algn="ctr">
              <a:buNone/>
              <a:defRPr sz="1500" baseline="0"/>
            </a:lvl1pPr>
          </a:lstStyle>
          <a:p>
            <a:pPr lvl="0"/>
            <a:r>
              <a:rPr lang="sv-SE" dirty="0" smtClean="0"/>
              <a:t>Klicka för att infoga bild/tabell/diagram</a:t>
            </a:r>
          </a:p>
        </p:txBody>
      </p:sp>
    </p:spTree>
    <p:extLst>
      <p:ext uri="{BB962C8B-B14F-4D97-AF65-F5344CB8AC3E}">
        <p14:creationId xmlns:p14="http://schemas.microsoft.com/office/powerpoint/2010/main" val="2019767404"/>
      </p:ext>
    </p:extLst>
  </p:cSld>
  <p:clrMapOvr>
    <a:masterClrMapping/>
  </p:clrMapOvr>
  <p:timing>
    <p:tnLst>
      <p:par>
        <p:cTn xmlns:p14="http://schemas.microsoft.com/office/powerpoint/2010/mai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ild-Helskärm">
    <p:spTree>
      <p:nvGrpSpPr>
        <p:cNvPr id="1" name=""/>
        <p:cNvGrpSpPr/>
        <p:nvPr/>
      </p:nvGrpSpPr>
      <p:grpSpPr>
        <a:xfrm>
          <a:off x="0" y="0"/>
          <a:ext cx="0" cy="0"/>
          <a:chOff x="0" y="0"/>
          <a:chExt cx="0" cy="0"/>
        </a:xfrm>
      </p:grpSpPr>
      <p:sp>
        <p:nvSpPr>
          <p:cNvPr id="5" name="Platshållare för innehåll 4"/>
          <p:cNvSpPr>
            <a:spLocks noGrp="1" noChangeAspect="1"/>
          </p:cNvSpPr>
          <p:nvPr>
            <p:ph sz="quarter" idx="11"/>
          </p:nvPr>
        </p:nvSpPr>
        <p:spPr>
          <a:xfrm>
            <a:off x="0" y="0"/>
            <a:ext cx="9144000" cy="6734844"/>
          </a:xfrm>
        </p:spPr>
        <p:txBody>
          <a:bodyPr anchor="t">
            <a:noAutofit/>
          </a:bodyPr>
          <a:lstStyle>
            <a:lvl1pPr marL="0" indent="0" algn="ctr">
              <a:buNone/>
              <a:defRPr sz="1500" baseline="0">
                <a:solidFill>
                  <a:srgbClr val="000000"/>
                </a:solidFill>
              </a:defRPr>
            </a:lvl1pPr>
            <a:lvl2pPr>
              <a:defRPr sz="1500">
                <a:solidFill>
                  <a:srgbClr val="000000"/>
                </a:solidFill>
              </a:defRPr>
            </a:lvl2pPr>
            <a:lvl3pPr>
              <a:defRPr sz="1500">
                <a:solidFill>
                  <a:srgbClr val="000000"/>
                </a:solidFill>
              </a:defRPr>
            </a:lvl3pPr>
            <a:lvl4pPr>
              <a:defRPr sz="1500">
                <a:solidFill>
                  <a:srgbClr val="000000"/>
                </a:solidFill>
              </a:defRPr>
            </a:lvl4pPr>
            <a:lvl5pPr>
              <a:defRPr sz="1500">
                <a:solidFill>
                  <a:srgbClr val="000000"/>
                </a:solidFill>
              </a:defRPr>
            </a:lvl5pPr>
          </a:lstStyle>
          <a:p>
            <a:pPr lvl="0"/>
            <a:r>
              <a:rPr lang="sv-SE" smtClean="0"/>
              <a:t>Klicka här för att ändra format på bakgrundstexten</a:t>
            </a:r>
          </a:p>
          <a:p>
            <a:pPr lvl="1"/>
            <a:r>
              <a:rPr lang="sv-SE" smtClean="0"/>
              <a:t>Nivå två</a:t>
            </a:r>
          </a:p>
        </p:txBody>
      </p:sp>
    </p:spTree>
    <p:extLst>
      <p:ext uri="{BB962C8B-B14F-4D97-AF65-F5344CB8AC3E}">
        <p14:creationId xmlns:p14="http://schemas.microsoft.com/office/powerpoint/2010/main" val="1673775141"/>
      </p:ext>
    </p:extLst>
  </p:cSld>
  <p:clrMapOvr>
    <a:masterClrMapping/>
  </p:clrMapOvr>
  <p:timing>
    <p:tnLst>
      <p:par>
        <p:cTn xmlns:p14="http://schemas.microsoft.com/office/powerpoint/2010/mai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vdelare-Brun 1">
    <p:spTree>
      <p:nvGrpSpPr>
        <p:cNvPr id="1" name=""/>
        <p:cNvGrpSpPr/>
        <p:nvPr/>
      </p:nvGrpSpPr>
      <p:grpSpPr>
        <a:xfrm>
          <a:off x="0" y="0"/>
          <a:ext cx="0" cy="0"/>
          <a:chOff x="0" y="0"/>
          <a:chExt cx="0" cy="0"/>
        </a:xfrm>
      </p:grpSpPr>
      <p:sp>
        <p:nvSpPr>
          <p:cNvPr id="14" name="Platshållare för text 13"/>
          <p:cNvSpPr>
            <a:spLocks noGrp="1" noChangeAspect="1"/>
          </p:cNvSpPr>
          <p:nvPr>
            <p:ph type="body" sz="quarter" idx="11" hasCustomPrompt="1"/>
          </p:nvPr>
        </p:nvSpPr>
        <p:spPr>
          <a:xfrm>
            <a:off x="827584" y="2708920"/>
            <a:ext cx="6408712" cy="1440160"/>
          </a:xfrm>
        </p:spPr>
        <p:txBody>
          <a:bodyPr anchor="ctr" anchorCtr="0">
            <a:normAutofit/>
          </a:bodyPr>
          <a:lstStyle>
            <a:lvl1pPr marL="0" indent="0">
              <a:buNone/>
              <a:defRPr sz="3000" b="1" baseline="0">
                <a:solidFill>
                  <a:schemeClr val="bg1"/>
                </a:solidFill>
              </a:defRPr>
            </a:lvl1pPr>
          </a:lstStyle>
          <a:p>
            <a:pPr lvl="0"/>
            <a:r>
              <a:rPr lang="sv-SE" dirty="0" smtClean="0"/>
              <a:t>Skriv rubrik här</a:t>
            </a:r>
            <a:endParaRPr lang="sv-SE" dirty="0"/>
          </a:p>
        </p:txBody>
      </p:sp>
      <p:pic>
        <p:nvPicPr>
          <p:cNvPr id="2" name="Bildobjekt 1" descr="Inera_ppt_bakgrund_earth1.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0244743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vdelare-Brun 2">
    <p:spTree>
      <p:nvGrpSpPr>
        <p:cNvPr id="1" name=""/>
        <p:cNvGrpSpPr/>
        <p:nvPr/>
      </p:nvGrpSpPr>
      <p:grpSpPr>
        <a:xfrm>
          <a:off x="0" y="0"/>
          <a:ext cx="0" cy="0"/>
          <a:chOff x="0" y="0"/>
          <a:chExt cx="0" cy="0"/>
        </a:xfrm>
      </p:grpSpPr>
      <p:sp>
        <p:nvSpPr>
          <p:cNvPr id="4" name="Platshållare för text 3"/>
          <p:cNvSpPr>
            <a:spLocks noGrp="1" noChangeAspect="1"/>
          </p:cNvSpPr>
          <p:nvPr>
            <p:ph type="body" sz="quarter" idx="14" hasCustomPrompt="1"/>
          </p:nvPr>
        </p:nvSpPr>
        <p:spPr>
          <a:xfrm>
            <a:off x="1763688" y="2420888"/>
            <a:ext cx="5400600" cy="1872208"/>
          </a:xfrm>
        </p:spPr>
        <p:txBody>
          <a:bodyPr anchor="ctr">
            <a:normAutofit/>
          </a:bodyPr>
          <a:lstStyle>
            <a:lvl1pPr marL="0" indent="0">
              <a:buNone/>
              <a:defRPr sz="3000" b="1">
                <a:solidFill>
                  <a:schemeClr val="bg1"/>
                </a:solidFill>
              </a:defRPr>
            </a:lvl1pPr>
          </a:lstStyle>
          <a:p>
            <a:pPr lvl="0"/>
            <a:r>
              <a:rPr lang="sv-SE" dirty="0" smtClean="0"/>
              <a:t>Skriv rubrik här</a:t>
            </a:r>
            <a:endParaRPr lang="sv-SE" dirty="0"/>
          </a:p>
        </p:txBody>
      </p:sp>
      <p:pic>
        <p:nvPicPr>
          <p:cNvPr id="2" name="Bildobjekt 1" descr="Inera_ppt_bakgrund_earth2.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490262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vdelare-Grön 1">
    <p:spTree>
      <p:nvGrpSpPr>
        <p:cNvPr id="1" name=""/>
        <p:cNvGrpSpPr/>
        <p:nvPr/>
      </p:nvGrpSpPr>
      <p:grpSpPr>
        <a:xfrm>
          <a:off x="0" y="0"/>
          <a:ext cx="0" cy="0"/>
          <a:chOff x="0" y="0"/>
          <a:chExt cx="0" cy="0"/>
        </a:xfrm>
      </p:grpSpPr>
      <p:sp>
        <p:nvSpPr>
          <p:cNvPr id="14" name="Platshållare för text 13"/>
          <p:cNvSpPr>
            <a:spLocks noGrp="1" noChangeAspect="1"/>
          </p:cNvSpPr>
          <p:nvPr>
            <p:ph type="body" sz="quarter" idx="11" hasCustomPrompt="1"/>
          </p:nvPr>
        </p:nvSpPr>
        <p:spPr>
          <a:xfrm>
            <a:off x="827584" y="2708920"/>
            <a:ext cx="6408712" cy="1440160"/>
          </a:xfrm>
        </p:spPr>
        <p:txBody>
          <a:bodyPr anchor="ctr" anchorCtr="0">
            <a:normAutofit/>
          </a:bodyPr>
          <a:lstStyle>
            <a:lvl1pPr marL="0" indent="0">
              <a:buNone/>
              <a:defRPr sz="3000" b="1" baseline="0">
                <a:solidFill>
                  <a:schemeClr val="bg1"/>
                </a:solidFill>
              </a:defRPr>
            </a:lvl1pPr>
          </a:lstStyle>
          <a:p>
            <a:pPr lvl="0"/>
            <a:r>
              <a:rPr lang="sv-SE" dirty="0" smtClean="0"/>
              <a:t>Skriv rubrik här</a:t>
            </a:r>
            <a:endParaRPr lang="sv-SE" dirty="0"/>
          </a:p>
        </p:txBody>
      </p:sp>
      <p:pic>
        <p:nvPicPr>
          <p:cNvPr id="3" name="Bildobjekt 2" descr="Inera_ppt_bakgrund_Ocean1.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9517453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vdelare-Grön 2">
    <p:spTree>
      <p:nvGrpSpPr>
        <p:cNvPr id="1" name=""/>
        <p:cNvGrpSpPr/>
        <p:nvPr/>
      </p:nvGrpSpPr>
      <p:grpSpPr>
        <a:xfrm>
          <a:off x="0" y="0"/>
          <a:ext cx="0" cy="0"/>
          <a:chOff x="0" y="0"/>
          <a:chExt cx="0" cy="0"/>
        </a:xfrm>
      </p:grpSpPr>
      <p:sp>
        <p:nvSpPr>
          <p:cNvPr id="4" name="Platshållare för text 3"/>
          <p:cNvSpPr>
            <a:spLocks noGrp="1" noChangeAspect="1"/>
          </p:cNvSpPr>
          <p:nvPr>
            <p:ph type="body" sz="quarter" idx="14" hasCustomPrompt="1"/>
          </p:nvPr>
        </p:nvSpPr>
        <p:spPr>
          <a:xfrm>
            <a:off x="1763688" y="2420888"/>
            <a:ext cx="5400600" cy="1872208"/>
          </a:xfrm>
        </p:spPr>
        <p:txBody>
          <a:bodyPr anchor="ctr">
            <a:normAutofit/>
          </a:bodyPr>
          <a:lstStyle>
            <a:lvl1pPr marL="0" indent="0">
              <a:buNone/>
              <a:defRPr sz="3000" b="1">
                <a:solidFill>
                  <a:schemeClr val="bg1"/>
                </a:solidFill>
              </a:defRPr>
            </a:lvl1pPr>
          </a:lstStyle>
          <a:p>
            <a:pPr lvl="0"/>
            <a:r>
              <a:rPr lang="sv-SE" dirty="0" smtClean="0"/>
              <a:t>Skriv rubrik här</a:t>
            </a:r>
            <a:endParaRPr lang="sv-SE" dirty="0"/>
          </a:p>
        </p:txBody>
      </p:sp>
      <p:pic>
        <p:nvPicPr>
          <p:cNvPr id="2" name="Bildobjekt 1" descr="Inera_ppt_bakgrund_Ocean2.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23725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vdelare-Gul 1">
    <p:spTree>
      <p:nvGrpSpPr>
        <p:cNvPr id="1" name=""/>
        <p:cNvGrpSpPr/>
        <p:nvPr/>
      </p:nvGrpSpPr>
      <p:grpSpPr>
        <a:xfrm>
          <a:off x="0" y="0"/>
          <a:ext cx="0" cy="0"/>
          <a:chOff x="0" y="0"/>
          <a:chExt cx="0" cy="0"/>
        </a:xfrm>
      </p:grpSpPr>
      <p:sp>
        <p:nvSpPr>
          <p:cNvPr id="14" name="Platshållare för text 13"/>
          <p:cNvSpPr>
            <a:spLocks noGrp="1" noChangeAspect="1"/>
          </p:cNvSpPr>
          <p:nvPr>
            <p:ph type="body" sz="quarter" idx="11" hasCustomPrompt="1"/>
          </p:nvPr>
        </p:nvSpPr>
        <p:spPr>
          <a:xfrm>
            <a:off x="971600" y="2132856"/>
            <a:ext cx="6264696" cy="1728192"/>
          </a:xfrm>
        </p:spPr>
        <p:txBody>
          <a:bodyPr anchor="ctr" anchorCtr="0">
            <a:normAutofit/>
          </a:bodyPr>
          <a:lstStyle>
            <a:lvl1pPr marL="0" indent="0">
              <a:buNone/>
              <a:defRPr sz="3000" b="1" baseline="0">
                <a:solidFill>
                  <a:schemeClr val="bg1"/>
                </a:solidFill>
              </a:defRPr>
            </a:lvl1pPr>
          </a:lstStyle>
          <a:p>
            <a:pPr lvl="0"/>
            <a:r>
              <a:rPr lang="sv-SE" dirty="0" smtClean="0"/>
              <a:t>Skriv rubrik här</a:t>
            </a:r>
            <a:endParaRPr lang="sv-SE" dirty="0"/>
          </a:p>
        </p:txBody>
      </p:sp>
      <p:pic>
        <p:nvPicPr>
          <p:cNvPr id="3" name="Bildobjekt 2" descr="Inera_ppt_bakgrund_Sun1.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5331547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vdelare-Gul 2">
    <p:spTree>
      <p:nvGrpSpPr>
        <p:cNvPr id="1" name=""/>
        <p:cNvGrpSpPr/>
        <p:nvPr/>
      </p:nvGrpSpPr>
      <p:grpSpPr>
        <a:xfrm>
          <a:off x="0" y="0"/>
          <a:ext cx="0" cy="0"/>
          <a:chOff x="0" y="0"/>
          <a:chExt cx="0" cy="0"/>
        </a:xfrm>
      </p:grpSpPr>
      <p:sp>
        <p:nvSpPr>
          <p:cNvPr id="4" name="Platshållare för text 3"/>
          <p:cNvSpPr>
            <a:spLocks noGrp="1" noChangeAspect="1"/>
          </p:cNvSpPr>
          <p:nvPr>
            <p:ph type="body" sz="quarter" idx="14" hasCustomPrompt="1"/>
          </p:nvPr>
        </p:nvSpPr>
        <p:spPr>
          <a:xfrm>
            <a:off x="1763688" y="2420888"/>
            <a:ext cx="5400600" cy="1872208"/>
          </a:xfrm>
        </p:spPr>
        <p:txBody>
          <a:bodyPr anchor="ctr">
            <a:normAutofit/>
          </a:bodyPr>
          <a:lstStyle>
            <a:lvl1pPr marL="0" indent="0">
              <a:buNone/>
              <a:defRPr sz="3000" b="1">
                <a:solidFill>
                  <a:schemeClr val="bg1"/>
                </a:solidFill>
              </a:defRPr>
            </a:lvl1pPr>
          </a:lstStyle>
          <a:p>
            <a:pPr lvl="0"/>
            <a:r>
              <a:rPr lang="sv-SE" dirty="0" smtClean="0"/>
              <a:t>Skriv rubrik här</a:t>
            </a:r>
            <a:endParaRPr lang="sv-SE" dirty="0"/>
          </a:p>
        </p:txBody>
      </p:sp>
      <p:pic>
        <p:nvPicPr>
          <p:cNvPr id="2" name="Bildobjekt 1" descr="Inera_ppt_bakgrund_Sun2.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0681289"/>
      </p:ext>
    </p:extLst>
  </p:cSld>
  <p:clrMapOvr>
    <a:masterClrMapping/>
  </p:clrMapOvr>
  <p:timing>
    <p:tnLst>
      <p:par>
        <p:cTn xmlns:p14="http://schemas.microsoft.com/office/powerpoint/2010/mai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a:xfrm>
            <a:off x="8359775" y="6356350"/>
            <a:ext cx="622300" cy="215900"/>
          </a:xfrm>
          <a:prstGeom prst="rect">
            <a:avLst/>
          </a:prstGeom>
        </p:spPr>
        <p:txBody>
          <a:bodyPr/>
          <a:lstStyle>
            <a:lvl1pPr>
              <a:defRPr/>
            </a:lvl1pPr>
          </a:lstStyle>
          <a:p>
            <a:fld id="{4F4A6512-6F32-47C0-A1DC-EECCB630EF99}" type="slidenum">
              <a:rPr lang="sv-SE"/>
              <a:pPr/>
              <a:t>‹Nr.›</a:t>
            </a:fld>
            <a:endParaRPr lang="sv-SE"/>
          </a:p>
        </p:txBody>
      </p:sp>
    </p:spTree>
    <p:extLst>
      <p:ext uri="{BB962C8B-B14F-4D97-AF65-F5344CB8AC3E}">
        <p14:creationId xmlns:p14="http://schemas.microsoft.com/office/powerpoint/2010/main" val="2472511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smtClean="0"/>
              <a:t>Klicka här för att ändra format</a:t>
            </a:r>
            <a:endParaRPr lang="sv-SE"/>
          </a:p>
        </p:txBody>
      </p:sp>
      <p:sp>
        <p:nvSpPr>
          <p:cNvPr id="3" name="Underrubri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smtClean="0"/>
              <a:t>Klicka här för att ändra format på underrubrik i bakgrunden</a:t>
            </a:r>
            <a:endParaRPr lang="sv-SE"/>
          </a:p>
        </p:txBody>
      </p:sp>
      <p:sp>
        <p:nvSpPr>
          <p:cNvPr id="4" name="Platshållare för bildnummer 3"/>
          <p:cNvSpPr>
            <a:spLocks noGrp="1"/>
          </p:cNvSpPr>
          <p:nvPr>
            <p:ph type="sldNum" sz="quarter" idx="10"/>
          </p:nvPr>
        </p:nvSpPr>
        <p:spPr/>
        <p:txBody>
          <a:bodyPr/>
          <a:lstStyle>
            <a:lvl1pPr>
              <a:defRPr/>
            </a:lvl1pPr>
          </a:lstStyle>
          <a:p>
            <a:fld id="{0B803C0C-C465-427E-B6EA-16CBA5F6D0AF}" type="slidenum">
              <a:rPr lang="sv-SE">
                <a:latin typeface="Arial"/>
              </a:rPr>
              <a:pPr/>
              <a:t>‹Nr.›</a:t>
            </a:fld>
            <a:endParaRPr lang="sv-SE">
              <a:latin typeface="Arial"/>
            </a:endParaRPr>
          </a:p>
        </p:txBody>
      </p:sp>
    </p:spTree>
    <p:extLst>
      <p:ext uri="{BB962C8B-B14F-4D97-AF65-F5344CB8AC3E}">
        <p14:creationId xmlns:p14="http://schemas.microsoft.com/office/powerpoint/2010/main" val="28398091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4F4A6512-6F32-47C0-A1DC-EECCB630EF99}" type="slidenum">
              <a:rPr lang="sv-SE">
                <a:latin typeface="Arial"/>
              </a:rPr>
              <a:pPr/>
              <a:t>‹Nr.›</a:t>
            </a:fld>
            <a:endParaRPr lang="sv-SE">
              <a:latin typeface="Arial"/>
            </a:endParaRPr>
          </a:p>
        </p:txBody>
      </p:sp>
    </p:spTree>
    <p:extLst>
      <p:ext uri="{BB962C8B-B14F-4D97-AF65-F5344CB8AC3E}">
        <p14:creationId xmlns:p14="http://schemas.microsoft.com/office/powerpoint/2010/main" val="14191805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sv-SE"/>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sv-SE" smtClean="0"/>
              <a:t>Klicka här för att ändra format på bakgrundstexten</a:t>
            </a:r>
          </a:p>
        </p:txBody>
      </p:sp>
      <p:sp>
        <p:nvSpPr>
          <p:cNvPr id="4" name="Platshållare för bildnummer 3"/>
          <p:cNvSpPr>
            <a:spLocks noGrp="1"/>
          </p:cNvSpPr>
          <p:nvPr>
            <p:ph type="sldNum" sz="quarter" idx="10"/>
          </p:nvPr>
        </p:nvSpPr>
        <p:spPr/>
        <p:txBody>
          <a:bodyPr/>
          <a:lstStyle>
            <a:lvl1pPr>
              <a:defRPr/>
            </a:lvl1pPr>
          </a:lstStyle>
          <a:p>
            <a:fld id="{CA913EB3-8B48-4946-8FB9-D2EFC2D2D9E0}" type="slidenum">
              <a:rPr lang="sv-SE">
                <a:latin typeface="Arial"/>
              </a:rPr>
              <a:pPr/>
              <a:t>‹Nr.›</a:t>
            </a:fld>
            <a:endParaRPr lang="sv-SE">
              <a:latin typeface="Arial"/>
            </a:endParaRPr>
          </a:p>
        </p:txBody>
      </p:sp>
    </p:spTree>
    <p:extLst>
      <p:ext uri="{BB962C8B-B14F-4D97-AF65-F5344CB8AC3E}">
        <p14:creationId xmlns:p14="http://schemas.microsoft.com/office/powerpoint/2010/main" val="12225907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sz="half" idx="1"/>
          </p:nvPr>
        </p:nvSpPr>
        <p:spPr>
          <a:xfrm>
            <a:off x="1152525" y="2205038"/>
            <a:ext cx="3324225"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innehåll 3"/>
          <p:cNvSpPr>
            <a:spLocks noGrp="1"/>
          </p:cNvSpPr>
          <p:nvPr>
            <p:ph sz="half" idx="2"/>
          </p:nvPr>
        </p:nvSpPr>
        <p:spPr>
          <a:xfrm>
            <a:off x="4629150" y="2205038"/>
            <a:ext cx="3325813"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bildnummer 4"/>
          <p:cNvSpPr>
            <a:spLocks noGrp="1"/>
          </p:cNvSpPr>
          <p:nvPr>
            <p:ph type="sldNum" sz="quarter" idx="10"/>
          </p:nvPr>
        </p:nvSpPr>
        <p:spPr/>
        <p:txBody>
          <a:bodyPr/>
          <a:lstStyle>
            <a:lvl1pPr>
              <a:defRPr/>
            </a:lvl1pPr>
          </a:lstStyle>
          <a:p>
            <a:fld id="{DFA6C0D3-9F7F-4FC8-AA21-096B52A3CDF2}" type="slidenum">
              <a:rPr lang="sv-SE">
                <a:latin typeface="Arial"/>
              </a:rPr>
              <a:pPr/>
              <a:t>‹Nr.›</a:t>
            </a:fld>
            <a:endParaRPr lang="sv-SE">
              <a:latin typeface="Arial"/>
            </a:endParaRPr>
          </a:p>
        </p:txBody>
      </p:sp>
    </p:spTree>
    <p:extLst>
      <p:ext uri="{BB962C8B-B14F-4D97-AF65-F5344CB8AC3E}">
        <p14:creationId xmlns:p14="http://schemas.microsoft.com/office/powerpoint/2010/main" val="37749679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143000"/>
          </a:xfrm>
        </p:spPr>
        <p:txBody>
          <a:bodyPr/>
          <a:lstStyle>
            <a:lvl1pPr>
              <a:defRPr/>
            </a:lvl1pPr>
          </a:lstStyle>
          <a:p>
            <a:r>
              <a:rPr lang="sv-SE" smtClean="0"/>
              <a:t>Klicka här för att ändra format</a:t>
            </a:r>
            <a:endParaRPr lang="sv-SE"/>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7" name="Platshållare för bildnummer 6"/>
          <p:cNvSpPr>
            <a:spLocks noGrp="1"/>
          </p:cNvSpPr>
          <p:nvPr>
            <p:ph type="sldNum" sz="quarter" idx="10"/>
          </p:nvPr>
        </p:nvSpPr>
        <p:spPr/>
        <p:txBody>
          <a:bodyPr/>
          <a:lstStyle>
            <a:lvl1pPr>
              <a:defRPr/>
            </a:lvl1pPr>
          </a:lstStyle>
          <a:p>
            <a:fld id="{F3BF9E3A-F993-4A31-9525-ADB541D4BF62}" type="slidenum">
              <a:rPr lang="sv-SE">
                <a:latin typeface="Arial"/>
              </a:rPr>
              <a:pPr/>
              <a:t>‹Nr.›</a:t>
            </a:fld>
            <a:endParaRPr lang="sv-SE">
              <a:latin typeface="Arial"/>
            </a:endParaRPr>
          </a:p>
        </p:txBody>
      </p:sp>
    </p:spTree>
    <p:extLst>
      <p:ext uri="{BB962C8B-B14F-4D97-AF65-F5344CB8AC3E}">
        <p14:creationId xmlns:p14="http://schemas.microsoft.com/office/powerpoint/2010/main" val="35895576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bildnummer 2"/>
          <p:cNvSpPr>
            <a:spLocks noGrp="1"/>
          </p:cNvSpPr>
          <p:nvPr>
            <p:ph type="sldNum" sz="quarter" idx="10"/>
          </p:nvPr>
        </p:nvSpPr>
        <p:spPr/>
        <p:txBody>
          <a:bodyPr/>
          <a:lstStyle>
            <a:lvl1pPr>
              <a:defRPr/>
            </a:lvl1pPr>
          </a:lstStyle>
          <a:p>
            <a:fld id="{6EE46765-18A6-4212-A407-C65E2DCE0A05}" type="slidenum">
              <a:rPr lang="sv-SE">
                <a:latin typeface="Arial"/>
              </a:rPr>
              <a:pPr/>
              <a:t>‹Nr.›</a:t>
            </a:fld>
            <a:endParaRPr lang="sv-SE">
              <a:latin typeface="Arial"/>
            </a:endParaRPr>
          </a:p>
        </p:txBody>
      </p:sp>
    </p:spTree>
    <p:extLst>
      <p:ext uri="{BB962C8B-B14F-4D97-AF65-F5344CB8AC3E}">
        <p14:creationId xmlns:p14="http://schemas.microsoft.com/office/powerpoint/2010/main" val="33509199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lvl1pPr>
              <a:defRPr/>
            </a:lvl1pPr>
          </a:lstStyle>
          <a:p>
            <a:fld id="{0EE2C763-CBFE-4F59-B352-CEFBC3FB0977}" type="slidenum">
              <a:rPr lang="sv-SE">
                <a:latin typeface="Arial"/>
              </a:rPr>
              <a:pPr/>
              <a:t>‹Nr.›</a:t>
            </a:fld>
            <a:endParaRPr lang="sv-SE">
              <a:latin typeface="Arial"/>
            </a:endParaRPr>
          </a:p>
        </p:txBody>
      </p:sp>
    </p:spTree>
    <p:extLst>
      <p:ext uri="{BB962C8B-B14F-4D97-AF65-F5344CB8AC3E}">
        <p14:creationId xmlns:p14="http://schemas.microsoft.com/office/powerpoint/2010/main" val="37270768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lstStyle>
            <a:lvl1pPr algn="l">
              <a:defRPr sz="2000" b="1"/>
            </a:lvl1pPr>
          </a:lstStyle>
          <a:p>
            <a:r>
              <a:rPr lang="sv-SE" smtClean="0"/>
              <a:t>Klicka här för att ändra format</a:t>
            </a:r>
            <a:endParaRPr lang="sv-SE"/>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42103545-DE09-4EAE-B994-60E0B0895D7D}" type="slidenum">
              <a:rPr lang="sv-SE">
                <a:latin typeface="Arial"/>
              </a:rPr>
              <a:pPr/>
              <a:t>‹Nr.›</a:t>
            </a:fld>
            <a:endParaRPr lang="sv-SE">
              <a:latin typeface="Arial"/>
            </a:endParaRPr>
          </a:p>
        </p:txBody>
      </p:sp>
    </p:spTree>
    <p:extLst>
      <p:ext uri="{BB962C8B-B14F-4D97-AF65-F5344CB8AC3E}">
        <p14:creationId xmlns:p14="http://schemas.microsoft.com/office/powerpoint/2010/main" val="8439246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lstStyle>
            <a:lvl1pPr algn="l">
              <a:defRPr sz="2000" b="1"/>
            </a:lvl1pPr>
          </a:lstStyle>
          <a:p>
            <a:r>
              <a:rPr lang="sv-SE" smtClean="0"/>
              <a:t>Klicka här för att ändra format</a:t>
            </a:r>
            <a:endParaRPr lang="sv-SE"/>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29C94FE8-BDB6-476B-BB22-9719BD8B0D84}" type="slidenum">
              <a:rPr lang="sv-SE">
                <a:latin typeface="Arial"/>
              </a:rPr>
              <a:pPr/>
              <a:t>‹Nr.›</a:t>
            </a:fld>
            <a:endParaRPr lang="sv-SE">
              <a:latin typeface="Arial"/>
            </a:endParaRPr>
          </a:p>
        </p:txBody>
      </p:sp>
    </p:spTree>
    <p:extLst>
      <p:ext uri="{BB962C8B-B14F-4D97-AF65-F5344CB8AC3E}">
        <p14:creationId xmlns:p14="http://schemas.microsoft.com/office/powerpoint/2010/main" val="21632461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714329B0-D544-4D29-A7D3-67B20C7CA455}" type="slidenum">
              <a:rPr lang="sv-SE">
                <a:latin typeface="Arial"/>
              </a:rPr>
              <a:pPr/>
              <a:t>‹Nr.›</a:t>
            </a:fld>
            <a:endParaRPr lang="sv-SE">
              <a:latin typeface="Arial"/>
            </a:endParaRPr>
          </a:p>
        </p:txBody>
      </p:sp>
    </p:spTree>
    <p:extLst>
      <p:ext uri="{BB962C8B-B14F-4D97-AF65-F5344CB8AC3E}">
        <p14:creationId xmlns:p14="http://schemas.microsoft.com/office/powerpoint/2010/main" val="39530304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254750" y="1470025"/>
            <a:ext cx="1700213" cy="3792538"/>
          </a:xfrm>
        </p:spPr>
        <p:txBody>
          <a:bodyPr vert="eaVert"/>
          <a:lstStyle/>
          <a:p>
            <a:r>
              <a:rPr lang="sv-SE" smtClean="0"/>
              <a:t>Klicka här för att ändra format</a:t>
            </a:r>
            <a:endParaRPr lang="sv-SE"/>
          </a:p>
        </p:txBody>
      </p:sp>
      <p:sp>
        <p:nvSpPr>
          <p:cNvPr id="3" name="Platshållare för lodrät text 2"/>
          <p:cNvSpPr>
            <a:spLocks noGrp="1"/>
          </p:cNvSpPr>
          <p:nvPr>
            <p:ph type="body" orient="vert" idx="1"/>
          </p:nvPr>
        </p:nvSpPr>
        <p:spPr>
          <a:xfrm>
            <a:off x="1152525" y="1470025"/>
            <a:ext cx="4949825" cy="3792538"/>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A0B7DE7A-A7EE-4C5E-A222-A0BB5DFE0E53}" type="slidenum">
              <a:rPr lang="sv-SE">
                <a:latin typeface="Arial"/>
              </a:rPr>
              <a:pPr/>
              <a:t>‹Nr.›</a:t>
            </a:fld>
            <a:endParaRPr lang="sv-SE">
              <a:latin typeface="Arial"/>
            </a:endParaRPr>
          </a:p>
        </p:txBody>
      </p:sp>
    </p:spTree>
    <p:extLst>
      <p:ext uri="{BB962C8B-B14F-4D97-AF65-F5344CB8AC3E}">
        <p14:creationId xmlns:p14="http://schemas.microsoft.com/office/powerpoint/2010/main" val="20677541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Bild-Helskärm">
    <p:spTree>
      <p:nvGrpSpPr>
        <p:cNvPr id="1" name=""/>
        <p:cNvGrpSpPr/>
        <p:nvPr/>
      </p:nvGrpSpPr>
      <p:grpSpPr>
        <a:xfrm>
          <a:off x="0" y="0"/>
          <a:ext cx="0" cy="0"/>
          <a:chOff x="0" y="0"/>
          <a:chExt cx="0" cy="0"/>
        </a:xfrm>
      </p:grpSpPr>
      <p:sp>
        <p:nvSpPr>
          <p:cNvPr id="5" name="Platshållare för innehåll 4"/>
          <p:cNvSpPr>
            <a:spLocks noGrp="1" noChangeAspect="1"/>
          </p:cNvSpPr>
          <p:nvPr>
            <p:ph sz="quarter" idx="11"/>
          </p:nvPr>
        </p:nvSpPr>
        <p:spPr>
          <a:xfrm>
            <a:off x="0" y="0"/>
            <a:ext cx="9144000" cy="6734844"/>
          </a:xfrm>
        </p:spPr>
        <p:txBody>
          <a:bodyPr anchor="t">
            <a:noAutofit/>
          </a:bodyPr>
          <a:lstStyle>
            <a:lvl1pPr marL="0" indent="0" algn="ctr">
              <a:buNone/>
              <a:defRPr sz="1500" baseline="0">
                <a:solidFill>
                  <a:srgbClr val="000000"/>
                </a:solidFill>
              </a:defRPr>
            </a:lvl1pPr>
            <a:lvl2pPr>
              <a:defRPr sz="1500">
                <a:solidFill>
                  <a:srgbClr val="000000"/>
                </a:solidFill>
              </a:defRPr>
            </a:lvl2pPr>
            <a:lvl3pPr>
              <a:defRPr sz="1500">
                <a:solidFill>
                  <a:srgbClr val="000000"/>
                </a:solidFill>
              </a:defRPr>
            </a:lvl3pPr>
            <a:lvl4pPr>
              <a:defRPr sz="1500">
                <a:solidFill>
                  <a:srgbClr val="000000"/>
                </a:solidFill>
              </a:defRPr>
            </a:lvl4pPr>
            <a:lvl5pPr>
              <a:defRPr sz="1500">
                <a:solidFill>
                  <a:srgbClr val="000000"/>
                </a:solidFill>
              </a:defRPr>
            </a:lvl5pPr>
          </a:lstStyle>
          <a:p>
            <a:pPr lvl="0"/>
            <a:r>
              <a:rPr lang="sv-SE" smtClean="0"/>
              <a:t>Klicka här för att ändra format på bakgrundstexten</a:t>
            </a:r>
          </a:p>
          <a:p>
            <a:pPr lvl="1"/>
            <a:r>
              <a:rPr lang="sv-SE" smtClean="0"/>
              <a:t>Nivå två</a:t>
            </a:r>
          </a:p>
        </p:txBody>
      </p:sp>
    </p:spTree>
    <p:extLst>
      <p:ext uri="{BB962C8B-B14F-4D97-AF65-F5344CB8AC3E}">
        <p14:creationId xmlns:p14="http://schemas.microsoft.com/office/powerpoint/2010/main" val="701522027"/>
      </p:ext>
    </p:extLst>
  </p:cSld>
  <p:clrMapOvr>
    <a:masterClrMapping/>
  </p:clrMapOvr>
  <p:timing>
    <p:tnLst>
      <p:par>
        <p:cTn xmlns:p14="http://schemas.microsoft.com/office/powerpoint/2010/mai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smtClean="0"/>
              <a:t>Klicka här för att ändra format</a:t>
            </a:r>
            <a:endParaRPr lang="sv-SE"/>
          </a:p>
        </p:txBody>
      </p:sp>
      <p:sp>
        <p:nvSpPr>
          <p:cNvPr id="3" name="Underrubri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smtClean="0"/>
              <a:t>Klicka här för att ändra format på underrubrik i bakgrunden</a:t>
            </a:r>
            <a:endParaRPr lang="sv-SE"/>
          </a:p>
        </p:txBody>
      </p:sp>
      <p:sp>
        <p:nvSpPr>
          <p:cNvPr id="4" name="Platshållare för bildnummer 3"/>
          <p:cNvSpPr>
            <a:spLocks noGrp="1"/>
          </p:cNvSpPr>
          <p:nvPr>
            <p:ph type="sldNum" sz="quarter" idx="10"/>
          </p:nvPr>
        </p:nvSpPr>
        <p:spPr/>
        <p:txBody>
          <a:bodyPr/>
          <a:lstStyle>
            <a:lvl1pPr>
              <a:defRPr/>
            </a:lvl1pPr>
          </a:lstStyle>
          <a:p>
            <a:fld id="{0B803C0C-C465-427E-B6EA-16CBA5F6D0AF}" type="slidenum">
              <a:rPr lang="sv-SE">
                <a:latin typeface="Arial"/>
              </a:rPr>
              <a:pPr/>
              <a:t>‹Nr.›</a:t>
            </a:fld>
            <a:endParaRPr lang="sv-SE">
              <a:latin typeface="Arial"/>
            </a:endParaRPr>
          </a:p>
        </p:txBody>
      </p:sp>
    </p:spTree>
    <p:extLst>
      <p:ext uri="{BB962C8B-B14F-4D97-AF65-F5344CB8AC3E}">
        <p14:creationId xmlns:p14="http://schemas.microsoft.com/office/powerpoint/2010/main" val="1584318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4F4A6512-6F32-47C0-A1DC-EECCB630EF99}" type="slidenum">
              <a:rPr lang="sv-SE">
                <a:latin typeface="Arial"/>
              </a:rPr>
              <a:pPr/>
              <a:t>‹Nr.›</a:t>
            </a:fld>
            <a:endParaRPr lang="sv-SE">
              <a:latin typeface="Arial"/>
            </a:endParaRPr>
          </a:p>
        </p:txBody>
      </p:sp>
    </p:spTree>
    <p:extLst>
      <p:ext uri="{BB962C8B-B14F-4D97-AF65-F5344CB8AC3E}">
        <p14:creationId xmlns:p14="http://schemas.microsoft.com/office/powerpoint/2010/main" val="25078930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sv-SE"/>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sv-SE" smtClean="0"/>
              <a:t>Klicka här för att ändra format på bakgrundstexten</a:t>
            </a:r>
          </a:p>
        </p:txBody>
      </p:sp>
      <p:sp>
        <p:nvSpPr>
          <p:cNvPr id="4" name="Platshållare för bildnummer 3"/>
          <p:cNvSpPr>
            <a:spLocks noGrp="1"/>
          </p:cNvSpPr>
          <p:nvPr>
            <p:ph type="sldNum" sz="quarter" idx="10"/>
          </p:nvPr>
        </p:nvSpPr>
        <p:spPr/>
        <p:txBody>
          <a:bodyPr/>
          <a:lstStyle>
            <a:lvl1pPr>
              <a:defRPr/>
            </a:lvl1pPr>
          </a:lstStyle>
          <a:p>
            <a:fld id="{CA913EB3-8B48-4946-8FB9-D2EFC2D2D9E0}" type="slidenum">
              <a:rPr lang="sv-SE">
                <a:latin typeface="Arial"/>
              </a:rPr>
              <a:pPr/>
              <a:t>‹Nr.›</a:t>
            </a:fld>
            <a:endParaRPr lang="sv-SE">
              <a:latin typeface="Arial"/>
            </a:endParaRPr>
          </a:p>
        </p:txBody>
      </p:sp>
    </p:spTree>
    <p:extLst>
      <p:ext uri="{BB962C8B-B14F-4D97-AF65-F5344CB8AC3E}">
        <p14:creationId xmlns:p14="http://schemas.microsoft.com/office/powerpoint/2010/main" val="41300580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sz="half" idx="1"/>
          </p:nvPr>
        </p:nvSpPr>
        <p:spPr>
          <a:xfrm>
            <a:off x="1152525" y="2205038"/>
            <a:ext cx="3324225"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innehåll 3"/>
          <p:cNvSpPr>
            <a:spLocks noGrp="1"/>
          </p:cNvSpPr>
          <p:nvPr>
            <p:ph sz="half" idx="2"/>
          </p:nvPr>
        </p:nvSpPr>
        <p:spPr>
          <a:xfrm>
            <a:off x="4629150" y="2205038"/>
            <a:ext cx="3325813"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bildnummer 4"/>
          <p:cNvSpPr>
            <a:spLocks noGrp="1"/>
          </p:cNvSpPr>
          <p:nvPr>
            <p:ph type="sldNum" sz="quarter" idx="10"/>
          </p:nvPr>
        </p:nvSpPr>
        <p:spPr/>
        <p:txBody>
          <a:bodyPr/>
          <a:lstStyle>
            <a:lvl1pPr>
              <a:defRPr/>
            </a:lvl1pPr>
          </a:lstStyle>
          <a:p>
            <a:fld id="{DFA6C0D3-9F7F-4FC8-AA21-096B52A3CDF2}" type="slidenum">
              <a:rPr lang="sv-SE">
                <a:latin typeface="Arial"/>
              </a:rPr>
              <a:pPr/>
              <a:t>‹Nr.›</a:t>
            </a:fld>
            <a:endParaRPr lang="sv-SE">
              <a:latin typeface="Arial"/>
            </a:endParaRPr>
          </a:p>
        </p:txBody>
      </p:sp>
    </p:spTree>
    <p:extLst>
      <p:ext uri="{BB962C8B-B14F-4D97-AF65-F5344CB8AC3E}">
        <p14:creationId xmlns:p14="http://schemas.microsoft.com/office/powerpoint/2010/main" val="2239532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143000"/>
          </a:xfrm>
        </p:spPr>
        <p:txBody>
          <a:bodyPr/>
          <a:lstStyle>
            <a:lvl1pPr>
              <a:defRPr/>
            </a:lvl1pPr>
          </a:lstStyle>
          <a:p>
            <a:r>
              <a:rPr lang="sv-SE" smtClean="0"/>
              <a:t>Klicka här för att ändra format</a:t>
            </a:r>
            <a:endParaRPr lang="sv-SE"/>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7" name="Platshållare för bildnummer 6"/>
          <p:cNvSpPr>
            <a:spLocks noGrp="1"/>
          </p:cNvSpPr>
          <p:nvPr>
            <p:ph type="sldNum" sz="quarter" idx="10"/>
          </p:nvPr>
        </p:nvSpPr>
        <p:spPr/>
        <p:txBody>
          <a:bodyPr/>
          <a:lstStyle>
            <a:lvl1pPr>
              <a:defRPr/>
            </a:lvl1pPr>
          </a:lstStyle>
          <a:p>
            <a:fld id="{F3BF9E3A-F993-4A31-9525-ADB541D4BF62}" type="slidenum">
              <a:rPr lang="sv-SE">
                <a:latin typeface="Arial"/>
              </a:rPr>
              <a:pPr/>
              <a:t>‹Nr.›</a:t>
            </a:fld>
            <a:endParaRPr lang="sv-SE">
              <a:latin typeface="Arial"/>
            </a:endParaRPr>
          </a:p>
        </p:txBody>
      </p:sp>
    </p:spTree>
    <p:extLst>
      <p:ext uri="{BB962C8B-B14F-4D97-AF65-F5344CB8AC3E}">
        <p14:creationId xmlns:p14="http://schemas.microsoft.com/office/powerpoint/2010/main" val="32750177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bildnummer 2"/>
          <p:cNvSpPr>
            <a:spLocks noGrp="1"/>
          </p:cNvSpPr>
          <p:nvPr>
            <p:ph type="sldNum" sz="quarter" idx="10"/>
          </p:nvPr>
        </p:nvSpPr>
        <p:spPr/>
        <p:txBody>
          <a:bodyPr/>
          <a:lstStyle>
            <a:lvl1pPr>
              <a:defRPr/>
            </a:lvl1pPr>
          </a:lstStyle>
          <a:p>
            <a:fld id="{6EE46765-18A6-4212-A407-C65E2DCE0A05}" type="slidenum">
              <a:rPr lang="sv-SE">
                <a:latin typeface="Arial"/>
              </a:rPr>
              <a:pPr/>
              <a:t>‹Nr.›</a:t>
            </a:fld>
            <a:endParaRPr lang="sv-SE">
              <a:latin typeface="Arial"/>
            </a:endParaRPr>
          </a:p>
        </p:txBody>
      </p:sp>
    </p:spTree>
    <p:extLst>
      <p:ext uri="{BB962C8B-B14F-4D97-AF65-F5344CB8AC3E}">
        <p14:creationId xmlns:p14="http://schemas.microsoft.com/office/powerpoint/2010/main" val="41528121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lvl1pPr>
              <a:defRPr/>
            </a:lvl1pPr>
          </a:lstStyle>
          <a:p>
            <a:fld id="{0EE2C763-CBFE-4F59-B352-CEFBC3FB0977}" type="slidenum">
              <a:rPr lang="sv-SE">
                <a:latin typeface="Arial"/>
              </a:rPr>
              <a:pPr/>
              <a:t>‹Nr.›</a:t>
            </a:fld>
            <a:endParaRPr lang="sv-SE">
              <a:latin typeface="Arial"/>
            </a:endParaRPr>
          </a:p>
        </p:txBody>
      </p:sp>
    </p:spTree>
    <p:extLst>
      <p:ext uri="{BB962C8B-B14F-4D97-AF65-F5344CB8AC3E}">
        <p14:creationId xmlns:p14="http://schemas.microsoft.com/office/powerpoint/2010/main" val="42522159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lstStyle>
            <a:lvl1pPr algn="l">
              <a:defRPr sz="2000" b="1"/>
            </a:lvl1pPr>
          </a:lstStyle>
          <a:p>
            <a:r>
              <a:rPr lang="sv-SE" smtClean="0"/>
              <a:t>Klicka här för att ändra format</a:t>
            </a:r>
            <a:endParaRPr lang="sv-SE"/>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42103545-DE09-4EAE-B994-60E0B0895D7D}" type="slidenum">
              <a:rPr lang="sv-SE">
                <a:latin typeface="Arial"/>
              </a:rPr>
              <a:pPr/>
              <a:t>‹Nr.›</a:t>
            </a:fld>
            <a:endParaRPr lang="sv-SE">
              <a:latin typeface="Arial"/>
            </a:endParaRPr>
          </a:p>
        </p:txBody>
      </p:sp>
    </p:spTree>
    <p:extLst>
      <p:ext uri="{BB962C8B-B14F-4D97-AF65-F5344CB8AC3E}">
        <p14:creationId xmlns:p14="http://schemas.microsoft.com/office/powerpoint/2010/main" val="38363135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lstStyle>
            <a:lvl1pPr algn="l">
              <a:defRPr sz="2000" b="1"/>
            </a:lvl1pPr>
          </a:lstStyle>
          <a:p>
            <a:r>
              <a:rPr lang="sv-SE" smtClean="0"/>
              <a:t>Klicka här för att ändra format</a:t>
            </a:r>
            <a:endParaRPr lang="sv-SE"/>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29C94FE8-BDB6-476B-BB22-9719BD8B0D84}" type="slidenum">
              <a:rPr lang="sv-SE">
                <a:latin typeface="Arial"/>
              </a:rPr>
              <a:pPr/>
              <a:t>‹Nr.›</a:t>
            </a:fld>
            <a:endParaRPr lang="sv-SE">
              <a:latin typeface="Arial"/>
            </a:endParaRPr>
          </a:p>
        </p:txBody>
      </p:sp>
    </p:spTree>
    <p:extLst>
      <p:ext uri="{BB962C8B-B14F-4D97-AF65-F5344CB8AC3E}">
        <p14:creationId xmlns:p14="http://schemas.microsoft.com/office/powerpoint/2010/main" val="14609690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714329B0-D544-4D29-A7D3-67B20C7CA455}" type="slidenum">
              <a:rPr lang="sv-SE">
                <a:latin typeface="Arial"/>
              </a:rPr>
              <a:pPr/>
              <a:t>‹Nr.›</a:t>
            </a:fld>
            <a:endParaRPr lang="sv-SE">
              <a:latin typeface="Arial"/>
            </a:endParaRPr>
          </a:p>
        </p:txBody>
      </p:sp>
    </p:spTree>
    <p:extLst>
      <p:ext uri="{BB962C8B-B14F-4D97-AF65-F5344CB8AC3E}">
        <p14:creationId xmlns:p14="http://schemas.microsoft.com/office/powerpoint/2010/main" val="34422321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254750" y="1470025"/>
            <a:ext cx="1700213" cy="3792538"/>
          </a:xfrm>
        </p:spPr>
        <p:txBody>
          <a:bodyPr vert="eaVert"/>
          <a:lstStyle/>
          <a:p>
            <a:r>
              <a:rPr lang="sv-SE" smtClean="0"/>
              <a:t>Klicka här för att ändra format</a:t>
            </a:r>
            <a:endParaRPr lang="sv-SE"/>
          </a:p>
        </p:txBody>
      </p:sp>
      <p:sp>
        <p:nvSpPr>
          <p:cNvPr id="3" name="Platshållare för lodrät text 2"/>
          <p:cNvSpPr>
            <a:spLocks noGrp="1"/>
          </p:cNvSpPr>
          <p:nvPr>
            <p:ph type="body" orient="vert" idx="1"/>
          </p:nvPr>
        </p:nvSpPr>
        <p:spPr>
          <a:xfrm>
            <a:off x="1152525" y="1470025"/>
            <a:ext cx="4949825" cy="3792538"/>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A0B7DE7A-A7EE-4C5E-A222-A0BB5DFE0E53}" type="slidenum">
              <a:rPr lang="sv-SE">
                <a:latin typeface="Arial"/>
              </a:rPr>
              <a:pPr/>
              <a:t>‹Nr.›</a:t>
            </a:fld>
            <a:endParaRPr lang="sv-SE">
              <a:latin typeface="Arial"/>
            </a:endParaRPr>
          </a:p>
        </p:txBody>
      </p:sp>
    </p:spTree>
    <p:extLst>
      <p:ext uri="{BB962C8B-B14F-4D97-AF65-F5344CB8AC3E}">
        <p14:creationId xmlns:p14="http://schemas.microsoft.com/office/powerpoint/2010/main" val="9333100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Bild-Helskärm">
    <p:spTree>
      <p:nvGrpSpPr>
        <p:cNvPr id="1" name=""/>
        <p:cNvGrpSpPr/>
        <p:nvPr/>
      </p:nvGrpSpPr>
      <p:grpSpPr>
        <a:xfrm>
          <a:off x="0" y="0"/>
          <a:ext cx="0" cy="0"/>
          <a:chOff x="0" y="0"/>
          <a:chExt cx="0" cy="0"/>
        </a:xfrm>
      </p:grpSpPr>
      <p:sp>
        <p:nvSpPr>
          <p:cNvPr id="5" name="Platshållare för innehåll 4"/>
          <p:cNvSpPr>
            <a:spLocks noGrp="1" noChangeAspect="1"/>
          </p:cNvSpPr>
          <p:nvPr>
            <p:ph sz="quarter" idx="11"/>
          </p:nvPr>
        </p:nvSpPr>
        <p:spPr>
          <a:xfrm>
            <a:off x="0" y="0"/>
            <a:ext cx="9144000" cy="6734844"/>
          </a:xfrm>
        </p:spPr>
        <p:txBody>
          <a:bodyPr anchor="t">
            <a:noAutofit/>
          </a:bodyPr>
          <a:lstStyle>
            <a:lvl1pPr marL="0" indent="0" algn="ctr">
              <a:buNone/>
              <a:defRPr sz="1500" baseline="0">
                <a:solidFill>
                  <a:srgbClr val="000000"/>
                </a:solidFill>
              </a:defRPr>
            </a:lvl1pPr>
            <a:lvl2pPr>
              <a:defRPr sz="1500">
                <a:solidFill>
                  <a:srgbClr val="000000"/>
                </a:solidFill>
              </a:defRPr>
            </a:lvl2pPr>
            <a:lvl3pPr>
              <a:defRPr sz="1500">
                <a:solidFill>
                  <a:srgbClr val="000000"/>
                </a:solidFill>
              </a:defRPr>
            </a:lvl3pPr>
            <a:lvl4pPr>
              <a:defRPr sz="1500">
                <a:solidFill>
                  <a:srgbClr val="000000"/>
                </a:solidFill>
              </a:defRPr>
            </a:lvl4pPr>
            <a:lvl5pPr>
              <a:defRPr sz="1500">
                <a:solidFill>
                  <a:srgbClr val="000000"/>
                </a:solidFill>
              </a:defRPr>
            </a:lvl5pPr>
          </a:lstStyle>
          <a:p>
            <a:pPr lvl="0"/>
            <a:r>
              <a:rPr lang="sv-SE" smtClean="0"/>
              <a:t>Klicka här för att ändra format på bakgrundstexten</a:t>
            </a:r>
          </a:p>
          <a:p>
            <a:pPr lvl="1"/>
            <a:r>
              <a:rPr lang="sv-SE" smtClean="0"/>
              <a:t>Nivå två</a:t>
            </a:r>
          </a:p>
        </p:txBody>
      </p:sp>
    </p:spTree>
    <p:extLst>
      <p:ext uri="{BB962C8B-B14F-4D97-AF65-F5344CB8AC3E}">
        <p14:creationId xmlns:p14="http://schemas.microsoft.com/office/powerpoint/2010/main" val="1575432404"/>
      </p:ext>
    </p:extLst>
  </p:cSld>
  <p:clrMapOvr>
    <a:masterClrMapping/>
  </p:clrMapOvr>
  <p:timing>
    <p:tnLst>
      <p:par>
        <p:cTn xmlns:p14="http://schemas.microsoft.com/office/powerpoint/2010/mai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smtClean="0"/>
              <a:t>Klicka här för att ändra format</a:t>
            </a:r>
            <a:endParaRPr lang="sv-SE"/>
          </a:p>
        </p:txBody>
      </p:sp>
      <p:sp>
        <p:nvSpPr>
          <p:cNvPr id="3" name="Underrubri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smtClean="0"/>
              <a:t>Klicka här för att ändra format på underrubrik i bakgrunden</a:t>
            </a:r>
            <a:endParaRPr lang="sv-SE"/>
          </a:p>
        </p:txBody>
      </p:sp>
      <p:sp>
        <p:nvSpPr>
          <p:cNvPr id="4" name="Platshållare för bildnummer 3"/>
          <p:cNvSpPr>
            <a:spLocks noGrp="1"/>
          </p:cNvSpPr>
          <p:nvPr>
            <p:ph type="sldNum" sz="quarter" idx="10"/>
          </p:nvPr>
        </p:nvSpPr>
        <p:spPr/>
        <p:txBody>
          <a:bodyPr/>
          <a:lstStyle>
            <a:lvl1pPr>
              <a:defRPr/>
            </a:lvl1pPr>
          </a:lstStyle>
          <a:p>
            <a:fld id="{0B803C0C-C465-427E-B6EA-16CBA5F6D0AF}" type="slidenum">
              <a:rPr lang="sv-SE">
                <a:latin typeface="Arial"/>
              </a:rPr>
              <a:pPr/>
              <a:t>‹Nr.›</a:t>
            </a:fld>
            <a:endParaRPr lang="sv-SE">
              <a:latin typeface="Arial"/>
            </a:endParaRPr>
          </a:p>
        </p:txBody>
      </p:sp>
    </p:spTree>
    <p:extLst>
      <p:ext uri="{BB962C8B-B14F-4D97-AF65-F5344CB8AC3E}">
        <p14:creationId xmlns:p14="http://schemas.microsoft.com/office/powerpoint/2010/main" val="13368686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4F4A6512-6F32-47C0-A1DC-EECCB630EF99}" type="slidenum">
              <a:rPr lang="sv-SE">
                <a:latin typeface="Arial"/>
              </a:rPr>
              <a:pPr/>
              <a:t>‹Nr.›</a:t>
            </a:fld>
            <a:endParaRPr lang="sv-SE">
              <a:latin typeface="Arial"/>
            </a:endParaRPr>
          </a:p>
        </p:txBody>
      </p:sp>
    </p:spTree>
    <p:extLst>
      <p:ext uri="{BB962C8B-B14F-4D97-AF65-F5344CB8AC3E}">
        <p14:creationId xmlns:p14="http://schemas.microsoft.com/office/powerpoint/2010/main" val="2205442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sv-SE"/>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sv-SE" smtClean="0"/>
              <a:t>Klicka här för att ändra format på bakgrundstexten</a:t>
            </a:r>
          </a:p>
        </p:txBody>
      </p:sp>
      <p:sp>
        <p:nvSpPr>
          <p:cNvPr id="4" name="Platshållare för bildnummer 3"/>
          <p:cNvSpPr>
            <a:spLocks noGrp="1"/>
          </p:cNvSpPr>
          <p:nvPr>
            <p:ph type="sldNum" sz="quarter" idx="10"/>
          </p:nvPr>
        </p:nvSpPr>
        <p:spPr/>
        <p:txBody>
          <a:bodyPr/>
          <a:lstStyle>
            <a:lvl1pPr>
              <a:defRPr/>
            </a:lvl1pPr>
          </a:lstStyle>
          <a:p>
            <a:fld id="{CA913EB3-8B48-4946-8FB9-D2EFC2D2D9E0}" type="slidenum">
              <a:rPr lang="sv-SE">
                <a:latin typeface="Arial"/>
              </a:rPr>
              <a:pPr/>
              <a:t>‹Nr.›</a:t>
            </a:fld>
            <a:endParaRPr lang="sv-SE">
              <a:latin typeface="Arial"/>
            </a:endParaRPr>
          </a:p>
        </p:txBody>
      </p:sp>
    </p:spTree>
    <p:extLst>
      <p:ext uri="{BB962C8B-B14F-4D97-AF65-F5344CB8AC3E}">
        <p14:creationId xmlns:p14="http://schemas.microsoft.com/office/powerpoint/2010/main" val="29154240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sz="half" idx="1"/>
          </p:nvPr>
        </p:nvSpPr>
        <p:spPr>
          <a:xfrm>
            <a:off x="1152525" y="2205038"/>
            <a:ext cx="3324225"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innehåll 3"/>
          <p:cNvSpPr>
            <a:spLocks noGrp="1"/>
          </p:cNvSpPr>
          <p:nvPr>
            <p:ph sz="half" idx="2"/>
          </p:nvPr>
        </p:nvSpPr>
        <p:spPr>
          <a:xfrm>
            <a:off x="4629150" y="2205038"/>
            <a:ext cx="3325813" cy="3057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bildnummer 4"/>
          <p:cNvSpPr>
            <a:spLocks noGrp="1"/>
          </p:cNvSpPr>
          <p:nvPr>
            <p:ph type="sldNum" sz="quarter" idx="10"/>
          </p:nvPr>
        </p:nvSpPr>
        <p:spPr/>
        <p:txBody>
          <a:bodyPr/>
          <a:lstStyle>
            <a:lvl1pPr>
              <a:defRPr/>
            </a:lvl1pPr>
          </a:lstStyle>
          <a:p>
            <a:fld id="{DFA6C0D3-9F7F-4FC8-AA21-096B52A3CDF2}" type="slidenum">
              <a:rPr lang="sv-SE">
                <a:latin typeface="Arial"/>
              </a:rPr>
              <a:pPr/>
              <a:t>‹Nr.›</a:t>
            </a:fld>
            <a:endParaRPr lang="sv-SE">
              <a:latin typeface="Arial"/>
            </a:endParaRPr>
          </a:p>
        </p:txBody>
      </p:sp>
    </p:spTree>
    <p:extLst>
      <p:ext uri="{BB962C8B-B14F-4D97-AF65-F5344CB8AC3E}">
        <p14:creationId xmlns:p14="http://schemas.microsoft.com/office/powerpoint/2010/main" val="35888420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143000"/>
          </a:xfrm>
        </p:spPr>
        <p:txBody>
          <a:bodyPr/>
          <a:lstStyle>
            <a:lvl1pPr>
              <a:defRPr/>
            </a:lvl1pPr>
          </a:lstStyle>
          <a:p>
            <a:r>
              <a:rPr lang="sv-SE" smtClean="0"/>
              <a:t>Klicka här för att ändra format</a:t>
            </a:r>
            <a:endParaRPr lang="sv-SE"/>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7" name="Platshållare för bildnummer 6"/>
          <p:cNvSpPr>
            <a:spLocks noGrp="1"/>
          </p:cNvSpPr>
          <p:nvPr>
            <p:ph type="sldNum" sz="quarter" idx="10"/>
          </p:nvPr>
        </p:nvSpPr>
        <p:spPr/>
        <p:txBody>
          <a:bodyPr/>
          <a:lstStyle>
            <a:lvl1pPr>
              <a:defRPr/>
            </a:lvl1pPr>
          </a:lstStyle>
          <a:p>
            <a:fld id="{F3BF9E3A-F993-4A31-9525-ADB541D4BF62}" type="slidenum">
              <a:rPr lang="sv-SE">
                <a:latin typeface="Arial"/>
              </a:rPr>
              <a:pPr/>
              <a:t>‹Nr.›</a:t>
            </a:fld>
            <a:endParaRPr lang="sv-SE">
              <a:latin typeface="Arial"/>
            </a:endParaRPr>
          </a:p>
        </p:txBody>
      </p:sp>
    </p:spTree>
    <p:extLst>
      <p:ext uri="{BB962C8B-B14F-4D97-AF65-F5344CB8AC3E}">
        <p14:creationId xmlns:p14="http://schemas.microsoft.com/office/powerpoint/2010/main" val="26897456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bildnummer 2"/>
          <p:cNvSpPr>
            <a:spLocks noGrp="1"/>
          </p:cNvSpPr>
          <p:nvPr>
            <p:ph type="sldNum" sz="quarter" idx="10"/>
          </p:nvPr>
        </p:nvSpPr>
        <p:spPr/>
        <p:txBody>
          <a:bodyPr/>
          <a:lstStyle>
            <a:lvl1pPr>
              <a:defRPr/>
            </a:lvl1pPr>
          </a:lstStyle>
          <a:p>
            <a:fld id="{6EE46765-18A6-4212-A407-C65E2DCE0A05}" type="slidenum">
              <a:rPr lang="sv-SE">
                <a:latin typeface="Arial"/>
              </a:rPr>
              <a:pPr/>
              <a:t>‹Nr.›</a:t>
            </a:fld>
            <a:endParaRPr lang="sv-SE">
              <a:latin typeface="Arial"/>
            </a:endParaRPr>
          </a:p>
        </p:txBody>
      </p:sp>
    </p:spTree>
    <p:extLst>
      <p:ext uri="{BB962C8B-B14F-4D97-AF65-F5344CB8AC3E}">
        <p14:creationId xmlns:p14="http://schemas.microsoft.com/office/powerpoint/2010/main" val="15215155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lvl1pPr>
              <a:defRPr/>
            </a:lvl1pPr>
          </a:lstStyle>
          <a:p>
            <a:fld id="{0EE2C763-CBFE-4F59-B352-CEFBC3FB0977}" type="slidenum">
              <a:rPr lang="sv-SE">
                <a:latin typeface="Arial"/>
              </a:rPr>
              <a:pPr/>
              <a:t>‹Nr.›</a:t>
            </a:fld>
            <a:endParaRPr lang="sv-SE">
              <a:latin typeface="Arial"/>
            </a:endParaRPr>
          </a:p>
        </p:txBody>
      </p:sp>
    </p:spTree>
    <p:extLst>
      <p:ext uri="{BB962C8B-B14F-4D97-AF65-F5344CB8AC3E}">
        <p14:creationId xmlns:p14="http://schemas.microsoft.com/office/powerpoint/2010/main" val="11715835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lstStyle>
            <a:lvl1pPr algn="l">
              <a:defRPr sz="2000" b="1"/>
            </a:lvl1pPr>
          </a:lstStyle>
          <a:p>
            <a:r>
              <a:rPr lang="sv-SE" smtClean="0"/>
              <a:t>Klicka här för att ändra format</a:t>
            </a:r>
            <a:endParaRPr lang="sv-SE"/>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42103545-DE09-4EAE-B994-60E0B0895D7D}" type="slidenum">
              <a:rPr lang="sv-SE">
                <a:latin typeface="Arial"/>
              </a:rPr>
              <a:pPr/>
              <a:t>‹Nr.›</a:t>
            </a:fld>
            <a:endParaRPr lang="sv-SE">
              <a:latin typeface="Arial"/>
            </a:endParaRPr>
          </a:p>
        </p:txBody>
      </p:sp>
    </p:spTree>
    <p:extLst>
      <p:ext uri="{BB962C8B-B14F-4D97-AF65-F5344CB8AC3E}">
        <p14:creationId xmlns:p14="http://schemas.microsoft.com/office/powerpoint/2010/main" val="23120852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lstStyle>
            <a:lvl1pPr algn="l">
              <a:defRPr sz="2000" b="1"/>
            </a:lvl1pPr>
          </a:lstStyle>
          <a:p>
            <a:r>
              <a:rPr lang="sv-SE" smtClean="0"/>
              <a:t>Klicka här för att ändra format</a:t>
            </a:r>
            <a:endParaRPr lang="sv-SE"/>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bildnummer 4"/>
          <p:cNvSpPr>
            <a:spLocks noGrp="1"/>
          </p:cNvSpPr>
          <p:nvPr>
            <p:ph type="sldNum" sz="quarter" idx="10"/>
          </p:nvPr>
        </p:nvSpPr>
        <p:spPr/>
        <p:txBody>
          <a:bodyPr/>
          <a:lstStyle>
            <a:lvl1pPr>
              <a:defRPr/>
            </a:lvl1pPr>
          </a:lstStyle>
          <a:p>
            <a:fld id="{29C94FE8-BDB6-476B-BB22-9719BD8B0D84}" type="slidenum">
              <a:rPr lang="sv-SE">
                <a:latin typeface="Arial"/>
              </a:rPr>
              <a:pPr/>
              <a:t>‹Nr.›</a:t>
            </a:fld>
            <a:endParaRPr lang="sv-SE">
              <a:latin typeface="Arial"/>
            </a:endParaRPr>
          </a:p>
        </p:txBody>
      </p:sp>
    </p:spTree>
    <p:extLst>
      <p:ext uri="{BB962C8B-B14F-4D97-AF65-F5344CB8AC3E}">
        <p14:creationId xmlns:p14="http://schemas.microsoft.com/office/powerpoint/2010/main" val="109013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714329B0-D544-4D29-A7D3-67B20C7CA455}" type="slidenum">
              <a:rPr lang="sv-SE">
                <a:latin typeface="Arial"/>
              </a:rPr>
              <a:pPr/>
              <a:t>‹Nr.›</a:t>
            </a:fld>
            <a:endParaRPr lang="sv-SE">
              <a:latin typeface="Arial"/>
            </a:endParaRPr>
          </a:p>
        </p:txBody>
      </p:sp>
    </p:spTree>
    <p:extLst>
      <p:ext uri="{BB962C8B-B14F-4D97-AF65-F5344CB8AC3E}">
        <p14:creationId xmlns:p14="http://schemas.microsoft.com/office/powerpoint/2010/main" val="34731616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254750" y="1470025"/>
            <a:ext cx="1700213" cy="3792538"/>
          </a:xfrm>
        </p:spPr>
        <p:txBody>
          <a:bodyPr vert="eaVert"/>
          <a:lstStyle/>
          <a:p>
            <a:r>
              <a:rPr lang="sv-SE" smtClean="0"/>
              <a:t>Klicka här för att ändra format</a:t>
            </a:r>
            <a:endParaRPr lang="sv-SE"/>
          </a:p>
        </p:txBody>
      </p:sp>
      <p:sp>
        <p:nvSpPr>
          <p:cNvPr id="3" name="Platshållare för lodrät text 2"/>
          <p:cNvSpPr>
            <a:spLocks noGrp="1"/>
          </p:cNvSpPr>
          <p:nvPr>
            <p:ph type="body" orient="vert" idx="1"/>
          </p:nvPr>
        </p:nvSpPr>
        <p:spPr>
          <a:xfrm>
            <a:off x="1152525" y="1470025"/>
            <a:ext cx="4949825" cy="3792538"/>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bildnummer 3"/>
          <p:cNvSpPr>
            <a:spLocks noGrp="1"/>
          </p:cNvSpPr>
          <p:nvPr>
            <p:ph type="sldNum" sz="quarter" idx="10"/>
          </p:nvPr>
        </p:nvSpPr>
        <p:spPr/>
        <p:txBody>
          <a:bodyPr/>
          <a:lstStyle>
            <a:lvl1pPr>
              <a:defRPr/>
            </a:lvl1pPr>
          </a:lstStyle>
          <a:p>
            <a:fld id="{A0B7DE7A-A7EE-4C5E-A222-A0BB5DFE0E53}" type="slidenum">
              <a:rPr lang="sv-SE">
                <a:latin typeface="Arial"/>
              </a:rPr>
              <a:pPr/>
              <a:t>‹Nr.›</a:t>
            </a:fld>
            <a:endParaRPr lang="sv-SE">
              <a:latin typeface="Arial"/>
            </a:endParaRPr>
          </a:p>
        </p:txBody>
      </p:sp>
    </p:spTree>
    <p:extLst>
      <p:ext uri="{BB962C8B-B14F-4D97-AF65-F5344CB8AC3E}">
        <p14:creationId xmlns:p14="http://schemas.microsoft.com/office/powerpoint/2010/main" val="43185302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Bild-Helskärm">
    <p:spTree>
      <p:nvGrpSpPr>
        <p:cNvPr id="1" name=""/>
        <p:cNvGrpSpPr/>
        <p:nvPr/>
      </p:nvGrpSpPr>
      <p:grpSpPr>
        <a:xfrm>
          <a:off x="0" y="0"/>
          <a:ext cx="0" cy="0"/>
          <a:chOff x="0" y="0"/>
          <a:chExt cx="0" cy="0"/>
        </a:xfrm>
      </p:grpSpPr>
      <p:sp>
        <p:nvSpPr>
          <p:cNvPr id="5" name="Platshållare för innehåll 4"/>
          <p:cNvSpPr>
            <a:spLocks noGrp="1" noChangeAspect="1"/>
          </p:cNvSpPr>
          <p:nvPr>
            <p:ph sz="quarter" idx="11"/>
          </p:nvPr>
        </p:nvSpPr>
        <p:spPr>
          <a:xfrm>
            <a:off x="0" y="0"/>
            <a:ext cx="9144000" cy="6734844"/>
          </a:xfrm>
        </p:spPr>
        <p:txBody>
          <a:bodyPr anchor="t">
            <a:noAutofit/>
          </a:bodyPr>
          <a:lstStyle>
            <a:lvl1pPr marL="0" indent="0" algn="ctr">
              <a:buNone/>
              <a:defRPr sz="1500" baseline="0">
                <a:solidFill>
                  <a:srgbClr val="000000"/>
                </a:solidFill>
              </a:defRPr>
            </a:lvl1pPr>
            <a:lvl2pPr>
              <a:defRPr sz="1500">
                <a:solidFill>
                  <a:srgbClr val="000000"/>
                </a:solidFill>
              </a:defRPr>
            </a:lvl2pPr>
            <a:lvl3pPr>
              <a:defRPr sz="1500">
                <a:solidFill>
                  <a:srgbClr val="000000"/>
                </a:solidFill>
              </a:defRPr>
            </a:lvl3pPr>
            <a:lvl4pPr>
              <a:defRPr sz="1500">
                <a:solidFill>
                  <a:srgbClr val="000000"/>
                </a:solidFill>
              </a:defRPr>
            </a:lvl4pPr>
            <a:lvl5pPr>
              <a:defRPr sz="1500">
                <a:solidFill>
                  <a:srgbClr val="000000"/>
                </a:solidFill>
              </a:defRPr>
            </a:lvl5pPr>
          </a:lstStyle>
          <a:p>
            <a:pPr lvl="0"/>
            <a:r>
              <a:rPr lang="sv-SE" smtClean="0"/>
              <a:t>Klicka här för att ändra format på bakgrundstexten</a:t>
            </a:r>
          </a:p>
          <a:p>
            <a:pPr lvl="1"/>
            <a:r>
              <a:rPr lang="sv-SE" smtClean="0"/>
              <a:t>Nivå två</a:t>
            </a:r>
          </a:p>
        </p:txBody>
      </p:sp>
    </p:spTree>
    <p:extLst>
      <p:ext uri="{BB962C8B-B14F-4D97-AF65-F5344CB8AC3E}">
        <p14:creationId xmlns:p14="http://schemas.microsoft.com/office/powerpoint/2010/main" val="2865738000"/>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eg"/><Relationship Id="rId16"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theme" Target="../theme/theme2.xml"/><Relationship Id="rId16" Type="http://schemas.openxmlformats.org/officeDocument/2006/relationships/image" Target="../media/image3.png"/><Relationship Id="rId17" Type="http://schemas.openxmlformats.org/officeDocument/2006/relationships/image" Target="../media/image2.png"/><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2" Type="http://schemas.openxmlformats.org/officeDocument/2006/relationships/slideLayout" Target="../slideLayouts/slideLayout39.xml"/><Relationship Id="rId13" Type="http://schemas.openxmlformats.org/officeDocument/2006/relationships/theme" Target="../theme/theme3.xml"/><Relationship Id="rId14" Type="http://schemas.openxmlformats.org/officeDocument/2006/relationships/image" Target="../media/image1.jpeg"/><Relationship Id="rId15" Type="http://schemas.openxmlformats.org/officeDocument/2006/relationships/image" Target="../media/image2.png"/><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9" Type="http://schemas.openxmlformats.org/officeDocument/2006/relationships/slideLayout" Target="../slideLayouts/slideLayout36.xml"/><Relationship Id="rId10"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theme" Target="../theme/theme4.xml"/><Relationship Id="rId14" Type="http://schemas.openxmlformats.org/officeDocument/2006/relationships/image" Target="../media/image1.jpeg"/><Relationship Id="rId15" Type="http://schemas.openxmlformats.org/officeDocument/2006/relationships/image" Target="../media/image2.png"/><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62.xml"/><Relationship Id="rId12" Type="http://schemas.openxmlformats.org/officeDocument/2006/relationships/slideLayout" Target="../slideLayouts/slideLayout63.xml"/><Relationship Id="rId13" Type="http://schemas.openxmlformats.org/officeDocument/2006/relationships/theme" Target="../theme/theme5.xml"/><Relationship Id="rId14" Type="http://schemas.openxmlformats.org/officeDocument/2006/relationships/image" Target="../media/image1.jpeg"/><Relationship Id="rId15" Type="http://schemas.openxmlformats.org/officeDocument/2006/relationships/image" Target="../media/image2.png"/><Relationship Id="rId1" Type="http://schemas.openxmlformats.org/officeDocument/2006/relationships/slideLayout" Target="../slideLayouts/slideLayout52.xml"/><Relationship Id="rId2" Type="http://schemas.openxmlformats.org/officeDocument/2006/relationships/slideLayout" Target="../slideLayouts/slideLayout53.xml"/><Relationship Id="rId3" Type="http://schemas.openxmlformats.org/officeDocument/2006/relationships/slideLayout" Target="../slideLayouts/slideLayout54.xml"/><Relationship Id="rId4" Type="http://schemas.openxmlformats.org/officeDocument/2006/relationships/slideLayout" Target="../slideLayouts/slideLayout55.xml"/><Relationship Id="rId5" Type="http://schemas.openxmlformats.org/officeDocument/2006/relationships/slideLayout" Target="../slideLayouts/slideLayout56.xml"/><Relationship Id="rId6" Type="http://schemas.openxmlformats.org/officeDocument/2006/relationships/slideLayout" Target="../slideLayouts/slideLayout57.xml"/><Relationship Id="rId7" Type="http://schemas.openxmlformats.org/officeDocument/2006/relationships/slideLayout" Target="../slideLayouts/slideLayout58.xml"/><Relationship Id="rId8" Type="http://schemas.openxmlformats.org/officeDocument/2006/relationships/slideLayout" Target="../slideLayouts/slideLayout59.xml"/><Relationship Id="rId9" Type="http://schemas.openxmlformats.org/officeDocument/2006/relationships/slideLayout" Target="../slideLayouts/slideLayout60.xml"/><Relationship Id="rId10"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70370" name="Picture 2" descr="logo"/>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52425" y="398463"/>
            <a:ext cx="9302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371" name="Rectangle 3"/>
          <p:cNvSpPr>
            <a:spLocks noGrp="1" noChangeArrowheads="1"/>
          </p:cNvSpPr>
          <p:nvPr>
            <p:ph type="title"/>
          </p:nvPr>
        </p:nvSpPr>
        <p:spPr bwMode="auto">
          <a:xfrm>
            <a:off x="1371876" y="365674"/>
            <a:ext cx="679291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b" anchorCtr="0" compatLnSpc="1">
            <a:prstTxWarp prst="textNoShape">
              <a:avLst/>
            </a:prstTxWarp>
          </a:bodyPr>
          <a:lstStyle/>
          <a:p>
            <a:pPr lvl="0"/>
            <a:r>
              <a:rPr lang="sv-SE" smtClean="0"/>
              <a:t>Klicka för att lägga till rubrik</a:t>
            </a:r>
          </a:p>
        </p:txBody>
      </p:sp>
      <p:sp>
        <p:nvSpPr>
          <p:cNvPr id="570372" name="Rectangle 4"/>
          <p:cNvSpPr>
            <a:spLocks noGrp="1" noChangeArrowheads="1"/>
          </p:cNvSpPr>
          <p:nvPr>
            <p:ph type="body" idx="1"/>
          </p:nvPr>
        </p:nvSpPr>
        <p:spPr bwMode="auto">
          <a:xfrm>
            <a:off x="1351307" y="1553473"/>
            <a:ext cx="6802438"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p>
            <a:pPr lvl="0"/>
            <a:r>
              <a:rPr lang="sv-SE" smtClean="0"/>
              <a:t>Skriv text här</a:t>
            </a:r>
          </a:p>
          <a:p>
            <a:pPr lvl="1"/>
            <a:r>
              <a:rPr lang="sv-SE" smtClean="0"/>
              <a:t>Andra nivån</a:t>
            </a:r>
          </a:p>
          <a:p>
            <a:pPr lvl="2"/>
            <a:r>
              <a:rPr lang="sv-SE" smtClean="0"/>
              <a:t>Tredje nivån</a:t>
            </a:r>
          </a:p>
        </p:txBody>
      </p:sp>
      <p:sp>
        <p:nvSpPr>
          <p:cNvPr id="570375" name="Rectangle 7"/>
          <p:cNvSpPr>
            <a:spLocks noGrp="1" noChangeArrowheads="1"/>
          </p:cNvSpPr>
          <p:nvPr>
            <p:ph type="sldNum" sz="quarter" idx="4"/>
          </p:nvPr>
        </p:nvSpPr>
        <p:spPr bwMode="auto">
          <a:xfrm>
            <a:off x="8359775" y="6356350"/>
            <a:ext cx="6223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lvl1pPr algn="r" defTabSz="957263">
              <a:defRPr sz="1000">
                <a:solidFill>
                  <a:srgbClr val="00A9A7"/>
                </a:solidFill>
              </a:defRPr>
            </a:lvl1pPr>
          </a:lstStyle>
          <a:p>
            <a:pPr fontAlgn="base">
              <a:spcBef>
                <a:spcPct val="0"/>
              </a:spcBef>
              <a:spcAft>
                <a:spcPct val="0"/>
              </a:spcAft>
            </a:pPr>
            <a:fld id="{AB18CA97-3533-4D1D-9632-714053AF3246}" type="slidenum">
              <a:rPr lang="sv-SE">
                <a:latin typeface="Arial" charset="0"/>
              </a:rPr>
              <a:pPr fontAlgn="base">
                <a:spcBef>
                  <a:spcPct val="0"/>
                </a:spcBef>
                <a:spcAft>
                  <a:spcPct val="0"/>
                </a:spcAft>
              </a:pPr>
              <a:t>‹Nr.›</a:t>
            </a:fld>
            <a:endParaRPr lang="sv-SE">
              <a:latin typeface="Arial" charset="0"/>
            </a:endParaRPr>
          </a:p>
        </p:txBody>
      </p:sp>
      <p:sp>
        <p:nvSpPr>
          <p:cNvPr id="570376" name="Rectangle 8"/>
          <p:cNvSpPr>
            <a:spLocks noChangeArrowheads="1"/>
          </p:cNvSpPr>
          <p:nvPr/>
        </p:nvSpPr>
        <p:spPr bwMode="auto">
          <a:xfrm>
            <a:off x="0" y="6742113"/>
            <a:ext cx="9144000" cy="115887"/>
          </a:xfrm>
          <a:prstGeom prst="rect">
            <a:avLst/>
          </a:prstGeom>
          <a:solidFill>
            <a:srgbClr val="00A9A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sv-SE" sz="1900">
              <a:solidFill>
                <a:srgbClr val="382819"/>
              </a:solidFill>
              <a:latin typeface="Arial" charset="0"/>
            </a:endParaRPr>
          </a:p>
        </p:txBody>
      </p:sp>
    </p:spTree>
    <p:extLst>
      <p:ext uri="{BB962C8B-B14F-4D97-AF65-F5344CB8AC3E}">
        <p14:creationId xmlns:p14="http://schemas.microsoft.com/office/powerpoint/2010/main" val="34381450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88" r:id="rId13"/>
  </p:sldLayoutIdLst>
  <p:hf hdr="0" ftr="0" dt="0"/>
  <p:txStyles>
    <p:titleStyle>
      <a:lvl1pPr algn="l" defTabSz="957263" rtl="0" fontAlgn="base">
        <a:spcBef>
          <a:spcPct val="0"/>
        </a:spcBef>
        <a:spcAft>
          <a:spcPct val="0"/>
        </a:spcAft>
        <a:defRPr sz="2900" b="1">
          <a:solidFill>
            <a:srgbClr val="00A9A7"/>
          </a:solidFill>
          <a:latin typeface="+mj-lt"/>
          <a:ea typeface="+mj-ea"/>
          <a:cs typeface="+mj-cs"/>
        </a:defRPr>
      </a:lvl1pPr>
      <a:lvl2pPr algn="l" defTabSz="957263" rtl="0" fontAlgn="base">
        <a:spcBef>
          <a:spcPct val="0"/>
        </a:spcBef>
        <a:spcAft>
          <a:spcPct val="0"/>
        </a:spcAft>
        <a:defRPr sz="2900" b="1">
          <a:solidFill>
            <a:srgbClr val="00A9A7"/>
          </a:solidFill>
          <a:latin typeface="Arial" charset="0"/>
        </a:defRPr>
      </a:lvl2pPr>
      <a:lvl3pPr algn="l" defTabSz="957263" rtl="0" fontAlgn="base">
        <a:spcBef>
          <a:spcPct val="0"/>
        </a:spcBef>
        <a:spcAft>
          <a:spcPct val="0"/>
        </a:spcAft>
        <a:defRPr sz="2900" b="1">
          <a:solidFill>
            <a:srgbClr val="00A9A7"/>
          </a:solidFill>
          <a:latin typeface="Arial" charset="0"/>
        </a:defRPr>
      </a:lvl3pPr>
      <a:lvl4pPr algn="l" defTabSz="957263" rtl="0" fontAlgn="base">
        <a:spcBef>
          <a:spcPct val="0"/>
        </a:spcBef>
        <a:spcAft>
          <a:spcPct val="0"/>
        </a:spcAft>
        <a:defRPr sz="2900" b="1">
          <a:solidFill>
            <a:srgbClr val="00A9A7"/>
          </a:solidFill>
          <a:latin typeface="Arial" charset="0"/>
        </a:defRPr>
      </a:lvl4pPr>
      <a:lvl5pPr algn="l" defTabSz="957263" rtl="0" fontAlgn="base">
        <a:spcBef>
          <a:spcPct val="0"/>
        </a:spcBef>
        <a:spcAft>
          <a:spcPct val="0"/>
        </a:spcAft>
        <a:defRPr sz="2900" b="1">
          <a:solidFill>
            <a:srgbClr val="00A9A7"/>
          </a:solidFill>
          <a:latin typeface="Arial" charset="0"/>
        </a:defRPr>
      </a:lvl5pPr>
      <a:lvl6pPr marL="457200" algn="l" defTabSz="957263" rtl="0" fontAlgn="base">
        <a:spcBef>
          <a:spcPct val="0"/>
        </a:spcBef>
        <a:spcAft>
          <a:spcPct val="0"/>
        </a:spcAft>
        <a:defRPr sz="2900" b="1">
          <a:solidFill>
            <a:srgbClr val="00A9A7"/>
          </a:solidFill>
          <a:latin typeface="Arial" charset="0"/>
        </a:defRPr>
      </a:lvl6pPr>
      <a:lvl7pPr marL="914400" algn="l" defTabSz="957263" rtl="0" fontAlgn="base">
        <a:spcBef>
          <a:spcPct val="0"/>
        </a:spcBef>
        <a:spcAft>
          <a:spcPct val="0"/>
        </a:spcAft>
        <a:defRPr sz="2900" b="1">
          <a:solidFill>
            <a:srgbClr val="00A9A7"/>
          </a:solidFill>
          <a:latin typeface="Arial" charset="0"/>
        </a:defRPr>
      </a:lvl7pPr>
      <a:lvl8pPr marL="1371600" algn="l" defTabSz="957263" rtl="0" fontAlgn="base">
        <a:spcBef>
          <a:spcPct val="0"/>
        </a:spcBef>
        <a:spcAft>
          <a:spcPct val="0"/>
        </a:spcAft>
        <a:defRPr sz="2900" b="1">
          <a:solidFill>
            <a:srgbClr val="00A9A7"/>
          </a:solidFill>
          <a:latin typeface="Arial" charset="0"/>
        </a:defRPr>
      </a:lvl8pPr>
      <a:lvl9pPr marL="1828800" algn="l" defTabSz="957263" rtl="0" fontAlgn="base">
        <a:spcBef>
          <a:spcPct val="0"/>
        </a:spcBef>
        <a:spcAft>
          <a:spcPct val="0"/>
        </a:spcAft>
        <a:defRPr sz="2900" b="1">
          <a:solidFill>
            <a:srgbClr val="00A9A7"/>
          </a:solidFill>
          <a:latin typeface="Arial" charset="0"/>
        </a:defRPr>
      </a:lvl9pPr>
    </p:titleStyle>
    <p:body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16"/>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16"/>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16"/>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16"/>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16"/>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16"/>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16"/>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16"/>
        </a:buBlip>
        <a:defRPr>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descr="Inera-Logo-Payoff-Pos-Pixel-RGB-412px.pn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484535" y="5405967"/>
            <a:ext cx="1621368" cy="1361634"/>
          </a:xfrm>
          <a:prstGeom prst="rect">
            <a:avLst/>
          </a:prstGeom>
        </p:spPr>
      </p:pic>
      <p:sp>
        <p:nvSpPr>
          <p:cNvPr id="2051" name="Rectangle 3"/>
          <p:cNvSpPr>
            <a:spLocks noGrp="1" noChangeAspect="1" noChangeArrowheads="1"/>
          </p:cNvSpPr>
          <p:nvPr>
            <p:ph type="title"/>
          </p:nvPr>
        </p:nvSpPr>
        <p:spPr bwMode="auto">
          <a:xfrm>
            <a:off x="909836" y="567730"/>
            <a:ext cx="721499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67" tIns="47883" rIns="95767" bIns="47883" numCol="1" anchor="b" anchorCtr="0" compatLnSpc="1">
            <a:prstTxWarp prst="textNoShape">
              <a:avLst/>
            </a:prstTxWarp>
          </a:bodyPr>
          <a:lstStyle/>
          <a:p>
            <a:pPr lvl="0"/>
            <a:r>
              <a:rPr lang="sv-SE" dirty="0" smtClean="0"/>
              <a:t>Klicka här för att skriva rubrik</a:t>
            </a:r>
          </a:p>
        </p:txBody>
      </p:sp>
      <p:sp>
        <p:nvSpPr>
          <p:cNvPr id="2052" name="Rectangle 4"/>
          <p:cNvSpPr>
            <a:spLocks noGrp="1" noChangeAspect="1" noChangeArrowheads="1"/>
          </p:cNvSpPr>
          <p:nvPr>
            <p:ph type="body" idx="1"/>
          </p:nvPr>
        </p:nvSpPr>
        <p:spPr bwMode="auto">
          <a:xfrm>
            <a:off x="904874" y="1404715"/>
            <a:ext cx="7219951" cy="3878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67" tIns="47883" rIns="95767" bIns="47883" numCol="1" anchor="t" anchorCtr="0" compatLnSpc="1">
            <a:prstTxWarp prst="textNoShape">
              <a:avLst/>
            </a:prstTxWarp>
            <a:normAutofit/>
          </a:bodyPr>
          <a:lstStyle/>
          <a:p>
            <a:pPr lvl="0"/>
            <a:r>
              <a:rPr lang="sv-SE" dirty="0" smtClean="0"/>
              <a:t>Klicka här för att skriva text</a:t>
            </a:r>
          </a:p>
          <a:p>
            <a:pPr lvl="1"/>
            <a:r>
              <a:rPr lang="sv-SE" dirty="0" smtClean="0"/>
              <a:t>Text på nivå två</a:t>
            </a:r>
          </a:p>
          <a:p>
            <a:pPr lvl="2"/>
            <a:r>
              <a:rPr lang="sv-SE" dirty="0" smtClean="0"/>
              <a:t>Text på nivå tre</a:t>
            </a:r>
          </a:p>
          <a:p>
            <a:pPr lvl="3"/>
            <a:r>
              <a:rPr lang="sv-SE" dirty="0" smtClean="0"/>
              <a:t>Text på nivå fyra</a:t>
            </a:r>
          </a:p>
        </p:txBody>
      </p:sp>
      <p:sp>
        <p:nvSpPr>
          <p:cNvPr id="570376" name="Rectangle 8"/>
          <p:cNvSpPr>
            <a:spLocks noChangeArrowheads="1"/>
          </p:cNvSpPr>
          <p:nvPr/>
        </p:nvSpPr>
        <p:spPr bwMode="auto">
          <a:xfrm>
            <a:off x="0" y="6742113"/>
            <a:ext cx="9144000" cy="115887"/>
          </a:xfrm>
          <a:prstGeom prst="rect">
            <a:avLst/>
          </a:prstGeom>
          <a:solidFill>
            <a:srgbClr val="00A9A7"/>
          </a:solidFill>
          <a:ln w="9525">
            <a:noFill/>
            <a:miter lim="800000"/>
            <a:headEnd/>
            <a:tailEnd/>
          </a:ln>
          <a:effectLst/>
        </p:spPr>
        <p:txBody>
          <a:bodyPr wrap="none" anchor="ctr"/>
          <a:lstStyle/>
          <a:p>
            <a:pPr defTabSz="914400" fontAlgn="base">
              <a:spcBef>
                <a:spcPct val="0"/>
              </a:spcBef>
              <a:spcAft>
                <a:spcPct val="0"/>
              </a:spcAft>
              <a:defRPr/>
            </a:pPr>
            <a:r>
              <a:rPr lang="en-US" sz="1900" dirty="0" smtClean="0">
                <a:solidFill>
                  <a:srgbClr val="382819"/>
                </a:solidFill>
                <a:latin typeface="Arial" charset="0"/>
                <a:cs typeface="Arial" charset="0"/>
              </a:rPr>
              <a:t> </a:t>
            </a:r>
            <a:endParaRPr lang="en-US" sz="1900" dirty="0">
              <a:solidFill>
                <a:srgbClr val="382819"/>
              </a:solidFill>
              <a:latin typeface="Arial" charset="0"/>
              <a:cs typeface="Arial" charset="0"/>
            </a:endParaRPr>
          </a:p>
        </p:txBody>
      </p:sp>
    </p:spTree>
    <p:extLst>
      <p:ext uri="{BB962C8B-B14F-4D97-AF65-F5344CB8AC3E}">
        <p14:creationId xmlns:p14="http://schemas.microsoft.com/office/powerpoint/2010/main" val="82988928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717" r:id="rId14"/>
  </p:sldLayoutIdLst>
  <p:timing>
    <p:tnLst>
      <p:par>
        <p:cTn xmlns:p14="http://schemas.microsoft.com/office/powerpoint/2010/main" id="1" dur="indefinite" restart="never" nodeType="tmRoot"/>
      </p:par>
    </p:tnLst>
  </p:timing>
  <p:hf hdr="0" ftr="0" dt="0"/>
  <p:txStyles>
    <p:titleStyle>
      <a:lvl1pPr algn="l" defTabSz="957263" rtl="0" eaLnBrk="1" fontAlgn="base" hangingPunct="1">
        <a:spcBef>
          <a:spcPct val="0"/>
        </a:spcBef>
        <a:spcAft>
          <a:spcPct val="0"/>
        </a:spcAft>
        <a:defRPr sz="3000" b="1">
          <a:solidFill>
            <a:srgbClr val="00A9A7"/>
          </a:solidFill>
          <a:latin typeface="+mj-lt"/>
          <a:ea typeface="+mj-ea"/>
          <a:cs typeface="+mj-cs"/>
        </a:defRPr>
      </a:lvl1pPr>
      <a:lvl2pPr algn="l" defTabSz="957263" rtl="0" eaLnBrk="1" fontAlgn="base" hangingPunct="1">
        <a:spcBef>
          <a:spcPct val="0"/>
        </a:spcBef>
        <a:spcAft>
          <a:spcPct val="0"/>
        </a:spcAft>
        <a:defRPr sz="3000" b="1">
          <a:solidFill>
            <a:srgbClr val="00A9A7"/>
          </a:solidFill>
          <a:latin typeface="Arial" charset="0"/>
        </a:defRPr>
      </a:lvl2pPr>
      <a:lvl3pPr algn="l" defTabSz="957263" rtl="0" eaLnBrk="1" fontAlgn="base" hangingPunct="1">
        <a:spcBef>
          <a:spcPct val="0"/>
        </a:spcBef>
        <a:spcAft>
          <a:spcPct val="0"/>
        </a:spcAft>
        <a:defRPr sz="3000" b="1">
          <a:solidFill>
            <a:srgbClr val="00A9A7"/>
          </a:solidFill>
          <a:latin typeface="Arial" charset="0"/>
        </a:defRPr>
      </a:lvl3pPr>
      <a:lvl4pPr algn="l" defTabSz="957263" rtl="0" eaLnBrk="1" fontAlgn="base" hangingPunct="1">
        <a:spcBef>
          <a:spcPct val="0"/>
        </a:spcBef>
        <a:spcAft>
          <a:spcPct val="0"/>
        </a:spcAft>
        <a:defRPr sz="3000" b="1">
          <a:solidFill>
            <a:srgbClr val="00A9A7"/>
          </a:solidFill>
          <a:latin typeface="Arial" charset="0"/>
        </a:defRPr>
      </a:lvl4pPr>
      <a:lvl5pPr algn="l" defTabSz="957263" rtl="0" eaLnBrk="1" fontAlgn="base" hangingPunct="1">
        <a:spcBef>
          <a:spcPct val="0"/>
        </a:spcBef>
        <a:spcAft>
          <a:spcPct val="0"/>
        </a:spcAft>
        <a:defRPr sz="3000" b="1">
          <a:solidFill>
            <a:srgbClr val="00A9A7"/>
          </a:solidFill>
          <a:latin typeface="Arial" charset="0"/>
        </a:defRPr>
      </a:lvl5pPr>
      <a:lvl6pPr marL="457200" algn="l" defTabSz="957263" rtl="0" eaLnBrk="1" fontAlgn="base" hangingPunct="1">
        <a:spcBef>
          <a:spcPct val="0"/>
        </a:spcBef>
        <a:spcAft>
          <a:spcPct val="0"/>
        </a:spcAft>
        <a:defRPr sz="2900" b="1">
          <a:solidFill>
            <a:srgbClr val="00A9A7"/>
          </a:solidFill>
          <a:latin typeface="Arial" charset="0"/>
        </a:defRPr>
      </a:lvl6pPr>
      <a:lvl7pPr marL="914400" algn="l" defTabSz="957263" rtl="0" eaLnBrk="1" fontAlgn="base" hangingPunct="1">
        <a:spcBef>
          <a:spcPct val="0"/>
        </a:spcBef>
        <a:spcAft>
          <a:spcPct val="0"/>
        </a:spcAft>
        <a:defRPr sz="2900" b="1">
          <a:solidFill>
            <a:srgbClr val="00A9A7"/>
          </a:solidFill>
          <a:latin typeface="Arial" charset="0"/>
        </a:defRPr>
      </a:lvl7pPr>
      <a:lvl8pPr marL="1371600" algn="l" defTabSz="957263" rtl="0" eaLnBrk="1" fontAlgn="base" hangingPunct="1">
        <a:spcBef>
          <a:spcPct val="0"/>
        </a:spcBef>
        <a:spcAft>
          <a:spcPct val="0"/>
        </a:spcAft>
        <a:defRPr sz="2900" b="1">
          <a:solidFill>
            <a:srgbClr val="00A9A7"/>
          </a:solidFill>
          <a:latin typeface="Arial" charset="0"/>
        </a:defRPr>
      </a:lvl8pPr>
      <a:lvl9pPr marL="1828800" algn="l" defTabSz="957263" rtl="0" eaLnBrk="1" fontAlgn="base" hangingPunct="1">
        <a:spcBef>
          <a:spcPct val="0"/>
        </a:spcBef>
        <a:spcAft>
          <a:spcPct val="0"/>
        </a:spcAft>
        <a:defRPr sz="2900" b="1">
          <a:solidFill>
            <a:srgbClr val="00A9A7"/>
          </a:solidFill>
          <a:latin typeface="Arial" charset="0"/>
        </a:defRPr>
      </a:lvl9pPr>
    </p:titleStyle>
    <p:bodyStyle>
      <a:lvl1pPr marL="266700" indent="-266700" algn="l" defTabSz="957263" rtl="0" eaLnBrk="1" fontAlgn="base" hangingPunct="1">
        <a:lnSpc>
          <a:spcPct val="120000"/>
        </a:lnSpc>
        <a:spcBef>
          <a:spcPct val="20000"/>
        </a:spcBef>
        <a:spcAft>
          <a:spcPct val="20000"/>
        </a:spcAft>
        <a:buClr>
          <a:srgbClr val="00A9A7"/>
        </a:buClr>
        <a:buSzPct val="110000"/>
        <a:buFont typeface="Symbol" pitchFamily="18" charset="2"/>
        <a:buChar char="·"/>
        <a:defRPr sz="2100">
          <a:solidFill>
            <a:srgbClr val="000000"/>
          </a:solidFill>
          <a:latin typeface="+mn-lt"/>
          <a:ea typeface="+mn-ea"/>
          <a:cs typeface="+mn-cs"/>
        </a:defRPr>
      </a:lvl1pPr>
      <a:lvl2pPr marL="568325" indent="-192088" algn="l" defTabSz="957263" rtl="0" eaLnBrk="1" fontAlgn="base" hangingPunct="1">
        <a:lnSpc>
          <a:spcPct val="120000"/>
        </a:lnSpc>
        <a:spcBef>
          <a:spcPct val="20000"/>
        </a:spcBef>
        <a:spcAft>
          <a:spcPct val="20000"/>
        </a:spcAft>
        <a:buSzPct val="90000"/>
        <a:buBlip>
          <a:blip r:embed="rId17"/>
        </a:buBlip>
        <a:defRPr>
          <a:solidFill>
            <a:srgbClr val="000000"/>
          </a:solidFill>
          <a:latin typeface="+mn-lt"/>
        </a:defRPr>
      </a:lvl2pPr>
      <a:lvl3pPr marL="947738" indent="-198438" algn="l" defTabSz="957263" rtl="0" eaLnBrk="1" fontAlgn="base" hangingPunct="1">
        <a:lnSpc>
          <a:spcPct val="120000"/>
        </a:lnSpc>
        <a:spcBef>
          <a:spcPct val="20000"/>
        </a:spcBef>
        <a:spcAft>
          <a:spcPct val="20000"/>
        </a:spcAft>
        <a:buSzPct val="90000"/>
        <a:buBlip>
          <a:blip r:embed="rId17"/>
        </a:buBlip>
        <a:defRPr>
          <a:solidFill>
            <a:srgbClr val="000000"/>
          </a:solidFill>
          <a:latin typeface="+mn-lt"/>
        </a:defRPr>
      </a:lvl3pPr>
      <a:lvl4pPr marL="1319213" indent="-200025" algn="l" defTabSz="957263" rtl="0" eaLnBrk="1" fontAlgn="base" hangingPunct="1">
        <a:lnSpc>
          <a:spcPct val="120000"/>
        </a:lnSpc>
        <a:spcBef>
          <a:spcPct val="20000"/>
        </a:spcBef>
        <a:spcAft>
          <a:spcPct val="20000"/>
        </a:spcAft>
        <a:buSzPct val="90000"/>
        <a:buBlip>
          <a:blip r:embed="rId17"/>
        </a:buBlip>
        <a:defRPr>
          <a:solidFill>
            <a:schemeClr val="tx1"/>
          </a:solidFill>
          <a:latin typeface="+mn-lt"/>
        </a:defRPr>
      </a:lvl4pPr>
      <a:lvl5pPr marL="1695450" indent="-188913" algn="l" defTabSz="957263" rtl="0" eaLnBrk="1" fontAlgn="base" hangingPunct="1">
        <a:lnSpc>
          <a:spcPct val="120000"/>
        </a:lnSpc>
        <a:spcBef>
          <a:spcPct val="20000"/>
        </a:spcBef>
        <a:spcAft>
          <a:spcPct val="20000"/>
        </a:spcAft>
        <a:buSzPct val="90000"/>
        <a:buBlip>
          <a:blip r:embed="rId17"/>
        </a:buBlip>
        <a:defRPr>
          <a:solidFill>
            <a:schemeClr val="tx1"/>
          </a:solidFill>
          <a:latin typeface="+mn-lt"/>
        </a:defRPr>
      </a:lvl5pPr>
      <a:lvl6pPr marL="2152650" indent="-188913" algn="l" defTabSz="957263" rtl="0" eaLnBrk="1" fontAlgn="base" hangingPunct="1">
        <a:lnSpc>
          <a:spcPct val="120000"/>
        </a:lnSpc>
        <a:spcBef>
          <a:spcPct val="20000"/>
        </a:spcBef>
        <a:spcAft>
          <a:spcPct val="20000"/>
        </a:spcAft>
        <a:buSzPct val="90000"/>
        <a:buBlip>
          <a:blip r:embed="rId17"/>
        </a:buBlip>
        <a:defRPr>
          <a:solidFill>
            <a:schemeClr val="tx1"/>
          </a:solidFill>
          <a:latin typeface="+mn-lt"/>
        </a:defRPr>
      </a:lvl6pPr>
      <a:lvl7pPr marL="2609850" indent="-188913" algn="l" defTabSz="957263" rtl="0" eaLnBrk="1" fontAlgn="base" hangingPunct="1">
        <a:lnSpc>
          <a:spcPct val="120000"/>
        </a:lnSpc>
        <a:spcBef>
          <a:spcPct val="20000"/>
        </a:spcBef>
        <a:spcAft>
          <a:spcPct val="20000"/>
        </a:spcAft>
        <a:buSzPct val="90000"/>
        <a:buBlip>
          <a:blip r:embed="rId17"/>
        </a:buBlip>
        <a:defRPr>
          <a:solidFill>
            <a:schemeClr val="tx1"/>
          </a:solidFill>
          <a:latin typeface="+mn-lt"/>
        </a:defRPr>
      </a:lvl7pPr>
      <a:lvl8pPr marL="3067050" indent="-188913" algn="l" defTabSz="957263" rtl="0" eaLnBrk="1" fontAlgn="base" hangingPunct="1">
        <a:lnSpc>
          <a:spcPct val="120000"/>
        </a:lnSpc>
        <a:spcBef>
          <a:spcPct val="20000"/>
        </a:spcBef>
        <a:spcAft>
          <a:spcPct val="20000"/>
        </a:spcAft>
        <a:buSzPct val="90000"/>
        <a:buBlip>
          <a:blip r:embed="rId17"/>
        </a:buBlip>
        <a:defRPr>
          <a:solidFill>
            <a:schemeClr val="tx1"/>
          </a:solidFill>
          <a:latin typeface="+mn-lt"/>
        </a:defRPr>
      </a:lvl8pPr>
      <a:lvl9pPr marL="3524250" indent="-188913" algn="l" defTabSz="957263" rtl="0" eaLnBrk="1" fontAlgn="base" hangingPunct="1">
        <a:lnSpc>
          <a:spcPct val="120000"/>
        </a:lnSpc>
        <a:spcBef>
          <a:spcPct val="20000"/>
        </a:spcBef>
        <a:spcAft>
          <a:spcPct val="20000"/>
        </a:spcAft>
        <a:buSzPct val="90000"/>
        <a:buBlip>
          <a:blip r:embed="rId17"/>
        </a:buBlip>
        <a:defRPr>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70370" name="Picture 2" descr="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52425" y="398463"/>
            <a:ext cx="9302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371" name="Rectangle 3"/>
          <p:cNvSpPr>
            <a:spLocks noGrp="1" noChangeArrowheads="1"/>
          </p:cNvSpPr>
          <p:nvPr>
            <p:ph type="title"/>
          </p:nvPr>
        </p:nvSpPr>
        <p:spPr bwMode="auto">
          <a:xfrm>
            <a:off x="1371876" y="365674"/>
            <a:ext cx="679291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b" anchorCtr="0" compatLnSpc="1">
            <a:prstTxWarp prst="textNoShape">
              <a:avLst/>
            </a:prstTxWarp>
          </a:bodyPr>
          <a:lstStyle/>
          <a:p>
            <a:pPr lvl="0"/>
            <a:r>
              <a:rPr lang="sv-SE" smtClean="0"/>
              <a:t>Klicka för att lägga till rubrik</a:t>
            </a:r>
          </a:p>
        </p:txBody>
      </p:sp>
      <p:sp>
        <p:nvSpPr>
          <p:cNvPr id="570372" name="Rectangle 4"/>
          <p:cNvSpPr>
            <a:spLocks noGrp="1" noChangeArrowheads="1"/>
          </p:cNvSpPr>
          <p:nvPr>
            <p:ph type="body" idx="1"/>
          </p:nvPr>
        </p:nvSpPr>
        <p:spPr bwMode="auto">
          <a:xfrm>
            <a:off x="1351307" y="1553473"/>
            <a:ext cx="6802438"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p>
            <a:pPr lvl="0"/>
            <a:r>
              <a:rPr lang="sv-SE" smtClean="0"/>
              <a:t>Skriv text här</a:t>
            </a:r>
          </a:p>
          <a:p>
            <a:pPr lvl="1"/>
            <a:r>
              <a:rPr lang="sv-SE" smtClean="0"/>
              <a:t>Andra nivån</a:t>
            </a:r>
          </a:p>
          <a:p>
            <a:pPr lvl="2"/>
            <a:r>
              <a:rPr lang="sv-SE" smtClean="0"/>
              <a:t>Tredje nivån</a:t>
            </a:r>
          </a:p>
        </p:txBody>
      </p:sp>
      <p:sp>
        <p:nvSpPr>
          <p:cNvPr id="570375" name="Rectangle 7"/>
          <p:cNvSpPr>
            <a:spLocks noGrp="1" noChangeArrowheads="1"/>
          </p:cNvSpPr>
          <p:nvPr>
            <p:ph type="sldNum" sz="quarter" idx="4"/>
          </p:nvPr>
        </p:nvSpPr>
        <p:spPr bwMode="auto">
          <a:xfrm>
            <a:off x="8359775" y="6356350"/>
            <a:ext cx="6223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lvl1pPr algn="r" defTabSz="957263">
              <a:defRPr sz="1000">
                <a:solidFill>
                  <a:srgbClr val="00A9A7"/>
                </a:solidFill>
              </a:defRPr>
            </a:lvl1pPr>
          </a:lstStyle>
          <a:p>
            <a:pPr fontAlgn="base">
              <a:spcBef>
                <a:spcPct val="0"/>
              </a:spcBef>
              <a:spcAft>
                <a:spcPct val="0"/>
              </a:spcAft>
            </a:pPr>
            <a:fld id="{AB18CA97-3533-4D1D-9632-714053AF3246}" type="slidenum">
              <a:rPr lang="sv-SE">
                <a:latin typeface="Arial" charset="0"/>
              </a:rPr>
              <a:pPr fontAlgn="base">
                <a:spcBef>
                  <a:spcPct val="0"/>
                </a:spcBef>
                <a:spcAft>
                  <a:spcPct val="0"/>
                </a:spcAft>
              </a:pPr>
              <a:t>‹Nr.›</a:t>
            </a:fld>
            <a:endParaRPr lang="sv-SE">
              <a:latin typeface="Arial" charset="0"/>
            </a:endParaRPr>
          </a:p>
        </p:txBody>
      </p:sp>
      <p:sp>
        <p:nvSpPr>
          <p:cNvPr id="570376" name="Rectangle 8"/>
          <p:cNvSpPr>
            <a:spLocks noChangeArrowheads="1"/>
          </p:cNvSpPr>
          <p:nvPr/>
        </p:nvSpPr>
        <p:spPr bwMode="auto">
          <a:xfrm>
            <a:off x="0" y="6742113"/>
            <a:ext cx="9144000" cy="115887"/>
          </a:xfrm>
          <a:prstGeom prst="rect">
            <a:avLst/>
          </a:prstGeom>
          <a:solidFill>
            <a:srgbClr val="00A9A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sv-SE" sz="1900">
              <a:solidFill>
                <a:srgbClr val="382819"/>
              </a:solidFill>
              <a:latin typeface="Arial" charset="0"/>
            </a:endParaRPr>
          </a:p>
        </p:txBody>
      </p:sp>
    </p:spTree>
    <p:extLst>
      <p:ext uri="{BB962C8B-B14F-4D97-AF65-F5344CB8AC3E}">
        <p14:creationId xmlns:p14="http://schemas.microsoft.com/office/powerpoint/2010/main" val="274643868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hdr="0" ftr="0" dt="0"/>
  <p:txStyles>
    <p:titleStyle>
      <a:lvl1pPr algn="l" defTabSz="957263" rtl="0" fontAlgn="base">
        <a:spcBef>
          <a:spcPct val="0"/>
        </a:spcBef>
        <a:spcAft>
          <a:spcPct val="0"/>
        </a:spcAft>
        <a:defRPr sz="2900" b="1">
          <a:solidFill>
            <a:srgbClr val="00A9A7"/>
          </a:solidFill>
          <a:latin typeface="+mj-lt"/>
          <a:ea typeface="+mj-ea"/>
          <a:cs typeface="+mj-cs"/>
        </a:defRPr>
      </a:lvl1pPr>
      <a:lvl2pPr algn="l" defTabSz="957263" rtl="0" fontAlgn="base">
        <a:spcBef>
          <a:spcPct val="0"/>
        </a:spcBef>
        <a:spcAft>
          <a:spcPct val="0"/>
        </a:spcAft>
        <a:defRPr sz="2900" b="1">
          <a:solidFill>
            <a:srgbClr val="00A9A7"/>
          </a:solidFill>
          <a:latin typeface="Arial" charset="0"/>
        </a:defRPr>
      </a:lvl2pPr>
      <a:lvl3pPr algn="l" defTabSz="957263" rtl="0" fontAlgn="base">
        <a:spcBef>
          <a:spcPct val="0"/>
        </a:spcBef>
        <a:spcAft>
          <a:spcPct val="0"/>
        </a:spcAft>
        <a:defRPr sz="2900" b="1">
          <a:solidFill>
            <a:srgbClr val="00A9A7"/>
          </a:solidFill>
          <a:latin typeface="Arial" charset="0"/>
        </a:defRPr>
      </a:lvl3pPr>
      <a:lvl4pPr algn="l" defTabSz="957263" rtl="0" fontAlgn="base">
        <a:spcBef>
          <a:spcPct val="0"/>
        </a:spcBef>
        <a:spcAft>
          <a:spcPct val="0"/>
        </a:spcAft>
        <a:defRPr sz="2900" b="1">
          <a:solidFill>
            <a:srgbClr val="00A9A7"/>
          </a:solidFill>
          <a:latin typeface="Arial" charset="0"/>
        </a:defRPr>
      </a:lvl4pPr>
      <a:lvl5pPr algn="l" defTabSz="957263" rtl="0" fontAlgn="base">
        <a:spcBef>
          <a:spcPct val="0"/>
        </a:spcBef>
        <a:spcAft>
          <a:spcPct val="0"/>
        </a:spcAft>
        <a:defRPr sz="2900" b="1">
          <a:solidFill>
            <a:srgbClr val="00A9A7"/>
          </a:solidFill>
          <a:latin typeface="Arial" charset="0"/>
        </a:defRPr>
      </a:lvl5pPr>
      <a:lvl6pPr marL="457200" algn="l" defTabSz="957263" rtl="0" fontAlgn="base">
        <a:spcBef>
          <a:spcPct val="0"/>
        </a:spcBef>
        <a:spcAft>
          <a:spcPct val="0"/>
        </a:spcAft>
        <a:defRPr sz="2900" b="1">
          <a:solidFill>
            <a:srgbClr val="00A9A7"/>
          </a:solidFill>
          <a:latin typeface="Arial" charset="0"/>
        </a:defRPr>
      </a:lvl6pPr>
      <a:lvl7pPr marL="914400" algn="l" defTabSz="957263" rtl="0" fontAlgn="base">
        <a:spcBef>
          <a:spcPct val="0"/>
        </a:spcBef>
        <a:spcAft>
          <a:spcPct val="0"/>
        </a:spcAft>
        <a:defRPr sz="2900" b="1">
          <a:solidFill>
            <a:srgbClr val="00A9A7"/>
          </a:solidFill>
          <a:latin typeface="Arial" charset="0"/>
        </a:defRPr>
      </a:lvl7pPr>
      <a:lvl8pPr marL="1371600" algn="l" defTabSz="957263" rtl="0" fontAlgn="base">
        <a:spcBef>
          <a:spcPct val="0"/>
        </a:spcBef>
        <a:spcAft>
          <a:spcPct val="0"/>
        </a:spcAft>
        <a:defRPr sz="2900" b="1">
          <a:solidFill>
            <a:srgbClr val="00A9A7"/>
          </a:solidFill>
          <a:latin typeface="Arial" charset="0"/>
        </a:defRPr>
      </a:lvl8pPr>
      <a:lvl9pPr marL="1828800" algn="l" defTabSz="957263" rtl="0" fontAlgn="base">
        <a:spcBef>
          <a:spcPct val="0"/>
        </a:spcBef>
        <a:spcAft>
          <a:spcPct val="0"/>
        </a:spcAft>
        <a:defRPr sz="2900" b="1">
          <a:solidFill>
            <a:srgbClr val="00A9A7"/>
          </a:solidFill>
          <a:latin typeface="Arial" charset="0"/>
        </a:defRPr>
      </a:lvl9pPr>
    </p:titleStyle>
    <p:body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15"/>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15"/>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15"/>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70370" name="Picture 2" descr="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52425" y="398463"/>
            <a:ext cx="9302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371" name="Rectangle 3"/>
          <p:cNvSpPr>
            <a:spLocks noGrp="1" noChangeArrowheads="1"/>
          </p:cNvSpPr>
          <p:nvPr>
            <p:ph type="title"/>
          </p:nvPr>
        </p:nvSpPr>
        <p:spPr bwMode="auto">
          <a:xfrm>
            <a:off x="1371876" y="365674"/>
            <a:ext cx="679291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b" anchorCtr="0" compatLnSpc="1">
            <a:prstTxWarp prst="textNoShape">
              <a:avLst/>
            </a:prstTxWarp>
          </a:bodyPr>
          <a:lstStyle/>
          <a:p>
            <a:pPr lvl="0"/>
            <a:r>
              <a:rPr lang="sv-SE" smtClean="0"/>
              <a:t>Klicka för att lägga till rubrik</a:t>
            </a:r>
          </a:p>
        </p:txBody>
      </p:sp>
      <p:sp>
        <p:nvSpPr>
          <p:cNvPr id="570372" name="Rectangle 4"/>
          <p:cNvSpPr>
            <a:spLocks noGrp="1" noChangeArrowheads="1"/>
          </p:cNvSpPr>
          <p:nvPr>
            <p:ph type="body" idx="1"/>
          </p:nvPr>
        </p:nvSpPr>
        <p:spPr bwMode="auto">
          <a:xfrm>
            <a:off x="1351307" y="1553473"/>
            <a:ext cx="6802438"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p>
            <a:pPr lvl="0"/>
            <a:r>
              <a:rPr lang="sv-SE" smtClean="0"/>
              <a:t>Skriv text här</a:t>
            </a:r>
          </a:p>
          <a:p>
            <a:pPr lvl="1"/>
            <a:r>
              <a:rPr lang="sv-SE" smtClean="0"/>
              <a:t>Andra nivån</a:t>
            </a:r>
          </a:p>
          <a:p>
            <a:pPr lvl="2"/>
            <a:r>
              <a:rPr lang="sv-SE" smtClean="0"/>
              <a:t>Tredje nivån</a:t>
            </a:r>
          </a:p>
        </p:txBody>
      </p:sp>
      <p:sp>
        <p:nvSpPr>
          <p:cNvPr id="570375" name="Rectangle 7"/>
          <p:cNvSpPr>
            <a:spLocks noGrp="1" noChangeArrowheads="1"/>
          </p:cNvSpPr>
          <p:nvPr>
            <p:ph type="sldNum" sz="quarter" idx="4"/>
          </p:nvPr>
        </p:nvSpPr>
        <p:spPr bwMode="auto">
          <a:xfrm>
            <a:off x="8359775" y="6356350"/>
            <a:ext cx="6223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lvl1pPr algn="r" defTabSz="957263">
              <a:defRPr sz="1000">
                <a:solidFill>
                  <a:srgbClr val="00A9A7"/>
                </a:solidFill>
              </a:defRPr>
            </a:lvl1pPr>
          </a:lstStyle>
          <a:p>
            <a:pPr fontAlgn="base">
              <a:spcBef>
                <a:spcPct val="0"/>
              </a:spcBef>
              <a:spcAft>
                <a:spcPct val="0"/>
              </a:spcAft>
            </a:pPr>
            <a:fld id="{AB18CA97-3533-4D1D-9632-714053AF3246}" type="slidenum">
              <a:rPr lang="sv-SE">
                <a:latin typeface="Arial" charset="0"/>
              </a:rPr>
              <a:pPr fontAlgn="base">
                <a:spcBef>
                  <a:spcPct val="0"/>
                </a:spcBef>
                <a:spcAft>
                  <a:spcPct val="0"/>
                </a:spcAft>
              </a:pPr>
              <a:t>‹Nr.›</a:t>
            </a:fld>
            <a:endParaRPr lang="sv-SE">
              <a:latin typeface="Arial" charset="0"/>
            </a:endParaRPr>
          </a:p>
        </p:txBody>
      </p:sp>
      <p:sp>
        <p:nvSpPr>
          <p:cNvPr id="570376" name="Rectangle 8"/>
          <p:cNvSpPr>
            <a:spLocks noChangeArrowheads="1"/>
          </p:cNvSpPr>
          <p:nvPr/>
        </p:nvSpPr>
        <p:spPr bwMode="auto">
          <a:xfrm>
            <a:off x="0" y="6742113"/>
            <a:ext cx="9144000" cy="115887"/>
          </a:xfrm>
          <a:prstGeom prst="rect">
            <a:avLst/>
          </a:prstGeom>
          <a:solidFill>
            <a:srgbClr val="00A9A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sv-SE" sz="1900">
              <a:solidFill>
                <a:srgbClr val="382819"/>
              </a:solidFill>
              <a:latin typeface="Arial" charset="0"/>
            </a:endParaRPr>
          </a:p>
        </p:txBody>
      </p:sp>
    </p:spTree>
    <p:extLst>
      <p:ext uri="{BB962C8B-B14F-4D97-AF65-F5344CB8AC3E}">
        <p14:creationId xmlns:p14="http://schemas.microsoft.com/office/powerpoint/2010/main" val="44587995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Lst>
  <p:hf hdr="0" ftr="0" dt="0"/>
  <p:txStyles>
    <p:titleStyle>
      <a:lvl1pPr algn="l" defTabSz="957263" rtl="0" fontAlgn="base">
        <a:spcBef>
          <a:spcPct val="0"/>
        </a:spcBef>
        <a:spcAft>
          <a:spcPct val="0"/>
        </a:spcAft>
        <a:defRPr sz="2900" b="1">
          <a:solidFill>
            <a:srgbClr val="00A9A7"/>
          </a:solidFill>
          <a:latin typeface="+mj-lt"/>
          <a:ea typeface="+mj-ea"/>
          <a:cs typeface="+mj-cs"/>
        </a:defRPr>
      </a:lvl1pPr>
      <a:lvl2pPr algn="l" defTabSz="957263" rtl="0" fontAlgn="base">
        <a:spcBef>
          <a:spcPct val="0"/>
        </a:spcBef>
        <a:spcAft>
          <a:spcPct val="0"/>
        </a:spcAft>
        <a:defRPr sz="2900" b="1">
          <a:solidFill>
            <a:srgbClr val="00A9A7"/>
          </a:solidFill>
          <a:latin typeface="Arial" charset="0"/>
        </a:defRPr>
      </a:lvl2pPr>
      <a:lvl3pPr algn="l" defTabSz="957263" rtl="0" fontAlgn="base">
        <a:spcBef>
          <a:spcPct val="0"/>
        </a:spcBef>
        <a:spcAft>
          <a:spcPct val="0"/>
        </a:spcAft>
        <a:defRPr sz="2900" b="1">
          <a:solidFill>
            <a:srgbClr val="00A9A7"/>
          </a:solidFill>
          <a:latin typeface="Arial" charset="0"/>
        </a:defRPr>
      </a:lvl3pPr>
      <a:lvl4pPr algn="l" defTabSz="957263" rtl="0" fontAlgn="base">
        <a:spcBef>
          <a:spcPct val="0"/>
        </a:spcBef>
        <a:spcAft>
          <a:spcPct val="0"/>
        </a:spcAft>
        <a:defRPr sz="2900" b="1">
          <a:solidFill>
            <a:srgbClr val="00A9A7"/>
          </a:solidFill>
          <a:latin typeface="Arial" charset="0"/>
        </a:defRPr>
      </a:lvl4pPr>
      <a:lvl5pPr algn="l" defTabSz="957263" rtl="0" fontAlgn="base">
        <a:spcBef>
          <a:spcPct val="0"/>
        </a:spcBef>
        <a:spcAft>
          <a:spcPct val="0"/>
        </a:spcAft>
        <a:defRPr sz="2900" b="1">
          <a:solidFill>
            <a:srgbClr val="00A9A7"/>
          </a:solidFill>
          <a:latin typeface="Arial" charset="0"/>
        </a:defRPr>
      </a:lvl5pPr>
      <a:lvl6pPr marL="457200" algn="l" defTabSz="957263" rtl="0" fontAlgn="base">
        <a:spcBef>
          <a:spcPct val="0"/>
        </a:spcBef>
        <a:spcAft>
          <a:spcPct val="0"/>
        </a:spcAft>
        <a:defRPr sz="2900" b="1">
          <a:solidFill>
            <a:srgbClr val="00A9A7"/>
          </a:solidFill>
          <a:latin typeface="Arial" charset="0"/>
        </a:defRPr>
      </a:lvl6pPr>
      <a:lvl7pPr marL="914400" algn="l" defTabSz="957263" rtl="0" fontAlgn="base">
        <a:spcBef>
          <a:spcPct val="0"/>
        </a:spcBef>
        <a:spcAft>
          <a:spcPct val="0"/>
        </a:spcAft>
        <a:defRPr sz="2900" b="1">
          <a:solidFill>
            <a:srgbClr val="00A9A7"/>
          </a:solidFill>
          <a:latin typeface="Arial" charset="0"/>
        </a:defRPr>
      </a:lvl7pPr>
      <a:lvl8pPr marL="1371600" algn="l" defTabSz="957263" rtl="0" fontAlgn="base">
        <a:spcBef>
          <a:spcPct val="0"/>
        </a:spcBef>
        <a:spcAft>
          <a:spcPct val="0"/>
        </a:spcAft>
        <a:defRPr sz="2900" b="1">
          <a:solidFill>
            <a:srgbClr val="00A9A7"/>
          </a:solidFill>
          <a:latin typeface="Arial" charset="0"/>
        </a:defRPr>
      </a:lvl8pPr>
      <a:lvl9pPr marL="1828800" algn="l" defTabSz="957263" rtl="0" fontAlgn="base">
        <a:spcBef>
          <a:spcPct val="0"/>
        </a:spcBef>
        <a:spcAft>
          <a:spcPct val="0"/>
        </a:spcAft>
        <a:defRPr sz="2900" b="1">
          <a:solidFill>
            <a:srgbClr val="00A9A7"/>
          </a:solidFill>
          <a:latin typeface="Arial" charset="0"/>
        </a:defRPr>
      </a:lvl9pPr>
    </p:titleStyle>
    <p:body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15"/>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15"/>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15"/>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70370" name="Picture 2" descr="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52425" y="398463"/>
            <a:ext cx="9302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371" name="Rectangle 3"/>
          <p:cNvSpPr>
            <a:spLocks noGrp="1" noChangeArrowheads="1"/>
          </p:cNvSpPr>
          <p:nvPr>
            <p:ph type="title"/>
          </p:nvPr>
        </p:nvSpPr>
        <p:spPr bwMode="auto">
          <a:xfrm>
            <a:off x="1371876" y="365674"/>
            <a:ext cx="679291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b" anchorCtr="0" compatLnSpc="1">
            <a:prstTxWarp prst="textNoShape">
              <a:avLst/>
            </a:prstTxWarp>
          </a:bodyPr>
          <a:lstStyle/>
          <a:p>
            <a:pPr lvl="0"/>
            <a:r>
              <a:rPr lang="sv-SE" smtClean="0"/>
              <a:t>Klicka för att lägga till rubrik</a:t>
            </a:r>
          </a:p>
        </p:txBody>
      </p:sp>
      <p:sp>
        <p:nvSpPr>
          <p:cNvPr id="570372" name="Rectangle 4"/>
          <p:cNvSpPr>
            <a:spLocks noGrp="1" noChangeArrowheads="1"/>
          </p:cNvSpPr>
          <p:nvPr>
            <p:ph type="body" idx="1"/>
          </p:nvPr>
        </p:nvSpPr>
        <p:spPr bwMode="auto">
          <a:xfrm>
            <a:off x="1351307" y="1553473"/>
            <a:ext cx="6802438"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p>
            <a:pPr lvl="0"/>
            <a:r>
              <a:rPr lang="sv-SE" smtClean="0"/>
              <a:t>Skriv text här</a:t>
            </a:r>
          </a:p>
          <a:p>
            <a:pPr lvl="1"/>
            <a:r>
              <a:rPr lang="sv-SE" smtClean="0"/>
              <a:t>Andra nivån</a:t>
            </a:r>
          </a:p>
          <a:p>
            <a:pPr lvl="2"/>
            <a:r>
              <a:rPr lang="sv-SE" smtClean="0"/>
              <a:t>Tredje nivån</a:t>
            </a:r>
          </a:p>
        </p:txBody>
      </p:sp>
      <p:sp>
        <p:nvSpPr>
          <p:cNvPr id="570375" name="Rectangle 7"/>
          <p:cNvSpPr>
            <a:spLocks noGrp="1" noChangeArrowheads="1"/>
          </p:cNvSpPr>
          <p:nvPr>
            <p:ph type="sldNum" sz="quarter" idx="4"/>
          </p:nvPr>
        </p:nvSpPr>
        <p:spPr bwMode="auto">
          <a:xfrm>
            <a:off x="8359775" y="6356350"/>
            <a:ext cx="6223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lvl1pPr algn="r" defTabSz="957263">
              <a:defRPr sz="1000">
                <a:solidFill>
                  <a:srgbClr val="00A9A7"/>
                </a:solidFill>
              </a:defRPr>
            </a:lvl1pPr>
          </a:lstStyle>
          <a:p>
            <a:pPr fontAlgn="base">
              <a:spcBef>
                <a:spcPct val="0"/>
              </a:spcBef>
              <a:spcAft>
                <a:spcPct val="0"/>
              </a:spcAft>
            </a:pPr>
            <a:fld id="{AB18CA97-3533-4D1D-9632-714053AF3246}" type="slidenum">
              <a:rPr lang="sv-SE">
                <a:latin typeface="Arial" charset="0"/>
              </a:rPr>
              <a:pPr fontAlgn="base">
                <a:spcBef>
                  <a:spcPct val="0"/>
                </a:spcBef>
                <a:spcAft>
                  <a:spcPct val="0"/>
                </a:spcAft>
              </a:pPr>
              <a:t>‹Nr.›</a:t>
            </a:fld>
            <a:endParaRPr lang="sv-SE">
              <a:latin typeface="Arial" charset="0"/>
            </a:endParaRPr>
          </a:p>
        </p:txBody>
      </p:sp>
      <p:sp>
        <p:nvSpPr>
          <p:cNvPr id="570376" name="Rectangle 8"/>
          <p:cNvSpPr>
            <a:spLocks noChangeArrowheads="1"/>
          </p:cNvSpPr>
          <p:nvPr/>
        </p:nvSpPr>
        <p:spPr bwMode="auto">
          <a:xfrm>
            <a:off x="0" y="6742113"/>
            <a:ext cx="9144000" cy="115887"/>
          </a:xfrm>
          <a:prstGeom prst="rect">
            <a:avLst/>
          </a:prstGeom>
          <a:solidFill>
            <a:srgbClr val="00A9A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sv-SE" sz="1900">
              <a:solidFill>
                <a:srgbClr val="382819"/>
              </a:solidFill>
              <a:latin typeface="Arial" charset="0"/>
            </a:endParaRPr>
          </a:p>
        </p:txBody>
      </p:sp>
    </p:spTree>
    <p:extLst>
      <p:ext uri="{BB962C8B-B14F-4D97-AF65-F5344CB8AC3E}">
        <p14:creationId xmlns:p14="http://schemas.microsoft.com/office/powerpoint/2010/main" val="368206605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hdr="0" ftr="0" dt="0"/>
  <p:txStyles>
    <p:titleStyle>
      <a:lvl1pPr algn="l" defTabSz="957263" rtl="0" fontAlgn="base">
        <a:spcBef>
          <a:spcPct val="0"/>
        </a:spcBef>
        <a:spcAft>
          <a:spcPct val="0"/>
        </a:spcAft>
        <a:defRPr sz="2900" b="1">
          <a:solidFill>
            <a:srgbClr val="00A9A7"/>
          </a:solidFill>
          <a:latin typeface="+mj-lt"/>
          <a:ea typeface="+mj-ea"/>
          <a:cs typeface="+mj-cs"/>
        </a:defRPr>
      </a:lvl1pPr>
      <a:lvl2pPr algn="l" defTabSz="957263" rtl="0" fontAlgn="base">
        <a:spcBef>
          <a:spcPct val="0"/>
        </a:spcBef>
        <a:spcAft>
          <a:spcPct val="0"/>
        </a:spcAft>
        <a:defRPr sz="2900" b="1">
          <a:solidFill>
            <a:srgbClr val="00A9A7"/>
          </a:solidFill>
          <a:latin typeface="Arial" charset="0"/>
        </a:defRPr>
      </a:lvl2pPr>
      <a:lvl3pPr algn="l" defTabSz="957263" rtl="0" fontAlgn="base">
        <a:spcBef>
          <a:spcPct val="0"/>
        </a:spcBef>
        <a:spcAft>
          <a:spcPct val="0"/>
        </a:spcAft>
        <a:defRPr sz="2900" b="1">
          <a:solidFill>
            <a:srgbClr val="00A9A7"/>
          </a:solidFill>
          <a:latin typeface="Arial" charset="0"/>
        </a:defRPr>
      </a:lvl3pPr>
      <a:lvl4pPr algn="l" defTabSz="957263" rtl="0" fontAlgn="base">
        <a:spcBef>
          <a:spcPct val="0"/>
        </a:spcBef>
        <a:spcAft>
          <a:spcPct val="0"/>
        </a:spcAft>
        <a:defRPr sz="2900" b="1">
          <a:solidFill>
            <a:srgbClr val="00A9A7"/>
          </a:solidFill>
          <a:latin typeface="Arial" charset="0"/>
        </a:defRPr>
      </a:lvl4pPr>
      <a:lvl5pPr algn="l" defTabSz="957263" rtl="0" fontAlgn="base">
        <a:spcBef>
          <a:spcPct val="0"/>
        </a:spcBef>
        <a:spcAft>
          <a:spcPct val="0"/>
        </a:spcAft>
        <a:defRPr sz="2900" b="1">
          <a:solidFill>
            <a:srgbClr val="00A9A7"/>
          </a:solidFill>
          <a:latin typeface="Arial" charset="0"/>
        </a:defRPr>
      </a:lvl5pPr>
      <a:lvl6pPr marL="457200" algn="l" defTabSz="957263" rtl="0" fontAlgn="base">
        <a:spcBef>
          <a:spcPct val="0"/>
        </a:spcBef>
        <a:spcAft>
          <a:spcPct val="0"/>
        </a:spcAft>
        <a:defRPr sz="2900" b="1">
          <a:solidFill>
            <a:srgbClr val="00A9A7"/>
          </a:solidFill>
          <a:latin typeface="Arial" charset="0"/>
        </a:defRPr>
      </a:lvl6pPr>
      <a:lvl7pPr marL="914400" algn="l" defTabSz="957263" rtl="0" fontAlgn="base">
        <a:spcBef>
          <a:spcPct val="0"/>
        </a:spcBef>
        <a:spcAft>
          <a:spcPct val="0"/>
        </a:spcAft>
        <a:defRPr sz="2900" b="1">
          <a:solidFill>
            <a:srgbClr val="00A9A7"/>
          </a:solidFill>
          <a:latin typeface="Arial" charset="0"/>
        </a:defRPr>
      </a:lvl7pPr>
      <a:lvl8pPr marL="1371600" algn="l" defTabSz="957263" rtl="0" fontAlgn="base">
        <a:spcBef>
          <a:spcPct val="0"/>
        </a:spcBef>
        <a:spcAft>
          <a:spcPct val="0"/>
        </a:spcAft>
        <a:defRPr sz="2900" b="1">
          <a:solidFill>
            <a:srgbClr val="00A9A7"/>
          </a:solidFill>
          <a:latin typeface="Arial" charset="0"/>
        </a:defRPr>
      </a:lvl8pPr>
      <a:lvl9pPr marL="1828800" algn="l" defTabSz="957263" rtl="0" fontAlgn="base">
        <a:spcBef>
          <a:spcPct val="0"/>
        </a:spcBef>
        <a:spcAft>
          <a:spcPct val="0"/>
        </a:spcAft>
        <a:defRPr sz="2900" b="1">
          <a:solidFill>
            <a:srgbClr val="00A9A7"/>
          </a:solidFill>
          <a:latin typeface="Arial" charset="0"/>
        </a:defRPr>
      </a:lvl9pPr>
    </p:titleStyle>
    <p:body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15"/>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15"/>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15"/>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15"/>
        </a:buBlip>
        <a:defRPr>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4" Type="http://schemas.microsoft.com/office/2007/relationships/hdphoto" Target="../media/hdphoto1.wdp"/><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3.png"/><Relationship Id="rId1" Type="http://schemas.openxmlformats.org/officeDocument/2006/relationships/slideLayout" Target="../slideLayouts/slideLayout57.xml"/><Relationship Id="rId2"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4" Type="http://schemas.microsoft.com/office/2007/relationships/hdphoto" Target="../media/hdphoto2.wdp"/><Relationship Id="rId5" Type="http://schemas.openxmlformats.org/officeDocument/2006/relationships/image" Target="../media/image19.png"/><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hyperlink" Target="http://hl7.org/fhir" TargetMode="External"/><Relationship Id="rId4" Type="http://schemas.openxmlformats.org/officeDocument/2006/relationships/hyperlink" Target="http://wiki.fmk.netic.dk/doku.php" TargetMode="External"/><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1" Type="http://schemas.openxmlformats.org/officeDocument/2006/relationships/diagramColors" Target="../diagrams/colors1.xml"/><Relationship Id="rId12" Type="http://schemas.microsoft.com/office/2007/relationships/diagramDrawing" Target="../diagrams/drawing1.xml"/><Relationship Id="rId13" Type="http://schemas.openxmlformats.org/officeDocument/2006/relationships/diagramData" Target="../diagrams/data2.xml"/><Relationship Id="rId14" Type="http://schemas.openxmlformats.org/officeDocument/2006/relationships/diagramLayout" Target="../diagrams/layout2.xml"/><Relationship Id="rId15" Type="http://schemas.openxmlformats.org/officeDocument/2006/relationships/diagramQuickStyle" Target="../diagrams/quickStyle2.xml"/><Relationship Id="rId16" Type="http://schemas.openxmlformats.org/officeDocument/2006/relationships/diagramColors" Target="../diagrams/colors2.xml"/><Relationship Id="rId17" Type="http://schemas.microsoft.com/office/2007/relationships/diagramDrawing" Target="../diagrams/drawing2.xml"/><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15.png"/><Relationship Id="rId7" Type="http://schemas.microsoft.com/office/2007/relationships/hdphoto" Target="../media/hdphoto1.wdp"/><Relationship Id="rId8" Type="http://schemas.openxmlformats.org/officeDocument/2006/relationships/diagramData" Target="../diagrams/data1.xml"/><Relationship Id="rId9" Type="http://schemas.openxmlformats.org/officeDocument/2006/relationships/diagramLayout" Target="../diagrams/layout1.xml"/><Relationship Id="rId10"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1" Type="http://schemas.openxmlformats.org/officeDocument/2006/relationships/diagramData" Target="../diagrams/data4.xml"/><Relationship Id="rId12" Type="http://schemas.openxmlformats.org/officeDocument/2006/relationships/diagramLayout" Target="../diagrams/layout4.xml"/><Relationship Id="rId13" Type="http://schemas.openxmlformats.org/officeDocument/2006/relationships/diagramQuickStyle" Target="../diagrams/quickStyle4.xml"/><Relationship Id="rId14" Type="http://schemas.openxmlformats.org/officeDocument/2006/relationships/diagramColors" Target="../diagrams/colors4.xml"/><Relationship Id="rId15" Type="http://schemas.microsoft.com/office/2007/relationships/diagramDrawing" Target="../diagrams/drawing4.xml"/><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diagramData" Target="../diagrams/data3.xml"/><Relationship Id="rId7" Type="http://schemas.openxmlformats.org/officeDocument/2006/relationships/diagramLayout" Target="../diagrams/layout3.xml"/><Relationship Id="rId8" Type="http://schemas.openxmlformats.org/officeDocument/2006/relationships/diagramQuickStyle" Target="../diagrams/quickStyle3.xml"/><Relationship Id="rId9" Type="http://schemas.openxmlformats.org/officeDocument/2006/relationships/diagramColors" Target="../diagrams/colors3.xml"/><Relationship Id="rId10" Type="http://schemas.microsoft.com/office/2007/relationships/diagramDrawing" Target="../diagrams/drawing3.xml"/></Relationships>
</file>

<file path=ppt/slides/_rels/slide11.xml.rels><?xml version="1.0" encoding="UTF-8" standalone="yes"?>
<Relationships xmlns="http://schemas.openxmlformats.org/package/2006/relationships"><Relationship Id="rId11" Type="http://schemas.openxmlformats.org/officeDocument/2006/relationships/diagramData" Target="../diagrams/data6.xml"/><Relationship Id="rId12" Type="http://schemas.openxmlformats.org/officeDocument/2006/relationships/diagramLayout" Target="../diagrams/layout6.xml"/><Relationship Id="rId13" Type="http://schemas.openxmlformats.org/officeDocument/2006/relationships/diagramQuickStyle" Target="../diagrams/quickStyle6.xml"/><Relationship Id="rId14" Type="http://schemas.openxmlformats.org/officeDocument/2006/relationships/diagramColors" Target="../diagrams/colors6.xml"/><Relationship Id="rId15" Type="http://schemas.microsoft.com/office/2007/relationships/diagramDrawing" Target="../diagrams/drawing6.xml"/><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diagramData" Target="../diagrams/data5.xml"/><Relationship Id="rId7" Type="http://schemas.openxmlformats.org/officeDocument/2006/relationships/diagramLayout" Target="../diagrams/layout5.xml"/><Relationship Id="rId8" Type="http://schemas.openxmlformats.org/officeDocument/2006/relationships/diagramQuickStyle" Target="../diagrams/quickStyle5.xml"/><Relationship Id="rId9" Type="http://schemas.openxmlformats.org/officeDocument/2006/relationships/diagramColors" Target="../diagrams/colors5.xml"/><Relationship Id="rId10" Type="http://schemas.microsoft.com/office/2007/relationships/diagramDrawing" Target="../diagrams/drawing5.xml"/></Relationships>
</file>

<file path=ppt/slides/_rels/slide12.xml.rels><?xml version="1.0" encoding="UTF-8" standalone="yes"?>
<Relationships xmlns="http://schemas.openxmlformats.org/package/2006/relationships"><Relationship Id="rId11" Type="http://schemas.openxmlformats.org/officeDocument/2006/relationships/diagramData" Target="../diagrams/data8.xml"/><Relationship Id="rId12" Type="http://schemas.openxmlformats.org/officeDocument/2006/relationships/diagramLayout" Target="../diagrams/layout8.xml"/><Relationship Id="rId13" Type="http://schemas.openxmlformats.org/officeDocument/2006/relationships/diagramQuickStyle" Target="../diagrams/quickStyle8.xml"/><Relationship Id="rId14" Type="http://schemas.openxmlformats.org/officeDocument/2006/relationships/diagramColors" Target="../diagrams/colors8.xml"/><Relationship Id="rId15" Type="http://schemas.microsoft.com/office/2007/relationships/diagramDrawing" Target="../diagrams/drawing8.xml"/><Relationship Id="rId16" Type="http://schemas.openxmlformats.org/officeDocument/2006/relationships/image" Target="../media/image15.png"/><Relationship Id="rId17" Type="http://schemas.microsoft.com/office/2007/relationships/hdphoto" Target="../media/hdphoto1.wdp"/><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diagramData" Target="../diagrams/data7.xml"/><Relationship Id="rId7" Type="http://schemas.openxmlformats.org/officeDocument/2006/relationships/diagramLayout" Target="../diagrams/layout7.xml"/><Relationship Id="rId8" Type="http://schemas.openxmlformats.org/officeDocument/2006/relationships/diagramQuickStyle" Target="../diagrams/quickStyle7.xml"/><Relationship Id="rId9" Type="http://schemas.openxmlformats.org/officeDocument/2006/relationships/diagramColors" Target="../diagrams/colors7.xml"/><Relationship Id="rId10" Type="http://schemas.microsoft.com/office/2007/relationships/diagramDrawing" Target="../diagrams/drawing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png"/><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6.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3.png"/><Relationship Id="rId1" Type="http://schemas.openxmlformats.org/officeDocument/2006/relationships/slideLayout" Target="../slideLayouts/slideLayout6.xml"/><Relationship Id="rId2"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4" Type="http://schemas.microsoft.com/office/2007/relationships/hdphoto" Target="../media/hdphoto3.wdp"/><Relationship Id="rId5" Type="http://schemas.openxmlformats.org/officeDocument/2006/relationships/image" Target="../media/image31.wmf"/><Relationship Id="rId6" Type="http://schemas.openxmlformats.org/officeDocument/2006/relationships/image" Target="../media/image16.png"/><Relationship Id="rId7" Type="http://schemas.microsoft.com/office/2007/relationships/hdphoto" Target="../media/hdphoto4.wdp"/><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4" Type="http://schemas.microsoft.com/office/2007/relationships/hdphoto" Target="../media/hdphoto3.wdp"/><Relationship Id="rId5" Type="http://schemas.openxmlformats.org/officeDocument/2006/relationships/image" Target="../media/image31.wmf"/><Relationship Id="rId6" Type="http://schemas.openxmlformats.org/officeDocument/2006/relationships/image" Target="../media/image16.png"/><Relationship Id="rId7" Type="http://schemas.microsoft.com/office/2007/relationships/hdphoto" Target="../media/hdphoto4.wdp"/><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5008876"/>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derrubrik 4"/>
          <p:cNvSpPr>
            <a:spLocks noGrp="1"/>
          </p:cNvSpPr>
          <p:nvPr>
            <p:ph type="subTitle" idx="1"/>
          </p:nvPr>
        </p:nvSpPr>
        <p:spPr>
          <a:xfrm>
            <a:off x="1371600" y="6026150"/>
            <a:ext cx="6400800" cy="304800"/>
          </a:xfrm>
        </p:spPr>
        <p:txBody>
          <a:bodyPr/>
          <a:lstStyle/>
          <a:p>
            <a:r>
              <a:rPr lang="sv-SE" sz="1100" i="1" dirty="0" smtClean="0"/>
              <a:t>Senast reviderad 2015-06-30</a:t>
            </a:r>
            <a:endParaRPr lang="sv-SE" sz="11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a:t>
            </a:fld>
            <a:endParaRPr lang="sv-SE" dirty="0"/>
          </a:p>
        </p:txBody>
      </p:sp>
      <p:pic>
        <p:nvPicPr>
          <p:cNvPr id="6" name="Bildobjekt 5"/>
          <p:cNvPicPr>
            <a:picLocks noChangeAspect="1"/>
          </p:cNvPicPr>
          <p:nvPr/>
        </p:nvPicPr>
        <p:blipFill>
          <a:blip r:embed="rId3"/>
          <a:stretch>
            <a:fillRect/>
          </a:stretch>
        </p:blipFill>
        <p:spPr>
          <a:xfrm>
            <a:off x="7668139" y="18852"/>
            <a:ext cx="1384717" cy="1037201"/>
          </a:xfrm>
          <a:prstGeom prst="rect">
            <a:avLst/>
          </a:prstGeom>
        </p:spPr>
      </p:pic>
      <p:sp>
        <p:nvSpPr>
          <p:cNvPr id="2" name="Rubrik 1"/>
          <p:cNvSpPr>
            <a:spLocks noGrp="1"/>
          </p:cNvSpPr>
          <p:nvPr>
            <p:ph type="ctrTitle"/>
          </p:nvPr>
        </p:nvSpPr>
        <p:spPr>
          <a:xfrm>
            <a:off x="685800" y="1646155"/>
            <a:ext cx="7772400" cy="3210003"/>
          </a:xfrm>
        </p:spPr>
        <p:txBody>
          <a:bodyPr/>
          <a:lstStyle/>
          <a:p>
            <a:r>
              <a:rPr lang="sv-SE" dirty="0" smtClean="0"/>
              <a:t>Tjänstekontrakt för </a:t>
            </a:r>
            <a:br>
              <a:rPr lang="sv-SE" dirty="0" smtClean="0"/>
            </a:br>
            <a:r>
              <a:rPr lang="sv-SE" dirty="0" smtClean="0"/>
              <a:t>Samlad läkemedelslista</a:t>
            </a:r>
            <a:br>
              <a:rPr lang="sv-SE" dirty="0" smtClean="0"/>
            </a:br>
            <a:r>
              <a:rPr lang="sv-SE" sz="2800" i="1" dirty="0" smtClean="0"/>
              <a:t>- en introduktion</a:t>
            </a:r>
            <a:br>
              <a:rPr lang="sv-SE" sz="2800" i="1" dirty="0" smtClean="0"/>
            </a:br>
            <a:r>
              <a:rPr lang="sv-SE" dirty="0" smtClean="0"/>
              <a:t/>
            </a:r>
            <a:br>
              <a:rPr lang="sv-SE" dirty="0" smtClean="0"/>
            </a:br>
            <a:r>
              <a:rPr lang="sv-SE" dirty="0" smtClean="0"/>
              <a:t/>
            </a:r>
            <a:br>
              <a:rPr lang="sv-SE" dirty="0" smtClean="0"/>
            </a:br>
            <a:r>
              <a:rPr lang="sv-SE" sz="1400" b="0" i="1" dirty="0" smtClean="0"/>
              <a:t>Denna bildserie kan se som ett komplement till övriga dokument inom tjänstedomänen. </a:t>
            </a:r>
            <a:endParaRPr lang="sv-SE" sz="1050" b="0" i="1" dirty="0"/>
          </a:p>
        </p:txBody>
      </p:sp>
    </p:spTree>
    <p:extLst>
      <p:ext uri="{BB962C8B-B14F-4D97-AF65-F5344CB8AC3E}">
        <p14:creationId xmlns:p14="http://schemas.microsoft.com/office/powerpoint/2010/main" val="3034056259"/>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smtClean="0"/>
              <a:t>Innehåll</a:t>
            </a:r>
            <a:endParaRPr lang="sv-SE" dirty="0"/>
          </a:p>
        </p:txBody>
      </p:sp>
      <p:sp>
        <p:nvSpPr>
          <p:cNvPr id="3" name="Platshållare för innehåll 2"/>
          <p:cNvSpPr>
            <a:spLocks noGrp="1"/>
          </p:cNvSpPr>
          <p:nvPr>
            <p:ph idx="1"/>
          </p:nvPr>
        </p:nvSpPr>
        <p:spPr>
          <a:xfrm>
            <a:off x="1341146" y="1549566"/>
            <a:ext cx="7162773" cy="4806783"/>
          </a:xfrm>
        </p:spPr>
        <p:txBody>
          <a:bodyPr>
            <a:normAutofit/>
          </a:bodyPr>
          <a:lstStyle/>
          <a:p>
            <a:r>
              <a:rPr lang="sv-SE" sz="2000" dirty="0" smtClean="0"/>
              <a:t>Översikt – Arkitektur - Funktionalitet</a:t>
            </a:r>
          </a:p>
          <a:p>
            <a:r>
              <a:rPr lang="sv-SE" sz="2000" dirty="0" smtClean="0"/>
              <a:t>Tjänstekontrakt 2.0</a:t>
            </a:r>
          </a:p>
          <a:p>
            <a:r>
              <a:rPr lang="sv-SE" sz="2000" dirty="0" smtClean="0"/>
              <a:t>Informationsmodell 2.0</a:t>
            </a:r>
          </a:p>
          <a:p>
            <a:r>
              <a:rPr lang="sv-SE" sz="2000" dirty="0" smtClean="0"/>
              <a:t>Samverkan kring en gemensam läkemedelslista</a:t>
            </a:r>
          </a:p>
          <a:p>
            <a:r>
              <a:rPr lang="sv-SE" sz="2000" dirty="0" smtClean="0"/>
              <a:t>Regelverk &amp; juridik, behörighet</a:t>
            </a:r>
            <a:r>
              <a:rPr lang="sv-SE" sz="2000" dirty="0"/>
              <a:t>, </a:t>
            </a:r>
            <a:r>
              <a:rPr lang="sv-SE" sz="2000" dirty="0" smtClean="0"/>
              <a:t>roller &amp; ansvar</a:t>
            </a:r>
            <a:r>
              <a:rPr lang="sv-SE" sz="2000" dirty="0"/>
              <a:t>, spärr &amp; </a:t>
            </a:r>
            <a:r>
              <a:rPr lang="sv-SE" sz="2000" dirty="0" smtClean="0"/>
              <a:t>samtycke</a:t>
            </a:r>
          </a:p>
          <a:p>
            <a:r>
              <a:rPr lang="sv-SE" sz="2000" dirty="0" smtClean="0"/>
              <a:t>Kommande aktiviteter Samlad läkemedelslista</a:t>
            </a:r>
          </a:p>
        </p:txBody>
      </p:sp>
      <p:sp>
        <p:nvSpPr>
          <p:cNvPr id="4" name="Platshållare för bildnummer 3"/>
          <p:cNvSpPr>
            <a:spLocks noGrp="1"/>
          </p:cNvSpPr>
          <p:nvPr>
            <p:ph type="sldNum" sz="quarter" idx="10"/>
          </p:nvPr>
        </p:nvSpPr>
        <p:spPr/>
        <p:txBody>
          <a:bodyPr/>
          <a:lstStyle/>
          <a:p>
            <a:fld id="{4F4A6512-6F32-47C0-A1DC-EECCB630EF99}" type="slidenum">
              <a:rPr lang="sv-SE" smtClean="0"/>
              <a:pPr/>
              <a:t>3</a:t>
            </a:fld>
            <a:endParaRPr lang="sv-SE" dirty="0"/>
          </a:p>
        </p:txBody>
      </p:sp>
    </p:spTree>
    <p:extLst>
      <p:ext uri="{BB962C8B-B14F-4D97-AF65-F5344CB8AC3E}">
        <p14:creationId xmlns:p14="http://schemas.microsoft.com/office/powerpoint/2010/main" val="279808907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ylinder 15"/>
          <p:cNvSpPr/>
          <p:nvPr/>
        </p:nvSpPr>
        <p:spPr>
          <a:xfrm>
            <a:off x="6094184" y="4878016"/>
            <a:ext cx="1018834" cy="654604"/>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defTabSz="914400" fontAlgn="base">
              <a:spcBef>
                <a:spcPct val="0"/>
              </a:spcBef>
              <a:spcAft>
                <a:spcPct val="0"/>
              </a:spcAft>
            </a:pPr>
            <a:endParaRPr lang="sv-SE" sz="1000" dirty="0">
              <a:solidFill>
                <a:srgbClr val="382819"/>
              </a:solidFill>
              <a:latin typeface="Arial"/>
              <a:ea typeface="ＭＳ Ｐゴシック" pitchFamily="-112" charset="-128"/>
              <a:cs typeface="ＭＳ Ｐゴシック" pitchFamily="-112" charset="-128"/>
            </a:endParaRPr>
          </a:p>
        </p:txBody>
      </p:sp>
      <p:sp>
        <p:nvSpPr>
          <p:cNvPr id="11" name="Cylinder 10"/>
          <p:cNvSpPr/>
          <p:nvPr/>
        </p:nvSpPr>
        <p:spPr>
          <a:xfrm>
            <a:off x="4012570" y="4498997"/>
            <a:ext cx="1018834" cy="654604"/>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defTabSz="914400" fontAlgn="base">
              <a:spcBef>
                <a:spcPct val="0"/>
              </a:spcBef>
              <a:spcAft>
                <a:spcPct val="0"/>
              </a:spcAft>
            </a:pPr>
            <a:r>
              <a:rPr lang="sv-SE" sz="1000" dirty="0" smtClean="0">
                <a:solidFill>
                  <a:srgbClr val="382819"/>
                </a:solidFill>
                <a:latin typeface="Arial"/>
                <a:ea typeface="ＭＳ Ｐゴシック" pitchFamily="-112" charset="-128"/>
                <a:cs typeface="ＭＳ Ｐゴシック" pitchFamily="-112" charset="-128"/>
              </a:rPr>
              <a:t>NOD</a:t>
            </a:r>
            <a:endParaRPr lang="sv-SE" sz="1000" dirty="0">
              <a:solidFill>
                <a:srgbClr val="382819"/>
              </a:solidFill>
              <a:latin typeface="Arial"/>
              <a:ea typeface="ＭＳ Ｐゴシック" pitchFamily="-112" charset="-128"/>
              <a:cs typeface="ＭＳ Ｐゴシック" pitchFamily="-112" charset="-128"/>
            </a:endParaRPr>
          </a:p>
        </p:txBody>
      </p:sp>
      <p:sp>
        <p:nvSpPr>
          <p:cNvPr id="2" name="Rubrik 1"/>
          <p:cNvSpPr>
            <a:spLocks noGrp="1"/>
          </p:cNvSpPr>
          <p:nvPr>
            <p:ph type="title"/>
          </p:nvPr>
        </p:nvSpPr>
        <p:spPr>
          <a:xfrm>
            <a:off x="1548890" y="348054"/>
            <a:ext cx="5903301" cy="911785"/>
          </a:xfrm>
        </p:spPr>
        <p:txBody>
          <a:bodyPr/>
          <a:lstStyle/>
          <a:p>
            <a:r>
              <a:rPr lang="sv-SE" sz="2400" i="1" dirty="0" smtClean="0"/>
              <a:t>En gemensam</a:t>
            </a:r>
            <a:br>
              <a:rPr lang="sv-SE" sz="2400" i="1" dirty="0" smtClean="0"/>
            </a:br>
            <a:r>
              <a:rPr lang="sv-SE" sz="2400" i="1" dirty="0" smtClean="0"/>
              <a:t>samlad läkemedelslista för patienten</a:t>
            </a:r>
            <a:endParaRPr lang="sv-SE" sz="2400" b="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4</a:t>
            </a:fld>
            <a:endParaRPr lang="sv-SE">
              <a:latin typeface="Arial"/>
            </a:endParaRPr>
          </a:p>
        </p:txBody>
      </p:sp>
      <p:sp>
        <p:nvSpPr>
          <p:cNvPr id="5" name="Rektangel med rundade hörn 4"/>
          <p:cNvSpPr/>
          <p:nvPr/>
        </p:nvSpPr>
        <p:spPr>
          <a:xfrm rot="16200000">
            <a:off x="3417317" y="3563099"/>
            <a:ext cx="1394965" cy="1433578"/>
          </a:xfrm>
          <a:prstGeom prst="roundRect">
            <a:avLst>
              <a:gd name="adj" fmla="val 8787"/>
            </a:avLst>
          </a:prstGeom>
          <a:ln>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Läkemedelslista</a:t>
            </a:r>
            <a:br>
              <a:rPr lang="sv-SE" sz="900" dirty="0">
                <a:solidFill>
                  <a:srgbClr val="382819"/>
                </a:solidFill>
                <a:latin typeface="Arial"/>
                <a:ea typeface="ＭＳ Ｐゴシック" pitchFamily="-112" charset="-128"/>
                <a:cs typeface="ＭＳ Ｐゴシック" pitchFamily="-112" charset="-128"/>
              </a:rPr>
            </a:br>
            <a:endParaRPr lang="sv-SE" sz="900" dirty="0">
              <a:solidFill>
                <a:srgbClr val="382819"/>
              </a:solidFill>
              <a:latin typeface="Arial"/>
              <a:ea typeface="ＭＳ Ｐゴシック" pitchFamily="-112" charset="-128"/>
              <a:cs typeface="ＭＳ Ｐゴシック" pitchFamily="-112" charset="-128"/>
            </a:endParaRPr>
          </a:p>
        </p:txBody>
      </p:sp>
      <p:sp>
        <p:nvSpPr>
          <p:cNvPr id="6" name="Rektangel med rundade hörn 5"/>
          <p:cNvSpPr/>
          <p:nvPr/>
        </p:nvSpPr>
        <p:spPr>
          <a:xfrm>
            <a:off x="3656677" y="3859945"/>
            <a:ext cx="987231" cy="314554"/>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FFFFFF"/>
                </a:solidFill>
                <a:latin typeface="Arial"/>
                <a:ea typeface="ＭＳ Ｐゴシック" pitchFamily="-112" charset="-128"/>
                <a:cs typeface="ＭＳ Ｐゴシック" pitchFamily="-112" charset="-128"/>
              </a:rPr>
              <a:t>Läkemedels-</a:t>
            </a:r>
            <a:r>
              <a:rPr lang="sv-SE" sz="900" dirty="0" smtClean="0">
                <a:solidFill>
                  <a:srgbClr val="FFFFFF"/>
                </a:solidFill>
                <a:latin typeface="Arial"/>
                <a:ea typeface="ＭＳ Ｐゴシック" pitchFamily="-112" charset="-128"/>
                <a:cs typeface="ＭＳ Ｐゴシック" pitchFamily="-112" charset="-128"/>
              </a:rPr>
              <a:t>ordination</a:t>
            </a:r>
            <a:endParaRPr lang="sv-SE" sz="900" dirty="0">
              <a:solidFill>
                <a:srgbClr val="FFFFFF"/>
              </a:solidFill>
              <a:latin typeface="Arial"/>
              <a:ea typeface="ＭＳ Ｐゴシック" pitchFamily="-112" charset="-128"/>
              <a:cs typeface="ＭＳ Ｐゴシック" pitchFamily="-112" charset="-128"/>
            </a:endParaRPr>
          </a:p>
        </p:txBody>
      </p:sp>
      <p:sp>
        <p:nvSpPr>
          <p:cNvPr id="7" name="Rektangel med rundade hörn 6"/>
          <p:cNvSpPr/>
          <p:nvPr/>
        </p:nvSpPr>
        <p:spPr>
          <a:xfrm>
            <a:off x="3656678" y="4174499"/>
            <a:ext cx="987230" cy="324497"/>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FFFFFF"/>
                </a:solidFill>
                <a:latin typeface="Arial"/>
                <a:ea typeface="ＭＳ Ｐゴシック" pitchFamily="-112" charset="-128"/>
                <a:cs typeface="ＭＳ Ｐゴシック" pitchFamily="-112" charset="-128"/>
              </a:rPr>
              <a:t>Läkemedels-</a:t>
            </a:r>
            <a:r>
              <a:rPr lang="sv-SE" sz="900" dirty="0">
                <a:solidFill>
                  <a:srgbClr val="FFFFFF"/>
                </a:solidFill>
                <a:latin typeface="Arial" charset="0"/>
              </a:rPr>
              <a:t>förskrivning</a:t>
            </a:r>
            <a:endParaRPr lang="sv-SE" sz="900" dirty="0">
              <a:solidFill>
                <a:srgbClr val="FFFFFF"/>
              </a:solidFill>
              <a:latin typeface="Arial"/>
              <a:ea typeface="ＭＳ Ｐゴシック" pitchFamily="-112" charset="-128"/>
              <a:cs typeface="ＭＳ Ｐゴシック" pitchFamily="-112" charset="-128"/>
            </a:endParaRPr>
          </a:p>
        </p:txBody>
      </p:sp>
      <p:sp>
        <p:nvSpPr>
          <p:cNvPr id="8" name="textruta 7"/>
          <p:cNvSpPr txBox="1"/>
          <p:nvPr/>
        </p:nvSpPr>
        <p:spPr>
          <a:xfrm>
            <a:off x="3578299" y="3624181"/>
            <a:ext cx="1253290" cy="215444"/>
          </a:xfrm>
          <a:prstGeom prst="rect">
            <a:avLst/>
          </a:prstGeom>
          <a:noFill/>
        </p:spPr>
        <p:txBody>
          <a:bodyPr wrap="square" rtlCol="0">
            <a:spAutoFit/>
          </a:bodyPr>
          <a:lstStyle/>
          <a:p>
            <a:r>
              <a:rPr lang="sv-SE" sz="800" b="1" i="1" dirty="0" smtClean="0">
                <a:solidFill>
                  <a:prstClr val="black"/>
                </a:solidFill>
                <a:latin typeface="Arial"/>
                <a:cs typeface="Arial"/>
              </a:rPr>
              <a:t>Läsa, Skapa, Ändra</a:t>
            </a:r>
            <a:endParaRPr lang="sv-SE" sz="800" b="1" i="1" dirty="0">
              <a:solidFill>
                <a:prstClr val="black"/>
              </a:solidFill>
              <a:latin typeface="Arial"/>
              <a:cs typeface="Arial"/>
            </a:endParaRPr>
          </a:p>
        </p:txBody>
      </p:sp>
      <p:sp>
        <p:nvSpPr>
          <p:cNvPr id="9" name="Rektangel med rundade hörn 8"/>
          <p:cNvSpPr/>
          <p:nvPr/>
        </p:nvSpPr>
        <p:spPr>
          <a:xfrm>
            <a:off x="3656677" y="4498996"/>
            <a:ext cx="987230" cy="226533"/>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rgbClr val="FFFFFF"/>
                </a:solidFill>
                <a:latin typeface="Arial"/>
                <a:ea typeface="ＭＳ Ｐゴシック" pitchFamily="-112" charset="-128"/>
                <a:cs typeface="ＭＳ Ｐゴシック" pitchFamily="-112" charset="-128"/>
              </a:rPr>
              <a:t>Expediering</a:t>
            </a:r>
            <a:endParaRPr lang="sv-SE" sz="900" dirty="0">
              <a:solidFill>
                <a:srgbClr val="FFFFFF"/>
              </a:solidFill>
              <a:latin typeface="Arial"/>
              <a:ea typeface="ＭＳ Ｐゴシック" pitchFamily="-112" charset="-128"/>
              <a:cs typeface="ＭＳ Ｐゴシック" pitchFamily="-112" charset="-128"/>
            </a:endParaRPr>
          </a:p>
        </p:txBody>
      </p:sp>
      <p:sp>
        <p:nvSpPr>
          <p:cNvPr id="13" name="textruta 12"/>
          <p:cNvSpPr txBox="1"/>
          <p:nvPr/>
        </p:nvSpPr>
        <p:spPr>
          <a:xfrm>
            <a:off x="3870357" y="4731150"/>
            <a:ext cx="487626" cy="246221"/>
          </a:xfrm>
          <a:prstGeom prst="rect">
            <a:avLst/>
          </a:prstGeom>
          <a:noFill/>
        </p:spPr>
        <p:txBody>
          <a:bodyPr wrap="square" rtlCol="0">
            <a:spAutoFit/>
          </a:bodyPr>
          <a:lstStyle/>
          <a:p>
            <a:r>
              <a:rPr lang="sv-SE" sz="1000" b="1" dirty="0" smtClean="0">
                <a:solidFill>
                  <a:prstClr val="black"/>
                </a:solidFill>
                <a:latin typeface="Arial"/>
                <a:cs typeface="Arial"/>
              </a:rPr>
              <a:t>NOD</a:t>
            </a:r>
            <a:endParaRPr lang="sv-SE" sz="1000" b="1" dirty="0">
              <a:solidFill>
                <a:prstClr val="black"/>
              </a:solidFill>
              <a:latin typeface="Arial"/>
              <a:cs typeface="Arial"/>
            </a:endParaRPr>
          </a:p>
        </p:txBody>
      </p:sp>
      <p:sp>
        <p:nvSpPr>
          <p:cNvPr id="14" name="Rektangel med rundade hörn 13"/>
          <p:cNvSpPr/>
          <p:nvPr/>
        </p:nvSpPr>
        <p:spPr>
          <a:xfrm rot="16200000">
            <a:off x="5630435" y="4038424"/>
            <a:ext cx="1290902" cy="1245504"/>
          </a:xfrm>
          <a:prstGeom prst="roundRect">
            <a:avLst>
              <a:gd name="adj" fmla="val 8787"/>
            </a:avLst>
          </a:prstGeom>
          <a:ln>
            <a:solidFill>
              <a:schemeClr val="bg1">
                <a:lumMod val="50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endParaRPr lang="sv-SE" sz="900" dirty="0">
              <a:solidFill>
                <a:srgbClr val="382819"/>
              </a:solidFill>
              <a:latin typeface="Arial"/>
              <a:ea typeface="ＭＳ Ｐゴシック" pitchFamily="-112" charset="-128"/>
              <a:cs typeface="ＭＳ Ｐゴシック" pitchFamily="-112" charset="-128"/>
            </a:endParaRPr>
          </a:p>
        </p:txBody>
      </p:sp>
      <p:sp>
        <p:nvSpPr>
          <p:cNvPr id="15" name="textruta 14"/>
          <p:cNvSpPr txBox="1"/>
          <p:nvPr/>
        </p:nvSpPr>
        <p:spPr>
          <a:xfrm>
            <a:off x="5658720" y="5029467"/>
            <a:ext cx="1494940" cy="246221"/>
          </a:xfrm>
          <a:prstGeom prst="rect">
            <a:avLst/>
          </a:prstGeom>
          <a:noFill/>
        </p:spPr>
        <p:txBody>
          <a:bodyPr wrap="square" rtlCol="0">
            <a:spAutoFit/>
          </a:bodyPr>
          <a:lstStyle/>
          <a:p>
            <a:r>
              <a:rPr lang="sv-SE" sz="1000" dirty="0" smtClean="0">
                <a:solidFill>
                  <a:prstClr val="black"/>
                </a:solidFill>
                <a:latin typeface="Arial"/>
                <a:cs typeface="Arial"/>
              </a:rPr>
              <a:t>Receptdepå, LF</a:t>
            </a:r>
            <a:endParaRPr lang="sv-SE" sz="1000" dirty="0">
              <a:solidFill>
                <a:prstClr val="black"/>
              </a:solidFill>
              <a:latin typeface="Arial"/>
              <a:cs typeface="Arial"/>
            </a:endParaRPr>
          </a:p>
        </p:txBody>
      </p:sp>
      <p:sp>
        <p:nvSpPr>
          <p:cNvPr id="17" name="Rektangel med rundade hörn 22"/>
          <p:cNvSpPr/>
          <p:nvPr/>
        </p:nvSpPr>
        <p:spPr>
          <a:xfrm>
            <a:off x="2872665" y="2305403"/>
            <a:ext cx="78791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r>
              <a:rPr lang="sv-SE" sz="900" dirty="0">
                <a:solidFill>
                  <a:srgbClr val="382819"/>
                </a:solidFill>
                <a:latin typeface="Arial" charset="0"/>
                <a:ea typeface="ＭＳ Ｐゴシック" charset="0"/>
                <a:cs typeface="ＭＳ Ｐゴシック" charset="0"/>
              </a:rPr>
              <a:t/>
            </a:r>
            <a:br>
              <a:rPr lang="sv-SE" sz="900" dirty="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A</a:t>
            </a:r>
            <a:endParaRPr lang="sv-SE" sz="900" dirty="0">
              <a:solidFill>
                <a:srgbClr val="382819"/>
              </a:solidFill>
              <a:latin typeface="Arial" charset="0"/>
              <a:ea typeface="ＭＳ Ｐゴシック" charset="0"/>
              <a:cs typeface="ＭＳ Ｐゴシック" charset="0"/>
            </a:endParaRPr>
          </a:p>
        </p:txBody>
      </p:sp>
      <p:grpSp>
        <p:nvGrpSpPr>
          <p:cNvPr id="20" name="Grupp 19"/>
          <p:cNvGrpSpPr/>
          <p:nvPr/>
        </p:nvGrpSpPr>
        <p:grpSpPr>
          <a:xfrm>
            <a:off x="4554981" y="1658378"/>
            <a:ext cx="854378" cy="667534"/>
            <a:chOff x="7118528" y="949686"/>
            <a:chExt cx="854378" cy="667534"/>
          </a:xfrm>
        </p:grpSpPr>
        <p:pic>
          <p:nvPicPr>
            <p:cNvPr id="21" name="Picture 5" descr="C:\Users\svrlwi\AppData\Local\Microsoft\Windows\Temporary Internet Files\Content.IE5\33SAVMNN\MC90043394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126349" y="949686"/>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22" name="textruta 21"/>
            <p:cNvSpPr txBox="1"/>
            <p:nvPr/>
          </p:nvSpPr>
          <p:spPr>
            <a:xfrm>
              <a:off x="7118528" y="1401776"/>
              <a:ext cx="854378" cy="215444"/>
            </a:xfrm>
            <a:prstGeom prst="rect">
              <a:avLst/>
            </a:prstGeom>
            <a:noFill/>
          </p:spPr>
          <p:txBody>
            <a:bodyPr wrap="square" rtlCol="0">
              <a:spAutoFit/>
            </a:bodyPr>
            <a:lstStyle/>
            <a:p>
              <a:r>
                <a:rPr lang="sv-SE" sz="800" i="1" dirty="0" smtClean="0">
                  <a:solidFill>
                    <a:prstClr val="black"/>
                  </a:solidFill>
                  <a:latin typeface="Calibri"/>
                  <a:cs typeface="Arial" pitchFamily="34" charset="0"/>
                </a:rPr>
                <a:t>invånare</a:t>
              </a:r>
              <a:endParaRPr lang="sv-SE" sz="800" i="1" dirty="0">
                <a:solidFill>
                  <a:prstClr val="black"/>
                </a:solidFill>
                <a:latin typeface="Calibri"/>
                <a:cs typeface="Arial" pitchFamily="34" charset="0"/>
              </a:endParaRPr>
            </a:p>
          </p:txBody>
        </p:sp>
        <p:pic>
          <p:nvPicPr>
            <p:cNvPr id="23" name="Bildobjekt 22" descr="smart phone.jpeg"/>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ackgroundRemoval t="521" b="99479" l="0" r="100000"/>
                      </a14:imgEffect>
                    </a14:imgLayer>
                  </a14:imgProps>
                </a:ext>
                <a:ext uri="{28A0092B-C50C-407E-A947-70E740481C1C}">
                  <a14:useLocalDpi xmlns:a14="http://schemas.microsoft.com/office/drawing/2010/main"/>
                </a:ext>
              </a:extLst>
            </a:blip>
            <a:srcRect/>
            <a:stretch/>
          </p:blipFill>
          <p:spPr>
            <a:xfrm>
              <a:off x="7649613" y="1007339"/>
              <a:ext cx="145775" cy="251924"/>
            </a:xfrm>
            <a:prstGeom prst="rect">
              <a:avLst/>
            </a:prstGeom>
          </p:spPr>
        </p:pic>
      </p:grpSp>
      <p:grpSp>
        <p:nvGrpSpPr>
          <p:cNvPr id="24" name="Grupp 23"/>
          <p:cNvGrpSpPr/>
          <p:nvPr/>
        </p:nvGrpSpPr>
        <p:grpSpPr>
          <a:xfrm>
            <a:off x="2591908" y="1696007"/>
            <a:ext cx="854378" cy="585893"/>
            <a:chOff x="2178795" y="1012742"/>
            <a:chExt cx="854378" cy="585893"/>
          </a:xfrm>
        </p:grpSpPr>
        <p:pic>
          <p:nvPicPr>
            <p:cNvPr id="25" name="Picture 159" descr="Dator med kortläsare"/>
            <p:cNvPicPr>
              <a:picLocks noChangeAspect="1" noChangeArrowheads="1"/>
            </p:cNvPicPr>
            <p:nvPr/>
          </p:nvPicPr>
          <p:blipFill>
            <a:blip r:embed="rId5"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Users\svrlwi\AppData\Local\Microsoft\Windows\Temporary Internet Files\Content.IE5\51G1LSV1\MC900433936[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27" name="textruta 26"/>
            <p:cNvSpPr txBox="1"/>
            <p:nvPr/>
          </p:nvSpPr>
          <p:spPr>
            <a:xfrm>
              <a:off x="2178795" y="1383191"/>
              <a:ext cx="854378" cy="215444"/>
            </a:xfrm>
            <a:prstGeom prst="rect">
              <a:avLst/>
            </a:prstGeom>
            <a:noFill/>
          </p:spPr>
          <p:txBody>
            <a:bodyPr wrap="square" rtlCol="0">
              <a:spAutoFit/>
            </a:bodyPr>
            <a:lstStyle/>
            <a:p>
              <a:r>
                <a:rPr lang="sv-SE" sz="800" i="1" dirty="0" smtClean="0">
                  <a:solidFill>
                    <a:prstClr val="black"/>
                  </a:solidFill>
                  <a:latin typeface="Calibri"/>
                  <a:cs typeface="Arial" pitchFamily="34" charset="0"/>
                </a:rPr>
                <a:t>vårdpersonal</a:t>
              </a:r>
              <a:endParaRPr lang="sv-SE" sz="800" i="1" dirty="0">
                <a:solidFill>
                  <a:prstClr val="black"/>
                </a:solidFill>
                <a:latin typeface="Calibri"/>
                <a:cs typeface="Arial" pitchFamily="34" charset="0"/>
              </a:endParaRPr>
            </a:p>
          </p:txBody>
        </p:sp>
      </p:grpSp>
      <p:grpSp>
        <p:nvGrpSpPr>
          <p:cNvPr id="28" name="Grupp 27"/>
          <p:cNvGrpSpPr/>
          <p:nvPr/>
        </p:nvGrpSpPr>
        <p:grpSpPr>
          <a:xfrm rot="20886055">
            <a:off x="3374231" y="3051685"/>
            <a:ext cx="167139" cy="334568"/>
            <a:chOff x="6321274" y="3150312"/>
            <a:chExt cx="167139" cy="334568"/>
          </a:xfrm>
        </p:grpSpPr>
        <p:cxnSp>
          <p:nvCxnSpPr>
            <p:cNvPr id="29"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30"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31" name="textruta 30"/>
          <p:cNvSpPr txBox="1"/>
          <p:nvPr/>
        </p:nvSpPr>
        <p:spPr>
          <a:xfrm>
            <a:off x="2041420" y="3070905"/>
            <a:ext cx="891459" cy="230832"/>
          </a:xfrm>
          <a:prstGeom prst="rect">
            <a:avLst/>
          </a:prstGeom>
          <a:noFill/>
        </p:spPr>
        <p:txBody>
          <a:bodyPr wrap="square" rtlCol="0">
            <a:spAutoFit/>
          </a:bodyPr>
          <a:lstStyle/>
          <a:p>
            <a:r>
              <a:rPr lang="sv-SE" sz="900" b="1" dirty="0">
                <a:solidFill>
                  <a:srgbClr val="382819"/>
                </a:solidFill>
                <a:latin typeface="Arial" pitchFamily="-112" charset="0"/>
                <a:ea typeface="Times New Roman" pitchFamily="-112" charset="0"/>
                <a:cs typeface="Times New Roman" pitchFamily="-112" charset="0"/>
              </a:rPr>
              <a:t>Vårdcentral</a:t>
            </a:r>
            <a:endParaRPr lang="sv-SE" sz="900" i="1" dirty="0">
              <a:solidFill>
                <a:prstClr val="black"/>
              </a:solidFill>
              <a:latin typeface="Arial"/>
              <a:cs typeface="Arial"/>
            </a:endParaRPr>
          </a:p>
        </p:txBody>
      </p:sp>
      <p:grpSp>
        <p:nvGrpSpPr>
          <p:cNvPr id="32" name="Grupp 31"/>
          <p:cNvGrpSpPr/>
          <p:nvPr/>
        </p:nvGrpSpPr>
        <p:grpSpPr>
          <a:xfrm rot="6360000">
            <a:off x="5193501" y="4289198"/>
            <a:ext cx="167139" cy="334568"/>
            <a:chOff x="6321274" y="3150312"/>
            <a:chExt cx="167139" cy="334568"/>
          </a:xfrm>
        </p:grpSpPr>
        <p:cxnSp>
          <p:nvCxnSpPr>
            <p:cNvPr id="33"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34"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35" name="textruta 34"/>
          <p:cNvSpPr txBox="1"/>
          <p:nvPr/>
        </p:nvSpPr>
        <p:spPr>
          <a:xfrm>
            <a:off x="4881964" y="3922512"/>
            <a:ext cx="793907" cy="369332"/>
          </a:xfrm>
          <a:prstGeom prst="rect">
            <a:avLst/>
          </a:prstGeom>
          <a:noFill/>
        </p:spPr>
        <p:txBody>
          <a:bodyPr wrap="square" rtlCol="0">
            <a:spAutoFit/>
          </a:bodyPr>
          <a:lstStyle/>
          <a:p>
            <a:r>
              <a:rPr lang="sv-SE" sz="900" i="1" dirty="0" smtClean="0">
                <a:solidFill>
                  <a:prstClr val="black"/>
                </a:solidFill>
                <a:latin typeface="Arial"/>
                <a:cs typeface="Arial"/>
              </a:rPr>
              <a:t>recept</a:t>
            </a:r>
          </a:p>
          <a:p>
            <a:r>
              <a:rPr lang="sv-SE" sz="900" i="1" dirty="0">
                <a:solidFill>
                  <a:prstClr val="black"/>
                </a:solidFill>
                <a:latin typeface="Arial"/>
                <a:cs typeface="Arial"/>
              </a:rPr>
              <a:t>expediering</a:t>
            </a:r>
          </a:p>
        </p:txBody>
      </p:sp>
      <p:sp>
        <p:nvSpPr>
          <p:cNvPr id="40" name="Rektangel med rundade hörn 22"/>
          <p:cNvSpPr/>
          <p:nvPr/>
        </p:nvSpPr>
        <p:spPr>
          <a:xfrm>
            <a:off x="1536501" y="3558988"/>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B</a:t>
            </a:r>
            <a:endParaRPr lang="sv-SE" sz="900" dirty="0">
              <a:solidFill>
                <a:srgbClr val="382819"/>
              </a:solidFill>
              <a:latin typeface="Arial" charset="0"/>
              <a:ea typeface="ＭＳ Ｐゴシック" charset="0"/>
              <a:cs typeface="ＭＳ Ｐゴシック" charset="0"/>
            </a:endParaRPr>
          </a:p>
        </p:txBody>
      </p:sp>
      <p:grpSp>
        <p:nvGrpSpPr>
          <p:cNvPr id="41" name="Grupp 40"/>
          <p:cNvGrpSpPr/>
          <p:nvPr/>
        </p:nvGrpSpPr>
        <p:grpSpPr>
          <a:xfrm>
            <a:off x="1235424" y="2973094"/>
            <a:ext cx="854378" cy="585893"/>
            <a:chOff x="2178795" y="1012742"/>
            <a:chExt cx="854378" cy="585893"/>
          </a:xfrm>
        </p:grpSpPr>
        <p:pic>
          <p:nvPicPr>
            <p:cNvPr id="42" name="Picture 159" descr="Dator med kortläsare"/>
            <p:cNvPicPr>
              <a:picLocks noChangeAspect="1" noChangeArrowheads="1"/>
            </p:cNvPicPr>
            <p:nvPr/>
          </p:nvPicPr>
          <p:blipFill>
            <a:blip r:embed="rId5"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2" descr="C:\Users\svrlwi\AppData\Local\Microsoft\Windows\Temporary Internet Files\Content.IE5\51G1LSV1\MC900433936[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44" name="textruta 43"/>
            <p:cNvSpPr txBox="1"/>
            <p:nvPr/>
          </p:nvSpPr>
          <p:spPr>
            <a:xfrm>
              <a:off x="2178795" y="1383191"/>
              <a:ext cx="854378" cy="215444"/>
            </a:xfrm>
            <a:prstGeom prst="rect">
              <a:avLst/>
            </a:prstGeom>
            <a:noFill/>
          </p:spPr>
          <p:txBody>
            <a:bodyPr wrap="square" rtlCol="0">
              <a:spAutoFit/>
            </a:bodyPr>
            <a:lstStyle/>
            <a:p>
              <a:r>
                <a:rPr lang="sv-SE" sz="800" i="1" dirty="0" smtClean="0">
                  <a:solidFill>
                    <a:prstClr val="black"/>
                  </a:solidFill>
                  <a:latin typeface="Calibri"/>
                  <a:cs typeface="Arial" pitchFamily="34" charset="0"/>
                </a:rPr>
                <a:t>vårdpersonal</a:t>
              </a:r>
              <a:endParaRPr lang="sv-SE" sz="800" i="1" dirty="0">
                <a:solidFill>
                  <a:prstClr val="black"/>
                </a:solidFill>
                <a:latin typeface="Calibri"/>
                <a:cs typeface="Arial" pitchFamily="34" charset="0"/>
              </a:endParaRPr>
            </a:p>
          </p:txBody>
        </p:sp>
      </p:grpSp>
      <p:sp>
        <p:nvSpPr>
          <p:cNvPr id="52" name="Rektangel med rundade hörn 22"/>
          <p:cNvSpPr/>
          <p:nvPr/>
        </p:nvSpPr>
        <p:spPr>
          <a:xfrm>
            <a:off x="1548891" y="5192174"/>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Portal</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Vårdgivaringång</a:t>
            </a:r>
            <a:br>
              <a:rPr lang="sv-SE" sz="900" dirty="0" smtClean="0">
                <a:solidFill>
                  <a:srgbClr val="382819"/>
                </a:solidFill>
                <a:latin typeface="Arial" charset="0"/>
                <a:ea typeface="ＭＳ Ｐゴシック" charset="0"/>
                <a:cs typeface="ＭＳ Ｐゴシック" charset="0"/>
              </a:rPr>
            </a:br>
            <a:r>
              <a:rPr lang="sv-SE" sz="900" i="1" dirty="0" smtClean="0">
                <a:solidFill>
                  <a:srgbClr val="382819"/>
                </a:solidFill>
                <a:latin typeface="Arial" charset="0"/>
                <a:ea typeface="ＭＳ Ｐゴシック" charset="0"/>
                <a:cs typeface="ＭＳ Ｐゴシック" charset="0"/>
              </a:rPr>
              <a:t>Läkemedel</a:t>
            </a:r>
            <a:endParaRPr lang="sv-SE" sz="900" i="1" dirty="0">
              <a:solidFill>
                <a:srgbClr val="382819"/>
              </a:solidFill>
              <a:latin typeface="Arial" charset="0"/>
              <a:ea typeface="ＭＳ Ｐゴシック" charset="0"/>
              <a:cs typeface="ＭＳ Ｐゴシック" charset="0"/>
            </a:endParaRPr>
          </a:p>
        </p:txBody>
      </p:sp>
      <p:grpSp>
        <p:nvGrpSpPr>
          <p:cNvPr id="53" name="Grupp 52"/>
          <p:cNvGrpSpPr/>
          <p:nvPr/>
        </p:nvGrpSpPr>
        <p:grpSpPr>
          <a:xfrm>
            <a:off x="1425437" y="4540051"/>
            <a:ext cx="854378" cy="585893"/>
            <a:chOff x="2178795" y="1012742"/>
            <a:chExt cx="854378" cy="585893"/>
          </a:xfrm>
        </p:grpSpPr>
        <p:pic>
          <p:nvPicPr>
            <p:cNvPr id="54" name="Picture 159" descr="Dator med kortläsare"/>
            <p:cNvPicPr>
              <a:picLocks noChangeAspect="1" noChangeArrowheads="1"/>
            </p:cNvPicPr>
            <p:nvPr/>
          </p:nvPicPr>
          <p:blipFill>
            <a:blip r:embed="rId5"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2" descr="C:\Users\svrlwi\AppData\Local\Microsoft\Windows\Temporary Internet Files\Content.IE5\51G1LSV1\MC900433936[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56" name="textruta 55"/>
            <p:cNvSpPr txBox="1"/>
            <p:nvPr/>
          </p:nvSpPr>
          <p:spPr>
            <a:xfrm>
              <a:off x="2178795" y="1383191"/>
              <a:ext cx="854378" cy="215444"/>
            </a:xfrm>
            <a:prstGeom prst="rect">
              <a:avLst/>
            </a:prstGeom>
            <a:noFill/>
          </p:spPr>
          <p:txBody>
            <a:bodyPr wrap="square" rtlCol="0">
              <a:spAutoFit/>
            </a:bodyPr>
            <a:lstStyle/>
            <a:p>
              <a:r>
                <a:rPr lang="sv-SE" sz="800" i="1" dirty="0" smtClean="0">
                  <a:solidFill>
                    <a:prstClr val="black"/>
                  </a:solidFill>
                  <a:latin typeface="Calibri"/>
                  <a:cs typeface="Arial" pitchFamily="34" charset="0"/>
                </a:rPr>
                <a:t>vårdpersonal</a:t>
              </a:r>
              <a:endParaRPr lang="sv-SE" sz="800" i="1" dirty="0">
                <a:solidFill>
                  <a:prstClr val="black"/>
                </a:solidFill>
                <a:latin typeface="Calibri"/>
                <a:cs typeface="Arial" pitchFamily="34" charset="0"/>
              </a:endParaRPr>
            </a:p>
          </p:txBody>
        </p:sp>
      </p:grpSp>
      <p:grpSp>
        <p:nvGrpSpPr>
          <p:cNvPr id="57" name="Grupp 56"/>
          <p:cNvGrpSpPr/>
          <p:nvPr/>
        </p:nvGrpSpPr>
        <p:grpSpPr>
          <a:xfrm rot="6660000">
            <a:off x="2895118" y="3833683"/>
            <a:ext cx="167139" cy="334568"/>
            <a:chOff x="6321274" y="3150312"/>
            <a:chExt cx="167139" cy="334568"/>
          </a:xfrm>
        </p:grpSpPr>
        <p:cxnSp>
          <p:nvCxnSpPr>
            <p:cNvPr id="58"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59"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cxnSp>
        <p:nvCxnSpPr>
          <p:cNvPr id="61" name="Rak pil 59"/>
          <p:cNvCxnSpPr/>
          <p:nvPr/>
        </p:nvCxnSpPr>
        <p:spPr>
          <a:xfrm rot="3900000" flipV="1">
            <a:off x="2949217" y="4687878"/>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63" name="textruta 62"/>
          <p:cNvSpPr txBox="1"/>
          <p:nvPr/>
        </p:nvSpPr>
        <p:spPr>
          <a:xfrm>
            <a:off x="3363984" y="1696007"/>
            <a:ext cx="891459" cy="230832"/>
          </a:xfrm>
          <a:prstGeom prst="rect">
            <a:avLst/>
          </a:prstGeom>
          <a:noFill/>
        </p:spPr>
        <p:txBody>
          <a:bodyPr wrap="square" rtlCol="0">
            <a:spAutoFit/>
          </a:bodyPr>
          <a:lstStyle/>
          <a:p>
            <a:r>
              <a:rPr lang="sv-SE" sz="900" b="1" dirty="0" smtClean="0">
                <a:solidFill>
                  <a:srgbClr val="382819"/>
                </a:solidFill>
                <a:latin typeface="Arial" pitchFamily="-112" charset="0"/>
                <a:ea typeface="Times New Roman" pitchFamily="-112" charset="0"/>
                <a:cs typeface="Times New Roman" pitchFamily="-112" charset="0"/>
              </a:rPr>
              <a:t>Sjukhus</a:t>
            </a:r>
            <a:endParaRPr lang="sv-SE" sz="900" dirty="0">
              <a:solidFill>
                <a:prstClr val="black"/>
              </a:solidFill>
              <a:latin typeface="Arial"/>
              <a:cs typeface="Arial"/>
            </a:endParaRPr>
          </a:p>
        </p:txBody>
      </p:sp>
      <p:sp>
        <p:nvSpPr>
          <p:cNvPr id="64" name="textruta 63"/>
          <p:cNvSpPr txBox="1"/>
          <p:nvPr/>
        </p:nvSpPr>
        <p:spPr>
          <a:xfrm>
            <a:off x="2063970" y="4291844"/>
            <a:ext cx="891459" cy="369332"/>
          </a:xfrm>
          <a:prstGeom prst="rect">
            <a:avLst/>
          </a:prstGeom>
          <a:noFill/>
        </p:spPr>
        <p:txBody>
          <a:bodyPr wrap="square" rtlCol="0">
            <a:spAutoFit/>
          </a:bodyPr>
          <a:lstStyle/>
          <a:p>
            <a:r>
              <a:rPr lang="sv-SE" sz="900" b="1" dirty="0">
                <a:solidFill>
                  <a:srgbClr val="382819"/>
                </a:solidFill>
                <a:latin typeface="Arial" pitchFamily="-112" charset="0"/>
                <a:ea typeface="Times New Roman" pitchFamily="-112" charset="0"/>
                <a:cs typeface="Times New Roman" pitchFamily="-112" charset="0"/>
              </a:rPr>
              <a:t>Specialist-</a:t>
            </a:r>
            <a:br>
              <a:rPr lang="sv-SE" sz="900" b="1" dirty="0">
                <a:solidFill>
                  <a:srgbClr val="382819"/>
                </a:solidFill>
                <a:latin typeface="Arial" pitchFamily="-112" charset="0"/>
                <a:ea typeface="Times New Roman" pitchFamily="-112" charset="0"/>
                <a:cs typeface="Times New Roman" pitchFamily="-112" charset="0"/>
              </a:rPr>
            </a:br>
            <a:r>
              <a:rPr lang="sv-SE" sz="900" b="1" dirty="0" smtClean="0">
                <a:solidFill>
                  <a:srgbClr val="382819"/>
                </a:solidFill>
                <a:latin typeface="Arial" pitchFamily="-112" charset="0"/>
                <a:ea typeface="Times New Roman" pitchFamily="-112" charset="0"/>
                <a:cs typeface="Times New Roman" pitchFamily="-112" charset="0"/>
              </a:rPr>
              <a:t>mottagning</a:t>
            </a:r>
            <a:endParaRPr lang="sv-SE" sz="900" b="1" dirty="0">
              <a:solidFill>
                <a:srgbClr val="382819"/>
              </a:solidFill>
              <a:latin typeface="Arial" pitchFamily="-112" charset="0"/>
              <a:ea typeface="Times New Roman" pitchFamily="-112" charset="0"/>
              <a:cs typeface="Times New Roman" pitchFamily="-112" charset="0"/>
            </a:endParaRPr>
          </a:p>
        </p:txBody>
      </p:sp>
      <p:sp>
        <p:nvSpPr>
          <p:cNvPr id="67" name="Rektangel med rundade hörn 66"/>
          <p:cNvSpPr/>
          <p:nvPr/>
        </p:nvSpPr>
        <p:spPr>
          <a:xfrm>
            <a:off x="5781440" y="4521525"/>
            <a:ext cx="838833" cy="256379"/>
          </a:xfrm>
          <a:prstGeom prst="roundRect">
            <a:avLst>
              <a:gd name="adj" fmla="val 5926"/>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smtClean="0">
                <a:solidFill>
                  <a:srgbClr val="382819"/>
                </a:solidFill>
                <a:latin typeface="Arial"/>
                <a:ea typeface="ＭＳ Ｐゴシック" pitchFamily="-112" charset="-128"/>
                <a:cs typeface="ＭＳ Ｐゴシック" pitchFamily="-112" charset="-128"/>
              </a:rPr>
              <a:t>Expediering</a:t>
            </a:r>
            <a:endParaRPr lang="sv-SE" sz="900" dirty="0">
              <a:solidFill>
                <a:srgbClr val="382819"/>
              </a:solidFill>
              <a:latin typeface="Arial"/>
              <a:ea typeface="ＭＳ Ｐゴシック" pitchFamily="-112" charset="-128"/>
              <a:cs typeface="ＭＳ Ｐゴシック" pitchFamily="-112" charset="-128"/>
            </a:endParaRPr>
          </a:p>
        </p:txBody>
      </p:sp>
      <p:sp>
        <p:nvSpPr>
          <p:cNvPr id="68" name="Rektangel med rundade hörn 67"/>
          <p:cNvSpPr/>
          <p:nvPr/>
        </p:nvSpPr>
        <p:spPr>
          <a:xfrm>
            <a:off x="5781440" y="4225381"/>
            <a:ext cx="838833" cy="283811"/>
          </a:xfrm>
          <a:prstGeom prst="roundRect">
            <a:avLst>
              <a:gd name="adj" fmla="val 9033"/>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smtClean="0">
                <a:solidFill>
                  <a:srgbClr val="382819"/>
                </a:solidFill>
                <a:latin typeface="Arial"/>
                <a:ea typeface="ＭＳ Ｐゴシック" pitchFamily="-112" charset="-128"/>
                <a:cs typeface="ＭＳ Ｐゴシック" pitchFamily="-112" charset="-128"/>
              </a:rPr>
              <a:t>Recept </a:t>
            </a:r>
            <a:endParaRPr lang="sv-SE" sz="900" dirty="0">
              <a:solidFill>
                <a:srgbClr val="382819"/>
              </a:solidFill>
              <a:latin typeface="Arial"/>
              <a:ea typeface="ＭＳ Ｐゴシック" pitchFamily="-112" charset="-128"/>
              <a:cs typeface="ＭＳ Ｐゴシック" pitchFamily="-112" charset="-128"/>
            </a:endParaRPr>
          </a:p>
        </p:txBody>
      </p:sp>
      <p:sp>
        <p:nvSpPr>
          <p:cNvPr id="71" name="Rektangel med rundade hörn 22"/>
          <p:cNvSpPr/>
          <p:nvPr/>
        </p:nvSpPr>
        <p:spPr>
          <a:xfrm>
            <a:off x="4328119" y="2311337"/>
            <a:ext cx="78791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a:solidFill>
                  <a:srgbClr val="382819"/>
                </a:solidFill>
                <a:latin typeface="Arial" charset="0"/>
                <a:ea typeface="ＭＳ Ｐゴシック" charset="0"/>
                <a:cs typeface="ＭＳ Ｐゴシック" charset="0"/>
              </a:rPr>
              <a:t>Journalen</a:t>
            </a:r>
            <a:br>
              <a:rPr lang="sv-SE" sz="900" dirty="0">
                <a:solidFill>
                  <a:srgbClr val="382819"/>
                </a:solidFill>
                <a:latin typeface="Arial" charset="0"/>
                <a:ea typeface="ＭＳ Ｐゴシック" charset="0"/>
                <a:cs typeface="ＭＳ Ｐゴシック" charset="0"/>
              </a:rPr>
            </a:br>
            <a:r>
              <a:rPr lang="sv-SE" sz="900" i="1" dirty="0" smtClean="0">
                <a:solidFill>
                  <a:srgbClr val="382819"/>
                </a:solidFill>
                <a:latin typeface="Arial" charset="0"/>
                <a:ea typeface="ＭＳ Ｐゴシック" charset="0"/>
                <a:cs typeface="ＭＳ Ｐゴシック" charset="0"/>
              </a:rPr>
              <a:t>Mina</a:t>
            </a:r>
            <a:r>
              <a:rPr lang="sv-SE" sz="900" i="1" dirty="0">
                <a:solidFill>
                  <a:srgbClr val="382819"/>
                </a:solidFill>
                <a:latin typeface="Arial" charset="0"/>
                <a:ea typeface="ＭＳ Ｐゴシック" charset="0"/>
                <a:cs typeface="ＭＳ Ｐゴシック" charset="0"/>
              </a:rPr>
              <a:t/>
            </a:r>
            <a:br>
              <a:rPr lang="sv-SE" sz="900" i="1" dirty="0">
                <a:solidFill>
                  <a:srgbClr val="382819"/>
                </a:solidFill>
                <a:latin typeface="Arial" charset="0"/>
                <a:ea typeface="ＭＳ Ｐゴシック" charset="0"/>
                <a:cs typeface="ＭＳ Ｐゴシック" charset="0"/>
              </a:rPr>
            </a:br>
            <a:r>
              <a:rPr lang="sv-SE" sz="900" i="1" dirty="0" smtClean="0">
                <a:solidFill>
                  <a:srgbClr val="382819"/>
                </a:solidFill>
                <a:latin typeface="Arial" charset="0"/>
                <a:ea typeface="ＭＳ Ｐゴシック" charset="0"/>
                <a:cs typeface="ＭＳ Ｐゴシック" charset="0"/>
              </a:rPr>
              <a:t>läkemedel</a:t>
            </a:r>
            <a:endParaRPr lang="sv-SE" sz="900" i="1" dirty="0">
              <a:solidFill>
                <a:srgbClr val="382819"/>
              </a:solidFill>
              <a:latin typeface="Arial" charset="0"/>
              <a:ea typeface="ＭＳ Ｐゴシック" charset="0"/>
              <a:cs typeface="ＭＳ Ｐゴシック" charset="0"/>
            </a:endParaRPr>
          </a:p>
        </p:txBody>
      </p:sp>
      <p:sp>
        <p:nvSpPr>
          <p:cNvPr id="85" name="textruta 84"/>
          <p:cNvSpPr txBox="1"/>
          <p:nvPr/>
        </p:nvSpPr>
        <p:spPr>
          <a:xfrm>
            <a:off x="8020851" y="4016076"/>
            <a:ext cx="854378" cy="338554"/>
          </a:xfrm>
          <a:prstGeom prst="rect">
            <a:avLst/>
          </a:prstGeom>
          <a:noFill/>
        </p:spPr>
        <p:txBody>
          <a:bodyPr wrap="square" rtlCol="0">
            <a:spAutoFit/>
          </a:bodyPr>
          <a:lstStyle/>
          <a:p>
            <a:r>
              <a:rPr lang="sv-SE" sz="800" i="1" dirty="0" smtClean="0">
                <a:solidFill>
                  <a:prstClr val="black"/>
                </a:solidFill>
                <a:latin typeface="Calibri"/>
                <a:cs typeface="Arial" pitchFamily="34" charset="0"/>
              </a:rPr>
              <a:t>farmaceut</a:t>
            </a:r>
          </a:p>
          <a:p>
            <a:r>
              <a:rPr lang="sv-SE" sz="800" i="1" dirty="0" smtClean="0">
                <a:solidFill>
                  <a:prstClr val="black"/>
                </a:solidFill>
                <a:latin typeface="Calibri"/>
                <a:cs typeface="Arial" pitchFamily="34" charset="0"/>
              </a:rPr>
              <a:t>på apotek</a:t>
            </a:r>
            <a:endParaRPr lang="sv-SE" sz="800" i="1" dirty="0">
              <a:solidFill>
                <a:prstClr val="black"/>
              </a:solidFill>
              <a:latin typeface="Calibri"/>
              <a:cs typeface="Arial" pitchFamily="34" charset="0"/>
            </a:endParaRPr>
          </a:p>
        </p:txBody>
      </p:sp>
      <p:sp>
        <p:nvSpPr>
          <p:cNvPr id="87" name="Rektangel med rundade hörn 22"/>
          <p:cNvSpPr/>
          <p:nvPr/>
        </p:nvSpPr>
        <p:spPr>
          <a:xfrm>
            <a:off x="7268188" y="3757207"/>
            <a:ext cx="787909"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Expedierings-</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system</a:t>
            </a:r>
            <a:endParaRPr lang="sv-SE" sz="900" dirty="0">
              <a:solidFill>
                <a:srgbClr val="382819"/>
              </a:solidFill>
              <a:latin typeface="Arial" charset="0"/>
              <a:ea typeface="ＭＳ Ｐゴシック" charset="0"/>
              <a:cs typeface="ＭＳ Ｐゴシック" charset="0"/>
            </a:endParaRPr>
          </a:p>
        </p:txBody>
      </p:sp>
      <p:grpSp>
        <p:nvGrpSpPr>
          <p:cNvPr id="88" name="Grupp 87"/>
          <p:cNvGrpSpPr/>
          <p:nvPr/>
        </p:nvGrpSpPr>
        <p:grpSpPr>
          <a:xfrm rot="3900000">
            <a:off x="7038858" y="4143346"/>
            <a:ext cx="167139" cy="334568"/>
            <a:chOff x="6321274" y="3150312"/>
            <a:chExt cx="167139" cy="334568"/>
          </a:xfrm>
        </p:grpSpPr>
        <p:cxnSp>
          <p:nvCxnSpPr>
            <p:cNvPr id="89"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90"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pic>
        <p:nvPicPr>
          <p:cNvPr id="93" name="Picture 5" descr="C:\Users\svrlwi\AppData\Local\Microsoft\Windows\Temporary Internet Files\Content.IE5\33SAVMNN\MC900433943[1].png"/>
          <p:cNvPicPr>
            <a:picLocks noChangeAspect="1" noChangeArrowheads="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8083168" y="3563864"/>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18" name="Dokument 17"/>
          <p:cNvSpPr/>
          <p:nvPr/>
        </p:nvSpPr>
        <p:spPr bwMode="auto">
          <a:xfrm>
            <a:off x="1745846" y="2008911"/>
            <a:ext cx="827364"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Aktuell läkemedelslista</a:t>
            </a:r>
            <a:endParaRPr lang="sv-SE" sz="900" dirty="0">
              <a:solidFill>
                <a:srgbClr val="382819"/>
              </a:solidFill>
              <a:latin typeface="Arial Narrow"/>
              <a:cs typeface="Arial Narrow"/>
            </a:endParaRPr>
          </a:p>
        </p:txBody>
      </p:sp>
      <p:sp>
        <p:nvSpPr>
          <p:cNvPr id="65" name="Dokument 64"/>
          <p:cNvSpPr/>
          <p:nvPr/>
        </p:nvSpPr>
        <p:spPr bwMode="auto">
          <a:xfrm>
            <a:off x="442458" y="3177931"/>
            <a:ext cx="827364"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Aktuell läkemedelslista</a:t>
            </a:r>
            <a:endParaRPr lang="sv-SE" sz="900" dirty="0">
              <a:solidFill>
                <a:srgbClr val="382819"/>
              </a:solidFill>
              <a:latin typeface="Arial Narrow"/>
              <a:cs typeface="Arial Narrow"/>
            </a:endParaRPr>
          </a:p>
        </p:txBody>
      </p:sp>
      <p:sp>
        <p:nvSpPr>
          <p:cNvPr id="66" name="Dokument 65"/>
          <p:cNvSpPr/>
          <p:nvPr/>
        </p:nvSpPr>
        <p:spPr bwMode="auto">
          <a:xfrm>
            <a:off x="606727" y="4750405"/>
            <a:ext cx="827364"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Aktuell läkemedelslista</a:t>
            </a:r>
            <a:endParaRPr lang="sv-SE" sz="900" dirty="0">
              <a:solidFill>
                <a:srgbClr val="382819"/>
              </a:solidFill>
              <a:latin typeface="Arial Narrow"/>
              <a:cs typeface="Arial Narrow"/>
            </a:endParaRPr>
          </a:p>
        </p:txBody>
      </p:sp>
      <p:sp>
        <p:nvSpPr>
          <p:cNvPr id="79" name="Dokument 78"/>
          <p:cNvSpPr/>
          <p:nvPr/>
        </p:nvSpPr>
        <p:spPr bwMode="auto">
          <a:xfrm>
            <a:off x="5149406" y="2047571"/>
            <a:ext cx="827364"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Aktuell läkemedelslista</a:t>
            </a:r>
            <a:endParaRPr lang="sv-SE" sz="900" dirty="0">
              <a:solidFill>
                <a:srgbClr val="382819"/>
              </a:solidFill>
              <a:latin typeface="Arial Narrow"/>
              <a:cs typeface="Arial Narrow"/>
            </a:endParaRPr>
          </a:p>
        </p:txBody>
      </p:sp>
      <p:sp>
        <p:nvSpPr>
          <p:cNvPr id="96" name="Dokument 95"/>
          <p:cNvSpPr/>
          <p:nvPr/>
        </p:nvSpPr>
        <p:spPr bwMode="auto">
          <a:xfrm>
            <a:off x="7607268" y="4391178"/>
            <a:ext cx="827364" cy="289351"/>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Aktuella recept</a:t>
            </a:r>
            <a:endParaRPr lang="sv-SE" sz="900" dirty="0">
              <a:solidFill>
                <a:srgbClr val="382819"/>
              </a:solidFill>
              <a:latin typeface="Arial Narrow"/>
              <a:cs typeface="Arial Narrow"/>
            </a:endParaRPr>
          </a:p>
        </p:txBody>
      </p:sp>
      <p:cxnSp>
        <p:nvCxnSpPr>
          <p:cNvPr id="82" name="Rak pil 59"/>
          <p:cNvCxnSpPr/>
          <p:nvPr/>
        </p:nvCxnSpPr>
        <p:spPr>
          <a:xfrm flipV="1">
            <a:off x="4203382" y="5412305"/>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84" name="textruta 83"/>
          <p:cNvSpPr txBox="1"/>
          <p:nvPr/>
        </p:nvSpPr>
        <p:spPr>
          <a:xfrm>
            <a:off x="3778923" y="5820045"/>
            <a:ext cx="1103041" cy="507831"/>
          </a:xfrm>
          <a:prstGeom prst="rect">
            <a:avLst/>
          </a:prstGeom>
          <a:noFill/>
        </p:spPr>
        <p:txBody>
          <a:bodyPr wrap="square" rtlCol="0">
            <a:spAutoFit/>
          </a:bodyPr>
          <a:lstStyle/>
          <a:p>
            <a:r>
              <a:rPr lang="sv-SE" sz="900" b="1" dirty="0" smtClean="0">
                <a:solidFill>
                  <a:srgbClr val="382819"/>
                </a:solidFill>
                <a:latin typeface="Arial" pitchFamily="-112" charset="0"/>
                <a:ea typeface="Times New Roman" pitchFamily="-112" charset="0"/>
                <a:cs typeface="Times New Roman" pitchFamily="-112" charset="0"/>
              </a:rPr>
              <a:t>Forskning Mätning &amp; Uppföljning</a:t>
            </a:r>
            <a:endParaRPr lang="sv-SE" sz="900" i="1" dirty="0">
              <a:solidFill>
                <a:prstClr val="black"/>
              </a:solidFill>
              <a:latin typeface="Arial"/>
              <a:cs typeface="Arial"/>
            </a:endParaRPr>
          </a:p>
        </p:txBody>
      </p:sp>
      <p:sp>
        <p:nvSpPr>
          <p:cNvPr id="80" name="textruta 79"/>
          <p:cNvSpPr txBox="1"/>
          <p:nvPr/>
        </p:nvSpPr>
        <p:spPr>
          <a:xfrm>
            <a:off x="8183435" y="5464233"/>
            <a:ext cx="854378" cy="338554"/>
          </a:xfrm>
          <a:prstGeom prst="rect">
            <a:avLst/>
          </a:prstGeom>
          <a:noFill/>
        </p:spPr>
        <p:txBody>
          <a:bodyPr wrap="square" rtlCol="0">
            <a:spAutoFit/>
          </a:bodyPr>
          <a:lstStyle/>
          <a:p>
            <a:r>
              <a:rPr lang="sv-SE" sz="800" i="1" dirty="0">
                <a:solidFill>
                  <a:prstClr val="black"/>
                </a:solidFill>
                <a:latin typeface="Calibri"/>
                <a:cs typeface="Arial" pitchFamily="34" charset="0"/>
              </a:rPr>
              <a:t>farmaceut</a:t>
            </a:r>
          </a:p>
          <a:p>
            <a:r>
              <a:rPr lang="sv-SE" sz="800" i="1" dirty="0">
                <a:solidFill>
                  <a:prstClr val="black"/>
                </a:solidFill>
                <a:latin typeface="Calibri"/>
                <a:cs typeface="Arial" pitchFamily="34" charset="0"/>
              </a:rPr>
              <a:t>på apotek</a:t>
            </a:r>
          </a:p>
        </p:txBody>
      </p:sp>
      <p:sp>
        <p:nvSpPr>
          <p:cNvPr id="81" name="Rektangel med rundade hörn 22"/>
          <p:cNvSpPr/>
          <p:nvPr/>
        </p:nvSpPr>
        <p:spPr>
          <a:xfrm>
            <a:off x="7430772" y="5205364"/>
            <a:ext cx="787909"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a:solidFill>
                  <a:srgbClr val="382819"/>
                </a:solidFill>
                <a:latin typeface="Arial" charset="0"/>
                <a:ea typeface="ＭＳ Ｐゴシック" charset="0"/>
                <a:cs typeface="ＭＳ Ｐゴシック" charset="0"/>
              </a:rPr>
              <a:t>Expedierings-</a:t>
            </a:r>
            <a:br>
              <a:rPr lang="sv-SE" sz="900" dirty="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system</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Dosapotek</a:t>
            </a:r>
            <a:endParaRPr lang="sv-SE" sz="900" dirty="0">
              <a:solidFill>
                <a:srgbClr val="382819"/>
              </a:solidFill>
              <a:latin typeface="Arial" charset="0"/>
              <a:ea typeface="ＭＳ Ｐゴシック" charset="0"/>
              <a:cs typeface="ＭＳ Ｐゴシック" charset="0"/>
            </a:endParaRPr>
          </a:p>
        </p:txBody>
      </p:sp>
      <p:pic>
        <p:nvPicPr>
          <p:cNvPr id="83" name="Picture 5" descr="C:\Users\svrlwi\AppData\Local\Microsoft\Windows\Temporary Internet Files\Content.IE5\33SAVMNN\MC900433943[1].png"/>
          <p:cNvPicPr>
            <a:picLocks noChangeAspect="1" noChangeArrowheads="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8245752" y="5012021"/>
            <a:ext cx="446026" cy="447676"/>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Grupp 85"/>
          <p:cNvGrpSpPr/>
          <p:nvPr/>
        </p:nvGrpSpPr>
        <p:grpSpPr>
          <a:xfrm rot="6360000">
            <a:off x="7230846" y="4899599"/>
            <a:ext cx="167139" cy="334568"/>
            <a:chOff x="6321274" y="3150312"/>
            <a:chExt cx="167139" cy="334568"/>
          </a:xfrm>
        </p:grpSpPr>
        <p:cxnSp>
          <p:nvCxnSpPr>
            <p:cNvPr id="92"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94"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95" name="Dokument 94"/>
          <p:cNvSpPr/>
          <p:nvPr/>
        </p:nvSpPr>
        <p:spPr bwMode="auto">
          <a:xfrm>
            <a:off x="7724861" y="5817978"/>
            <a:ext cx="827364"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a:solidFill>
                  <a:srgbClr val="382819"/>
                </a:solidFill>
                <a:latin typeface="Arial Narrow"/>
                <a:cs typeface="Arial Narrow"/>
              </a:rPr>
              <a:t>Aktuella </a:t>
            </a:r>
            <a:r>
              <a:rPr lang="sv-SE" sz="900" dirty="0" smtClean="0">
                <a:solidFill>
                  <a:srgbClr val="382819"/>
                </a:solidFill>
                <a:latin typeface="Arial Narrow"/>
                <a:cs typeface="Arial Narrow"/>
              </a:rPr>
              <a:t>dosrecept</a:t>
            </a:r>
            <a:endParaRPr lang="sv-SE" sz="900" dirty="0">
              <a:solidFill>
                <a:srgbClr val="382819"/>
              </a:solidFill>
              <a:latin typeface="Arial Narrow"/>
              <a:cs typeface="Arial Narrow"/>
            </a:endParaRPr>
          </a:p>
        </p:txBody>
      </p:sp>
      <p:sp>
        <p:nvSpPr>
          <p:cNvPr id="97" name="Rektangel med rundade hörn 22"/>
          <p:cNvSpPr/>
          <p:nvPr/>
        </p:nvSpPr>
        <p:spPr>
          <a:xfrm>
            <a:off x="6296449" y="2698928"/>
            <a:ext cx="787910" cy="546002"/>
          </a:xfrm>
          <a:prstGeom prst="round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r>
              <a:rPr lang="sv-SE" sz="900" dirty="0">
                <a:solidFill>
                  <a:srgbClr val="382819"/>
                </a:solidFill>
                <a:latin typeface="Arial" charset="0"/>
                <a:ea typeface="ＭＳ Ｐゴシック" charset="0"/>
                <a:cs typeface="ＭＳ Ｐゴシック" charset="0"/>
              </a:rPr>
              <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C</a:t>
            </a:r>
          </a:p>
        </p:txBody>
      </p:sp>
      <p:cxnSp>
        <p:nvCxnSpPr>
          <p:cNvPr id="100" name="Rak pil 59"/>
          <p:cNvCxnSpPr/>
          <p:nvPr/>
        </p:nvCxnSpPr>
        <p:spPr>
          <a:xfrm flipV="1">
            <a:off x="6398088" y="3398441"/>
            <a:ext cx="128275" cy="419373"/>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102" name="textruta 101"/>
          <p:cNvSpPr txBox="1"/>
          <p:nvPr/>
        </p:nvSpPr>
        <p:spPr>
          <a:xfrm>
            <a:off x="6477276" y="3485288"/>
            <a:ext cx="684403" cy="246221"/>
          </a:xfrm>
          <a:prstGeom prst="rect">
            <a:avLst/>
          </a:prstGeom>
          <a:noFill/>
        </p:spPr>
        <p:txBody>
          <a:bodyPr wrap="square" rtlCol="0">
            <a:spAutoFit/>
          </a:bodyPr>
          <a:lstStyle/>
          <a:p>
            <a:r>
              <a:rPr lang="sv-SE" sz="1000" i="1" dirty="0">
                <a:solidFill>
                  <a:prstClr val="black"/>
                </a:solidFill>
                <a:latin typeface="Calibri"/>
                <a:cs typeface="Arial" pitchFamily="34" charset="0"/>
              </a:rPr>
              <a:t>e</a:t>
            </a:r>
            <a:r>
              <a:rPr lang="sv-SE" sz="1000" i="1" dirty="0" smtClean="0">
                <a:solidFill>
                  <a:prstClr val="black"/>
                </a:solidFill>
                <a:latin typeface="Calibri"/>
                <a:cs typeface="Arial" pitchFamily="34" charset="0"/>
              </a:rPr>
              <a:t>-recept</a:t>
            </a:r>
            <a:endParaRPr lang="sv-SE" sz="1000" i="1" dirty="0">
              <a:solidFill>
                <a:prstClr val="black"/>
              </a:solidFill>
              <a:latin typeface="Calibri"/>
              <a:cs typeface="Arial" pitchFamily="34" charset="0"/>
            </a:endParaRPr>
          </a:p>
        </p:txBody>
      </p:sp>
      <p:grpSp>
        <p:nvGrpSpPr>
          <p:cNvPr id="103" name="Grupp 102"/>
          <p:cNvGrpSpPr/>
          <p:nvPr/>
        </p:nvGrpSpPr>
        <p:grpSpPr>
          <a:xfrm>
            <a:off x="6272902" y="2073457"/>
            <a:ext cx="854378" cy="585893"/>
            <a:chOff x="2178795" y="1012742"/>
            <a:chExt cx="854378" cy="585893"/>
          </a:xfrm>
        </p:grpSpPr>
        <p:pic>
          <p:nvPicPr>
            <p:cNvPr id="104" name="Picture 159" descr="Dator med kortläsare"/>
            <p:cNvPicPr>
              <a:picLocks noChangeAspect="1" noChangeArrowheads="1"/>
            </p:cNvPicPr>
            <p:nvPr/>
          </p:nvPicPr>
          <p:blipFill>
            <a:blip r:embed="rId5"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 name="Picture 2" descr="C:\Users\svrlwi\AppData\Local\Microsoft\Windows\Temporary Internet Files\Content.IE5\51G1LSV1\MC900433936[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106" name="textruta 105"/>
            <p:cNvSpPr txBox="1"/>
            <p:nvPr/>
          </p:nvSpPr>
          <p:spPr>
            <a:xfrm>
              <a:off x="2178795" y="1383191"/>
              <a:ext cx="854378" cy="215444"/>
            </a:xfrm>
            <a:prstGeom prst="rect">
              <a:avLst/>
            </a:prstGeom>
            <a:noFill/>
          </p:spPr>
          <p:txBody>
            <a:bodyPr wrap="square" rtlCol="0">
              <a:spAutoFit/>
            </a:bodyPr>
            <a:lstStyle/>
            <a:p>
              <a:r>
                <a:rPr lang="sv-SE" sz="800" i="1" dirty="0" smtClean="0">
                  <a:solidFill>
                    <a:prstClr val="black"/>
                  </a:solidFill>
                  <a:latin typeface="Calibri"/>
                  <a:cs typeface="Arial" pitchFamily="34" charset="0"/>
                </a:rPr>
                <a:t>vårdpersonal</a:t>
              </a:r>
              <a:endParaRPr lang="sv-SE" sz="800" i="1" dirty="0">
                <a:solidFill>
                  <a:prstClr val="black"/>
                </a:solidFill>
                <a:latin typeface="Calibri"/>
                <a:cs typeface="Arial" pitchFamily="34" charset="0"/>
              </a:endParaRPr>
            </a:p>
          </p:txBody>
        </p:sp>
      </p:grpSp>
      <p:sp>
        <p:nvSpPr>
          <p:cNvPr id="107" name="textruta 106"/>
          <p:cNvSpPr txBox="1"/>
          <p:nvPr/>
        </p:nvSpPr>
        <p:spPr>
          <a:xfrm>
            <a:off x="7044978" y="2073457"/>
            <a:ext cx="891459" cy="230832"/>
          </a:xfrm>
          <a:prstGeom prst="rect">
            <a:avLst/>
          </a:prstGeom>
          <a:noFill/>
        </p:spPr>
        <p:txBody>
          <a:bodyPr wrap="square" rtlCol="0">
            <a:spAutoFit/>
          </a:bodyPr>
          <a:lstStyle/>
          <a:p>
            <a:r>
              <a:rPr lang="sv-SE" sz="900" b="1" dirty="0" smtClean="0">
                <a:solidFill>
                  <a:srgbClr val="382819"/>
                </a:solidFill>
                <a:latin typeface="Arial" pitchFamily="-112" charset="0"/>
                <a:ea typeface="Times New Roman" pitchFamily="-112" charset="0"/>
                <a:cs typeface="Times New Roman" pitchFamily="-112" charset="0"/>
              </a:rPr>
              <a:t>Sjukhus</a:t>
            </a:r>
            <a:endParaRPr lang="sv-SE" sz="900" dirty="0">
              <a:solidFill>
                <a:prstClr val="black"/>
              </a:solidFill>
              <a:latin typeface="Arial"/>
              <a:cs typeface="Arial"/>
            </a:endParaRPr>
          </a:p>
        </p:txBody>
      </p:sp>
      <p:cxnSp>
        <p:nvCxnSpPr>
          <p:cNvPr id="101" name="Rak pil 59"/>
          <p:cNvCxnSpPr/>
          <p:nvPr/>
        </p:nvCxnSpPr>
        <p:spPr>
          <a:xfrm flipH="1">
            <a:off x="4500880" y="3059351"/>
            <a:ext cx="109811" cy="334089"/>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108" name="Bildobjekt 107"/>
          <p:cNvPicPr>
            <a:picLocks noChangeAspect="1"/>
          </p:cNvPicPr>
          <p:nvPr/>
        </p:nvPicPr>
        <p:blipFill>
          <a:blip r:embed="rId7"/>
          <a:stretch>
            <a:fillRect/>
          </a:stretch>
        </p:blipFill>
        <p:spPr>
          <a:xfrm>
            <a:off x="7668139" y="18852"/>
            <a:ext cx="1384717" cy="1037201"/>
          </a:xfrm>
          <a:prstGeom prst="rect">
            <a:avLst/>
          </a:prstGeom>
        </p:spPr>
      </p:pic>
      <p:sp>
        <p:nvSpPr>
          <p:cNvPr id="109" name="Rundad rektangulär 108"/>
          <p:cNvSpPr/>
          <p:nvPr/>
        </p:nvSpPr>
        <p:spPr bwMode="auto">
          <a:xfrm>
            <a:off x="4886960" y="2800954"/>
            <a:ext cx="1158240" cy="785606"/>
          </a:xfrm>
          <a:prstGeom prst="wedgeRoundRectCallout">
            <a:avLst>
              <a:gd name="adj1" fmla="val -70054"/>
              <a:gd name="adj2" fmla="val 46213"/>
              <a:gd name="adj3" fmla="val 16667"/>
            </a:avLst>
          </a:prstGeom>
          <a:ln>
            <a:solidFill>
              <a:srgbClr val="0000FF"/>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00" i="1" dirty="0" smtClean="0">
                <a:solidFill>
                  <a:srgbClr val="382819"/>
                </a:solidFill>
                <a:latin typeface="Arial"/>
                <a:cs typeface="Arial"/>
              </a:rPr>
              <a:t>Tjänstekontrakt</a:t>
            </a:r>
          </a:p>
          <a:p>
            <a:pPr defTabSz="957263"/>
            <a:r>
              <a:rPr lang="sv-SE" sz="1000" i="1" dirty="0" smtClean="0">
                <a:solidFill>
                  <a:srgbClr val="382819"/>
                </a:solidFill>
                <a:latin typeface="Arial"/>
                <a:cs typeface="Arial"/>
              </a:rPr>
              <a:t>- Läsa</a:t>
            </a:r>
          </a:p>
          <a:p>
            <a:pPr defTabSz="957263"/>
            <a:r>
              <a:rPr lang="sv-SE" sz="1000" i="1" dirty="0" smtClean="0">
                <a:solidFill>
                  <a:srgbClr val="382819"/>
                </a:solidFill>
                <a:latin typeface="Arial"/>
                <a:cs typeface="Arial"/>
              </a:rPr>
              <a:t>- Registrera </a:t>
            </a:r>
          </a:p>
          <a:p>
            <a:pPr defTabSz="957263"/>
            <a:r>
              <a:rPr lang="sv-SE" sz="1000" i="1" dirty="0" smtClean="0">
                <a:solidFill>
                  <a:srgbClr val="382819"/>
                </a:solidFill>
                <a:latin typeface="Arial"/>
                <a:cs typeface="Arial"/>
              </a:rPr>
              <a:t>- …</a:t>
            </a:r>
            <a:endParaRPr lang="sv-SE" sz="1000" i="1" dirty="0">
              <a:solidFill>
                <a:srgbClr val="382819"/>
              </a:solidFill>
              <a:latin typeface="Arial"/>
              <a:cs typeface="Arial"/>
            </a:endParaRPr>
          </a:p>
        </p:txBody>
      </p:sp>
    </p:spTree>
    <p:extLst>
      <p:ext uri="{BB962C8B-B14F-4D97-AF65-F5344CB8AC3E}">
        <p14:creationId xmlns:p14="http://schemas.microsoft.com/office/powerpoint/2010/main" val="398125196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med rundade hörn 5"/>
          <p:cNvSpPr/>
          <p:nvPr/>
        </p:nvSpPr>
        <p:spPr>
          <a:xfrm rot="10800000" flipV="1">
            <a:off x="1624889" y="3894593"/>
            <a:ext cx="1927724" cy="2469107"/>
          </a:xfrm>
          <a:prstGeom prst="roundRect">
            <a:avLst>
              <a:gd name="adj" fmla="val 3154"/>
            </a:avLst>
          </a:prstGeom>
          <a:solidFill>
            <a:schemeClr val="bg1">
              <a:lumMod val="85000"/>
            </a:schemeClr>
          </a:solidFill>
          <a:ln w="28575" cmpd="sng">
            <a:solidFill>
              <a:schemeClr val="accent5">
                <a:lumMod val="25000"/>
              </a:schemeClr>
            </a:solidFill>
            <a:miter lim="800000"/>
            <a:headEnd/>
            <a:tailEnd/>
          </a:ln>
        </p:spPr>
        <p:txBody>
          <a:bodyPr wrap="none" anchor="b"/>
          <a:lstStyle/>
          <a:p>
            <a:pPr algn="r" defTabSz="914400" fontAlgn="base">
              <a:spcBef>
                <a:spcPct val="0"/>
              </a:spcBef>
              <a:spcAft>
                <a:spcPct val="0"/>
              </a:spcAft>
            </a:pPr>
            <a:r>
              <a:rPr lang="sv-SE" sz="1000" dirty="0" smtClean="0">
                <a:solidFill>
                  <a:srgbClr val="382819"/>
                </a:solidFill>
                <a:latin typeface="Arial" pitchFamily="-112" charset="0"/>
                <a:ea typeface="Times New Roman" pitchFamily="-112" charset="0"/>
                <a:cs typeface="Times New Roman" pitchFamily="-112" charset="0"/>
              </a:rPr>
              <a:t>NOD system</a:t>
            </a:r>
            <a:endParaRPr lang="sv-SE" sz="1000" dirty="0">
              <a:solidFill>
                <a:srgbClr val="382819"/>
              </a:solidFill>
              <a:latin typeface="Arial" pitchFamily="-112" charset="0"/>
              <a:ea typeface="Times New Roman" pitchFamily="-112" charset="0"/>
              <a:cs typeface="Times New Roman" pitchFamily="-112" charset="0"/>
            </a:endParaRPr>
          </a:p>
        </p:txBody>
      </p:sp>
      <p:sp>
        <p:nvSpPr>
          <p:cNvPr id="71" name="Rektangel med rundade hörn 70"/>
          <p:cNvSpPr/>
          <p:nvPr/>
        </p:nvSpPr>
        <p:spPr>
          <a:xfrm rot="10800000" flipV="1">
            <a:off x="4095926" y="3868802"/>
            <a:ext cx="3792959" cy="2494898"/>
          </a:xfrm>
          <a:prstGeom prst="roundRect">
            <a:avLst>
              <a:gd name="adj" fmla="val 4005"/>
            </a:avLst>
          </a:prstGeom>
          <a:solidFill>
            <a:schemeClr val="bg1">
              <a:lumMod val="85000"/>
            </a:schemeClr>
          </a:solidFill>
          <a:ln w="9525">
            <a:noFill/>
            <a:miter lim="800000"/>
            <a:headEnd/>
            <a:tailEnd/>
          </a:ln>
        </p:spPr>
        <p:txBody>
          <a:bodyPr wrap="none" anchor="b"/>
          <a:lstStyle/>
          <a:p>
            <a:pPr algn="r" defTabSz="914400" fontAlgn="base">
              <a:spcBef>
                <a:spcPct val="0"/>
              </a:spcBef>
              <a:spcAft>
                <a:spcPct val="0"/>
              </a:spcAft>
              <a:defRPr/>
            </a:pPr>
            <a:r>
              <a:rPr lang="sv-SE" sz="1000" dirty="0" smtClean="0">
                <a:solidFill>
                  <a:srgbClr val="382819"/>
                </a:solidFill>
                <a:latin typeface="Arial" pitchFamily="-112" charset="0"/>
                <a:ea typeface="Times New Roman" pitchFamily="-112" charset="0"/>
                <a:cs typeface="Times New Roman" pitchFamily="-112" charset="0"/>
              </a:rPr>
              <a:t>Befintliga system, eHälsomyndigheten</a:t>
            </a:r>
            <a:endParaRPr lang="sv-SE" sz="1000" dirty="0">
              <a:solidFill>
                <a:srgbClr val="382819"/>
              </a:solidFill>
              <a:latin typeface="Arial" pitchFamily="-112" charset="0"/>
              <a:ea typeface="Times New Roman" pitchFamily="-112" charset="0"/>
              <a:cs typeface="Times New Roman" pitchFamily="-112" charset="0"/>
            </a:endParaRPr>
          </a:p>
        </p:txBody>
      </p:sp>
      <p:sp>
        <p:nvSpPr>
          <p:cNvPr id="115" name="Rektangel med rundade hörn 114">
            <a:hlinkClick r:id="" action="ppaction://noaction"/>
          </p:cNvPr>
          <p:cNvSpPr/>
          <p:nvPr/>
        </p:nvSpPr>
        <p:spPr>
          <a:xfrm rot="10800000" flipV="1">
            <a:off x="251618" y="1422462"/>
            <a:ext cx="1132178" cy="3810251"/>
          </a:xfrm>
          <a:prstGeom prst="roundRect">
            <a:avLst>
              <a:gd name="adj" fmla="val 8435"/>
            </a:avLst>
          </a:prstGeom>
          <a:solidFill>
            <a:schemeClr val="bg1">
              <a:lumMod val="85000"/>
            </a:schemeClr>
          </a:solidFill>
          <a:ln w="9525">
            <a:noFill/>
            <a:miter lim="800000"/>
            <a:headEnd/>
            <a:tailEnd/>
          </a:ln>
        </p:spPr>
        <p:txBody>
          <a:bodyPr wrap="none" anchor="b"/>
          <a:lstStyle/>
          <a:p>
            <a:pPr defTabSz="914400" fontAlgn="base">
              <a:spcBef>
                <a:spcPct val="0"/>
              </a:spcBef>
              <a:spcAft>
                <a:spcPct val="0"/>
              </a:spcAft>
              <a:defRPr/>
            </a:pPr>
            <a:r>
              <a:rPr lang="sv-SE" sz="1000" dirty="0" smtClean="0">
                <a:solidFill>
                  <a:srgbClr val="382819"/>
                </a:solidFill>
                <a:latin typeface="Arial" pitchFamily="-112" charset="0"/>
                <a:ea typeface="Times New Roman" pitchFamily="-112" charset="0"/>
                <a:cs typeface="Times New Roman" pitchFamily="-112" charset="0"/>
              </a:rPr>
              <a:t/>
            </a:r>
            <a:br>
              <a:rPr lang="sv-SE" sz="1000" dirty="0" smtClean="0">
                <a:solidFill>
                  <a:srgbClr val="382819"/>
                </a:solidFill>
                <a:latin typeface="Arial" pitchFamily="-112" charset="0"/>
                <a:ea typeface="Times New Roman" pitchFamily="-112" charset="0"/>
                <a:cs typeface="Times New Roman" pitchFamily="-112" charset="0"/>
              </a:rPr>
            </a:br>
            <a:r>
              <a:rPr lang="sv-SE" sz="1000" dirty="0" smtClean="0">
                <a:solidFill>
                  <a:srgbClr val="382819"/>
                </a:solidFill>
                <a:latin typeface="Arial" pitchFamily="-112" charset="0"/>
                <a:ea typeface="Times New Roman" pitchFamily="-112" charset="0"/>
                <a:cs typeface="Times New Roman" pitchFamily="-112" charset="0"/>
              </a:rPr>
              <a:t>Stödtjänster</a:t>
            </a:r>
            <a:endParaRPr lang="sv-SE" sz="1000" dirty="0">
              <a:solidFill>
                <a:srgbClr val="382819"/>
              </a:solidFill>
              <a:latin typeface="Arial" pitchFamily="-112" charset="0"/>
              <a:ea typeface="Times New Roman" pitchFamily="-112" charset="0"/>
              <a:cs typeface="Times New Roman" pitchFamily="-112" charset="0"/>
            </a:endParaRPr>
          </a:p>
        </p:txBody>
      </p:sp>
      <p:sp>
        <p:nvSpPr>
          <p:cNvPr id="82" name="Rektangel med rundade hörn 81"/>
          <p:cNvSpPr/>
          <p:nvPr/>
        </p:nvSpPr>
        <p:spPr>
          <a:xfrm>
            <a:off x="5088154" y="4654119"/>
            <a:ext cx="893061" cy="516552"/>
          </a:xfrm>
          <a:prstGeom prst="roundRect">
            <a:avLst>
              <a:gd name="adj" fmla="val 5926"/>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Expediering</a:t>
            </a:r>
          </a:p>
          <a:p>
            <a:pPr algn="ctr" defTabSz="914400" fontAlgn="base">
              <a:spcBef>
                <a:spcPct val="0"/>
              </a:spcBef>
              <a:spcAft>
                <a:spcPct val="0"/>
              </a:spcAft>
            </a:pPr>
            <a:r>
              <a:rPr lang="sv-SE" sz="900" dirty="0" smtClean="0">
                <a:solidFill>
                  <a:srgbClr val="382819"/>
                </a:solidFill>
                <a:ea typeface="ＭＳ Ｐゴシック" pitchFamily="-112" charset="-128"/>
                <a:cs typeface="ＭＳ Ｐゴシック" pitchFamily="-112" charset="-128"/>
              </a:rPr>
              <a:t>läkemedel</a:t>
            </a:r>
            <a:endParaRPr lang="sv-SE" sz="900" dirty="0">
              <a:solidFill>
                <a:srgbClr val="382819"/>
              </a:solidFill>
              <a:ea typeface="ＭＳ Ｐゴシック" pitchFamily="-112" charset="-128"/>
              <a:cs typeface="ＭＳ Ｐゴシック" pitchFamily="-112" charset="-128"/>
            </a:endParaRPr>
          </a:p>
        </p:txBody>
      </p:sp>
      <p:sp>
        <p:nvSpPr>
          <p:cNvPr id="2" name="Rubrik 1"/>
          <p:cNvSpPr>
            <a:spLocks noGrp="1"/>
          </p:cNvSpPr>
          <p:nvPr>
            <p:ph type="title"/>
          </p:nvPr>
        </p:nvSpPr>
        <p:spPr>
          <a:xfrm>
            <a:off x="1546454" y="135523"/>
            <a:ext cx="6792678" cy="602823"/>
          </a:xfrm>
        </p:spPr>
        <p:txBody>
          <a:bodyPr>
            <a:normAutofit/>
          </a:bodyPr>
          <a:lstStyle/>
          <a:p>
            <a:r>
              <a:rPr lang="sv-SE" sz="2000" dirty="0" smtClean="0"/>
              <a:t>Översikt – Samlad läkemedelslista</a:t>
            </a:r>
            <a:endParaRPr lang="sv-SE" sz="1200" i="1" dirty="0"/>
          </a:p>
        </p:txBody>
      </p:sp>
      <p:sp>
        <p:nvSpPr>
          <p:cNvPr id="48" name="Cylinder 47"/>
          <p:cNvSpPr/>
          <p:nvPr/>
        </p:nvSpPr>
        <p:spPr>
          <a:xfrm>
            <a:off x="5316098" y="5405629"/>
            <a:ext cx="725927" cy="425627"/>
          </a:xfrm>
          <a:prstGeom prst="can">
            <a:avLst/>
          </a:prstGeom>
          <a:ln>
            <a:headEnd type="none"/>
            <a:tailEnd type="none" w="lg" len="lg"/>
          </a:ln>
        </p:spPr>
        <p:style>
          <a:lnRef idx="2">
            <a:schemeClr val="accent3">
              <a:shade val="50000"/>
            </a:schemeClr>
          </a:lnRef>
          <a:fillRef idx="1">
            <a:schemeClr val="accent3"/>
          </a:fillRef>
          <a:effectRef idx="0">
            <a:schemeClr val="accent3"/>
          </a:effectRef>
          <a:fontRef idx="minor">
            <a:schemeClr val="lt1"/>
          </a:fontRef>
        </p:style>
        <p:txBody>
          <a:bodyPr lIns="72000" rIns="72000" anchor="ctr"/>
          <a:lstStyle/>
          <a:p>
            <a:pPr algn="ctr" defTabSz="914400" fontAlgn="base">
              <a:spcBef>
                <a:spcPct val="0"/>
              </a:spcBef>
              <a:spcAft>
                <a:spcPct val="0"/>
              </a:spcAft>
            </a:pPr>
            <a:r>
              <a:rPr lang="sv-SE" sz="1000" dirty="0">
                <a:solidFill>
                  <a:srgbClr val="382819"/>
                </a:solidFill>
                <a:latin typeface="Arial"/>
                <a:ea typeface="ＭＳ Ｐゴシック" pitchFamily="-112" charset="-128"/>
                <a:cs typeface="ＭＳ Ｐゴシック" pitchFamily="-112" charset="-128"/>
              </a:rPr>
              <a:t>LF</a:t>
            </a:r>
          </a:p>
        </p:txBody>
      </p:sp>
      <p:sp>
        <p:nvSpPr>
          <p:cNvPr id="43" name="Cylinder 42"/>
          <p:cNvSpPr/>
          <p:nvPr/>
        </p:nvSpPr>
        <p:spPr>
          <a:xfrm>
            <a:off x="4200669" y="5417640"/>
            <a:ext cx="971755" cy="520343"/>
          </a:xfrm>
          <a:prstGeom prst="can">
            <a:avLst/>
          </a:prstGeom>
          <a:ln>
            <a:headEnd type="none"/>
            <a:tailEnd type="none" w="lg" len="lg"/>
          </a:ln>
        </p:spPr>
        <p:style>
          <a:lnRef idx="2">
            <a:schemeClr val="accent3">
              <a:shade val="50000"/>
            </a:schemeClr>
          </a:lnRef>
          <a:fillRef idx="1">
            <a:schemeClr val="accent3"/>
          </a:fillRef>
          <a:effectRef idx="0">
            <a:schemeClr val="accent3"/>
          </a:effectRef>
          <a:fontRef idx="minor">
            <a:schemeClr val="lt1"/>
          </a:fontRef>
        </p:style>
        <p:txBody>
          <a:bodyPr lIns="72000" rIns="72000" anchor="ctr"/>
          <a:lstStyle/>
          <a:p>
            <a:pPr algn="ctr" defTabSz="914400" fontAlgn="base">
              <a:spcBef>
                <a:spcPct val="0"/>
              </a:spcBef>
              <a:spcAft>
                <a:spcPct val="0"/>
              </a:spcAft>
            </a:pPr>
            <a:r>
              <a:rPr lang="sv-SE" sz="1000" dirty="0" smtClean="0">
                <a:solidFill>
                  <a:srgbClr val="382819"/>
                </a:solidFill>
                <a:latin typeface="Arial"/>
                <a:ea typeface="ＭＳ Ｐゴシック" pitchFamily="-112" charset="-128"/>
                <a:cs typeface="ＭＳ Ｐゴシック" pitchFamily="-112" charset="-128"/>
              </a:rPr>
              <a:t>Receptdepå</a:t>
            </a:r>
            <a:endParaRPr lang="sv-SE" sz="1000" dirty="0">
              <a:solidFill>
                <a:srgbClr val="382819"/>
              </a:solidFill>
              <a:latin typeface="Arial"/>
              <a:ea typeface="ＭＳ Ｐゴシック" pitchFamily="-112" charset="-128"/>
              <a:cs typeface="ＭＳ Ｐゴシック" pitchFamily="-112" charset="-128"/>
            </a:endParaRPr>
          </a:p>
        </p:txBody>
      </p:sp>
      <p:cxnSp>
        <p:nvCxnSpPr>
          <p:cNvPr id="45" name="Rak pil 59"/>
          <p:cNvCxnSpPr>
            <a:stCxn id="48" idx="1"/>
            <a:endCxn id="82" idx="2"/>
          </p:cNvCxnSpPr>
          <p:nvPr/>
        </p:nvCxnSpPr>
        <p:spPr>
          <a:xfrm flipH="1" flipV="1">
            <a:off x="5534685" y="5170671"/>
            <a:ext cx="144377" cy="234958"/>
          </a:xfrm>
          <a:prstGeom prst="straightConnector1">
            <a:avLst/>
          </a:prstGeom>
          <a:ln>
            <a:solidFill>
              <a:srgbClr val="000000"/>
            </a:solidFill>
            <a:prstDash val="solid"/>
            <a:headEnd type="none" w="sm" len="sm"/>
            <a:tailEnd type="none" w="sm" len="sm"/>
          </a:ln>
        </p:spPr>
        <p:style>
          <a:lnRef idx="1">
            <a:schemeClr val="accent5"/>
          </a:lnRef>
          <a:fillRef idx="0">
            <a:schemeClr val="accent5"/>
          </a:fillRef>
          <a:effectRef idx="0">
            <a:schemeClr val="accent5"/>
          </a:effectRef>
          <a:fontRef idx="minor">
            <a:schemeClr val="tx1"/>
          </a:fontRef>
        </p:style>
      </p:cxnSp>
      <p:cxnSp>
        <p:nvCxnSpPr>
          <p:cNvPr id="80" name="Rak pil 59"/>
          <p:cNvCxnSpPr>
            <a:stCxn id="43" idx="1"/>
            <a:endCxn id="79" idx="2"/>
          </p:cNvCxnSpPr>
          <p:nvPr/>
        </p:nvCxnSpPr>
        <p:spPr>
          <a:xfrm flipH="1" flipV="1">
            <a:off x="4618704" y="5170671"/>
            <a:ext cx="67843" cy="246969"/>
          </a:xfrm>
          <a:prstGeom prst="straightConnector1">
            <a:avLst/>
          </a:prstGeom>
          <a:ln>
            <a:solidFill>
              <a:srgbClr val="000000"/>
            </a:solidFill>
            <a:prstDash val="solid"/>
            <a:headEnd type="none" w="sm" len="sm"/>
            <a:tailEnd type="none" w="sm" len="sm"/>
          </a:ln>
        </p:spPr>
        <p:style>
          <a:lnRef idx="1">
            <a:schemeClr val="accent5"/>
          </a:lnRef>
          <a:fillRef idx="0">
            <a:schemeClr val="accent5"/>
          </a:fillRef>
          <a:effectRef idx="0">
            <a:schemeClr val="accent5"/>
          </a:effectRef>
          <a:fontRef idx="minor">
            <a:schemeClr val="tx1"/>
          </a:fontRef>
        </p:style>
      </p:cxnSp>
      <p:sp>
        <p:nvSpPr>
          <p:cNvPr id="78" name="Rektangel med rundade hörn 77"/>
          <p:cNvSpPr/>
          <p:nvPr/>
        </p:nvSpPr>
        <p:spPr>
          <a:xfrm>
            <a:off x="6057996" y="4658308"/>
            <a:ext cx="840406" cy="512363"/>
          </a:xfrm>
          <a:prstGeom prst="roundRect">
            <a:avLst>
              <a:gd name="adj" fmla="val 7041"/>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Dosunderlag</a:t>
            </a:r>
            <a:br>
              <a:rPr lang="sv-SE" sz="900" dirty="0">
                <a:solidFill>
                  <a:schemeClr val="bg1"/>
                </a:solidFill>
                <a:latin typeface="Arial"/>
                <a:ea typeface="ＭＳ Ｐゴシック" pitchFamily="-112" charset="-128"/>
                <a:cs typeface="ＭＳ Ｐゴシック" pitchFamily="-112" charset="-128"/>
              </a:rPr>
            </a:br>
            <a:r>
              <a:rPr lang="sv-SE" sz="900" dirty="0">
                <a:solidFill>
                  <a:schemeClr val="bg1"/>
                </a:solidFill>
                <a:latin typeface="Arial"/>
                <a:ea typeface="ＭＳ Ｐゴシック" pitchFamily="-112" charset="-128"/>
                <a:cs typeface="ＭＳ Ｐゴシック" pitchFamily="-112" charset="-128"/>
              </a:rPr>
              <a:t>Dossamtycke</a:t>
            </a:r>
          </a:p>
        </p:txBody>
      </p:sp>
      <p:cxnSp>
        <p:nvCxnSpPr>
          <p:cNvPr id="92" name="Rak pil 59"/>
          <p:cNvCxnSpPr>
            <a:stCxn id="43" idx="1"/>
            <a:endCxn id="74" idx="2"/>
          </p:cNvCxnSpPr>
          <p:nvPr/>
        </p:nvCxnSpPr>
        <p:spPr>
          <a:xfrm rot="5400000" flipH="1" flipV="1">
            <a:off x="4595968" y="4461461"/>
            <a:ext cx="1046758" cy="865600"/>
          </a:xfrm>
          <a:prstGeom prst="curvedConnector3">
            <a:avLst>
              <a:gd name="adj1" fmla="val 82030"/>
            </a:avLst>
          </a:prstGeom>
          <a:ln>
            <a:solidFill>
              <a:srgbClr val="000000"/>
            </a:solidFill>
            <a:prstDash val="dash"/>
            <a:headEnd type="none" w="sm" len="sm"/>
            <a:tailEnd type="none" w="sm" len="sm"/>
          </a:ln>
        </p:spPr>
        <p:style>
          <a:lnRef idx="1">
            <a:schemeClr val="accent5"/>
          </a:lnRef>
          <a:fillRef idx="0">
            <a:schemeClr val="accent5"/>
          </a:fillRef>
          <a:effectRef idx="0">
            <a:schemeClr val="accent5"/>
          </a:effectRef>
          <a:fontRef idx="minor">
            <a:schemeClr val="tx1"/>
          </a:fontRef>
        </p:style>
      </p:cxnSp>
      <p:sp>
        <p:nvSpPr>
          <p:cNvPr id="79" name="Rektangel med rundade hörn 78"/>
          <p:cNvSpPr/>
          <p:nvPr/>
        </p:nvSpPr>
        <p:spPr>
          <a:xfrm>
            <a:off x="4206261" y="4654119"/>
            <a:ext cx="824885" cy="516552"/>
          </a:xfrm>
          <a:prstGeom prst="roundRect">
            <a:avLst>
              <a:gd name="adj" fmla="val 9033"/>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smtClean="0">
                <a:solidFill>
                  <a:srgbClr val="382819"/>
                </a:solidFill>
                <a:latin typeface="Arial"/>
                <a:ea typeface="ＭＳ Ｐゴシック" pitchFamily="-112" charset="-128"/>
                <a:cs typeface="ＭＳ Ｐゴシック" pitchFamily="-112" charset="-128"/>
              </a:rPr>
              <a:t>Recept </a:t>
            </a:r>
            <a:endParaRPr lang="sv-SE" sz="900" dirty="0">
              <a:solidFill>
                <a:srgbClr val="382819"/>
              </a:solidFill>
              <a:latin typeface="Arial"/>
              <a:ea typeface="ＭＳ Ｐゴシック" pitchFamily="-112" charset="-128"/>
              <a:cs typeface="ＭＳ Ｐゴシック" pitchFamily="-112" charset="-128"/>
            </a:endParaRPr>
          </a:p>
        </p:txBody>
      </p:sp>
      <p:sp>
        <p:nvSpPr>
          <p:cNvPr id="89" name="Rektangel med rundade hörn 88"/>
          <p:cNvSpPr/>
          <p:nvPr/>
        </p:nvSpPr>
        <p:spPr>
          <a:xfrm>
            <a:off x="352730" y="1664203"/>
            <a:ext cx="916217" cy="441738"/>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Stark</a:t>
            </a:r>
            <a:br>
              <a:rPr lang="sv-SE" sz="900" dirty="0">
                <a:solidFill>
                  <a:srgbClr val="382819"/>
                </a:solidFill>
                <a:latin typeface="Arial"/>
                <a:ea typeface="ＭＳ Ｐゴシック" pitchFamily="-112" charset="-128"/>
                <a:cs typeface="ＭＳ Ｐゴシック" pitchFamily="-112" charset="-128"/>
              </a:rPr>
            </a:br>
            <a:r>
              <a:rPr lang="sv-SE" sz="900" dirty="0">
                <a:solidFill>
                  <a:srgbClr val="382819"/>
                </a:solidFill>
                <a:latin typeface="Arial"/>
                <a:ea typeface="ＭＳ Ｐゴシック" pitchFamily="-112" charset="-128"/>
                <a:cs typeface="ＭＳ Ｐゴシック" pitchFamily="-112" charset="-128"/>
              </a:rPr>
              <a:t>Autentisering (</a:t>
            </a:r>
            <a:r>
              <a:rPr lang="sv-SE" sz="900" dirty="0" err="1">
                <a:solidFill>
                  <a:srgbClr val="382819"/>
                </a:solidFill>
                <a:latin typeface="Arial"/>
                <a:ea typeface="ＭＳ Ｐゴシック" pitchFamily="-112" charset="-128"/>
                <a:cs typeface="ＭＳ Ｐゴシック" pitchFamily="-112" charset="-128"/>
              </a:rPr>
              <a:t>IdP</a:t>
            </a:r>
            <a:r>
              <a:rPr lang="sv-SE" sz="900" dirty="0">
                <a:solidFill>
                  <a:srgbClr val="382819"/>
                </a:solidFill>
                <a:latin typeface="Arial"/>
                <a:ea typeface="ＭＳ Ｐゴシック" pitchFamily="-112" charset="-128"/>
                <a:cs typeface="ＭＳ Ｐゴシック" pitchFamily="-112" charset="-128"/>
              </a:rPr>
              <a:t>)</a:t>
            </a:r>
          </a:p>
        </p:txBody>
      </p:sp>
      <p:sp>
        <p:nvSpPr>
          <p:cNvPr id="90" name="Rektangel med rundade hörn 89"/>
          <p:cNvSpPr/>
          <p:nvPr/>
        </p:nvSpPr>
        <p:spPr>
          <a:xfrm>
            <a:off x="352729" y="2156828"/>
            <a:ext cx="916218" cy="369034"/>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Nationell</a:t>
            </a:r>
            <a:br>
              <a:rPr lang="sv-SE" sz="900" dirty="0">
                <a:solidFill>
                  <a:srgbClr val="382819"/>
                </a:solidFill>
                <a:latin typeface="Arial"/>
                <a:ea typeface="ＭＳ Ｐゴシック" pitchFamily="-112" charset="-128"/>
                <a:cs typeface="ＭＳ Ｐゴシック" pitchFamily="-112" charset="-128"/>
              </a:rPr>
            </a:br>
            <a:r>
              <a:rPr lang="sv-SE" sz="900" dirty="0">
                <a:solidFill>
                  <a:srgbClr val="382819"/>
                </a:solidFill>
                <a:latin typeface="Arial"/>
                <a:ea typeface="ＭＳ Ｐゴシック" pitchFamily="-112" charset="-128"/>
                <a:cs typeface="ＭＳ Ｐゴシック" pitchFamily="-112" charset="-128"/>
              </a:rPr>
              <a:t>katalog (HSA)</a:t>
            </a:r>
          </a:p>
        </p:txBody>
      </p:sp>
      <p:sp>
        <p:nvSpPr>
          <p:cNvPr id="91" name="Rektangel med rundade hörn 90"/>
          <p:cNvSpPr/>
          <p:nvPr/>
        </p:nvSpPr>
        <p:spPr>
          <a:xfrm>
            <a:off x="356419" y="4339426"/>
            <a:ext cx="916217" cy="383795"/>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Personuppgift</a:t>
            </a:r>
          </a:p>
        </p:txBody>
      </p:sp>
      <p:sp>
        <p:nvSpPr>
          <p:cNvPr id="93" name="Rektangel med rundade hörn 92"/>
          <p:cNvSpPr/>
          <p:nvPr/>
        </p:nvSpPr>
        <p:spPr>
          <a:xfrm>
            <a:off x="352016" y="3888193"/>
            <a:ext cx="916217" cy="399388"/>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SIL</a:t>
            </a:r>
          </a:p>
        </p:txBody>
      </p:sp>
      <p:sp>
        <p:nvSpPr>
          <p:cNvPr id="94" name="Rektangel med rundade hörn 93"/>
          <p:cNvSpPr/>
          <p:nvPr/>
        </p:nvSpPr>
        <p:spPr>
          <a:xfrm>
            <a:off x="358994" y="2582152"/>
            <a:ext cx="909953" cy="368408"/>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Samtycke</a:t>
            </a:r>
          </a:p>
        </p:txBody>
      </p:sp>
      <p:sp>
        <p:nvSpPr>
          <p:cNvPr id="96" name="Rektangel med rundade hörn 95"/>
          <p:cNvSpPr/>
          <p:nvPr/>
        </p:nvSpPr>
        <p:spPr>
          <a:xfrm>
            <a:off x="358797" y="3001523"/>
            <a:ext cx="916217" cy="372517"/>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Spärr</a:t>
            </a:r>
          </a:p>
        </p:txBody>
      </p:sp>
      <p:sp>
        <p:nvSpPr>
          <p:cNvPr id="101" name="Rektangel med rundade hörn 100"/>
          <p:cNvSpPr/>
          <p:nvPr/>
        </p:nvSpPr>
        <p:spPr>
          <a:xfrm>
            <a:off x="356419" y="3427641"/>
            <a:ext cx="916217" cy="354297"/>
          </a:xfrm>
          <a:prstGeom prst="roundRect">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Åtkomstlogg</a:t>
            </a:r>
          </a:p>
        </p:txBody>
      </p:sp>
      <p:sp>
        <p:nvSpPr>
          <p:cNvPr id="73" name="Rektangel med rundade hörn 72"/>
          <p:cNvSpPr/>
          <p:nvPr/>
        </p:nvSpPr>
        <p:spPr>
          <a:xfrm>
            <a:off x="6945821" y="4652194"/>
            <a:ext cx="860752" cy="509146"/>
          </a:xfrm>
          <a:prstGeom prst="roundRect">
            <a:avLst>
              <a:gd name="adj" fmla="val 7175"/>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Dosapotek</a:t>
            </a:r>
            <a:br>
              <a:rPr lang="sv-SE" sz="900" dirty="0">
                <a:solidFill>
                  <a:schemeClr val="bg1"/>
                </a:solidFill>
                <a:latin typeface="Arial"/>
                <a:ea typeface="ＭＳ Ｐゴシック" pitchFamily="-112" charset="-128"/>
                <a:cs typeface="ＭＳ Ｐゴシック" pitchFamily="-112" charset="-128"/>
              </a:rPr>
            </a:br>
            <a:r>
              <a:rPr lang="sv-SE" sz="900" dirty="0">
                <a:solidFill>
                  <a:schemeClr val="bg1"/>
                </a:solidFill>
                <a:latin typeface="Arial"/>
                <a:ea typeface="ＭＳ Ｐゴシック" pitchFamily="-112" charset="-128"/>
                <a:cs typeface="ＭＳ Ｐゴシック" pitchFamily="-112" charset="-128"/>
              </a:rPr>
              <a:t>Logistik</a:t>
            </a:r>
          </a:p>
        </p:txBody>
      </p:sp>
      <p:sp>
        <p:nvSpPr>
          <p:cNvPr id="84" name="Cylinder 83"/>
          <p:cNvSpPr/>
          <p:nvPr/>
        </p:nvSpPr>
        <p:spPr>
          <a:xfrm>
            <a:off x="6994736" y="5342522"/>
            <a:ext cx="762921" cy="448618"/>
          </a:xfrm>
          <a:prstGeom prst="can">
            <a:avLst/>
          </a:prstGeom>
          <a:ln>
            <a:headEnd type="none"/>
            <a:tailEnd type="none" w="lg" len="lg"/>
          </a:ln>
        </p:spPr>
        <p:style>
          <a:lnRef idx="2">
            <a:schemeClr val="accent3">
              <a:shade val="50000"/>
            </a:schemeClr>
          </a:lnRef>
          <a:fillRef idx="1">
            <a:schemeClr val="accent3"/>
          </a:fillRef>
          <a:effectRef idx="0">
            <a:schemeClr val="accent3"/>
          </a:effectRef>
          <a:fontRef idx="minor">
            <a:schemeClr val="lt1"/>
          </a:fontRef>
        </p:style>
        <p:txBody>
          <a:bodyPr lIns="72000" rIns="72000" anchor="ctr"/>
          <a:lstStyle/>
          <a:p>
            <a:pPr algn="ctr" defTabSz="914400" fontAlgn="base">
              <a:spcBef>
                <a:spcPct val="0"/>
              </a:spcBef>
              <a:spcAft>
                <a:spcPct val="0"/>
              </a:spcAft>
            </a:pPr>
            <a:r>
              <a:rPr lang="sv-SE" sz="1000" dirty="0">
                <a:solidFill>
                  <a:srgbClr val="382819"/>
                </a:solidFill>
                <a:latin typeface="Arial"/>
                <a:ea typeface="ＭＳ Ｐゴシック" pitchFamily="-112" charset="-128"/>
                <a:cs typeface="ＭＳ Ｐゴシック" pitchFamily="-112" charset="-128"/>
              </a:rPr>
              <a:t>Dosapotek</a:t>
            </a:r>
          </a:p>
        </p:txBody>
      </p:sp>
      <p:cxnSp>
        <p:nvCxnSpPr>
          <p:cNvPr id="85" name="Rak pil 59"/>
          <p:cNvCxnSpPr>
            <a:stCxn id="84" idx="1"/>
            <a:endCxn id="73" idx="2"/>
          </p:cNvCxnSpPr>
          <p:nvPr/>
        </p:nvCxnSpPr>
        <p:spPr>
          <a:xfrm flipV="1">
            <a:off x="7376197" y="5161340"/>
            <a:ext cx="0" cy="181182"/>
          </a:xfrm>
          <a:prstGeom prst="straightConnector1">
            <a:avLst/>
          </a:prstGeom>
          <a:ln>
            <a:solidFill>
              <a:srgbClr val="000000"/>
            </a:solidFill>
            <a:prstDash val="solid"/>
            <a:headEnd type="none" w="sm" len="sm"/>
            <a:tailEnd type="none" w="sm" len="sm"/>
          </a:ln>
        </p:spPr>
        <p:style>
          <a:lnRef idx="1">
            <a:schemeClr val="accent5"/>
          </a:lnRef>
          <a:fillRef idx="0">
            <a:schemeClr val="accent5"/>
          </a:fillRef>
          <a:effectRef idx="0">
            <a:schemeClr val="accent5"/>
          </a:effectRef>
          <a:fontRef idx="minor">
            <a:schemeClr val="tx1"/>
          </a:fontRef>
        </p:style>
      </p:cxnSp>
      <p:sp>
        <p:nvSpPr>
          <p:cNvPr id="74" name="Rektangel med rundade hörn 73"/>
          <p:cNvSpPr/>
          <p:nvPr/>
        </p:nvSpPr>
        <p:spPr>
          <a:xfrm>
            <a:off x="5069065" y="3946178"/>
            <a:ext cx="966163" cy="424704"/>
          </a:xfrm>
          <a:prstGeom prst="roundRect">
            <a:avLst>
              <a:gd name="adj" fmla="val 7957"/>
            </a:avLst>
          </a:prstGeom>
          <a:solidFill>
            <a:schemeClr val="accent5">
              <a:alpha val="56000"/>
            </a:schemeClr>
          </a:solidFill>
          <a:ln>
            <a:prstDash val="sysDash"/>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PIRR</a:t>
            </a:r>
            <a:br>
              <a:rPr lang="sv-SE" sz="900" dirty="0">
                <a:solidFill>
                  <a:srgbClr val="382819"/>
                </a:solidFill>
                <a:latin typeface="Arial"/>
                <a:ea typeface="ＭＳ Ｐゴシック" pitchFamily="-112" charset="-128"/>
                <a:cs typeface="ＭＳ Ｐゴシック" pitchFamily="-112" charset="-128"/>
              </a:rPr>
            </a:br>
            <a:r>
              <a:rPr lang="sv-SE" sz="900" dirty="0">
                <a:solidFill>
                  <a:srgbClr val="382819"/>
                </a:solidFill>
                <a:latin typeface="Arial"/>
                <a:ea typeface="ＭＳ Ｐゴシック" pitchFamily="-112" charset="-128"/>
                <a:cs typeface="ＭＳ Ｐゴシック" pitchFamily="-112" charset="-128"/>
              </a:rPr>
              <a:t>e-recept NEF </a:t>
            </a:r>
            <a:r>
              <a:rPr lang="sv-SE" sz="800" i="1" dirty="0" smtClean="0">
                <a:solidFill>
                  <a:srgbClr val="382819"/>
                </a:solidFill>
                <a:latin typeface="Arial"/>
                <a:ea typeface="ＭＳ Ｐゴシック" pitchFamily="-112" charset="-128"/>
                <a:cs typeface="ＭＳ Ｐゴシック" pitchFamily="-112" charset="-128"/>
              </a:rPr>
              <a:t>Skapa, </a:t>
            </a:r>
            <a:r>
              <a:rPr lang="sv-SE" sz="800" i="1" dirty="0">
                <a:solidFill>
                  <a:srgbClr val="382819"/>
                </a:solidFill>
                <a:latin typeface="Arial"/>
                <a:ea typeface="ＭＳ Ｐゴシック" pitchFamily="-112" charset="-128"/>
                <a:cs typeface="ＭＳ Ｐゴシック" pitchFamily="-112" charset="-128"/>
              </a:rPr>
              <a:t>Makulera</a:t>
            </a:r>
          </a:p>
        </p:txBody>
      </p:sp>
      <p:cxnSp>
        <p:nvCxnSpPr>
          <p:cNvPr id="88" name="Rak pil 59"/>
          <p:cNvCxnSpPr>
            <a:stCxn id="95" idx="2"/>
            <a:endCxn id="74" idx="0"/>
          </p:cNvCxnSpPr>
          <p:nvPr/>
        </p:nvCxnSpPr>
        <p:spPr>
          <a:xfrm rot="16200000" flipH="1">
            <a:off x="4885373" y="3279404"/>
            <a:ext cx="1333546" cy="1"/>
          </a:xfrm>
          <a:prstGeom prst="bentConnector3">
            <a:avLst>
              <a:gd name="adj1" fmla="val 50000"/>
            </a:avLst>
          </a:prstGeom>
          <a:ln>
            <a:solidFill>
              <a:schemeClr val="bg1">
                <a:lumMod val="50000"/>
              </a:schemeClr>
            </a:solidFill>
            <a:prstDash val="dash"/>
            <a:headEnd type="none" w="sm" len="sm"/>
            <a:tailEnd type="arrow" w="sm" len="sm"/>
          </a:ln>
        </p:spPr>
        <p:style>
          <a:lnRef idx="1">
            <a:schemeClr val="accent5"/>
          </a:lnRef>
          <a:fillRef idx="0">
            <a:schemeClr val="accent5"/>
          </a:fillRef>
          <a:effectRef idx="0">
            <a:schemeClr val="accent5"/>
          </a:effectRef>
          <a:fontRef idx="minor">
            <a:schemeClr val="tx1"/>
          </a:fontRef>
        </p:style>
      </p:cxnSp>
      <p:sp>
        <p:nvSpPr>
          <p:cNvPr id="95" name="Rektangel med rundade hörn 94"/>
          <p:cNvSpPr/>
          <p:nvPr/>
        </p:nvSpPr>
        <p:spPr bwMode="auto">
          <a:xfrm>
            <a:off x="4989665" y="2037563"/>
            <a:ext cx="1124962" cy="575069"/>
          </a:xfrm>
          <a:prstGeom prst="roundRect">
            <a:avLst/>
          </a:prstGeom>
          <a:gradFill flip="none" rotWithShape="1">
            <a:gsLst>
              <a:gs pos="0">
                <a:schemeClr val="accent2">
                  <a:tint val="50000"/>
                  <a:satMod val="300000"/>
                  <a:alpha val="53000"/>
                </a:schemeClr>
              </a:gs>
              <a:gs pos="35000">
                <a:schemeClr val="accent2">
                  <a:tint val="37000"/>
                  <a:satMod val="300000"/>
                  <a:alpha val="53000"/>
                </a:schemeClr>
              </a:gs>
              <a:gs pos="100000">
                <a:schemeClr val="accent2">
                  <a:tint val="15000"/>
                  <a:satMod val="350000"/>
                  <a:alpha val="53000"/>
                </a:schemeClr>
              </a:gs>
            </a:gsLst>
            <a:lin ang="16200000" scaled="1"/>
            <a:tileRect/>
          </a:gradFill>
          <a:ln>
            <a:prstDash val="dash"/>
            <a:tailEnd type="triangle" w="lg" len="lg"/>
          </a:ln>
          <a:extLst/>
        </p:spPr>
        <p:style>
          <a:lnRef idx="1">
            <a:schemeClr val="accent2"/>
          </a:lnRef>
          <a:fillRef idx="2">
            <a:schemeClr val="accent2"/>
          </a:fillRef>
          <a:effectRef idx="1">
            <a:schemeClr val="accent2"/>
          </a:effectRef>
          <a:fontRef idx="minor">
            <a:schemeClr val="dk1"/>
          </a:fontRef>
        </p:style>
        <p:txBody>
          <a:bodyPr lIns="36000" rIns="36000"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Läkemedelsmodul</a:t>
            </a:r>
            <a:endParaRPr lang="sv-SE" sz="800" i="1" dirty="0">
              <a:solidFill>
                <a:srgbClr val="382819"/>
              </a:solidFill>
              <a:latin typeface="Arial" charset="0"/>
              <a:ea typeface="ＭＳ Ｐゴシック" charset="0"/>
              <a:cs typeface="ＭＳ Ｐゴシック" charset="0"/>
            </a:endParaRPr>
          </a:p>
        </p:txBody>
      </p:sp>
      <p:pic>
        <p:nvPicPr>
          <p:cNvPr id="182" name="Bildobjekt 181"/>
          <p:cNvPicPr>
            <a:picLocks noChangeAspect="1"/>
          </p:cNvPicPr>
          <p:nvPr/>
        </p:nvPicPr>
        <p:blipFill>
          <a:blip r:embed="rId3" cstate="print">
            <a:duotone>
              <a:prstClr val="black"/>
              <a:srgbClr val="99CCFF">
                <a:tint val="45000"/>
                <a:satMod val="400000"/>
              </a:srgbClr>
            </a:duotone>
            <a:extLst>
              <a:ext uri="{BEBA8EAE-BF5A-486C-A8C5-ECC9F3942E4B}">
                <a14:imgProps xmlns:a14="http://schemas.microsoft.com/office/drawing/2010/main">
                  <a14:imgLayer r:embed="rId4">
                    <a14:imgEffect>
                      <a14:artisticPencilGrayscale/>
                    </a14:imgEffect>
                    <a14:imgEffect>
                      <a14:colorTemperature colorTemp="4700"/>
                    </a14:imgEffect>
                    <a14:imgEffect>
                      <a14:brightnessContrast contrast="-40000"/>
                    </a14:imgEffect>
                  </a14:imgLayer>
                </a14:imgProps>
              </a:ext>
              <a:ext uri="{28A0092B-C50C-407E-A947-70E740481C1C}">
                <a14:useLocalDpi xmlns:a14="http://schemas.microsoft.com/office/drawing/2010/main"/>
              </a:ext>
            </a:extLst>
          </a:blip>
          <a:stretch>
            <a:fillRect/>
          </a:stretch>
        </p:blipFill>
        <p:spPr>
          <a:xfrm>
            <a:off x="3860632" y="1384045"/>
            <a:ext cx="476827" cy="548800"/>
          </a:xfrm>
          <a:prstGeom prst="rect">
            <a:avLst/>
          </a:prstGeom>
        </p:spPr>
      </p:pic>
      <p:cxnSp>
        <p:nvCxnSpPr>
          <p:cNvPr id="193" name="Rak pil 59"/>
          <p:cNvCxnSpPr/>
          <p:nvPr/>
        </p:nvCxnSpPr>
        <p:spPr>
          <a:xfrm flipH="1">
            <a:off x="3655927" y="5027688"/>
            <a:ext cx="313849" cy="1"/>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96" name="Rak pil 59"/>
          <p:cNvCxnSpPr/>
          <p:nvPr/>
        </p:nvCxnSpPr>
        <p:spPr>
          <a:xfrm>
            <a:off x="3655927" y="4858088"/>
            <a:ext cx="313849" cy="0"/>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199" name="Rektangel med rundade hörn 22"/>
          <p:cNvSpPr/>
          <p:nvPr/>
        </p:nvSpPr>
        <p:spPr>
          <a:xfrm>
            <a:off x="3646622" y="2010049"/>
            <a:ext cx="881493" cy="57210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Journalen</a:t>
            </a:r>
            <a:r>
              <a:rPr lang="sv-SE" sz="900" dirty="0">
                <a:solidFill>
                  <a:srgbClr val="382819"/>
                </a:solidFill>
                <a:latin typeface="Arial" charset="0"/>
                <a:ea typeface="ＭＳ Ｐゴシック" charset="0"/>
                <a:cs typeface="ＭＳ Ｐゴシック" charset="0"/>
              </a:rPr>
              <a:t> </a:t>
            </a:r>
            <a:r>
              <a:rPr lang="sv-SE" sz="900" dirty="0" smtClean="0">
                <a:solidFill>
                  <a:srgbClr val="382819"/>
                </a:solidFill>
                <a:latin typeface="Arial" charset="0"/>
                <a:ea typeface="ＭＳ Ｐゴシック" charset="0"/>
                <a:cs typeface="ＭＳ Ｐゴシック" charset="0"/>
              </a:rPr>
              <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Vårdhändelser</a:t>
            </a:r>
            <a:endParaRPr lang="sv-SE" sz="900" dirty="0">
              <a:solidFill>
                <a:srgbClr val="382819"/>
              </a:solidFill>
              <a:latin typeface="Arial" charset="0"/>
              <a:ea typeface="ＭＳ Ｐゴシック" charset="0"/>
              <a:cs typeface="ＭＳ Ｐゴシック" charset="0"/>
            </a:endParaRPr>
          </a:p>
        </p:txBody>
      </p:sp>
      <p:pic>
        <p:nvPicPr>
          <p:cNvPr id="203" name="Bildobjekt 202"/>
          <p:cNvPicPr>
            <a:picLocks noChangeAspect="1"/>
          </p:cNvPicPr>
          <p:nvPr/>
        </p:nvPicPr>
        <p:blipFill>
          <a:blip r:embed="rId5" cstate="print">
            <a:duotone>
              <a:schemeClr val="accent2">
                <a:shade val="45000"/>
                <a:satMod val="135000"/>
              </a:schemeClr>
              <a:prstClr val="white"/>
            </a:duotone>
            <a:alphaModFix amt="53000"/>
            <a:extLst>
              <a:ext uri="{28A0092B-C50C-407E-A947-70E740481C1C}">
                <a14:useLocalDpi xmlns:a14="http://schemas.microsoft.com/office/drawing/2010/main"/>
              </a:ext>
            </a:extLst>
          </a:blip>
          <a:stretch>
            <a:fillRect/>
          </a:stretch>
        </p:blipFill>
        <p:spPr>
          <a:xfrm>
            <a:off x="5277222" y="1383157"/>
            <a:ext cx="506554" cy="553027"/>
          </a:xfrm>
          <a:prstGeom prst="rect">
            <a:avLst/>
          </a:prstGeom>
        </p:spPr>
      </p:pic>
      <p:sp>
        <p:nvSpPr>
          <p:cNvPr id="54" name="textruta 53"/>
          <p:cNvSpPr txBox="1"/>
          <p:nvPr/>
        </p:nvSpPr>
        <p:spPr>
          <a:xfrm>
            <a:off x="3205506" y="1551435"/>
            <a:ext cx="710550" cy="246221"/>
          </a:xfrm>
          <a:prstGeom prst="rect">
            <a:avLst/>
          </a:prstGeom>
          <a:noFill/>
        </p:spPr>
        <p:txBody>
          <a:bodyPr wrap="square" rtlCol="0">
            <a:spAutoFit/>
          </a:bodyPr>
          <a:lstStyle/>
          <a:p>
            <a:r>
              <a:rPr lang="sv-SE" sz="1000" i="1" dirty="0" smtClean="0">
                <a:solidFill>
                  <a:prstClr val="black"/>
                </a:solidFill>
                <a:latin typeface="Arial"/>
                <a:cs typeface="Arial"/>
              </a:rPr>
              <a:t>Invånare</a:t>
            </a:r>
            <a:endParaRPr lang="sv-SE" sz="1000" i="1" dirty="0">
              <a:solidFill>
                <a:prstClr val="black"/>
              </a:solidFill>
              <a:latin typeface="Arial"/>
              <a:cs typeface="Arial"/>
            </a:endParaRPr>
          </a:p>
        </p:txBody>
      </p:sp>
      <p:sp>
        <p:nvSpPr>
          <p:cNvPr id="56" name="textruta 55"/>
          <p:cNvSpPr txBox="1"/>
          <p:nvPr/>
        </p:nvSpPr>
        <p:spPr>
          <a:xfrm>
            <a:off x="4648985" y="1561682"/>
            <a:ext cx="710550" cy="246221"/>
          </a:xfrm>
          <a:prstGeom prst="rect">
            <a:avLst/>
          </a:prstGeom>
          <a:noFill/>
        </p:spPr>
        <p:txBody>
          <a:bodyPr wrap="square" rtlCol="0">
            <a:spAutoFit/>
          </a:bodyPr>
          <a:lstStyle/>
          <a:p>
            <a:r>
              <a:rPr lang="sv-SE" sz="1000" i="1" dirty="0" smtClean="0">
                <a:solidFill>
                  <a:prstClr val="black"/>
                </a:solidFill>
                <a:latin typeface="Arial"/>
                <a:cs typeface="Arial"/>
              </a:rPr>
              <a:t>Personal</a:t>
            </a:r>
            <a:endParaRPr lang="sv-SE" sz="1000" i="1" dirty="0">
              <a:solidFill>
                <a:prstClr val="black"/>
              </a:solidFill>
              <a:latin typeface="Arial"/>
              <a:cs typeface="Arial"/>
            </a:endParaRPr>
          </a:p>
        </p:txBody>
      </p:sp>
      <p:sp>
        <p:nvSpPr>
          <p:cNvPr id="58" name="textruta 57"/>
          <p:cNvSpPr txBox="1"/>
          <p:nvPr/>
        </p:nvSpPr>
        <p:spPr>
          <a:xfrm>
            <a:off x="7320030" y="5143642"/>
            <a:ext cx="590949" cy="246221"/>
          </a:xfrm>
          <a:prstGeom prst="rect">
            <a:avLst/>
          </a:prstGeom>
          <a:noFill/>
        </p:spPr>
        <p:txBody>
          <a:bodyPr wrap="square" rtlCol="0">
            <a:spAutoFit/>
          </a:bodyPr>
          <a:lstStyle/>
          <a:p>
            <a:r>
              <a:rPr lang="sv-SE" sz="1000" i="1" dirty="0" smtClean="0">
                <a:solidFill>
                  <a:prstClr val="black"/>
                </a:solidFill>
                <a:latin typeface="Arial"/>
                <a:cs typeface="Arial"/>
              </a:rPr>
              <a:t>”SOL”</a:t>
            </a:r>
            <a:endParaRPr lang="sv-SE" sz="1000" i="1" dirty="0">
              <a:solidFill>
                <a:prstClr val="black"/>
              </a:solidFill>
              <a:latin typeface="Arial"/>
              <a:cs typeface="Arial"/>
            </a:endParaRPr>
          </a:p>
        </p:txBody>
      </p:sp>
      <p:sp>
        <p:nvSpPr>
          <p:cNvPr id="68" name="Rektangel med rundade hörn 22"/>
          <p:cNvSpPr/>
          <p:nvPr/>
        </p:nvSpPr>
        <p:spPr>
          <a:xfrm>
            <a:off x="2247955" y="2027403"/>
            <a:ext cx="1110207" cy="61350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r>
              <a:rPr lang="sv-SE" sz="900" dirty="0">
                <a:solidFill>
                  <a:srgbClr val="382819"/>
                </a:solidFill>
                <a:latin typeface="Arial" charset="0"/>
                <a:ea typeface="ＭＳ Ｐゴシック" charset="0"/>
                <a:cs typeface="ＭＳ Ｐゴシック" charset="0"/>
              </a:rPr>
              <a:t/>
            </a:r>
            <a:br>
              <a:rPr lang="sv-SE" sz="900" dirty="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Läkemedelsmodul</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Ordinationsapplikation </a:t>
            </a:r>
            <a:endParaRPr lang="sv-SE" sz="900" dirty="0">
              <a:solidFill>
                <a:srgbClr val="382819"/>
              </a:solidFill>
              <a:latin typeface="Arial" charset="0"/>
              <a:ea typeface="ＭＳ Ｐゴシック" charset="0"/>
              <a:cs typeface="ＭＳ Ｐゴシック" charset="0"/>
            </a:endParaRPr>
          </a:p>
        </p:txBody>
      </p:sp>
      <p:sp>
        <p:nvSpPr>
          <p:cNvPr id="72" name="Cylinder 71"/>
          <p:cNvSpPr/>
          <p:nvPr/>
        </p:nvSpPr>
        <p:spPr>
          <a:xfrm>
            <a:off x="6159753" y="5379405"/>
            <a:ext cx="573527" cy="425627"/>
          </a:xfrm>
          <a:prstGeom prst="can">
            <a:avLst/>
          </a:prstGeom>
          <a:ln>
            <a:headEnd type="none"/>
            <a:tailEnd type="none" w="lg" len="lg"/>
          </a:ln>
        </p:spPr>
        <p:style>
          <a:lnRef idx="2">
            <a:schemeClr val="accent3">
              <a:shade val="50000"/>
            </a:schemeClr>
          </a:lnRef>
          <a:fillRef idx="1">
            <a:schemeClr val="accent3"/>
          </a:fillRef>
          <a:effectRef idx="0">
            <a:schemeClr val="accent3"/>
          </a:effectRef>
          <a:fontRef idx="minor">
            <a:schemeClr val="lt1"/>
          </a:fontRef>
        </p:style>
        <p:txBody>
          <a:bodyPr lIns="72000" rIns="72000" anchor="ctr"/>
          <a:lstStyle/>
          <a:p>
            <a:pPr algn="ctr" defTabSz="914400" fontAlgn="base">
              <a:spcBef>
                <a:spcPct val="0"/>
              </a:spcBef>
              <a:spcAft>
                <a:spcPct val="0"/>
              </a:spcAft>
            </a:pPr>
            <a:r>
              <a:rPr lang="sv-SE" sz="1000" dirty="0" smtClean="0">
                <a:solidFill>
                  <a:srgbClr val="382819"/>
                </a:solidFill>
                <a:latin typeface="Arial"/>
                <a:ea typeface="ＭＳ Ｐゴシック" pitchFamily="-112" charset="-128"/>
                <a:cs typeface="ＭＳ Ｐゴシック" pitchFamily="-112" charset="-128"/>
              </a:rPr>
              <a:t>AXS/EXPO</a:t>
            </a:r>
            <a:endParaRPr lang="sv-SE" sz="1000" dirty="0">
              <a:solidFill>
                <a:srgbClr val="382819"/>
              </a:solidFill>
              <a:latin typeface="Arial"/>
              <a:ea typeface="ＭＳ Ｐゴシック" pitchFamily="-112" charset="-128"/>
              <a:cs typeface="ＭＳ Ｐゴシック" pitchFamily="-112" charset="-128"/>
            </a:endParaRPr>
          </a:p>
        </p:txBody>
      </p:sp>
      <p:cxnSp>
        <p:nvCxnSpPr>
          <p:cNvPr id="75" name="Rak pil 59"/>
          <p:cNvCxnSpPr>
            <a:stCxn id="72" idx="1"/>
            <a:endCxn id="78" idx="2"/>
          </p:cNvCxnSpPr>
          <p:nvPr/>
        </p:nvCxnSpPr>
        <p:spPr>
          <a:xfrm flipV="1">
            <a:off x="6446517" y="5170671"/>
            <a:ext cx="31682" cy="208734"/>
          </a:xfrm>
          <a:prstGeom prst="straightConnector1">
            <a:avLst/>
          </a:prstGeom>
          <a:ln>
            <a:solidFill>
              <a:srgbClr val="000000"/>
            </a:solidFill>
            <a:prstDash val="solid"/>
            <a:headEnd type="none" w="sm" len="sm"/>
            <a:tailEnd type="none" w="sm" len="sm"/>
          </a:ln>
        </p:spPr>
        <p:style>
          <a:lnRef idx="1">
            <a:schemeClr val="accent5"/>
          </a:lnRef>
          <a:fillRef idx="0">
            <a:schemeClr val="accent5"/>
          </a:fillRef>
          <a:effectRef idx="0">
            <a:schemeClr val="accent5"/>
          </a:effectRef>
          <a:fontRef idx="minor">
            <a:schemeClr val="tx1"/>
          </a:fontRef>
        </p:style>
      </p:cxnSp>
      <p:sp>
        <p:nvSpPr>
          <p:cNvPr id="86" name="Rektangel med rundade hörn 85"/>
          <p:cNvSpPr/>
          <p:nvPr/>
        </p:nvSpPr>
        <p:spPr>
          <a:xfrm>
            <a:off x="7166289" y="2800685"/>
            <a:ext cx="305968" cy="200838"/>
          </a:xfrm>
          <a:prstGeom prst="roundRect">
            <a:avLst>
              <a:gd name="adj" fmla="val 7175"/>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endParaRPr lang="sv-SE" sz="900" dirty="0">
              <a:solidFill>
                <a:srgbClr val="382819"/>
              </a:solidFill>
              <a:latin typeface="Arial"/>
              <a:ea typeface="ＭＳ Ｐゴシック" pitchFamily="-112" charset="-128"/>
              <a:cs typeface="ＭＳ Ｐゴシック" pitchFamily="-112" charset="-128"/>
            </a:endParaRPr>
          </a:p>
        </p:txBody>
      </p:sp>
      <p:sp>
        <p:nvSpPr>
          <p:cNvPr id="87" name="textruta 86"/>
          <p:cNvSpPr txBox="1"/>
          <p:nvPr/>
        </p:nvSpPr>
        <p:spPr>
          <a:xfrm>
            <a:off x="7444786" y="2725675"/>
            <a:ext cx="1479503" cy="553998"/>
          </a:xfrm>
          <a:prstGeom prst="rect">
            <a:avLst/>
          </a:prstGeom>
          <a:noFill/>
        </p:spPr>
        <p:txBody>
          <a:bodyPr wrap="square" rtlCol="0">
            <a:spAutoFit/>
          </a:bodyPr>
          <a:lstStyle/>
          <a:p>
            <a:r>
              <a:rPr lang="sv-SE" sz="1000" i="1" dirty="0">
                <a:solidFill>
                  <a:prstClr val="black"/>
                </a:solidFill>
                <a:latin typeface="Arial"/>
                <a:cs typeface="Arial"/>
              </a:rPr>
              <a:t>T</a:t>
            </a:r>
            <a:r>
              <a:rPr lang="sv-SE" sz="1000" i="1" dirty="0" smtClean="0">
                <a:solidFill>
                  <a:prstClr val="black"/>
                </a:solidFill>
                <a:latin typeface="Arial"/>
                <a:cs typeface="Arial"/>
              </a:rPr>
              <a:t>jänster används av NOD för recept och uttagsinformation</a:t>
            </a:r>
            <a:endParaRPr lang="sv-SE" sz="1000" i="1" dirty="0">
              <a:solidFill>
                <a:prstClr val="black"/>
              </a:solidFill>
              <a:latin typeface="Arial"/>
              <a:cs typeface="Arial"/>
            </a:endParaRPr>
          </a:p>
        </p:txBody>
      </p:sp>
      <p:grpSp>
        <p:nvGrpSpPr>
          <p:cNvPr id="108" name="Grupp 107"/>
          <p:cNvGrpSpPr/>
          <p:nvPr/>
        </p:nvGrpSpPr>
        <p:grpSpPr>
          <a:xfrm rot="5400000">
            <a:off x="1561182" y="2167185"/>
            <a:ext cx="167139" cy="334568"/>
            <a:chOff x="6321274" y="3150312"/>
            <a:chExt cx="167139" cy="334568"/>
          </a:xfrm>
        </p:grpSpPr>
        <p:cxnSp>
          <p:nvCxnSpPr>
            <p:cNvPr id="109"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10"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113" name="textruta 112"/>
          <p:cNvSpPr txBox="1"/>
          <p:nvPr/>
        </p:nvSpPr>
        <p:spPr>
          <a:xfrm>
            <a:off x="5547460" y="2633275"/>
            <a:ext cx="1253290" cy="507831"/>
          </a:xfrm>
          <a:prstGeom prst="rect">
            <a:avLst/>
          </a:prstGeom>
          <a:noFill/>
        </p:spPr>
        <p:txBody>
          <a:bodyPr wrap="square" rtlCol="0">
            <a:spAutoFit/>
          </a:bodyPr>
          <a:lstStyle/>
          <a:p>
            <a:r>
              <a:rPr lang="sv-SE" sz="900" i="1" dirty="0" smtClean="0">
                <a:solidFill>
                  <a:prstClr val="black"/>
                </a:solidFill>
                <a:latin typeface="Arial"/>
                <a:cs typeface="Arial"/>
              </a:rPr>
              <a:t>Ej integrerad med NOD under övergångstid</a:t>
            </a:r>
            <a:endParaRPr lang="sv-SE" sz="900" i="1" dirty="0">
              <a:solidFill>
                <a:prstClr val="black"/>
              </a:solidFill>
              <a:latin typeface="Arial"/>
              <a:cs typeface="Arial"/>
            </a:endParaRPr>
          </a:p>
        </p:txBody>
      </p:sp>
      <p:sp>
        <p:nvSpPr>
          <p:cNvPr id="116" name="Dokument 115"/>
          <p:cNvSpPr/>
          <p:nvPr/>
        </p:nvSpPr>
        <p:spPr bwMode="auto">
          <a:xfrm>
            <a:off x="2945589" y="2529298"/>
            <a:ext cx="827364" cy="633323"/>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a:solidFill>
                  <a:srgbClr val="382819"/>
                </a:solidFill>
                <a:latin typeface="Arial Narrow"/>
                <a:cs typeface="Arial Narrow"/>
              </a:rPr>
              <a:t>Patientens samlade läkemedel</a:t>
            </a:r>
          </a:p>
        </p:txBody>
      </p:sp>
      <p:pic>
        <p:nvPicPr>
          <p:cNvPr id="119" name="Bildobjekt 118"/>
          <p:cNvPicPr>
            <a:picLocks noChangeAspect="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2549924" y="1379818"/>
            <a:ext cx="506554" cy="553027"/>
          </a:xfrm>
          <a:prstGeom prst="rect">
            <a:avLst/>
          </a:prstGeom>
        </p:spPr>
      </p:pic>
      <p:sp>
        <p:nvSpPr>
          <p:cNvPr id="120" name="textruta 119"/>
          <p:cNvSpPr txBox="1"/>
          <p:nvPr/>
        </p:nvSpPr>
        <p:spPr>
          <a:xfrm>
            <a:off x="1926243" y="1547208"/>
            <a:ext cx="710550" cy="246221"/>
          </a:xfrm>
          <a:prstGeom prst="rect">
            <a:avLst/>
          </a:prstGeom>
          <a:noFill/>
        </p:spPr>
        <p:txBody>
          <a:bodyPr wrap="square" rtlCol="0">
            <a:spAutoFit/>
          </a:bodyPr>
          <a:lstStyle/>
          <a:p>
            <a:r>
              <a:rPr lang="sv-SE" sz="1000" i="1" dirty="0" smtClean="0">
                <a:solidFill>
                  <a:prstClr val="black"/>
                </a:solidFill>
                <a:latin typeface="Arial"/>
                <a:cs typeface="Arial"/>
              </a:rPr>
              <a:t>Personal</a:t>
            </a:r>
            <a:endParaRPr lang="sv-SE" sz="1000" i="1" dirty="0">
              <a:solidFill>
                <a:prstClr val="black"/>
              </a:solidFill>
              <a:latin typeface="Arial"/>
              <a:cs typeface="Arial"/>
            </a:endParaRPr>
          </a:p>
        </p:txBody>
      </p:sp>
      <p:sp>
        <p:nvSpPr>
          <p:cNvPr id="145" name="Rektangel med rundade hörn 144"/>
          <p:cNvSpPr/>
          <p:nvPr/>
        </p:nvSpPr>
        <p:spPr>
          <a:xfrm rot="16200000">
            <a:off x="1848826" y="3958607"/>
            <a:ext cx="1302810" cy="1326684"/>
          </a:xfrm>
          <a:prstGeom prst="roundRect">
            <a:avLst>
              <a:gd name="adj" fmla="val 8787"/>
            </a:avLst>
          </a:prstGeom>
          <a:ln>
            <a:tailEnd type="triangle" w="lg" len="lg"/>
          </a:ln>
        </p:spPr>
        <p:style>
          <a:lnRef idx="2">
            <a:schemeClr val="accent5"/>
          </a:lnRef>
          <a:fillRef idx="1">
            <a:schemeClr val="lt1"/>
          </a:fillRef>
          <a:effectRef idx="0">
            <a:schemeClr val="accent5"/>
          </a:effectRef>
          <a:fontRef idx="minor">
            <a:schemeClr val="dk1"/>
          </a:fontRef>
        </p:style>
        <p:txBody>
          <a:bodyPr lIns="36000" rIns="36000" anchor="t"/>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Läkemedelslista</a:t>
            </a:r>
            <a:br>
              <a:rPr lang="sv-SE" sz="900" dirty="0">
                <a:solidFill>
                  <a:srgbClr val="382819"/>
                </a:solidFill>
                <a:latin typeface="Arial"/>
                <a:ea typeface="ＭＳ Ｐゴシック" pitchFamily="-112" charset="-128"/>
                <a:cs typeface="ＭＳ Ｐゴシック" pitchFamily="-112" charset="-128"/>
              </a:rPr>
            </a:br>
            <a:endParaRPr lang="sv-SE" sz="900" dirty="0">
              <a:solidFill>
                <a:srgbClr val="382819"/>
              </a:solidFill>
              <a:latin typeface="Arial"/>
              <a:ea typeface="ＭＳ Ｐゴシック" pitchFamily="-112" charset="-128"/>
              <a:cs typeface="ＭＳ Ｐゴシック" pitchFamily="-112" charset="-128"/>
            </a:endParaRPr>
          </a:p>
        </p:txBody>
      </p:sp>
      <p:sp>
        <p:nvSpPr>
          <p:cNvPr id="146" name="Rektangel med rundade hörn 145"/>
          <p:cNvSpPr/>
          <p:nvPr/>
        </p:nvSpPr>
        <p:spPr>
          <a:xfrm>
            <a:off x="2095555" y="4248083"/>
            <a:ext cx="987231" cy="314554"/>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Läkemedels-</a:t>
            </a:r>
            <a:r>
              <a:rPr lang="sv-SE" sz="900" dirty="0" smtClean="0">
                <a:solidFill>
                  <a:schemeClr val="bg1"/>
                </a:solidFill>
                <a:latin typeface="Arial"/>
                <a:ea typeface="ＭＳ Ｐゴシック" pitchFamily="-112" charset="-128"/>
                <a:cs typeface="ＭＳ Ｐゴシック" pitchFamily="-112" charset="-128"/>
              </a:rPr>
              <a:t>ordination</a:t>
            </a:r>
            <a:endParaRPr lang="sv-SE" sz="900" dirty="0">
              <a:solidFill>
                <a:schemeClr val="bg1"/>
              </a:solidFill>
              <a:latin typeface="Arial"/>
              <a:ea typeface="ＭＳ Ｐゴシック" pitchFamily="-112" charset="-128"/>
              <a:cs typeface="ＭＳ Ｐゴシック" pitchFamily="-112" charset="-128"/>
            </a:endParaRPr>
          </a:p>
        </p:txBody>
      </p:sp>
      <p:sp>
        <p:nvSpPr>
          <p:cNvPr id="147" name="Rektangel med rundade hörn 146"/>
          <p:cNvSpPr/>
          <p:nvPr/>
        </p:nvSpPr>
        <p:spPr>
          <a:xfrm>
            <a:off x="2095556" y="4562637"/>
            <a:ext cx="987230" cy="324497"/>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Läkemedels-</a:t>
            </a:r>
            <a:r>
              <a:rPr lang="sv-SE" sz="900" dirty="0">
                <a:solidFill>
                  <a:schemeClr val="bg1"/>
                </a:solidFill>
                <a:latin typeface="Arial" charset="0"/>
              </a:rPr>
              <a:t>förskrivning</a:t>
            </a:r>
            <a:endParaRPr lang="sv-SE" sz="900" dirty="0">
              <a:solidFill>
                <a:schemeClr val="bg1"/>
              </a:solidFill>
              <a:latin typeface="Arial"/>
              <a:ea typeface="ＭＳ Ｐゴシック" pitchFamily="-112" charset="-128"/>
              <a:cs typeface="ＭＳ Ｐゴシック" pitchFamily="-112" charset="-128"/>
            </a:endParaRPr>
          </a:p>
        </p:txBody>
      </p:sp>
      <p:sp>
        <p:nvSpPr>
          <p:cNvPr id="149" name="textruta 148"/>
          <p:cNvSpPr txBox="1"/>
          <p:nvPr/>
        </p:nvSpPr>
        <p:spPr>
          <a:xfrm>
            <a:off x="2017177" y="4012319"/>
            <a:ext cx="1253290" cy="215444"/>
          </a:xfrm>
          <a:prstGeom prst="rect">
            <a:avLst/>
          </a:prstGeom>
          <a:noFill/>
        </p:spPr>
        <p:txBody>
          <a:bodyPr wrap="square" rtlCol="0">
            <a:spAutoFit/>
          </a:bodyPr>
          <a:lstStyle/>
          <a:p>
            <a:r>
              <a:rPr lang="sv-SE" sz="800" i="1" dirty="0" smtClean="0">
                <a:solidFill>
                  <a:prstClr val="black"/>
                </a:solidFill>
                <a:latin typeface="Arial"/>
                <a:cs typeface="Arial"/>
              </a:rPr>
              <a:t>Läsa, Uppdatera</a:t>
            </a:r>
            <a:endParaRPr lang="sv-SE" sz="800" i="1" dirty="0">
              <a:solidFill>
                <a:prstClr val="black"/>
              </a:solidFill>
              <a:latin typeface="Arial"/>
              <a:cs typeface="Arial"/>
            </a:endParaRPr>
          </a:p>
        </p:txBody>
      </p:sp>
      <p:sp>
        <p:nvSpPr>
          <p:cNvPr id="130" name="Rektangel med rundade hörn 129"/>
          <p:cNvSpPr/>
          <p:nvPr/>
        </p:nvSpPr>
        <p:spPr>
          <a:xfrm>
            <a:off x="2095555" y="4887134"/>
            <a:ext cx="987230" cy="226533"/>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chemeClr val="bg1"/>
                </a:solidFill>
                <a:latin typeface="Arial"/>
                <a:ea typeface="ＭＳ Ｐゴシック" pitchFamily="-112" charset="-128"/>
                <a:cs typeface="ＭＳ Ｐゴシック" pitchFamily="-112" charset="-128"/>
              </a:rPr>
              <a:t>Expediering</a:t>
            </a:r>
            <a:endParaRPr lang="sv-SE" sz="900" dirty="0">
              <a:solidFill>
                <a:schemeClr val="bg1"/>
              </a:solidFill>
              <a:latin typeface="Arial"/>
              <a:ea typeface="ＭＳ Ｐゴシック" pitchFamily="-112" charset="-128"/>
              <a:cs typeface="ＭＳ Ｐゴシック" pitchFamily="-112" charset="-128"/>
            </a:endParaRPr>
          </a:p>
        </p:txBody>
      </p:sp>
      <p:sp>
        <p:nvSpPr>
          <p:cNvPr id="131" name="Rektangel med rundade hörn 130"/>
          <p:cNvSpPr/>
          <p:nvPr/>
        </p:nvSpPr>
        <p:spPr>
          <a:xfrm>
            <a:off x="2332054" y="5266813"/>
            <a:ext cx="808238" cy="265824"/>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chemeClr val="bg1"/>
                </a:solidFill>
                <a:latin typeface="Arial"/>
                <a:ea typeface="ＭＳ Ｐゴシック" pitchFamily="-112" charset="-128"/>
                <a:cs typeface="ＭＳ Ｐゴシック" pitchFamily="-112" charset="-128"/>
              </a:rPr>
              <a:t>Stödtjänster</a:t>
            </a:r>
            <a:endParaRPr lang="sv-SE" sz="900" dirty="0">
              <a:solidFill>
                <a:schemeClr val="bg1"/>
              </a:solidFill>
              <a:latin typeface="Arial"/>
              <a:ea typeface="ＭＳ Ｐゴシック" pitchFamily="-112" charset="-128"/>
              <a:cs typeface="ＭＳ Ｐゴシック" pitchFamily="-112" charset="-128"/>
            </a:endParaRPr>
          </a:p>
        </p:txBody>
      </p:sp>
      <p:sp>
        <p:nvSpPr>
          <p:cNvPr id="150" name="Cylinder 149"/>
          <p:cNvSpPr/>
          <p:nvPr/>
        </p:nvSpPr>
        <p:spPr>
          <a:xfrm>
            <a:off x="1773992" y="5580972"/>
            <a:ext cx="1018834" cy="509351"/>
          </a:xfrm>
          <a:prstGeom prst="can">
            <a:avLst/>
          </a:prstGeom>
          <a:ln>
            <a:headEnd type="none"/>
            <a:tailEnd type="none" w="lg" len="lg"/>
          </a:ln>
        </p:spPr>
        <p:style>
          <a:lnRef idx="2">
            <a:schemeClr val="accent3">
              <a:shade val="50000"/>
            </a:schemeClr>
          </a:lnRef>
          <a:fillRef idx="1">
            <a:schemeClr val="accent3"/>
          </a:fillRef>
          <a:effectRef idx="0">
            <a:schemeClr val="accent3"/>
          </a:effectRef>
          <a:fontRef idx="minor">
            <a:schemeClr val="lt1"/>
          </a:fontRef>
        </p:style>
        <p:txBody>
          <a:bodyPr lIns="72000" rIns="72000" anchor="ctr"/>
          <a:lstStyle/>
          <a:p>
            <a:pPr algn="ctr" defTabSz="914400" fontAlgn="base">
              <a:spcBef>
                <a:spcPct val="0"/>
              </a:spcBef>
              <a:spcAft>
                <a:spcPct val="0"/>
              </a:spcAft>
            </a:pPr>
            <a:r>
              <a:rPr lang="sv-SE" sz="1000" dirty="0" smtClean="0">
                <a:solidFill>
                  <a:srgbClr val="382819"/>
                </a:solidFill>
                <a:latin typeface="Arial"/>
                <a:ea typeface="ＭＳ Ｐゴシック" pitchFamily="-112" charset="-128"/>
                <a:cs typeface="ＭＳ Ｐゴシック" pitchFamily="-112" charset="-128"/>
              </a:rPr>
              <a:t>NOD</a:t>
            </a:r>
            <a:endParaRPr lang="sv-SE" sz="1000" dirty="0">
              <a:solidFill>
                <a:srgbClr val="382819"/>
              </a:solidFill>
              <a:latin typeface="Arial"/>
              <a:ea typeface="ＭＳ Ｐゴシック" pitchFamily="-112" charset="-128"/>
              <a:cs typeface="ＭＳ Ｐゴシック" pitchFamily="-112" charset="-128"/>
            </a:endParaRPr>
          </a:p>
        </p:txBody>
      </p:sp>
      <p:cxnSp>
        <p:nvCxnSpPr>
          <p:cNvPr id="151" name="Rak pil 59"/>
          <p:cNvCxnSpPr>
            <a:stCxn id="150" idx="1"/>
          </p:cNvCxnSpPr>
          <p:nvPr/>
        </p:nvCxnSpPr>
        <p:spPr>
          <a:xfrm flipV="1">
            <a:off x="2283409" y="5273354"/>
            <a:ext cx="0" cy="307618"/>
          </a:xfrm>
          <a:prstGeom prst="straightConnector1">
            <a:avLst/>
          </a:prstGeom>
          <a:ln>
            <a:solidFill>
              <a:srgbClr val="000000"/>
            </a:solidFill>
            <a:prstDash val="solid"/>
            <a:headEnd type="none" w="sm" len="sm"/>
            <a:tailEnd type="none" w="sm" len="sm"/>
          </a:ln>
        </p:spPr>
        <p:style>
          <a:lnRef idx="1">
            <a:schemeClr val="accent5"/>
          </a:lnRef>
          <a:fillRef idx="0">
            <a:schemeClr val="accent5"/>
          </a:fillRef>
          <a:effectRef idx="0">
            <a:schemeClr val="accent5"/>
          </a:effectRef>
          <a:fontRef idx="minor">
            <a:schemeClr val="tx1"/>
          </a:fontRef>
        </p:style>
      </p:cxnSp>
      <p:grpSp>
        <p:nvGrpSpPr>
          <p:cNvPr id="153" name="Grupp 152"/>
          <p:cNvGrpSpPr/>
          <p:nvPr/>
        </p:nvGrpSpPr>
        <p:grpSpPr>
          <a:xfrm>
            <a:off x="6779686" y="3391446"/>
            <a:ext cx="167139" cy="334568"/>
            <a:chOff x="6321274" y="3150312"/>
            <a:chExt cx="167139" cy="334568"/>
          </a:xfrm>
        </p:grpSpPr>
        <p:cxnSp>
          <p:nvCxnSpPr>
            <p:cNvPr id="154"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58"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159" name="textruta 158"/>
          <p:cNvSpPr txBox="1"/>
          <p:nvPr/>
        </p:nvSpPr>
        <p:spPr>
          <a:xfrm>
            <a:off x="6993134" y="3410414"/>
            <a:ext cx="1014619" cy="369332"/>
          </a:xfrm>
          <a:prstGeom prst="rect">
            <a:avLst/>
          </a:prstGeom>
          <a:noFill/>
        </p:spPr>
        <p:txBody>
          <a:bodyPr wrap="square" rtlCol="0">
            <a:spAutoFit/>
          </a:bodyPr>
          <a:lstStyle/>
          <a:p>
            <a:r>
              <a:rPr lang="sv-SE" sz="900" i="1" dirty="0" smtClean="0">
                <a:solidFill>
                  <a:prstClr val="black"/>
                </a:solidFill>
                <a:latin typeface="Arial"/>
                <a:cs typeface="Arial"/>
              </a:rPr>
              <a:t>logistik dosapotek</a:t>
            </a:r>
            <a:endParaRPr lang="sv-SE" sz="900" i="1" dirty="0">
              <a:solidFill>
                <a:prstClr val="black"/>
              </a:solidFill>
              <a:latin typeface="Arial"/>
              <a:cs typeface="Arial"/>
            </a:endParaRPr>
          </a:p>
        </p:txBody>
      </p:sp>
      <p:sp>
        <p:nvSpPr>
          <p:cNvPr id="160" name="Rektangel med rundade hörn 159"/>
          <p:cNvSpPr/>
          <p:nvPr/>
        </p:nvSpPr>
        <p:spPr>
          <a:xfrm>
            <a:off x="7156129" y="1717071"/>
            <a:ext cx="323554" cy="205990"/>
          </a:xfrm>
          <a:prstGeom prst="roundRect">
            <a:avLst>
              <a:gd name="adj" fmla="val 7175"/>
            </a:avLst>
          </a:prstGeom>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endParaRPr lang="sv-SE" sz="900" dirty="0">
              <a:solidFill>
                <a:srgbClr val="382819"/>
              </a:solidFill>
              <a:latin typeface="Arial"/>
              <a:ea typeface="ＭＳ Ｐゴシック" pitchFamily="-112" charset="-128"/>
              <a:cs typeface="ＭＳ Ｐゴシック" pitchFamily="-112" charset="-128"/>
            </a:endParaRPr>
          </a:p>
        </p:txBody>
      </p:sp>
      <p:sp>
        <p:nvSpPr>
          <p:cNvPr id="161" name="textruta 160"/>
          <p:cNvSpPr txBox="1"/>
          <p:nvPr/>
        </p:nvSpPr>
        <p:spPr>
          <a:xfrm>
            <a:off x="7457540" y="1647938"/>
            <a:ext cx="1564540" cy="400110"/>
          </a:xfrm>
          <a:prstGeom prst="rect">
            <a:avLst/>
          </a:prstGeom>
          <a:noFill/>
        </p:spPr>
        <p:txBody>
          <a:bodyPr wrap="square" rtlCol="0">
            <a:spAutoFit/>
          </a:bodyPr>
          <a:lstStyle/>
          <a:p>
            <a:r>
              <a:rPr lang="sv-SE" sz="1000" b="1" i="1" dirty="0" smtClean="0">
                <a:solidFill>
                  <a:prstClr val="black"/>
                </a:solidFill>
                <a:latin typeface="Arial"/>
                <a:cs typeface="Arial"/>
              </a:rPr>
              <a:t>Stödtjänster</a:t>
            </a:r>
            <a:r>
              <a:rPr lang="sv-SE" sz="1000" i="1" dirty="0" smtClean="0">
                <a:solidFill>
                  <a:prstClr val="black"/>
                </a:solidFill>
                <a:latin typeface="Arial"/>
                <a:cs typeface="Arial"/>
              </a:rPr>
              <a:t> används av vårdsystem</a:t>
            </a:r>
            <a:endParaRPr lang="sv-SE" sz="1000" i="1" dirty="0">
              <a:solidFill>
                <a:prstClr val="black"/>
              </a:solidFill>
              <a:latin typeface="Arial"/>
              <a:cs typeface="Arial"/>
            </a:endParaRPr>
          </a:p>
        </p:txBody>
      </p:sp>
      <p:sp>
        <p:nvSpPr>
          <p:cNvPr id="162" name="Rektangel med rundade hörn 161"/>
          <p:cNvSpPr/>
          <p:nvPr/>
        </p:nvSpPr>
        <p:spPr>
          <a:xfrm>
            <a:off x="7166289" y="2259717"/>
            <a:ext cx="305968" cy="200838"/>
          </a:xfrm>
          <a:prstGeom prst="roundRect">
            <a:avLst>
              <a:gd name="adj" fmla="val 7175"/>
            </a:avLst>
          </a:prstGeom>
          <a:ln>
            <a:prstDash val="sysDash"/>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endParaRPr lang="sv-SE" sz="900" dirty="0">
              <a:solidFill>
                <a:srgbClr val="382819"/>
              </a:solidFill>
              <a:latin typeface="Arial"/>
              <a:ea typeface="ＭＳ Ｐゴシック" pitchFamily="-112" charset="-128"/>
              <a:cs typeface="ＭＳ Ｐゴシック" pitchFamily="-112" charset="-128"/>
            </a:endParaRPr>
          </a:p>
        </p:txBody>
      </p:sp>
      <p:sp>
        <p:nvSpPr>
          <p:cNvPr id="166" name="textruta 165"/>
          <p:cNvSpPr txBox="1"/>
          <p:nvPr/>
        </p:nvSpPr>
        <p:spPr>
          <a:xfrm>
            <a:off x="7472257" y="2157704"/>
            <a:ext cx="1479503" cy="553998"/>
          </a:xfrm>
          <a:prstGeom prst="rect">
            <a:avLst/>
          </a:prstGeom>
          <a:noFill/>
        </p:spPr>
        <p:txBody>
          <a:bodyPr wrap="square" rtlCol="0">
            <a:spAutoFit/>
          </a:bodyPr>
          <a:lstStyle/>
          <a:p>
            <a:r>
              <a:rPr lang="sv-SE" sz="1000" i="1" dirty="0">
                <a:solidFill>
                  <a:prstClr val="black"/>
                </a:solidFill>
                <a:latin typeface="Arial"/>
                <a:cs typeface="Arial"/>
              </a:rPr>
              <a:t>T</a:t>
            </a:r>
            <a:r>
              <a:rPr lang="sv-SE" sz="1000" i="1" dirty="0" smtClean="0">
                <a:solidFill>
                  <a:prstClr val="black"/>
                </a:solidFill>
                <a:latin typeface="Arial"/>
                <a:cs typeface="Arial"/>
              </a:rPr>
              <a:t>jänster används av vårdsystem under övergångstid</a:t>
            </a:r>
            <a:endParaRPr lang="sv-SE" sz="1000" i="1" dirty="0">
              <a:solidFill>
                <a:prstClr val="black"/>
              </a:solidFill>
              <a:latin typeface="Arial"/>
              <a:cs typeface="Arial"/>
            </a:endParaRPr>
          </a:p>
        </p:txBody>
      </p:sp>
      <p:sp>
        <p:nvSpPr>
          <p:cNvPr id="168" name="Rektangel med rundade hörn 167"/>
          <p:cNvSpPr/>
          <p:nvPr/>
        </p:nvSpPr>
        <p:spPr>
          <a:xfrm>
            <a:off x="7157344" y="1228481"/>
            <a:ext cx="305968" cy="200838"/>
          </a:xfrm>
          <a:prstGeom prst="roundRect">
            <a:avLst>
              <a:gd name="adj" fmla="val 7175"/>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endParaRPr lang="sv-SE" sz="900" dirty="0">
              <a:solidFill>
                <a:srgbClr val="382819"/>
              </a:solidFill>
              <a:latin typeface="Arial"/>
              <a:ea typeface="ＭＳ Ｐゴシック" pitchFamily="-112" charset="-128"/>
              <a:cs typeface="ＭＳ Ｐゴシック" pitchFamily="-112" charset="-128"/>
            </a:endParaRPr>
          </a:p>
        </p:txBody>
      </p:sp>
      <p:sp>
        <p:nvSpPr>
          <p:cNvPr id="169" name="textruta 168"/>
          <p:cNvSpPr txBox="1"/>
          <p:nvPr/>
        </p:nvSpPr>
        <p:spPr>
          <a:xfrm>
            <a:off x="7448595" y="1089442"/>
            <a:ext cx="1573485" cy="553998"/>
          </a:xfrm>
          <a:prstGeom prst="rect">
            <a:avLst/>
          </a:prstGeom>
          <a:noFill/>
        </p:spPr>
        <p:txBody>
          <a:bodyPr wrap="square" rtlCol="0">
            <a:spAutoFit/>
          </a:bodyPr>
          <a:lstStyle/>
          <a:p>
            <a:r>
              <a:rPr lang="sv-SE" sz="1000" i="1" dirty="0">
                <a:solidFill>
                  <a:prstClr val="black"/>
                </a:solidFill>
                <a:latin typeface="Arial"/>
                <a:cs typeface="Arial"/>
              </a:rPr>
              <a:t>T</a:t>
            </a:r>
            <a:r>
              <a:rPr lang="sv-SE" sz="1000" i="1" dirty="0" smtClean="0">
                <a:solidFill>
                  <a:prstClr val="black"/>
                </a:solidFill>
                <a:latin typeface="Arial"/>
                <a:cs typeface="Arial"/>
              </a:rPr>
              <a:t>jänster för </a:t>
            </a:r>
            <a:r>
              <a:rPr lang="sv-SE" sz="1000" b="1" i="1" dirty="0" smtClean="0">
                <a:solidFill>
                  <a:prstClr val="black"/>
                </a:solidFill>
                <a:latin typeface="Arial"/>
                <a:cs typeface="Arial"/>
              </a:rPr>
              <a:t>läkemedelslista</a:t>
            </a:r>
            <a:r>
              <a:rPr lang="sv-SE" sz="1000" i="1" dirty="0" smtClean="0">
                <a:solidFill>
                  <a:prstClr val="black"/>
                </a:solidFill>
                <a:latin typeface="Arial"/>
                <a:cs typeface="Arial"/>
              </a:rPr>
              <a:t> används av vårdsystem</a:t>
            </a:r>
            <a:endParaRPr lang="sv-SE" sz="1000" i="1" dirty="0">
              <a:solidFill>
                <a:prstClr val="black"/>
              </a:solidFill>
              <a:latin typeface="Arial"/>
              <a:cs typeface="Arial"/>
            </a:endParaRPr>
          </a:p>
        </p:txBody>
      </p:sp>
      <p:grpSp>
        <p:nvGrpSpPr>
          <p:cNvPr id="173" name="Grupp 172"/>
          <p:cNvGrpSpPr/>
          <p:nvPr/>
        </p:nvGrpSpPr>
        <p:grpSpPr>
          <a:xfrm>
            <a:off x="2386181" y="3325318"/>
            <a:ext cx="167139" cy="334568"/>
            <a:chOff x="6321274" y="3150312"/>
            <a:chExt cx="167139" cy="334568"/>
          </a:xfrm>
        </p:grpSpPr>
        <p:cxnSp>
          <p:nvCxnSpPr>
            <p:cNvPr id="174"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75"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177" name="textruta 176"/>
          <p:cNvSpPr txBox="1"/>
          <p:nvPr/>
        </p:nvSpPr>
        <p:spPr>
          <a:xfrm>
            <a:off x="2602864" y="3218047"/>
            <a:ext cx="1498682" cy="507831"/>
          </a:xfrm>
          <a:prstGeom prst="rect">
            <a:avLst/>
          </a:prstGeom>
          <a:noFill/>
        </p:spPr>
        <p:txBody>
          <a:bodyPr wrap="square" rtlCol="0">
            <a:spAutoFit/>
          </a:bodyPr>
          <a:lstStyle/>
          <a:p>
            <a:r>
              <a:rPr lang="sv-SE" sz="900" i="1" dirty="0" smtClean="0">
                <a:solidFill>
                  <a:prstClr val="black"/>
                </a:solidFill>
                <a:latin typeface="Arial"/>
                <a:cs typeface="Arial"/>
              </a:rPr>
              <a:t>Samlad läkemedelslista</a:t>
            </a:r>
            <a:br>
              <a:rPr lang="sv-SE" sz="900" i="1" dirty="0" smtClean="0">
                <a:solidFill>
                  <a:prstClr val="black"/>
                </a:solidFill>
                <a:latin typeface="Arial"/>
                <a:cs typeface="Arial"/>
              </a:rPr>
            </a:br>
            <a:r>
              <a:rPr lang="sv-SE" sz="900" i="1" dirty="0" smtClean="0">
                <a:solidFill>
                  <a:prstClr val="black"/>
                </a:solidFill>
                <a:latin typeface="Arial"/>
                <a:cs typeface="Arial"/>
              </a:rPr>
              <a:t>ordination förskrivning</a:t>
            </a:r>
            <a:r>
              <a:rPr lang="sv-SE" sz="900" i="1" dirty="0">
                <a:solidFill>
                  <a:prstClr val="black"/>
                </a:solidFill>
                <a:cs typeface="Arial"/>
              </a:rPr>
              <a:t/>
            </a:r>
            <a:br>
              <a:rPr lang="sv-SE" sz="900" i="1" dirty="0">
                <a:solidFill>
                  <a:prstClr val="black"/>
                </a:solidFill>
                <a:cs typeface="Arial"/>
              </a:rPr>
            </a:br>
            <a:r>
              <a:rPr lang="sv-SE" sz="900" i="1" dirty="0" smtClean="0">
                <a:solidFill>
                  <a:prstClr val="black"/>
                </a:solidFill>
                <a:cs typeface="Arial"/>
              </a:rPr>
              <a:t>expediering</a:t>
            </a:r>
            <a:endParaRPr lang="sv-SE" sz="900" i="1" dirty="0">
              <a:solidFill>
                <a:prstClr val="black"/>
              </a:solidFill>
              <a:cs typeface="Arial"/>
            </a:endParaRPr>
          </a:p>
        </p:txBody>
      </p:sp>
      <p:sp>
        <p:nvSpPr>
          <p:cNvPr id="178" name="textruta 177"/>
          <p:cNvSpPr txBox="1"/>
          <p:nvPr/>
        </p:nvSpPr>
        <p:spPr>
          <a:xfrm>
            <a:off x="1360016" y="2527036"/>
            <a:ext cx="674579" cy="507831"/>
          </a:xfrm>
          <a:prstGeom prst="rect">
            <a:avLst/>
          </a:prstGeom>
          <a:noFill/>
        </p:spPr>
        <p:txBody>
          <a:bodyPr wrap="square" rtlCol="0">
            <a:spAutoFit/>
          </a:bodyPr>
          <a:lstStyle/>
          <a:p>
            <a:r>
              <a:rPr lang="sv-SE" sz="900" i="1" dirty="0" smtClean="0">
                <a:solidFill>
                  <a:prstClr val="black"/>
                </a:solidFill>
                <a:latin typeface="Arial"/>
                <a:cs typeface="Arial"/>
              </a:rPr>
              <a:t>säkerhet</a:t>
            </a:r>
            <a:br>
              <a:rPr lang="sv-SE" sz="900" i="1" dirty="0" smtClean="0">
                <a:solidFill>
                  <a:prstClr val="black"/>
                </a:solidFill>
                <a:latin typeface="Arial"/>
                <a:cs typeface="Arial"/>
              </a:rPr>
            </a:br>
            <a:r>
              <a:rPr lang="sv-SE" sz="900" i="1" dirty="0" smtClean="0">
                <a:solidFill>
                  <a:prstClr val="black"/>
                </a:solidFill>
                <a:latin typeface="Arial"/>
                <a:cs typeface="Arial"/>
              </a:rPr>
              <a:t>&amp; master-</a:t>
            </a:r>
            <a:br>
              <a:rPr lang="sv-SE" sz="900" i="1" dirty="0" smtClean="0">
                <a:solidFill>
                  <a:prstClr val="black"/>
                </a:solidFill>
                <a:latin typeface="Arial"/>
                <a:cs typeface="Arial"/>
              </a:rPr>
            </a:br>
            <a:r>
              <a:rPr lang="sv-SE" sz="900" i="1" dirty="0" smtClean="0">
                <a:solidFill>
                  <a:prstClr val="black"/>
                </a:solidFill>
                <a:latin typeface="Arial"/>
                <a:cs typeface="Arial"/>
              </a:rPr>
              <a:t>data</a:t>
            </a:r>
            <a:endParaRPr lang="sv-SE" sz="900" i="1" dirty="0">
              <a:solidFill>
                <a:prstClr val="black"/>
              </a:solidFill>
              <a:latin typeface="Arial"/>
              <a:cs typeface="Arial"/>
            </a:endParaRPr>
          </a:p>
        </p:txBody>
      </p:sp>
      <p:cxnSp>
        <p:nvCxnSpPr>
          <p:cNvPr id="76" name="Rak pil 59"/>
          <p:cNvCxnSpPr/>
          <p:nvPr/>
        </p:nvCxnSpPr>
        <p:spPr>
          <a:xfrm flipV="1">
            <a:off x="5679062" y="3438157"/>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77" name="textruta 76"/>
          <p:cNvSpPr txBox="1"/>
          <p:nvPr/>
        </p:nvSpPr>
        <p:spPr>
          <a:xfrm>
            <a:off x="5704134" y="3476212"/>
            <a:ext cx="626443" cy="230832"/>
          </a:xfrm>
          <a:prstGeom prst="rect">
            <a:avLst/>
          </a:prstGeom>
          <a:noFill/>
        </p:spPr>
        <p:txBody>
          <a:bodyPr wrap="square" rtlCol="0">
            <a:spAutoFit/>
          </a:bodyPr>
          <a:lstStyle/>
          <a:p>
            <a:r>
              <a:rPr lang="sv-SE" sz="900" i="1" dirty="0" smtClean="0">
                <a:solidFill>
                  <a:prstClr val="black"/>
                </a:solidFill>
                <a:latin typeface="Arial"/>
                <a:cs typeface="Arial"/>
              </a:rPr>
              <a:t>e-recept</a:t>
            </a:r>
            <a:endParaRPr lang="sv-SE" sz="900" i="1" dirty="0">
              <a:solidFill>
                <a:prstClr val="black"/>
              </a:solidFill>
              <a:latin typeface="Arial"/>
              <a:cs typeface="Arial"/>
            </a:endParaRPr>
          </a:p>
        </p:txBody>
      </p:sp>
      <p:sp>
        <p:nvSpPr>
          <p:cNvPr id="4" name="textruta 3"/>
          <p:cNvSpPr txBox="1"/>
          <p:nvPr/>
        </p:nvSpPr>
        <p:spPr>
          <a:xfrm>
            <a:off x="-1561384" y="2807862"/>
            <a:ext cx="184666" cy="384721"/>
          </a:xfrm>
          <a:prstGeom prst="rect">
            <a:avLst/>
          </a:prstGeom>
          <a:noFill/>
        </p:spPr>
        <p:txBody>
          <a:bodyPr wrap="none" rtlCol="0">
            <a:spAutoFit/>
          </a:bodyPr>
          <a:lstStyle/>
          <a:p>
            <a:endParaRPr lang="sv-SE" dirty="0"/>
          </a:p>
        </p:txBody>
      </p:sp>
      <p:grpSp>
        <p:nvGrpSpPr>
          <p:cNvPr id="12" name="Grupp 11"/>
          <p:cNvGrpSpPr/>
          <p:nvPr/>
        </p:nvGrpSpPr>
        <p:grpSpPr>
          <a:xfrm>
            <a:off x="5850390" y="3871136"/>
            <a:ext cx="2912611" cy="1451217"/>
            <a:chOff x="6776965" y="3845735"/>
            <a:chExt cx="2075460" cy="1451217"/>
          </a:xfrm>
        </p:grpSpPr>
        <p:sp>
          <p:nvSpPr>
            <p:cNvPr id="81" name="Ellips 80"/>
            <p:cNvSpPr/>
            <p:nvPr/>
          </p:nvSpPr>
          <p:spPr bwMode="auto">
            <a:xfrm>
              <a:off x="6776965" y="4423135"/>
              <a:ext cx="1562633" cy="873817"/>
            </a:xfrm>
            <a:prstGeom prst="ellipse">
              <a:avLst/>
            </a:prstGeom>
            <a:noFill/>
            <a:ln>
              <a:solidFill>
                <a:srgbClr val="00A9A7"/>
              </a:solidFill>
            </a:ln>
            <a:extLst/>
          </p:spPr>
          <p:style>
            <a:lnRef idx="2">
              <a:schemeClr val="accent6"/>
            </a:lnRef>
            <a:fillRef idx="1">
              <a:schemeClr val="lt1"/>
            </a:fillRef>
            <a:effectRef idx="0">
              <a:schemeClr val="accent6"/>
            </a:effectRef>
            <a:fontRef idx="minor">
              <a:schemeClr val="dk1"/>
            </a:fontRef>
          </p:style>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 name="Rundad rektangulär 6"/>
            <p:cNvSpPr/>
            <p:nvPr/>
          </p:nvSpPr>
          <p:spPr bwMode="auto">
            <a:xfrm>
              <a:off x="7344137" y="3845735"/>
              <a:ext cx="1508288" cy="640886"/>
            </a:xfrm>
            <a:prstGeom prst="wedgeRoundRectCallout">
              <a:avLst>
                <a:gd name="adj1" fmla="val -56303"/>
                <a:gd name="adj2" fmla="val 46392"/>
                <a:gd name="adj3" fmla="val 16667"/>
              </a:avLst>
            </a:prstGeom>
            <a:ln>
              <a:solidFill>
                <a:srgbClr val="00A9A7"/>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50" i="1" dirty="0">
                  <a:solidFill>
                    <a:schemeClr val="tx1"/>
                  </a:solidFill>
                  <a:cs typeface="Arial"/>
                </a:rPr>
                <a:t>Stödfunktioner </a:t>
              </a:r>
              <a:r>
                <a:rPr lang="sv-SE" sz="1050" i="1" dirty="0" smtClean="0">
                  <a:solidFill>
                    <a:schemeClr val="tx1"/>
                  </a:solidFill>
                  <a:cs typeface="Arial"/>
                </a:rPr>
                <a:t>för </a:t>
              </a:r>
              <a:r>
                <a:rPr lang="sv-SE" sz="1050" i="1" dirty="0">
                  <a:solidFill>
                    <a:schemeClr val="tx1"/>
                  </a:solidFill>
                  <a:cs typeface="Arial"/>
                </a:rPr>
                <a:t>dospatienter</a:t>
              </a:r>
            </a:p>
            <a:p>
              <a:pPr defTabSz="957263"/>
              <a:r>
                <a:rPr lang="sv-SE" sz="1050" i="1" dirty="0" smtClean="0">
                  <a:solidFill>
                    <a:schemeClr val="tx1"/>
                  </a:solidFill>
                  <a:cs typeface="Arial"/>
                </a:rPr>
                <a:t>Registrera </a:t>
              </a:r>
              <a:r>
                <a:rPr lang="sv-SE" sz="1050" i="1" dirty="0">
                  <a:solidFill>
                    <a:schemeClr val="tx1"/>
                  </a:solidFill>
                  <a:cs typeface="Arial"/>
                </a:rPr>
                <a:t>för dos</a:t>
              </a:r>
              <a:r>
                <a:rPr lang="sv-SE" sz="1050" i="1" dirty="0" smtClean="0">
                  <a:solidFill>
                    <a:schemeClr val="tx1"/>
                  </a:solidFill>
                  <a:cs typeface="Arial"/>
                </a:rPr>
                <a:t>,</a:t>
              </a:r>
            </a:p>
            <a:p>
              <a:pPr defTabSz="957263"/>
              <a:r>
                <a:rPr lang="sv-SE" sz="1050" i="1" dirty="0" smtClean="0">
                  <a:solidFill>
                    <a:schemeClr val="tx1"/>
                  </a:solidFill>
                  <a:cs typeface="Arial"/>
                </a:rPr>
                <a:t>sortiment dos, beställning </a:t>
              </a:r>
              <a:r>
                <a:rPr lang="sv-SE" sz="1050" i="1" dirty="0">
                  <a:solidFill>
                    <a:schemeClr val="tx1"/>
                  </a:solidFill>
                  <a:cs typeface="Arial"/>
                </a:rPr>
                <a:t>etc</a:t>
              </a:r>
              <a:r>
                <a:rPr lang="sv-SE" sz="1050" i="1" dirty="0" smtClean="0">
                  <a:solidFill>
                    <a:schemeClr val="tx1"/>
                  </a:solidFill>
                  <a:cs typeface="Arial"/>
                </a:rPr>
                <a:t>.</a:t>
              </a:r>
              <a:endParaRPr lang="sv-SE" sz="1050" i="1" dirty="0">
                <a:solidFill>
                  <a:schemeClr val="tx1"/>
                </a:solidFill>
                <a:cs typeface="Arial"/>
              </a:endParaRPr>
            </a:p>
          </p:txBody>
        </p:sp>
      </p:grpSp>
      <p:grpSp>
        <p:nvGrpSpPr>
          <p:cNvPr id="9" name="Grupp 8"/>
          <p:cNvGrpSpPr/>
          <p:nvPr/>
        </p:nvGrpSpPr>
        <p:grpSpPr>
          <a:xfrm>
            <a:off x="251617" y="3879742"/>
            <a:ext cx="3488713" cy="2144790"/>
            <a:chOff x="251617" y="3879742"/>
            <a:chExt cx="3488713" cy="2144790"/>
          </a:xfrm>
        </p:grpSpPr>
        <p:sp>
          <p:nvSpPr>
            <p:cNvPr id="5" name="Ellips 4"/>
            <p:cNvSpPr/>
            <p:nvPr/>
          </p:nvSpPr>
          <p:spPr bwMode="auto">
            <a:xfrm>
              <a:off x="1561384" y="3879742"/>
              <a:ext cx="2178946" cy="1782586"/>
            </a:xfrm>
            <a:prstGeom prst="ellipse">
              <a:avLst/>
            </a:prstGeom>
            <a:noFill/>
            <a:ln>
              <a:solidFill>
                <a:srgbClr val="0000FF"/>
              </a:solidFill>
            </a:ln>
            <a:extLst/>
          </p:spPr>
          <p:style>
            <a:lnRef idx="2">
              <a:schemeClr val="accent6"/>
            </a:lnRef>
            <a:fillRef idx="1">
              <a:schemeClr val="lt1"/>
            </a:fillRef>
            <a:effectRef idx="0">
              <a:schemeClr val="accent6"/>
            </a:effectRef>
            <a:fontRef idx="minor">
              <a:schemeClr val="dk1"/>
            </a:fontRef>
          </p:style>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97" name="Rundad rektangulär 96"/>
            <p:cNvSpPr/>
            <p:nvPr/>
          </p:nvSpPr>
          <p:spPr bwMode="auto">
            <a:xfrm>
              <a:off x="251617" y="5383646"/>
              <a:ext cx="1309765" cy="640886"/>
            </a:xfrm>
            <a:prstGeom prst="wedgeRoundRectCallout">
              <a:avLst>
                <a:gd name="adj1" fmla="val 69701"/>
                <a:gd name="adj2" fmla="val -45113"/>
                <a:gd name="adj3" fmla="val 16667"/>
              </a:avLst>
            </a:prstGeom>
            <a:ln>
              <a:solidFill>
                <a:srgbClr val="0000FF"/>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50" b="1" i="1" dirty="0" smtClean="0">
                  <a:solidFill>
                    <a:schemeClr val="tx1"/>
                  </a:solidFill>
                  <a:cs typeface="Arial"/>
                </a:rPr>
                <a:t>Arbeta med samlad läkemedelslista</a:t>
              </a:r>
              <a:endParaRPr lang="sv-SE" sz="1050" b="1" i="1" dirty="0">
                <a:solidFill>
                  <a:schemeClr val="tx1"/>
                </a:solidFill>
                <a:cs typeface="Arial"/>
              </a:endParaRPr>
            </a:p>
          </p:txBody>
        </p:sp>
      </p:grpSp>
      <p:grpSp>
        <p:nvGrpSpPr>
          <p:cNvPr id="10" name="Grupp 9"/>
          <p:cNvGrpSpPr/>
          <p:nvPr/>
        </p:nvGrpSpPr>
        <p:grpSpPr>
          <a:xfrm>
            <a:off x="116521" y="967961"/>
            <a:ext cx="2190599" cy="4228331"/>
            <a:chOff x="116521" y="967961"/>
            <a:chExt cx="2190599" cy="4228331"/>
          </a:xfrm>
        </p:grpSpPr>
        <p:sp>
          <p:nvSpPr>
            <p:cNvPr id="83" name="Ellips 82"/>
            <p:cNvSpPr/>
            <p:nvPr/>
          </p:nvSpPr>
          <p:spPr bwMode="auto">
            <a:xfrm>
              <a:off x="116521" y="1316549"/>
              <a:ext cx="1469090" cy="3879743"/>
            </a:xfrm>
            <a:prstGeom prst="ellipse">
              <a:avLst/>
            </a:prstGeom>
            <a:noFill/>
            <a:ln>
              <a:solidFill>
                <a:srgbClr val="00A9A7"/>
              </a:solidFill>
            </a:ln>
            <a:extLst/>
          </p:spPr>
          <p:style>
            <a:lnRef idx="2">
              <a:schemeClr val="accent6"/>
            </a:lnRef>
            <a:fillRef idx="1">
              <a:schemeClr val="lt1"/>
            </a:fillRef>
            <a:effectRef idx="0">
              <a:schemeClr val="accent6"/>
            </a:effectRef>
            <a:fontRef idx="minor">
              <a:schemeClr val="dk1"/>
            </a:fontRef>
          </p:style>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98" name="Rundad rektangulär 97"/>
            <p:cNvSpPr/>
            <p:nvPr/>
          </p:nvSpPr>
          <p:spPr bwMode="auto">
            <a:xfrm>
              <a:off x="1364223" y="967961"/>
              <a:ext cx="942897" cy="462113"/>
            </a:xfrm>
            <a:prstGeom prst="wedgeRoundRectCallout">
              <a:avLst>
                <a:gd name="adj1" fmla="val -69265"/>
                <a:gd name="adj2" fmla="val 59186"/>
                <a:gd name="adj3" fmla="val 16667"/>
              </a:avLst>
            </a:prstGeom>
            <a:ln>
              <a:solidFill>
                <a:srgbClr val="00A9A7"/>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50" i="1" dirty="0" smtClean="0">
                  <a:solidFill>
                    <a:schemeClr val="tx1"/>
                  </a:solidFill>
                  <a:cs typeface="Arial"/>
                </a:rPr>
                <a:t>Säkerhet</a:t>
              </a:r>
              <a:br>
                <a:rPr lang="sv-SE" sz="1050" i="1" dirty="0" smtClean="0">
                  <a:solidFill>
                    <a:schemeClr val="tx1"/>
                  </a:solidFill>
                  <a:cs typeface="Arial"/>
                </a:rPr>
              </a:br>
              <a:r>
                <a:rPr lang="sv-SE" sz="1050" i="1" dirty="0" smtClean="0">
                  <a:solidFill>
                    <a:schemeClr val="tx1"/>
                  </a:solidFill>
                  <a:cs typeface="Arial"/>
                </a:rPr>
                <a:t>Masterdata</a:t>
              </a:r>
              <a:endParaRPr lang="sv-SE" sz="1050" i="1" dirty="0">
                <a:solidFill>
                  <a:schemeClr val="tx1"/>
                </a:solidFill>
                <a:cs typeface="Arial"/>
              </a:endParaRPr>
            </a:p>
          </p:txBody>
        </p:sp>
      </p:grpSp>
      <p:grpSp>
        <p:nvGrpSpPr>
          <p:cNvPr id="99" name="Grupp 98"/>
          <p:cNvGrpSpPr/>
          <p:nvPr/>
        </p:nvGrpSpPr>
        <p:grpSpPr>
          <a:xfrm>
            <a:off x="1929552" y="3762209"/>
            <a:ext cx="1294565" cy="131113"/>
            <a:chOff x="2449173" y="3243649"/>
            <a:chExt cx="1294565" cy="131113"/>
          </a:xfrm>
        </p:grpSpPr>
        <p:grpSp>
          <p:nvGrpSpPr>
            <p:cNvPr id="103" name="Grupp 102"/>
            <p:cNvGrpSpPr/>
            <p:nvPr/>
          </p:nvGrpSpPr>
          <p:grpSpPr>
            <a:xfrm>
              <a:off x="2449173" y="3257220"/>
              <a:ext cx="66751" cy="117542"/>
              <a:chOff x="9018096" y="5768908"/>
              <a:chExt cx="66751" cy="117542"/>
            </a:xfrm>
          </p:grpSpPr>
          <p:cxnSp>
            <p:nvCxnSpPr>
              <p:cNvPr id="135" name="Rak pil 18"/>
              <p:cNvCxnSpPr>
                <a:cxnSpLocks noChangeShapeType="1"/>
                <a:endCxn id="136"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Ellips 135"/>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04" name="Grupp 103"/>
            <p:cNvGrpSpPr/>
            <p:nvPr/>
          </p:nvGrpSpPr>
          <p:grpSpPr>
            <a:xfrm>
              <a:off x="2820928" y="3248679"/>
              <a:ext cx="66751" cy="117542"/>
              <a:chOff x="9018096" y="5768908"/>
              <a:chExt cx="66751" cy="117542"/>
            </a:xfrm>
          </p:grpSpPr>
          <p:cxnSp>
            <p:nvCxnSpPr>
              <p:cNvPr id="133" name="Rak pil 18"/>
              <p:cNvCxnSpPr>
                <a:cxnSpLocks noChangeShapeType="1"/>
                <a:endCxn id="13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Ellips 13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05" name="Grupp 104"/>
            <p:cNvGrpSpPr/>
            <p:nvPr/>
          </p:nvGrpSpPr>
          <p:grpSpPr>
            <a:xfrm>
              <a:off x="2984873" y="3250994"/>
              <a:ext cx="66751" cy="117542"/>
              <a:chOff x="9018096" y="5768908"/>
              <a:chExt cx="66751" cy="117542"/>
            </a:xfrm>
          </p:grpSpPr>
          <p:cxnSp>
            <p:nvCxnSpPr>
              <p:cNvPr id="129" name="Rak pil 18"/>
              <p:cNvCxnSpPr>
                <a:cxnSpLocks noChangeShapeType="1"/>
                <a:endCxn id="132"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Ellips 131"/>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06" name="Grupp 105"/>
            <p:cNvGrpSpPr/>
            <p:nvPr/>
          </p:nvGrpSpPr>
          <p:grpSpPr>
            <a:xfrm>
              <a:off x="2625107" y="3253088"/>
              <a:ext cx="66751" cy="117542"/>
              <a:chOff x="9018096" y="5791998"/>
              <a:chExt cx="66751" cy="117542"/>
            </a:xfrm>
          </p:grpSpPr>
          <p:cxnSp>
            <p:nvCxnSpPr>
              <p:cNvPr id="127" name="Rak pil 18"/>
              <p:cNvCxnSpPr>
                <a:cxnSpLocks noChangeShapeType="1"/>
                <a:endCxn id="128"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Ellips 127"/>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07" name="Grupp 106"/>
            <p:cNvGrpSpPr/>
            <p:nvPr/>
          </p:nvGrpSpPr>
          <p:grpSpPr>
            <a:xfrm>
              <a:off x="3141287" y="3252190"/>
              <a:ext cx="66751" cy="117542"/>
              <a:chOff x="9018096" y="5768908"/>
              <a:chExt cx="66751" cy="117542"/>
            </a:xfrm>
          </p:grpSpPr>
          <p:cxnSp>
            <p:nvCxnSpPr>
              <p:cNvPr id="125" name="Rak pil 18"/>
              <p:cNvCxnSpPr>
                <a:cxnSpLocks noChangeShapeType="1"/>
                <a:endCxn id="126"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Ellips 125"/>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11" name="Grupp 110"/>
            <p:cNvGrpSpPr/>
            <p:nvPr/>
          </p:nvGrpSpPr>
          <p:grpSpPr>
            <a:xfrm>
              <a:off x="3513042" y="3243649"/>
              <a:ext cx="66751" cy="117542"/>
              <a:chOff x="9018096" y="5768908"/>
              <a:chExt cx="66751" cy="117542"/>
            </a:xfrm>
          </p:grpSpPr>
          <p:cxnSp>
            <p:nvCxnSpPr>
              <p:cNvPr id="123" name="Rak pil 18"/>
              <p:cNvCxnSpPr>
                <a:cxnSpLocks noChangeShapeType="1"/>
                <a:endCxn id="12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Ellips 12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12" name="Grupp 111"/>
            <p:cNvGrpSpPr/>
            <p:nvPr/>
          </p:nvGrpSpPr>
          <p:grpSpPr>
            <a:xfrm>
              <a:off x="3676987" y="3245964"/>
              <a:ext cx="66751" cy="117542"/>
              <a:chOff x="9018096" y="5768908"/>
              <a:chExt cx="66751" cy="117542"/>
            </a:xfrm>
          </p:grpSpPr>
          <p:cxnSp>
            <p:nvCxnSpPr>
              <p:cNvPr id="121" name="Rak pil 18"/>
              <p:cNvCxnSpPr>
                <a:cxnSpLocks noChangeShapeType="1"/>
                <a:endCxn id="122"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Ellips 121"/>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14" name="Grupp 113"/>
            <p:cNvGrpSpPr/>
            <p:nvPr/>
          </p:nvGrpSpPr>
          <p:grpSpPr>
            <a:xfrm>
              <a:off x="3317221" y="3248058"/>
              <a:ext cx="66751" cy="117542"/>
              <a:chOff x="9018096" y="5791998"/>
              <a:chExt cx="66751" cy="117542"/>
            </a:xfrm>
          </p:grpSpPr>
          <p:cxnSp>
            <p:nvCxnSpPr>
              <p:cNvPr id="117" name="Rak pil 18"/>
              <p:cNvCxnSpPr>
                <a:cxnSpLocks noChangeShapeType="1"/>
                <a:endCxn id="118"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Ellips 117"/>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grpSp>
        <p:nvGrpSpPr>
          <p:cNvPr id="14" name="Grupp 13"/>
          <p:cNvGrpSpPr/>
          <p:nvPr/>
        </p:nvGrpSpPr>
        <p:grpSpPr>
          <a:xfrm>
            <a:off x="6487336" y="3745683"/>
            <a:ext cx="602451" cy="126083"/>
            <a:chOff x="4661890" y="3606956"/>
            <a:chExt cx="602451" cy="126083"/>
          </a:xfrm>
        </p:grpSpPr>
        <p:grpSp>
          <p:nvGrpSpPr>
            <p:cNvPr id="142" name="Grupp 141"/>
            <p:cNvGrpSpPr/>
            <p:nvPr/>
          </p:nvGrpSpPr>
          <p:grpSpPr>
            <a:xfrm>
              <a:off x="4661890" y="3615497"/>
              <a:ext cx="66751" cy="117542"/>
              <a:chOff x="9018096" y="5768908"/>
              <a:chExt cx="66751" cy="117542"/>
            </a:xfrm>
          </p:grpSpPr>
          <p:cxnSp>
            <p:nvCxnSpPr>
              <p:cNvPr id="165" name="Rak pil 18"/>
              <p:cNvCxnSpPr>
                <a:cxnSpLocks noChangeShapeType="1"/>
                <a:endCxn id="167"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Ellips 166"/>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3" name="Grupp 142"/>
            <p:cNvGrpSpPr/>
            <p:nvPr/>
          </p:nvGrpSpPr>
          <p:grpSpPr>
            <a:xfrm>
              <a:off x="5033645" y="3606956"/>
              <a:ext cx="66751" cy="117542"/>
              <a:chOff x="9018096" y="5768908"/>
              <a:chExt cx="66751" cy="117542"/>
            </a:xfrm>
          </p:grpSpPr>
          <p:cxnSp>
            <p:nvCxnSpPr>
              <p:cNvPr id="163" name="Rak pil 18"/>
              <p:cNvCxnSpPr>
                <a:cxnSpLocks noChangeShapeType="1"/>
                <a:endCxn id="16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Ellips 16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4" name="Grupp 143"/>
            <p:cNvGrpSpPr/>
            <p:nvPr/>
          </p:nvGrpSpPr>
          <p:grpSpPr>
            <a:xfrm>
              <a:off x="5197590" y="3609271"/>
              <a:ext cx="66751" cy="117542"/>
              <a:chOff x="9018096" y="5768908"/>
              <a:chExt cx="66751" cy="117542"/>
            </a:xfrm>
          </p:grpSpPr>
          <p:cxnSp>
            <p:nvCxnSpPr>
              <p:cNvPr id="156" name="Rak pil 18"/>
              <p:cNvCxnSpPr>
                <a:cxnSpLocks noChangeShapeType="1"/>
                <a:endCxn id="157"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Ellips 156"/>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8" name="Grupp 147"/>
            <p:cNvGrpSpPr/>
            <p:nvPr/>
          </p:nvGrpSpPr>
          <p:grpSpPr>
            <a:xfrm>
              <a:off x="4837824" y="3611365"/>
              <a:ext cx="66751" cy="117542"/>
              <a:chOff x="9018096" y="5791998"/>
              <a:chExt cx="66751" cy="117542"/>
            </a:xfrm>
          </p:grpSpPr>
          <p:cxnSp>
            <p:nvCxnSpPr>
              <p:cNvPr id="152" name="Rak pil 18"/>
              <p:cNvCxnSpPr>
                <a:cxnSpLocks noChangeShapeType="1"/>
                <a:endCxn id="155"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Ellips 154"/>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Tree>
    <p:extLst>
      <p:ext uri="{BB962C8B-B14F-4D97-AF65-F5344CB8AC3E}">
        <p14:creationId xmlns:p14="http://schemas.microsoft.com/office/powerpoint/2010/main" val="231493425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5" y="157864"/>
            <a:ext cx="7354650" cy="893160"/>
          </a:xfrm>
        </p:spPr>
        <p:txBody>
          <a:bodyPr>
            <a:noAutofit/>
          </a:bodyPr>
          <a:lstStyle/>
          <a:p>
            <a:r>
              <a:rPr lang="sv-SE" sz="2000" dirty="0" smtClean="0"/>
              <a:t>Arbetet med tjänstedomän </a:t>
            </a:r>
            <a:br>
              <a:rPr lang="sv-SE" sz="2000" dirty="0" smtClean="0"/>
            </a:br>
            <a:r>
              <a:rPr lang="sv-SE" sz="1800" i="1" dirty="0" smtClean="0"/>
              <a:t>vård</a:t>
            </a:r>
            <a:r>
              <a:rPr lang="sv-SE" sz="1800" i="1" dirty="0"/>
              <a:t>- och omsorg </a:t>
            </a:r>
            <a:r>
              <a:rPr lang="sv-SE" sz="1800" i="1" dirty="0" err="1" smtClean="0"/>
              <a:t>kärnprocess:hantera</a:t>
            </a:r>
            <a:r>
              <a:rPr lang="sv-SE" sz="1800" i="1" dirty="0" smtClean="0"/>
              <a:t> </a:t>
            </a:r>
            <a:r>
              <a:rPr lang="sv-SE" sz="1800" i="1" dirty="0" err="1" smtClean="0"/>
              <a:t>aktiviteter:ordination</a:t>
            </a:r>
            <a:r>
              <a:rPr lang="sv-SE" sz="1800" i="1" dirty="0" smtClean="0"/>
              <a:t>  v2.0</a:t>
            </a:r>
            <a:endParaRPr lang="sv-SE" sz="1800" dirty="0"/>
          </a:p>
        </p:txBody>
      </p:sp>
      <p:sp>
        <p:nvSpPr>
          <p:cNvPr id="3" name="Platshållare för innehåll 2"/>
          <p:cNvSpPr>
            <a:spLocks noGrp="1"/>
          </p:cNvSpPr>
          <p:nvPr>
            <p:ph idx="1"/>
          </p:nvPr>
        </p:nvSpPr>
        <p:spPr>
          <a:xfrm>
            <a:off x="676205" y="1258834"/>
            <a:ext cx="5016658" cy="5218166"/>
          </a:xfrm>
        </p:spPr>
        <p:txBody>
          <a:bodyPr>
            <a:normAutofit lnSpcReduction="10000"/>
          </a:bodyPr>
          <a:lstStyle/>
          <a:p>
            <a:r>
              <a:rPr lang="sv-SE" sz="1800" dirty="0" smtClean="0"/>
              <a:t>Målsättning </a:t>
            </a:r>
          </a:p>
          <a:p>
            <a:pPr lvl="1"/>
            <a:r>
              <a:rPr lang="sv-SE" sz="1600" dirty="0" smtClean="0"/>
              <a:t>Återför erfarenheter från användande av referensapplikation</a:t>
            </a:r>
          </a:p>
          <a:p>
            <a:pPr lvl="1"/>
            <a:r>
              <a:rPr lang="sv-SE" sz="1500" dirty="0" smtClean="0"/>
              <a:t>Förenkla kommande integrationer med NOD.</a:t>
            </a:r>
          </a:p>
          <a:p>
            <a:pPr lvl="1"/>
            <a:r>
              <a:rPr lang="sv-SE" sz="1500" dirty="0" smtClean="0"/>
              <a:t>Stöds användningsfallen på bästa sätt via interaktionerna?</a:t>
            </a:r>
          </a:p>
          <a:p>
            <a:pPr lvl="1"/>
            <a:r>
              <a:rPr lang="sv-SE" sz="1500" dirty="0" smtClean="0"/>
              <a:t>Översyn modell &amp; informationsinnehåll</a:t>
            </a:r>
          </a:p>
          <a:p>
            <a:r>
              <a:rPr lang="sv-SE" sz="1800" dirty="0" smtClean="0"/>
              <a:t>Externa referenser / avstämningar</a:t>
            </a:r>
          </a:p>
          <a:p>
            <a:pPr lvl="1"/>
            <a:r>
              <a:rPr lang="sv-SE" sz="1400" dirty="0" smtClean="0"/>
              <a:t>Verksamhetsrepresentanter, nätverk</a:t>
            </a:r>
          </a:p>
          <a:p>
            <a:pPr lvl="1"/>
            <a:r>
              <a:rPr lang="sv-SE" sz="1400" dirty="0" smtClean="0"/>
              <a:t>Leverantörer &amp; företrädare vårdsystem </a:t>
            </a:r>
          </a:p>
          <a:p>
            <a:pPr lvl="1"/>
            <a:r>
              <a:rPr lang="sv-SE" sz="1400" dirty="0" smtClean="0"/>
              <a:t>Samverkansforum Läkemedel Informatik, SKL</a:t>
            </a:r>
          </a:p>
          <a:p>
            <a:pPr lvl="1"/>
            <a:r>
              <a:rPr lang="sv-SE" sz="1400" dirty="0" smtClean="0"/>
              <a:t>HL7 FHIR - Fast </a:t>
            </a:r>
            <a:r>
              <a:rPr lang="sv-SE" sz="1400" dirty="0"/>
              <a:t>Healthcare Interoperability </a:t>
            </a:r>
            <a:r>
              <a:rPr lang="sv-SE" sz="1400" dirty="0" smtClean="0"/>
              <a:t>Resources</a:t>
            </a:r>
            <a:br>
              <a:rPr lang="sv-SE" sz="1400" dirty="0" smtClean="0"/>
            </a:br>
            <a:r>
              <a:rPr lang="sv-SE" sz="1400" dirty="0" smtClean="0">
                <a:hlinkClick r:id="rId3"/>
              </a:rPr>
              <a:t>http://hl7</a:t>
            </a:r>
            <a:r>
              <a:rPr lang="sv-SE" sz="1400" dirty="0">
                <a:hlinkClick r:id="rId3"/>
              </a:rPr>
              <a:t>.org/</a:t>
            </a:r>
            <a:r>
              <a:rPr lang="sv-SE" sz="1400" dirty="0" smtClean="0">
                <a:hlinkClick r:id="rId3"/>
              </a:rPr>
              <a:t>fhir</a:t>
            </a:r>
            <a:endParaRPr lang="sv-SE" sz="1400" dirty="0" smtClean="0"/>
          </a:p>
          <a:p>
            <a:pPr lvl="1"/>
            <a:r>
              <a:rPr lang="sv-SE" sz="1400" dirty="0" err="1" smtClean="0"/>
              <a:t>Faelles</a:t>
            </a:r>
            <a:r>
              <a:rPr lang="sv-SE" sz="1400" dirty="0" smtClean="0"/>
              <a:t> Medicinkort, Danmark (</a:t>
            </a:r>
            <a:r>
              <a:rPr lang="sv-SE" sz="1400" dirty="0"/>
              <a:t>FMK)</a:t>
            </a:r>
            <a:br>
              <a:rPr lang="sv-SE" sz="1400" dirty="0"/>
            </a:br>
            <a:r>
              <a:rPr lang="sv-SE" sz="1400" dirty="0">
                <a:hlinkClick r:id="rId4"/>
              </a:rPr>
              <a:t>http://wiki.fmk.netic.dk/</a:t>
            </a:r>
            <a:r>
              <a:rPr lang="sv-SE" sz="1400" dirty="0" smtClean="0">
                <a:hlinkClick r:id="rId4"/>
              </a:rPr>
              <a:t>doku.php</a:t>
            </a:r>
            <a:endParaRPr lang="sv-SE" sz="1400" dirty="0" smtClean="0"/>
          </a:p>
          <a:p>
            <a:pPr marL="376237" lvl="1" indent="0">
              <a:buNone/>
            </a:pPr>
            <a:endParaRPr lang="sv-SE" sz="1400" dirty="0"/>
          </a:p>
        </p:txBody>
      </p:sp>
      <p:sp>
        <p:nvSpPr>
          <p:cNvPr id="4" name="Platshållare för bildnummer 3"/>
          <p:cNvSpPr>
            <a:spLocks noGrp="1"/>
          </p:cNvSpPr>
          <p:nvPr>
            <p:ph type="sldNum" sz="quarter" idx="10"/>
          </p:nvPr>
        </p:nvSpPr>
        <p:spPr/>
        <p:txBody>
          <a:bodyPr/>
          <a:lstStyle/>
          <a:p>
            <a:fld id="{4F4A6512-6F32-47C0-A1DC-EECCB630EF99}" type="slidenum">
              <a:rPr lang="sv-SE" smtClean="0"/>
              <a:pPr/>
              <a:t>6</a:t>
            </a:fld>
            <a:endParaRPr lang="sv-SE"/>
          </a:p>
        </p:txBody>
      </p:sp>
      <p:sp>
        <p:nvSpPr>
          <p:cNvPr id="6" name="Vikt hörn 5"/>
          <p:cNvSpPr/>
          <p:nvPr/>
        </p:nvSpPr>
        <p:spPr bwMode="auto">
          <a:xfrm>
            <a:off x="5601369" y="1524001"/>
            <a:ext cx="1178570" cy="934453"/>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Informations-specifikation</a:t>
            </a:r>
            <a:br>
              <a:rPr kumimoji="0" lang="sv-SE" sz="900" b="0" i="0" u="none" strike="noStrike" cap="none" normalizeH="0" baseline="0" dirty="0" smtClean="0">
                <a:ln>
                  <a:noFill/>
                </a:ln>
                <a:solidFill>
                  <a:schemeClr val="tx1"/>
                </a:solidFill>
                <a:effectLst/>
                <a:latin typeface="Arial" charset="0"/>
              </a:rPr>
            </a:br>
            <a:r>
              <a:rPr kumimoji="0" lang="sv-SE" sz="900" b="0" i="0" u="none" strike="noStrike" cap="none" normalizeH="0" baseline="0" dirty="0" smtClean="0">
                <a:ln>
                  <a:noFill/>
                </a:ln>
                <a:solidFill>
                  <a:schemeClr val="tx1"/>
                </a:solidFill>
                <a:effectLst/>
                <a:latin typeface="Arial" charset="0"/>
              </a:rPr>
              <a:t/>
            </a:r>
            <a:br>
              <a:rPr kumimoji="0" lang="sv-SE" sz="900" b="0" i="0" u="none" strike="noStrike" cap="none" normalizeH="0" baseline="0" dirty="0" smtClean="0">
                <a:ln>
                  <a:noFill/>
                </a:ln>
                <a:solidFill>
                  <a:schemeClr val="tx1"/>
                </a:solidFill>
                <a:effectLst/>
                <a:latin typeface="Arial" charset="0"/>
              </a:rPr>
            </a:br>
            <a:r>
              <a:rPr kumimoji="0" lang="sv-SE" sz="900" b="0" i="0" u="none" strike="noStrike" cap="none" normalizeH="0" baseline="0" dirty="0" smtClean="0">
                <a:ln>
                  <a:noFill/>
                </a:ln>
                <a:solidFill>
                  <a:schemeClr val="tx1"/>
                </a:solidFill>
                <a:effectLst/>
                <a:latin typeface="Arial" charset="0"/>
              </a:rPr>
              <a:t>Samlad läkemedelslista</a:t>
            </a:r>
          </a:p>
        </p:txBody>
      </p:sp>
      <p:sp>
        <p:nvSpPr>
          <p:cNvPr id="7" name="Ned 6"/>
          <p:cNvSpPr/>
          <p:nvPr/>
        </p:nvSpPr>
        <p:spPr bwMode="auto">
          <a:xfrm>
            <a:off x="7157715" y="2638543"/>
            <a:ext cx="232869" cy="31656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8" name="Vikt hörn 7"/>
          <p:cNvSpPr/>
          <p:nvPr/>
        </p:nvSpPr>
        <p:spPr bwMode="auto">
          <a:xfrm>
            <a:off x="6956986" y="3072062"/>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Schema-filer</a:t>
            </a:r>
          </a:p>
        </p:txBody>
      </p:sp>
      <p:sp>
        <p:nvSpPr>
          <p:cNvPr id="9" name="Vikt hörn 8"/>
          <p:cNvSpPr/>
          <p:nvPr/>
        </p:nvSpPr>
        <p:spPr bwMode="auto">
          <a:xfrm>
            <a:off x="6868462" y="3134893"/>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Schema-filer</a:t>
            </a:r>
          </a:p>
        </p:txBody>
      </p:sp>
      <p:sp>
        <p:nvSpPr>
          <p:cNvPr id="10" name="Vikt hörn 9"/>
          <p:cNvSpPr/>
          <p:nvPr/>
        </p:nvSpPr>
        <p:spPr bwMode="auto">
          <a:xfrm>
            <a:off x="6779938" y="3197724"/>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Schema-filer</a:t>
            </a:r>
          </a:p>
        </p:txBody>
      </p:sp>
      <p:sp>
        <p:nvSpPr>
          <p:cNvPr id="11" name="Vikt hörn 10"/>
          <p:cNvSpPr/>
          <p:nvPr/>
        </p:nvSpPr>
        <p:spPr bwMode="auto">
          <a:xfrm>
            <a:off x="6691414" y="3260555"/>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Klasser</a:t>
            </a:r>
            <a:br>
              <a:rPr kumimoji="0" lang="sv-SE" sz="900" b="0" i="0" u="none" strike="noStrike" cap="none" normalizeH="0" baseline="0" dirty="0" smtClean="0">
                <a:ln>
                  <a:noFill/>
                </a:ln>
                <a:solidFill>
                  <a:schemeClr val="tx1"/>
                </a:solidFill>
                <a:effectLst/>
                <a:latin typeface="Arial" charset="0"/>
              </a:rPr>
            </a:br>
            <a:r>
              <a:rPr kumimoji="0" lang="sv-SE" sz="900" b="0" i="1" u="none" strike="noStrike" cap="none" normalizeH="0" baseline="0" dirty="0" smtClean="0">
                <a:ln>
                  <a:noFill/>
                </a:ln>
                <a:solidFill>
                  <a:schemeClr val="tx1"/>
                </a:solidFill>
                <a:effectLst/>
                <a:latin typeface="Arial" charset="0"/>
              </a:rPr>
              <a:t>schema</a:t>
            </a:r>
            <a:r>
              <a:rPr lang="sv-SE" sz="900" i="1" dirty="0">
                <a:latin typeface="Arial" charset="0"/>
              </a:rPr>
              <a:t>n</a:t>
            </a:r>
            <a:endParaRPr kumimoji="0" lang="sv-SE" sz="900" b="0" i="1" u="none" strike="noStrike" cap="none" normalizeH="0" baseline="0" dirty="0" smtClean="0">
              <a:ln>
                <a:noFill/>
              </a:ln>
              <a:solidFill>
                <a:schemeClr val="tx1"/>
              </a:solidFill>
              <a:effectLst/>
              <a:latin typeface="Arial" charset="0"/>
            </a:endParaRPr>
          </a:p>
        </p:txBody>
      </p:sp>
      <p:sp>
        <p:nvSpPr>
          <p:cNvPr id="12" name="Vikt hörn 11"/>
          <p:cNvSpPr/>
          <p:nvPr/>
        </p:nvSpPr>
        <p:spPr bwMode="auto">
          <a:xfrm>
            <a:off x="6598418" y="4823331"/>
            <a:ext cx="1072929" cy="891671"/>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Tjänstekontrakts-beskrivningar</a:t>
            </a:r>
          </a:p>
        </p:txBody>
      </p:sp>
      <p:sp>
        <p:nvSpPr>
          <p:cNvPr id="13" name="Vänster-höger 12"/>
          <p:cNvSpPr/>
          <p:nvPr/>
        </p:nvSpPr>
        <p:spPr bwMode="auto">
          <a:xfrm rot="16200000">
            <a:off x="6923481" y="4411579"/>
            <a:ext cx="362626" cy="236621"/>
          </a:xfrm>
          <a:prstGeom prst="lef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14" name="Vikt hörn 13"/>
          <p:cNvSpPr/>
          <p:nvPr/>
        </p:nvSpPr>
        <p:spPr bwMode="auto">
          <a:xfrm>
            <a:off x="6940768" y="1890295"/>
            <a:ext cx="859011" cy="568159"/>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RIVTA</a:t>
            </a:r>
            <a:br>
              <a:rPr kumimoji="0" lang="sv-SE" sz="900" b="0" i="0" u="none" strike="noStrike" cap="none" normalizeH="0" baseline="0" dirty="0" smtClean="0">
                <a:ln>
                  <a:noFill/>
                </a:ln>
                <a:solidFill>
                  <a:schemeClr val="tx1"/>
                </a:solidFill>
                <a:effectLst/>
                <a:latin typeface="Arial" charset="0"/>
              </a:rPr>
            </a:br>
            <a:r>
              <a:rPr kumimoji="0" lang="sv-SE" sz="900" b="0" i="0" u="none" strike="noStrike" cap="none" normalizeH="0" baseline="0" dirty="0" smtClean="0">
                <a:ln>
                  <a:noFill/>
                </a:ln>
                <a:solidFill>
                  <a:schemeClr val="tx1"/>
                </a:solidFill>
                <a:effectLst/>
                <a:latin typeface="Arial" charset="0"/>
              </a:rPr>
              <a:t>datatyper</a:t>
            </a:r>
            <a:br>
              <a:rPr kumimoji="0" lang="sv-SE" sz="900" b="0" i="0" u="none" strike="noStrike" cap="none" normalizeH="0" baseline="0" dirty="0" smtClean="0">
                <a:ln>
                  <a:noFill/>
                </a:ln>
                <a:solidFill>
                  <a:schemeClr val="tx1"/>
                </a:solidFill>
                <a:effectLst/>
                <a:latin typeface="Arial" charset="0"/>
              </a:rPr>
            </a:br>
            <a:r>
              <a:rPr kumimoji="0" lang="sv-SE" sz="900" b="0" i="0" u="none" strike="noStrike" cap="none" normalizeH="0" baseline="0" dirty="0" smtClean="0">
                <a:ln>
                  <a:noFill/>
                </a:ln>
                <a:solidFill>
                  <a:schemeClr val="tx1"/>
                </a:solidFill>
                <a:effectLst/>
                <a:latin typeface="Arial" charset="0"/>
              </a:rPr>
              <a:t>konventioner</a:t>
            </a:r>
          </a:p>
        </p:txBody>
      </p:sp>
      <p:sp>
        <p:nvSpPr>
          <p:cNvPr id="15" name="Ned 14"/>
          <p:cNvSpPr/>
          <p:nvPr/>
        </p:nvSpPr>
        <p:spPr bwMode="auto">
          <a:xfrm rot="19147586">
            <a:off x="6663504" y="2658987"/>
            <a:ext cx="232869" cy="31656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16" name="Vikt hörn 15"/>
          <p:cNvSpPr/>
          <p:nvPr/>
        </p:nvSpPr>
        <p:spPr bwMode="auto">
          <a:xfrm>
            <a:off x="7867514" y="1890295"/>
            <a:ext cx="859011" cy="568159"/>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HL7</a:t>
            </a:r>
            <a:br>
              <a:rPr kumimoji="0" lang="sv-SE" sz="900" b="0" i="0" u="none" strike="noStrike" cap="none" normalizeH="0" baseline="0" dirty="0" smtClean="0">
                <a:ln>
                  <a:noFill/>
                </a:ln>
                <a:solidFill>
                  <a:schemeClr val="tx1"/>
                </a:solidFill>
                <a:effectLst/>
                <a:latin typeface="Arial" charset="0"/>
              </a:rPr>
            </a:br>
            <a:r>
              <a:rPr kumimoji="0" lang="sv-SE" sz="900" b="0" i="0" u="none" strike="noStrike" cap="none" normalizeH="0" baseline="0" dirty="0" smtClean="0">
                <a:ln>
                  <a:noFill/>
                </a:ln>
                <a:solidFill>
                  <a:schemeClr val="tx1"/>
                </a:solidFill>
                <a:effectLst/>
                <a:latin typeface="Arial" charset="0"/>
              </a:rPr>
              <a:t>datatyper</a:t>
            </a:r>
          </a:p>
        </p:txBody>
      </p:sp>
      <p:sp>
        <p:nvSpPr>
          <p:cNvPr id="17" name="Ned 16"/>
          <p:cNvSpPr/>
          <p:nvPr/>
        </p:nvSpPr>
        <p:spPr bwMode="auto">
          <a:xfrm rot="2065228">
            <a:off x="7664383" y="2658482"/>
            <a:ext cx="232869" cy="31656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18" name="Vikt hörn 17"/>
          <p:cNvSpPr/>
          <p:nvPr/>
        </p:nvSpPr>
        <p:spPr bwMode="auto">
          <a:xfrm>
            <a:off x="6854556" y="3732461"/>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Schema-filer</a:t>
            </a:r>
          </a:p>
        </p:txBody>
      </p:sp>
      <p:sp>
        <p:nvSpPr>
          <p:cNvPr id="19" name="Vikt hörn 18"/>
          <p:cNvSpPr/>
          <p:nvPr/>
        </p:nvSpPr>
        <p:spPr bwMode="auto">
          <a:xfrm>
            <a:off x="6766032" y="3795292"/>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900" b="0" i="0" u="none" strike="noStrike" cap="none" normalizeH="0" baseline="0" dirty="0" smtClean="0">
                <a:ln>
                  <a:noFill/>
                </a:ln>
                <a:solidFill>
                  <a:schemeClr val="tx1"/>
                </a:solidFill>
                <a:effectLst/>
                <a:latin typeface="Arial" charset="0"/>
              </a:rPr>
              <a:t>Schema-filer</a:t>
            </a:r>
          </a:p>
        </p:txBody>
      </p:sp>
      <p:sp>
        <p:nvSpPr>
          <p:cNvPr id="20" name="Vikt hörn 19"/>
          <p:cNvSpPr/>
          <p:nvPr/>
        </p:nvSpPr>
        <p:spPr bwMode="auto">
          <a:xfrm>
            <a:off x="6677508" y="3858123"/>
            <a:ext cx="842793" cy="409075"/>
          </a:xfrm>
          <a:prstGeom prst="foldedCorner">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defTabSz="957263" fontAlgn="base">
              <a:spcBef>
                <a:spcPct val="0"/>
              </a:spcBef>
              <a:spcAft>
                <a:spcPct val="0"/>
              </a:spcAft>
            </a:pPr>
            <a:r>
              <a:rPr kumimoji="0" lang="sv-SE" sz="900" b="0" i="0" u="none" strike="noStrike" cap="none" normalizeH="0" baseline="0" dirty="0" smtClean="0">
                <a:ln>
                  <a:noFill/>
                </a:ln>
                <a:solidFill>
                  <a:schemeClr val="tx1"/>
                </a:solidFill>
                <a:effectLst/>
                <a:latin typeface="Arial" charset="0"/>
              </a:rPr>
              <a:t>Interaktioner</a:t>
            </a:r>
            <a:br>
              <a:rPr kumimoji="0" lang="sv-SE" sz="900" b="0" i="0" u="none" strike="noStrike" cap="none" normalizeH="0" baseline="0" dirty="0" smtClean="0">
                <a:ln>
                  <a:noFill/>
                </a:ln>
                <a:solidFill>
                  <a:schemeClr val="tx1"/>
                </a:solidFill>
                <a:effectLst/>
                <a:latin typeface="Arial" charset="0"/>
              </a:rPr>
            </a:br>
            <a:r>
              <a:rPr lang="sv-SE" sz="900" i="1" dirty="0">
                <a:latin typeface="Arial" charset="0"/>
              </a:rPr>
              <a:t>scheman</a:t>
            </a:r>
            <a:endParaRPr kumimoji="0" lang="sv-SE" sz="900" b="0" i="0" u="none" strike="noStrike" cap="none" normalizeH="0" baseline="0" dirty="0" smtClean="0">
              <a:ln>
                <a:noFill/>
              </a:ln>
              <a:solidFill>
                <a:schemeClr val="tx1"/>
              </a:solidFill>
              <a:effectLst/>
              <a:latin typeface="Arial" charset="0"/>
            </a:endParaRPr>
          </a:p>
        </p:txBody>
      </p:sp>
      <p:sp>
        <p:nvSpPr>
          <p:cNvPr id="21" name="textruta 20"/>
          <p:cNvSpPr txBox="1"/>
          <p:nvPr/>
        </p:nvSpPr>
        <p:spPr>
          <a:xfrm>
            <a:off x="5754539" y="2685574"/>
            <a:ext cx="997031" cy="230832"/>
          </a:xfrm>
          <a:prstGeom prst="rect">
            <a:avLst/>
          </a:prstGeom>
          <a:noFill/>
        </p:spPr>
        <p:txBody>
          <a:bodyPr wrap="square" rtlCol="0">
            <a:spAutoFit/>
          </a:bodyPr>
          <a:lstStyle/>
          <a:p>
            <a:r>
              <a:rPr lang="sv-SE" sz="900" i="1" dirty="0" smtClean="0">
                <a:solidFill>
                  <a:prstClr val="black"/>
                </a:solidFill>
                <a:latin typeface="Arial"/>
                <a:cs typeface="Arial"/>
              </a:rPr>
              <a:t>autogenerering</a:t>
            </a:r>
            <a:endParaRPr lang="sv-SE" sz="900" i="1" dirty="0">
              <a:solidFill>
                <a:prstClr val="black"/>
              </a:solidFill>
              <a:latin typeface="Arial"/>
              <a:cs typeface="Arial"/>
            </a:endParaRPr>
          </a:p>
        </p:txBody>
      </p:sp>
      <p:sp>
        <p:nvSpPr>
          <p:cNvPr id="22" name="textruta 21"/>
          <p:cNvSpPr txBox="1"/>
          <p:nvPr/>
        </p:nvSpPr>
        <p:spPr>
          <a:xfrm>
            <a:off x="7244304" y="4341871"/>
            <a:ext cx="623210" cy="369332"/>
          </a:xfrm>
          <a:prstGeom prst="rect">
            <a:avLst/>
          </a:prstGeom>
          <a:noFill/>
        </p:spPr>
        <p:txBody>
          <a:bodyPr wrap="square" rtlCol="0">
            <a:spAutoFit/>
          </a:bodyPr>
          <a:lstStyle/>
          <a:p>
            <a:r>
              <a:rPr lang="sv-SE" sz="900" i="1" dirty="0">
                <a:solidFill>
                  <a:prstClr val="black"/>
                </a:solidFill>
                <a:latin typeface="Arial"/>
                <a:cs typeface="Arial"/>
              </a:rPr>
              <a:t>a</a:t>
            </a:r>
            <a:r>
              <a:rPr lang="sv-SE" sz="900" i="1" dirty="0" smtClean="0">
                <a:solidFill>
                  <a:prstClr val="black"/>
                </a:solidFill>
                <a:latin typeface="Arial"/>
                <a:cs typeface="Arial"/>
              </a:rPr>
              <a:t>uto</a:t>
            </a:r>
            <a:br>
              <a:rPr lang="sv-SE" sz="900" i="1" dirty="0" smtClean="0">
                <a:solidFill>
                  <a:prstClr val="black"/>
                </a:solidFill>
                <a:latin typeface="Arial"/>
                <a:cs typeface="Arial"/>
              </a:rPr>
            </a:br>
            <a:r>
              <a:rPr lang="sv-SE" sz="900" i="1" dirty="0" smtClean="0">
                <a:solidFill>
                  <a:prstClr val="black"/>
                </a:solidFill>
                <a:latin typeface="Arial"/>
                <a:cs typeface="Arial"/>
              </a:rPr>
              <a:t>kontroll</a:t>
            </a:r>
            <a:endParaRPr lang="sv-SE" sz="900" i="1" dirty="0">
              <a:solidFill>
                <a:prstClr val="black"/>
              </a:solidFill>
              <a:latin typeface="Arial"/>
              <a:cs typeface="Arial"/>
            </a:endParaRPr>
          </a:p>
        </p:txBody>
      </p:sp>
    </p:spTree>
    <p:extLst>
      <p:ext uri="{BB962C8B-B14F-4D97-AF65-F5344CB8AC3E}">
        <p14:creationId xmlns:p14="http://schemas.microsoft.com/office/powerpoint/2010/main" val="24520756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title"/>
          </p:nvPr>
        </p:nvSpPr>
        <p:spPr>
          <a:xfrm>
            <a:off x="1371876" y="365674"/>
            <a:ext cx="7103630" cy="692150"/>
          </a:xfrm>
        </p:spPr>
        <p:txBody>
          <a:bodyPr/>
          <a:lstStyle/>
          <a:p>
            <a:pPr lvl="1"/>
            <a:r>
              <a:rPr lang="sv-SE" sz="2000" dirty="0" smtClean="0"/>
              <a:t>Funktionalitet – Samlad läkemedelslista</a:t>
            </a:r>
            <a:r>
              <a:rPr lang="sv-SE" sz="1800" dirty="0"/>
              <a:t/>
            </a:r>
            <a:br>
              <a:rPr lang="sv-SE" sz="1800" dirty="0"/>
            </a:br>
            <a:r>
              <a:rPr lang="sv-SE" sz="1400" b="0" dirty="0" smtClean="0"/>
              <a:t>- tjänstedomän </a:t>
            </a:r>
            <a:r>
              <a:rPr lang="sv-SE" sz="1400" b="0" i="1" dirty="0" smtClean="0"/>
              <a:t>vård</a:t>
            </a:r>
            <a:r>
              <a:rPr lang="sv-SE" sz="1400" b="0" i="1" dirty="0"/>
              <a:t>- och omsorg kärnprocess: hantera aktiviteter:ordination</a:t>
            </a:r>
            <a:endParaRPr lang="sv-SE" sz="2800" b="0" i="1" dirty="0"/>
          </a:p>
        </p:txBody>
      </p:sp>
      <p:graphicFrame>
        <p:nvGraphicFramePr>
          <p:cNvPr id="6" name="Platshållare för innehåll 5"/>
          <p:cNvGraphicFramePr>
            <a:graphicFrameLocks noGrp="1"/>
          </p:cNvGraphicFramePr>
          <p:nvPr>
            <p:ph idx="1"/>
            <p:extLst>
              <p:ext uri="{D42A27DB-BD31-4B8C-83A1-F6EECF244321}">
                <p14:modId xmlns:p14="http://schemas.microsoft.com/office/powerpoint/2010/main" val="760696289"/>
              </p:ext>
            </p:extLst>
          </p:nvPr>
        </p:nvGraphicFramePr>
        <p:xfrm>
          <a:off x="323904" y="1689650"/>
          <a:ext cx="4270145" cy="3019572"/>
        </p:xfrm>
        <a:graphic>
          <a:graphicData uri="http://schemas.openxmlformats.org/drawingml/2006/table">
            <a:tbl>
              <a:tblPr>
                <a:tableStyleId>{3C2FFA5D-87B4-456A-9821-1D502468CF0F}</a:tableStyleId>
              </a:tblPr>
              <a:tblGrid>
                <a:gridCol w="4270145"/>
              </a:tblGrid>
              <a:tr h="450659">
                <a:tc>
                  <a:txBody>
                    <a:bodyPr/>
                    <a:lstStyle/>
                    <a:p>
                      <a:pPr marL="108000" lvl="0" algn="l" fontAlgn="t"/>
                      <a:r>
                        <a:rPr lang="sv-SE" sz="1200" u="none" strike="noStrike" dirty="0">
                          <a:effectLst/>
                        </a:rPr>
                        <a:t>Visa patientens aktuella läkemedelsbehandlingar och tillhörande </a:t>
                      </a:r>
                      <a:r>
                        <a:rPr lang="sv-SE" sz="1200" u="none" strike="noStrike" dirty="0" smtClean="0">
                          <a:effectLst/>
                        </a:rPr>
                        <a:t>förskrivningar</a:t>
                      </a:r>
                      <a:endParaRPr lang="sv-SE" sz="1200" b="0" i="0" u="none" strike="noStrike" dirty="0">
                        <a:solidFill>
                          <a:srgbClr val="000000"/>
                        </a:solidFill>
                        <a:effectLst/>
                        <a:latin typeface="Calibri"/>
                      </a:endParaRPr>
                    </a:p>
                  </a:txBody>
                  <a:tcPr marL="0" marR="0" marT="0" marB="0" anchor="ctr"/>
                </a:tc>
              </a:tr>
              <a:tr h="648900">
                <a:tc>
                  <a:txBody>
                    <a:bodyPr/>
                    <a:lstStyle/>
                    <a:p>
                      <a:pPr marL="108000" lvl="0" algn="l" fontAlgn="t"/>
                      <a:r>
                        <a:rPr lang="sv-SE" sz="1200" u="none" strike="noStrike" dirty="0">
                          <a:effectLst/>
                        </a:rPr>
                        <a:t>Visa patientens tidigare läkemedelsbehandlingar och tillhörande förskrivningar</a:t>
                      </a:r>
                      <a:endParaRPr lang="sv-SE" sz="1200" b="0" i="0" u="none" strike="noStrike" dirty="0">
                        <a:solidFill>
                          <a:srgbClr val="000000"/>
                        </a:solidFill>
                        <a:effectLst/>
                        <a:latin typeface="Calibri"/>
                      </a:endParaRPr>
                    </a:p>
                  </a:txBody>
                  <a:tcPr marL="0" marR="0" marT="0" marB="0" anchor="ctr"/>
                </a:tc>
              </a:tr>
              <a:tr h="464374">
                <a:tc>
                  <a:txBody>
                    <a:bodyPr/>
                    <a:lstStyle/>
                    <a:p>
                      <a:pPr marL="108000" lvl="0" algn="l" fontAlgn="t"/>
                      <a:r>
                        <a:rPr lang="sv-SE" sz="1200" u="none" strike="noStrike" dirty="0">
                          <a:effectLst/>
                        </a:rPr>
                        <a:t>Visa ordinationshistorik </a:t>
                      </a:r>
                      <a:r>
                        <a:rPr lang="sv-SE" sz="1200" u="none" strike="noStrike" dirty="0" smtClean="0">
                          <a:effectLst/>
                        </a:rPr>
                        <a:t/>
                      </a:r>
                      <a:br>
                        <a:rPr lang="sv-SE" sz="1200" u="none" strike="noStrike" dirty="0" smtClean="0">
                          <a:effectLst/>
                        </a:rPr>
                      </a:br>
                      <a:r>
                        <a:rPr lang="sv-SE" sz="1200" u="none" strike="noStrike" dirty="0" smtClean="0">
                          <a:effectLst/>
                        </a:rPr>
                        <a:t>(sekvens </a:t>
                      </a:r>
                      <a:r>
                        <a:rPr lang="sv-SE" sz="1200" u="none" strike="noStrike" dirty="0">
                          <a:effectLst/>
                        </a:rPr>
                        <a:t>av </a:t>
                      </a:r>
                      <a:r>
                        <a:rPr lang="sv-SE" sz="1200" u="none" strike="noStrike" dirty="0" smtClean="0">
                          <a:effectLst/>
                        </a:rPr>
                        <a:t>beslut</a:t>
                      </a:r>
                      <a:r>
                        <a:rPr lang="sv-SE" sz="1200" u="none" strike="noStrike" baseline="0" dirty="0" smtClean="0">
                          <a:effectLst/>
                        </a:rPr>
                        <a:t> kring läkemedelsbehandling</a:t>
                      </a:r>
                      <a:r>
                        <a:rPr lang="sv-SE" sz="1200" u="none" strike="noStrike" dirty="0" smtClean="0">
                          <a:effectLst/>
                        </a:rPr>
                        <a:t>)</a:t>
                      </a:r>
                      <a:endParaRPr lang="sv-SE" sz="1200" b="0" i="0" u="none" strike="noStrike" dirty="0">
                        <a:solidFill>
                          <a:srgbClr val="000000"/>
                        </a:solidFill>
                        <a:effectLst/>
                        <a:latin typeface="Calibri"/>
                      </a:endParaRPr>
                    </a:p>
                  </a:txBody>
                  <a:tcPr marL="0" marR="0" marT="0" marB="0" anchor="ctr"/>
                </a:tc>
              </a:tr>
              <a:tr h="385832">
                <a:tc>
                  <a:txBody>
                    <a:bodyPr/>
                    <a:lstStyle/>
                    <a:p>
                      <a:pPr marL="108000" marR="0" lvl="0" indent="0" algn="l" defTabSz="914400" rtl="0" eaLnBrk="1" fontAlgn="t" latinLnBrk="0" hangingPunct="1">
                        <a:lnSpc>
                          <a:spcPct val="100000"/>
                        </a:lnSpc>
                        <a:spcBef>
                          <a:spcPts val="0"/>
                        </a:spcBef>
                        <a:spcAft>
                          <a:spcPts val="0"/>
                        </a:spcAft>
                        <a:buClrTx/>
                        <a:buSzTx/>
                        <a:buFontTx/>
                        <a:buNone/>
                        <a:tabLst/>
                        <a:defRPr/>
                      </a:pPr>
                      <a:r>
                        <a:rPr lang="sv-SE" sz="1200" u="none" strike="noStrike" dirty="0" smtClean="0">
                          <a:solidFill>
                            <a:schemeClr val="tx1"/>
                          </a:solidFill>
                          <a:effectLst/>
                        </a:rPr>
                        <a:t>Visa patientens övriga "lösa" förskrivningar/recept</a:t>
                      </a:r>
                      <a:r>
                        <a:rPr lang="sv-SE" sz="1200" u="none" strike="noStrike" dirty="0" smtClean="0">
                          <a:solidFill>
                            <a:srgbClr val="FF0000"/>
                          </a:solidFill>
                          <a:effectLst/>
                        </a:rPr>
                        <a:t> </a:t>
                      </a:r>
                      <a:r>
                        <a:rPr lang="sv-SE" sz="1600" u="none" strike="noStrike" dirty="0" smtClean="0">
                          <a:solidFill>
                            <a:srgbClr val="FF0000"/>
                          </a:solidFill>
                          <a:effectLst/>
                        </a:rPr>
                        <a:t>*</a:t>
                      </a:r>
                      <a:endParaRPr lang="sv-SE" sz="1200" b="0" i="0" u="none" strike="noStrike" dirty="0" smtClean="0">
                        <a:solidFill>
                          <a:srgbClr val="FF0000"/>
                        </a:solidFill>
                        <a:effectLst/>
                        <a:latin typeface="Calibri"/>
                      </a:endParaRPr>
                    </a:p>
                  </a:txBody>
                  <a:tcPr marL="0" marR="0" marT="0" marB="0" anchor="b"/>
                </a:tc>
              </a:tr>
              <a:tr h="385832">
                <a:tc>
                  <a:txBody>
                    <a:bodyPr/>
                    <a:lstStyle/>
                    <a:p>
                      <a:pPr marL="108000" lvl="0" algn="l" fontAlgn="t"/>
                      <a:r>
                        <a:rPr lang="sv-SE" sz="1200" u="none" strike="noStrike" dirty="0">
                          <a:effectLst/>
                        </a:rPr>
                        <a:t>Visa expedieringar (uttag) som skett på viss </a:t>
                      </a:r>
                      <a:r>
                        <a:rPr lang="sv-SE" sz="1200" u="none" strike="noStrike" dirty="0" smtClean="0">
                          <a:effectLst/>
                        </a:rPr>
                        <a:t>förskrivning</a:t>
                      </a:r>
                      <a:endParaRPr lang="sv-SE" sz="1200" b="0" i="0" u="none" strike="noStrike" dirty="0">
                        <a:solidFill>
                          <a:srgbClr val="000000"/>
                        </a:solidFill>
                        <a:effectLst/>
                        <a:latin typeface="Calibri"/>
                      </a:endParaRPr>
                    </a:p>
                  </a:txBody>
                  <a:tcPr marL="0" marR="0" marT="0" marB="0" anchor="ctr"/>
                </a:tc>
              </a:tr>
              <a:tr h="368294">
                <a:tc>
                  <a:txBody>
                    <a:bodyPr/>
                    <a:lstStyle/>
                    <a:p>
                      <a:pPr marL="108000" lvl="0" algn="l" fontAlgn="t"/>
                      <a:r>
                        <a:rPr lang="sv-SE" sz="1200" u="none" strike="noStrike" dirty="0">
                          <a:effectLst/>
                        </a:rPr>
                        <a:t>Visa sammanställning alla expedieringar (uttag) för patienten</a:t>
                      </a:r>
                      <a:endParaRPr lang="sv-SE" sz="1200" b="0" i="0" u="none" strike="noStrike" dirty="0">
                        <a:solidFill>
                          <a:srgbClr val="000000"/>
                        </a:solidFill>
                        <a:effectLst/>
                        <a:latin typeface="Calibri"/>
                      </a:endParaRPr>
                    </a:p>
                  </a:txBody>
                  <a:tcPr marL="0" marR="0" marT="0" marB="0" anchor="ctr"/>
                </a:tc>
              </a:tr>
              <a:tr h="315681">
                <a:tc>
                  <a:txBody>
                    <a:bodyPr/>
                    <a:lstStyle/>
                    <a:p>
                      <a:pPr marL="108000" lvl="0" algn="l" fontAlgn="t"/>
                      <a:r>
                        <a:rPr lang="sv-SE" sz="1200" u="none" strike="noStrike" dirty="0">
                          <a:effectLst/>
                        </a:rPr>
                        <a:t>Visa </a:t>
                      </a:r>
                      <a:r>
                        <a:rPr lang="sv-SE" sz="1200" u="none" strike="noStrike" dirty="0" smtClean="0">
                          <a:effectLst/>
                        </a:rPr>
                        <a:t>(läkemedelsnära)</a:t>
                      </a:r>
                      <a:r>
                        <a:rPr lang="sv-SE" sz="1200" u="none" strike="noStrike" baseline="0" dirty="0" smtClean="0">
                          <a:effectLst/>
                        </a:rPr>
                        <a:t> </a:t>
                      </a:r>
                      <a:r>
                        <a:rPr lang="sv-SE" sz="1200" u="none" strike="noStrike" dirty="0" smtClean="0">
                          <a:effectLst/>
                        </a:rPr>
                        <a:t>handelsvaror</a:t>
                      </a:r>
                      <a:endParaRPr lang="sv-SE" sz="1200" b="0" i="0" u="none" strike="noStrike" dirty="0">
                        <a:solidFill>
                          <a:srgbClr val="000000"/>
                        </a:solidFill>
                        <a:effectLst/>
                        <a:latin typeface="Calibri"/>
                      </a:endParaRPr>
                    </a:p>
                  </a:txBody>
                  <a:tcPr marL="0" marR="0" marT="0" marB="0" anchor="ctr"/>
                </a:tc>
              </a:tr>
            </a:tbl>
          </a:graphicData>
        </a:graphic>
      </p:graphicFrame>
      <p:sp>
        <p:nvSpPr>
          <p:cNvPr id="3" name="Platshållare för bildnummer 2"/>
          <p:cNvSpPr>
            <a:spLocks noGrp="1"/>
          </p:cNvSpPr>
          <p:nvPr>
            <p:ph type="sldNum" sz="quarter" idx="10"/>
          </p:nvPr>
        </p:nvSpPr>
        <p:spPr/>
        <p:txBody>
          <a:bodyPr/>
          <a:lstStyle/>
          <a:p>
            <a:fld id="{6EE46765-18A6-4212-A407-C65E2DCE0A05}" type="slidenum">
              <a:rPr lang="sv-SE" smtClean="0"/>
              <a:pPr/>
              <a:t>7</a:t>
            </a:fld>
            <a:endParaRPr lang="sv-SE"/>
          </a:p>
        </p:txBody>
      </p:sp>
      <p:graphicFrame>
        <p:nvGraphicFramePr>
          <p:cNvPr id="7" name="Tabell 6"/>
          <p:cNvGraphicFramePr>
            <a:graphicFrameLocks noGrp="1"/>
          </p:cNvGraphicFramePr>
          <p:nvPr>
            <p:extLst>
              <p:ext uri="{D42A27DB-BD31-4B8C-83A1-F6EECF244321}">
                <p14:modId xmlns:p14="http://schemas.microsoft.com/office/powerpoint/2010/main" val="329785651"/>
              </p:ext>
            </p:extLst>
          </p:nvPr>
        </p:nvGraphicFramePr>
        <p:xfrm>
          <a:off x="4885879" y="1689645"/>
          <a:ext cx="3792640" cy="4438483"/>
        </p:xfrm>
        <a:graphic>
          <a:graphicData uri="http://schemas.openxmlformats.org/drawingml/2006/table">
            <a:tbl>
              <a:tblPr>
                <a:tableStyleId>{3C2FFA5D-87B4-456A-9821-1D502468CF0F}</a:tableStyleId>
              </a:tblPr>
              <a:tblGrid>
                <a:gridCol w="3792640"/>
              </a:tblGrid>
              <a:tr h="442824">
                <a:tc>
                  <a:txBody>
                    <a:bodyPr/>
                    <a:lstStyle/>
                    <a:p>
                      <a:pPr marL="72000" algn="l" fontAlgn="t"/>
                      <a:r>
                        <a:rPr lang="sv-SE" sz="1200" u="none" strike="noStrike" dirty="0">
                          <a:effectLst/>
                        </a:rPr>
                        <a:t>Ordinera läkemedelsbehandling, </a:t>
                      </a:r>
                      <a:r>
                        <a:rPr lang="sv-SE" sz="1200" u="none" strike="noStrike" dirty="0" smtClean="0">
                          <a:effectLst/>
                        </a:rPr>
                        <a:t>inkl. strukturerad ordinationsorsak</a:t>
                      </a:r>
                      <a:endParaRPr lang="sv-SE" sz="1200" b="0" i="0" u="none" strike="noStrike" dirty="0">
                        <a:solidFill>
                          <a:srgbClr val="000000"/>
                        </a:solidFill>
                        <a:effectLst/>
                        <a:latin typeface="Calibri"/>
                      </a:endParaRPr>
                    </a:p>
                  </a:txBody>
                  <a:tcPr marL="0" marR="0" marT="0" marB="0" anchor="ctr"/>
                </a:tc>
              </a:tr>
              <a:tr h="313202">
                <a:tc>
                  <a:txBody>
                    <a:bodyPr/>
                    <a:lstStyle/>
                    <a:p>
                      <a:pPr marL="72000" algn="l" fontAlgn="t"/>
                      <a:r>
                        <a:rPr lang="sv-SE" sz="1200" u="none" strike="noStrike" dirty="0">
                          <a:effectLst/>
                        </a:rPr>
                        <a:t>Ordinera handelsvaror för dospatient </a:t>
                      </a:r>
                      <a:r>
                        <a:rPr lang="sv-SE" sz="1200" u="none" strike="noStrike" dirty="0" smtClean="0">
                          <a:effectLst/>
                        </a:rPr>
                        <a:t>(</a:t>
                      </a:r>
                      <a:r>
                        <a:rPr lang="sv-SE" sz="1200" u="none" strike="noStrike" dirty="0">
                          <a:effectLst/>
                        </a:rPr>
                        <a:t>inkl. spolvätskor)</a:t>
                      </a:r>
                      <a:endParaRPr lang="sv-SE" sz="1200" b="0" i="0" u="none" strike="noStrike" dirty="0">
                        <a:effectLst/>
                        <a:latin typeface="Calibri"/>
                      </a:endParaRPr>
                    </a:p>
                  </a:txBody>
                  <a:tcPr marL="0" marR="0" marT="0" marB="0" anchor="ctr"/>
                </a:tc>
              </a:tr>
              <a:tr h="321834">
                <a:tc>
                  <a:txBody>
                    <a:bodyPr/>
                    <a:lstStyle/>
                    <a:p>
                      <a:pPr marL="72000" algn="l" fontAlgn="t"/>
                      <a:r>
                        <a:rPr lang="sv-SE" sz="1200" u="none" strike="noStrike" dirty="0">
                          <a:effectLst/>
                        </a:rPr>
                        <a:t>Ändra </a:t>
                      </a:r>
                      <a:r>
                        <a:rPr lang="sv-SE" sz="1200" u="none" strike="noStrike" dirty="0" smtClean="0">
                          <a:effectLst/>
                        </a:rPr>
                        <a:t>läkemedelsbehandling och </a:t>
                      </a:r>
                      <a:r>
                        <a:rPr lang="sv-SE" sz="1200" u="none" strike="noStrike" dirty="0">
                          <a:effectLst/>
                        </a:rPr>
                        <a:t>förskrivning</a:t>
                      </a:r>
                      <a:endParaRPr lang="sv-SE" sz="1200" b="0" i="0" u="none" strike="noStrike" dirty="0">
                        <a:solidFill>
                          <a:srgbClr val="000000"/>
                        </a:solidFill>
                        <a:effectLst/>
                        <a:latin typeface="Calibri"/>
                      </a:endParaRPr>
                    </a:p>
                  </a:txBody>
                  <a:tcPr marL="0" marR="0" marT="0" marB="0" anchor="ctr"/>
                </a:tc>
              </a:tr>
              <a:tr h="313202">
                <a:tc>
                  <a:txBody>
                    <a:bodyPr/>
                    <a:lstStyle/>
                    <a:p>
                      <a:pPr marL="72000" algn="l" fontAlgn="t"/>
                      <a:r>
                        <a:rPr lang="sv-SE" sz="1200" u="none" strike="noStrike" dirty="0">
                          <a:effectLst/>
                        </a:rPr>
                        <a:t>Förnya </a:t>
                      </a:r>
                      <a:r>
                        <a:rPr lang="sv-SE" sz="1200" u="none" strike="noStrike" dirty="0" smtClean="0">
                          <a:effectLst/>
                        </a:rPr>
                        <a:t>recept</a:t>
                      </a:r>
                      <a:endParaRPr lang="sv-SE" sz="1200" b="0" i="0" u="none" strike="noStrike" dirty="0">
                        <a:solidFill>
                          <a:srgbClr val="000000"/>
                        </a:solidFill>
                        <a:effectLst/>
                        <a:latin typeface="Calibri"/>
                      </a:endParaRPr>
                    </a:p>
                  </a:txBody>
                  <a:tcPr marL="0" marR="0" marT="0" marB="0" anchor="ctr"/>
                </a:tc>
              </a:tr>
              <a:tr h="516665">
                <a:tc>
                  <a:txBody>
                    <a:bodyPr/>
                    <a:lstStyle/>
                    <a:p>
                      <a:pPr marL="72000" algn="l" fontAlgn="t"/>
                      <a:r>
                        <a:rPr lang="sv-SE" sz="1200" u="none" strike="noStrike" dirty="0">
                          <a:effectLst/>
                        </a:rPr>
                        <a:t>Förskriva till patient utan person- eller samordningsnummer</a:t>
                      </a:r>
                      <a:endParaRPr lang="sv-SE" sz="1200" b="0" i="0" u="none" strike="noStrike" dirty="0">
                        <a:solidFill>
                          <a:srgbClr val="000000"/>
                        </a:solidFill>
                        <a:effectLst/>
                        <a:latin typeface="Calibri"/>
                      </a:endParaRPr>
                    </a:p>
                  </a:txBody>
                  <a:tcPr marL="0" marR="0" marT="0" marB="0" anchor="ctr"/>
                </a:tc>
              </a:tr>
              <a:tr h="722444">
                <a:tc>
                  <a:txBody>
                    <a:bodyPr/>
                    <a:lstStyle/>
                    <a:p>
                      <a:pPr marL="72000" algn="l" fontAlgn="t"/>
                      <a:r>
                        <a:rPr lang="sv-SE" sz="1200" u="none" strike="noStrike" dirty="0">
                          <a:effectLst/>
                        </a:rPr>
                        <a:t>Sätt ut läkemedelsbehandling, </a:t>
                      </a:r>
                      <a:r>
                        <a:rPr lang="sv-SE" sz="1200" u="none" strike="noStrike" dirty="0" smtClean="0">
                          <a:effectLst/>
                        </a:rPr>
                        <a:t/>
                      </a:r>
                      <a:br>
                        <a:rPr lang="sv-SE" sz="1200" u="none" strike="noStrike" dirty="0" smtClean="0">
                          <a:effectLst/>
                        </a:rPr>
                      </a:br>
                      <a:r>
                        <a:rPr lang="sv-SE" sz="1200" u="none" strike="noStrike" dirty="0" smtClean="0">
                          <a:effectLst/>
                        </a:rPr>
                        <a:t>inklusive </a:t>
                      </a:r>
                      <a:r>
                        <a:rPr lang="sv-SE" sz="1200" u="none" strike="noStrike" dirty="0">
                          <a:effectLst/>
                        </a:rPr>
                        <a:t>makulera/sätt ut </a:t>
                      </a:r>
                      <a:r>
                        <a:rPr lang="sv-SE" sz="1200" u="none" strike="noStrike" dirty="0" smtClean="0">
                          <a:effectLst/>
                        </a:rPr>
                        <a:t>receptet </a:t>
                      </a:r>
                      <a:r>
                        <a:rPr lang="sv-SE" sz="1200" u="none" strike="noStrike" dirty="0">
                          <a:effectLst/>
                        </a:rPr>
                        <a:t>och stoppa kvarvarande </a:t>
                      </a:r>
                      <a:r>
                        <a:rPr lang="sv-SE" sz="1200" u="none" strike="noStrike" dirty="0" smtClean="0">
                          <a:effectLst/>
                        </a:rPr>
                        <a:t>uttag</a:t>
                      </a:r>
                      <a:endParaRPr lang="sv-SE" sz="1200" b="0" i="0" u="none" strike="noStrike" dirty="0">
                        <a:solidFill>
                          <a:srgbClr val="000000"/>
                        </a:solidFill>
                        <a:effectLst/>
                        <a:latin typeface="Calibri"/>
                      </a:endParaRPr>
                    </a:p>
                  </a:txBody>
                  <a:tcPr marL="0" marR="0" marT="0" marB="0" anchor="ctr"/>
                </a:tc>
              </a:tr>
              <a:tr h="470068">
                <a:tc>
                  <a:txBody>
                    <a:bodyPr/>
                    <a:lstStyle/>
                    <a:p>
                      <a:pPr marL="72000" algn="l" fontAlgn="t"/>
                      <a:r>
                        <a:rPr lang="sv-SE" sz="1200" u="none" strike="noStrike" dirty="0">
                          <a:effectLst/>
                        </a:rPr>
                        <a:t>Bekräftande </a:t>
                      </a:r>
                      <a:r>
                        <a:rPr lang="sv-SE" sz="1200" u="none" strike="noStrike" dirty="0" smtClean="0">
                          <a:effectLst/>
                        </a:rPr>
                        <a:t>ordination</a:t>
                      </a:r>
                      <a:br>
                        <a:rPr lang="sv-SE" sz="1200" u="none" strike="noStrike" dirty="0" smtClean="0">
                          <a:effectLst/>
                        </a:rPr>
                      </a:br>
                      <a:r>
                        <a:rPr lang="sv-SE" sz="1200" u="none" strike="noStrike" dirty="0" smtClean="0">
                          <a:effectLst/>
                        </a:rPr>
                        <a:t>-</a:t>
                      </a:r>
                      <a:r>
                        <a:rPr lang="sv-SE" sz="1200" u="none" strike="noStrike" baseline="0" dirty="0" smtClean="0">
                          <a:effectLst/>
                        </a:rPr>
                        <a:t> kan vara </a:t>
                      </a:r>
                      <a:r>
                        <a:rPr lang="sv-SE" sz="1200" u="none" strike="noStrike" dirty="0" smtClean="0">
                          <a:effectLst/>
                        </a:rPr>
                        <a:t>med </a:t>
                      </a:r>
                      <a:r>
                        <a:rPr lang="sv-SE" sz="1200" u="none" strike="noStrike" dirty="0">
                          <a:effectLst/>
                        </a:rPr>
                        <a:t>"löst" recept som </a:t>
                      </a:r>
                      <a:r>
                        <a:rPr lang="sv-SE" sz="1200" u="none" strike="noStrike" dirty="0" smtClean="0">
                          <a:effectLst/>
                        </a:rPr>
                        <a:t>underlag </a:t>
                      </a:r>
                      <a:endParaRPr lang="sv-SE" sz="1200" b="0" i="0" u="none" strike="noStrike" dirty="0">
                        <a:solidFill>
                          <a:srgbClr val="000000"/>
                        </a:solidFill>
                        <a:effectLst/>
                        <a:latin typeface="Calibri"/>
                      </a:endParaRPr>
                    </a:p>
                  </a:txBody>
                  <a:tcPr marL="0" marR="0" marT="0" marB="0" anchor="ctr"/>
                </a:tc>
              </a:tr>
              <a:tr h="376647">
                <a:tc>
                  <a:txBody>
                    <a:bodyPr/>
                    <a:lstStyle/>
                    <a:p>
                      <a:pPr marL="72000" algn="l" fontAlgn="t"/>
                      <a:r>
                        <a:rPr lang="sv-SE" sz="1200" u="none" strike="noStrike" dirty="0" smtClean="0">
                          <a:effectLst/>
                        </a:rPr>
                        <a:t>Makulera</a:t>
                      </a:r>
                      <a:r>
                        <a:rPr lang="sv-SE" sz="1200" u="none" strike="noStrike" baseline="0" dirty="0" smtClean="0">
                          <a:effectLst/>
                        </a:rPr>
                        <a:t> </a:t>
                      </a:r>
                      <a:r>
                        <a:rPr lang="sv-SE" sz="1200" u="none" strike="noStrike" dirty="0" smtClean="0">
                          <a:effectLst/>
                        </a:rPr>
                        <a:t>recept</a:t>
                      </a:r>
                      <a:endParaRPr lang="sv-SE" sz="1200" b="0" i="0" u="none" strike="noStrike" dirty="0">
                        <a:solidFill>
                          <a:srgbClr val="000000"/>
                        </a:solidFill>
                        <a:effectLst/>
                        <a:latin typeface="Calibri"/>
                      </a:endParaRPr>
                    </a:p>
                  </a:txBody>
                  <a:tcPr marL="0" marR="0" marT="0" marB="0" anchor="ctr"/>
                </a:tc>
              </a:tr>
              <a:tr h="297919">
                <a:tc>
                  <a:txBody>
                    <a:bodyPr/>
                    <a:lstStyle/>
                    <a:p>
                      <a:pPr marL="72000" algn="l" fontAlgn="t"/>
                      <a:r>
                        <a:rPr lang="sv-SE" sz="1200" u="none" strike="noStrike" kern="1200" dirty="0" smtClean="0">
                          <a:solidFill>
                            <a:schemeClr val="dk1"/>
                          </a:solidFill>
                          <a:effectLst/>
                          <a:latin typeface="+mn-lt"/>
                          <a:ea typeface="+mn-ea"/>
                          <a:cs typeface="+mn-cs"/>
                        </a:rPr>
                        <a:t>Förskriva</a:t>
                      </a:r>
                      <a:r>
                        <a:rPr lang="sv-SE" sz="1200" u="none" strike="noStrike" kern="1200" baseline="0" dirty="0" smtClean="0">
                          <a:solidFill>
                            <a:schemeClr val="dk1"/>
                          </a:solidFill>
                          <a:effectLst/>
                          <a:latin typeface="+mn-lt"/>
                          <a:ea typeface="+mn-ea"/>
                          <a:cs typeface="+mn-cs"/>
                        </a:rPr>
                        <a:t> och s</a:t>
                      </a:r>
                      <a:r>
                        <a:rPr lang="sv-SE" sz="1200" u="none" strike="noStrike" kern="1200" dirty="0" smtClean="0">
                          <a:solidFill>
                            <a:schemeClr val="dk1"/>
                          </a:solidFill>
                          <a:effectLst/>
                          <a:latin typeface="+mn-lt"/>
                          <a:ea typeface="+mn-ea"/>
                          <a:cs typeface="+mn-cs"/>
                        </a:rPr>
                        <a:t>kicka</a:t>
                      </a:r>
                      <a:r>
                        <a:rPr lang="sv-SE" sz="1200" b="0" i="0" u="none" strike="noStrike" baseline="0" dirty="0" smtClean="0">
                          <a:solidFill>
                            <a:srgbClr val="000000"/>
                          </a:solidFill>
                          <a:effectLst/>
                          <a:latin typeface="Calibri"/>
                        </a:rPr>
                        <a:t> </a:t>
                      </a:r>
                      <a:r>
                        <a:rPr lang="sv-SE" sz="1200" u="none" strike="noStrike" kern="1200" dirty="0" smtClean="0">
                          <a:solidFill>
                            <a:schemeClr val="dk1"/>
                          </a:solidFill>
                          <a:effectLst/>
                          <a:latin typeface="+mn-lt"/>
                          <a:ea typeface="+mn-ea"/>
                          <a:cs typeface="+mn-cs"/>
                        </a:rPr>
                        <a:t>recept</a:t>
                      </a:r>
                      <a:endParaRPr lang="sv-SE" sz="1200" u="none" strike="noStrike" kern="1200" dirty="0">
                        <a:solidFill>
                          <a:schemeClr val="dk1"/>
                        </a:solidFill>
                        <a:effectLst/>
                        <a:latin typeface="+mn-lt"/>
                        <a:ea typeface="+mn-ea"/>
                        <a:cs typeface="+mn-cs"/>
                      </a:endParaRPr>
                    </a:p>
                  </a:txBody>
                  <a:tcPr marL="0" marR="0" marT="0" marB="0" anchor="ctr"/>
                </a:tc>
              </a:tr>
              <a:tr h="297919">
                <a:tc>
                  <a:txBody>
                    <a:bodyPr/>
                    <a:lstStyle/>
                    <a:p>
                      <a:pPr marL="72000" algn="l" fontAlgn="t"/>
                      <a:r>
                        <a:rPr lang="sv-SE" sz="1200" u="none" strike="noStrike" dirty="0">
                          <a:effectLst/>
                        </a:rPr>
                        <a:t>Göra uppehåll i läkemedelsbehandling</a:t>
                      </a:r>
                      <a:endParaRPr lang="sv-SE" sz="1200" b="0" i="0" u="none" strike="noStrike" dirty="0">
                        <a:solidFill>
                          <a:srgbClr val="000000"/>
                        </a:solidFill>
                        <a:effectLst/>
                        <a:latin typeface="Calibri"/>
                      </a:endParaRPr>
                    </a:p>
                  </a:txBody>
                  <a:tcPr marL="0" marR="0" marT="0" marB="0" anchor="ctr"/>
                </a:tc>
              </a:tr>
              <a:tr h="354053">
                <a:tc>
                  <a:txBody>
                    <a:bodyPr/>
                    <a:lstStyle/>
                    <a:p>
                      <a:pPr marL="72000" algn="l" fontAlgn="t"/>
                      <a:r>
                        <a:rPr lang="sv-SE" sz="1200" u="none" strike="noStrike" dirty="0">
                          <a:effectLst/>
                        </a:rPr>
                        <a:t>Markera avstämning för </a:t>
                      </a:r>
                      <a:r>
                        <a:rPr lang="sv-SE" sz="1200" u="none" strike="noStrike" dirty="0" smtClean="0">
                          <a:effectLst/>
                        </a:rPr>
                        <a:t>hela den aktuella </a:t>
                      </a:r>
                      <a:r>
                        <a:rPr lang="sv-SE" sz="1200" u="none" strike="noStrike" dirty="0">
                          <a:effectLst/>
                        </a:rPr>
                        <a:t>läkemedelslistan</a:t>
                      </a:r>
                      <a:endParaRPr lang="sv-SE" sz="1200" b="0" i="0" u="none" strike="noStrike" dirty="0">
                        <a:effectLst/>
                        <a:latin typeface="Calibri"/>
                      </a:endParaRPr>
                    </a:p>
                  </a:txBody>
                  <a:tcPr marL="0" marR="0" marT="0" marB="0" anchor="ctr"/>
                </a:tc>
              </a:tr>
            </a:tbl>
          </a:graphicData>
        </a:graphic>
      </p:graphicFrame>
      <p:graphicFrame>
        <p:nvGraphicFramePr>
          <p:cNvPr id="8" name="Platshållare för innehåll 5"/>
          <p:cNvGraphicFramePr>
            <a:graphicFrameLocks noGrp="1"/>
          </p:cNvGraphicFramePr>
          <p:nvPr>
            <p:ph idx="1"/>
            <p:extLst>
              <p:ext uri="{D42A27DB-BD31-4B8C-83A1-F6EECF244321}">
                <p14:modId xmlns:p14="http://schemas.microsoft.com/office/powerpoint/2010/main" val="2946633659"/>
              </p:ext>
            </p:extLst>
          </p:nvPr>
        </p:nvGraphicFramePr>
        <p:xfrm>
          <a:off x="323904" y="5176321"/>
          <a:ext cx="4270145" cy="947043"/>
        </p:xfrm>
        <a:graphic>
          <a:graphicData uri="http://schemas.openxmlformats.org/drawingml/2006/table">
            <a:tbl>
              <a:tblPr>
                <a:tableStyleId>{3C2FFA5D-87B4-456A-9821-1D502468CF0F}</a:tableStyleId>
              </a:tblPr>
              <a:tblGrid>
                <a:gridCol w="4270145"/>
              </a:tblGrid>
              <a:tr h="315681">
                <a:tc>
                  <a:txBody>
                    <a:bodyPr/>
                    <a:lstStyle/>
                    <a:p>
                      <a:pPr marL="108000" lvl="0" algn="l" fontAlgn="t"/>
                      <a:r>
                        <a:rPr lang="sv-SE" sz="1200" u="none" strike="noStrike" dirty="0">
                          <a:effectLst/>
                        </a:rPr>
                        <a:t>Visa läkemedelslistan </a:t>
                      </a:r>
                      <a:r>
                        <a:rPr lang="sv-SE" sz="1200" u="none" strike="noStrike" dirty="0" smtClean="0">
                          <a:effectLst/>
                        </a:rPr>
                        <a:t>på</a:t>
                      </a:r>
                      <a:r>
                        <a:rPr lang="sv-SE" sz="1200" u="none" strike="noStrike" baseline="0" dirty="0" smtClean="0">
                          <a:effectLst/>
                        </a:rPr>
                        <a:t> en</a:t>
                      </a:r>
                      <a:r>
                        <a:rPr lang="sv-SE" sz="1200" u="none" strike="noStrike" dirty="0" smtClean="0">
                          <a:effectLst/>
                        </a:rPr>
                        <a:t> tidslinje</a:t>
                      </a:r>
                      <a:endParaRPr lang="sv-SE" sz="1200" b="0" i="0" u="none" strike="noStrike" dirty="0">
                        <a:solidFill>
                          <a:srgbClr val="000000"/>
                        </a:solidFill>
                        <a:effectLst/>
                        <a:latin typeface="Calibri"/>
                      </a:endParaRPr>
                    </a:p>
                  </a:txBody>
                  <a:tcPr marL="0" marR="0" marT="0" marB="0" anchor="ctr"/>
                </a:tc>
              </a:tr>
              <a:tr h="315681">
                <a:tc>
                  <a:txBody>
                    <a:bodyPr/>
                    <a:lstStyle/>
                    <a:p>
                      <a:pPr marL="108000" lvl="0" algn="l" fontAlgn="t"/>
                      <a:r>
                        <a:rPr lang="sv-SE" sz="1200" u="none" strike="noStrike" dirty="0">
                          <a:effectLst/>
                        </a:rPr>
                        <a:t>Filtrering av listan utifrån spärr och avsaknad av </a:t>
                      </a:r>
                      <a:r>
                        <a:rPr lang="sv-SE" sz="1200" u="none" strike="noStrike" dirty="0" smtClean="0">
                          <a:effectLst/>
                        </a:rPr>
                        <a:t>samtycken </a:t>
                      </a:r>
                    </a:p>
                  </a:txBody>
                  <a:tcPr marL="0" marR="0" marT="0" marB="0" anchor="ctr"/>
                </a:tc>
              </a:tr>
              <a:tr h="315681">
                <a:tc>
                  <a:txBody>
                    <a:bodyPr/>
                    <a:lstStyle/>
                    <a:p>
                      <a:pPr marL="108000" lvl="0" algn="l" fontAlgn="t"/>
                      <a:r>
                        <a:rPr lang="sv-SE" sz="1200" u="none" strike="noStrike" dirty="0" smtClean="0">
                          <a:effectLst/>
                        </a:rPr>
                        <a:t>Utskrift ordinationshandling etc.</a:t>
                      </a:r>
                    </a:p>
                  </a:txBody>
                  <a:tcPr marL="0" marR="0" marT="0" marB="0" anchor="ctr"/>
                </a:tc>
              </a:tr>
            </a:tbl>
          </a:graphicData>
        </a:graphic>
      </p:graphicFrame>
      <p:sp>
        <p:nvSpPr>
          <p:cNvPr id="11" name="textruta 10"/>
          <p:cNvSpPr txBox="1"/>
          <p:nvPr/>
        </p:nvSpPr>
        <p:spPr>
          <a:xfrm>
            <a:off x="261187" y="1381868"/>
            <a:ext cx="1933922" cy="307777"/>
          </a:xfrm>
          <a:prstGeom prst="rect">
            <a:avLst/>
          </a:prstGeom>
          <a:noFill/>
        </p:spPr>
        <p:txBody>
          <a:bodyPr wrap="square" rtlCol="0">
            <a:spAutoFit/>
          </a:bodyPr>
          <a:lstStyle/>
          <a:p>
            <a:r>
              <a:rPr lang="sv-SE" sz="1400" i="1" dirty="0" smtClean="0">
                <a:solidFill>
                  <a:schemeClr val="tx2"/>
                </a:solidFill>
                <a:latin typeface="Arial"/>
                <a:cs typeface="Arial"/>
              </a:rPr>
              <a:t>Visa läkemedelslista</a:t>
            </a:r>
            <a:endParaRPr lang="sv-SE" sz="1400" i="1" dirty="0">
              <a:solidFill>
                <a:schemeClr val="tx2"/>
              </a:solidFill>
              <a:latin typeface="Arial"/>
              <a:cs typeface="Arial"/>
            </a:endParaRPr>
          </a:p>
        </p:txBody>
      </p:sp>
      <p:sp>
        <p:nvSpPr>
          <p:cNvPr id="12" name="textruta 11"/>
          <p:cNvSpPr txBox="1"/>
          <p:nvPr/>
        </p:nvSpPr>
        <p:spPr>
          <a:xfrm>
            <a:off x="4885877" y="1380379"/>
            <a:ext cx="3886717" cy="307777"/>
          </a:xfrm>
          <a:prstGeom prst="rect">
            <a:avLst/>
          </a:prstGeom>
          <a:noFill/>
        </p:spPr>
        <p:txBody>
          <a:bodyPr wrap="square" rtlCol="0">
            <a:spAutoFit/>
          </a:bodyPr>
          <a:lstStyle/>
          <a:p>
            <a:r>
              <a:rPr lang="sv-SE" sz="1400" i="1" dirty="0" smtClean="0">
                <a:solidFill>
                  <a:schemeClr val="tx2"/>
                </a:solidFill>
                <a:latin typeface="Arial"/>
                <a:cs typeface="Arial"/>
              </a:rPr>
              <a:t>Ordinera, förskriva, ändra</a:t>
            </a:r>
            <a:endParaRPr lang="sv-SE" sz="1400" i="1" dirty="0">
              <a:solidFill>
                <a:schemeClr val="tx2"/>
              </a:solidFill>
              <a:latin typeface="Arial"/>
              <a:cs typeface="Arial"/>
            </a:endParaRPr>
          </a:p>
        </p:txBody>
      </p:sp>
      <p:sp>
        <p:nvSpPr>
          <p:cNvPr id="14" name="textruta 13"/>
          <p:cNvSpPr txBox="1"/>
          <p:nvPr/>
        </p:nvSpPr>
        <p:spPr>
          <a:xfrm>
            <a:off x="269024" y="4866180"/>
            <a:ext cx="3574442" cy="307777"/>
          </a:xfrm>
          <a:prstGeom prst="rect">
            <a:avLst/>
          </a:prstGeom>
          <a:noFill/>
        </p:spPr>
        <p:txBody>
          <a:bodyPr wrap="square" rtlCol="0">
            <a:spAutoFit/>
          </a:bodyPr>
          <a:lstStyle/>
          <a:p>
            <a:r>
              <a:rPr lang="sv-SE" sz="1400" i="1" dirty="0" smtClean="0">
                <a:solidFill>
                  <a:schemeClr val="tx2"/>
                </a:solidFill>
                <a:latin typeface="Arial"/>
                <a:cs typeface="Arial"/>
              </a:rPr>
              <a:t>..och baserat på listan (i vårdsystemet)</a:t>
            </a:r>
            <a:endParaRPr lang="sv-SE" sz="1400" i="1" dirty="0">
              <a:solidFill>
                <a:schemeClr val="tx2"/>
              </a:solidFill>
              <a:latin typeface="Arial"/>
              <a:cs typeface="Arial"/>
            </a:endParaRPr>
          </a:p>
        </p:txBody>
      </p:sp>
      <p:sp>
        <p:nvSpPr>
          <p:cNvPr id="18" name="textruta 17"/>
          <p:cNvSpPr txBox="1"/>
          <p:nvPr/>
        </p:nvSpPr>
        <p:spPr>
          <a:xfrm>
            <a:off x="323904" y="6317375"/>
            <a:ext cx="3884902" cy="253916"/>
          </a:xfrm>
          <a:prstGeom prst="rect">
            <a:avLst/>
          </a:prstGeom>
          <a:noFill/>
        </p:spPr>
        <p:txBody>
          <a:bodyPr wrap="square" rtlCol="0">
            <a:spAutoFit/>
          </a:bodyPr>
          <a:lstStyle/>
          <a:p>
            <a:r>
              <a:rPr lang="sv-SE" sz="1050" i="1" dirty="0" smtClean="0">
                <a:solidFill>
                  <a:srgbClr val="FF0000"/>
                </a:solidFill>
                <a:latin typeface="Arial"/>
                <a:cs typeface="Arial"/>
              </a:rPr>
              <a:t>* </a:t>
            </a:r>
            <a:r>
              <a:rPr lang="sv-SE" sz="1050" i="1" dirty="0" smtClean="0">
                <a:solidFill>
                  <a:srgbClr val="FF0000"/>
                </a:solidFill>
                <a:latin typeface="PTSans-Regular"/>
              </a:rPr>
              <a:t>Olika regelverk för dospatient och icke-dos patient</a:t>
            </a:r>
            <a:endParaRPr lang="sv-SE" sz="1050" i="1" dirty="0">
              <a:solidFill>
                <a:srgbClr val="FF0000"/>
              </a:solidFill>
              <a:latin typeface="Arial"/>
              <a:cs typeface="Arial"/>
            </a:endParaRPr>
          </a:p>
        </p:txBody>
      </p:sp>
      <p:sp>
        <p:nvSpPr>
          <p:cNvPr id="19" name="textruta 18"/>
          <p:cNvSpPr txBox="1"/>
          <p:nvPr/>
        </p:nvSpPr>
        <p:spPr>
          <a:xfrm>
            <a:off x="3523339" y="6317375"/>
            <a:ext cx="2902291" cy="253916"/>
          </a:xfrm>
          <a:prstGeom prst="rect">
            <a:avLst/>
          </a:prstGeom>
          <a:noFill/>
        </p:spPr>
        <p:txBody>
          <a:bodyPr wrap="square" rtlCol="0">
            <a:spAutoFit/>
          </a:bodyPr>
          <a:lstStyle/>
          <a:p>
            <a:r>
              <a:rPr lang="sv-SE" sz="1050" i="1" dirty="0" smtClean="0">
                <a:solidFill>
                  <a:srgbClr val="2C2116"/>
                </a:solidFill>
                <a:latin typeface="PTSans-Regular"/>
              </a:rPr>
              <a:t>”Recept” ~ Expedieringsunderlag i NOD</a:t>
            </a:r>
            <a:endParaRPr lang="sv-SE" sz="1050" i="1" dirty="0">
              <a:solidFill>
                <a:schemeClr val="tx2"/>
              </a:solidFill>
              <a:latin typeface="Arial"/>
              <a:cs typeface="Arial"/>
            </a:endParaRPr>
          </a:p>
        </p:txBody>
      </p:sp>
    </p:spTree>
    <p:extLst>
      <p:ext uri="{BB962C8B-B14F-4D97-AF65-F5344CB8AC3E}">
        <p14:creationId xmlns:p14="http://schemas.microsoft.com/office/powerpoint/2010/main" val="315657588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title"/>
          </p:nvPr>
        </p:nvSpPr>
        <p:spPr/>
        <p:txBody>
          <a:bodyPr/>
          <a:lstStyle/>
          <a:p>
            <a:pPr lvl="1"/>
            <a:r>
              <a:rPr lang="sv-SE" sz="2000" dirty="0" smtClean="0"/>
              <a:t>Funktionalitet – Kompletterande</a:t>
            </a:r>
            <a:br>
              <a:rPr lang="sv-SE" sz="2000" dirty="0" smtClean="0"/>
            </a:br>
            <a:r>
              <a:rPr lang="sv-SE" sz="1600" b="0" dirty="0" smtClean="0"/>
              <a:t>- relaterade tjänstedomäner</a:t>
            </a:r>
            <a:endParaRPr lang="sv-SE" sz="2800" b="0" dirty="0"/>
          </a:p>
        </p:txBody>
      </p:sp>
      <p:graphicFrame>
        <p:nvGraphicFramePr>
          <p:cNvPr id="16" name="Platshållare för innehåll 15"/>
          <p:cNvGraphicFramePr>
            <a:graphicFrameLocks noGrp="1"/>
          </p:cNvGraphicFramePr>
          <p:nvPr>
            <p:ph idx="1"/>
            <p:extLst>
              <p:ext uri="{D42A27DB-BD31-4B8C-83A1-F6EECF244321}">
                <p14:modId xmlns:p14="http://schemas.microsoft.com/office/powerpoint/2010/main" val="2913535126"/>
              </p:ext>
            </p:extLst>
          </p:nvPr>
        </p:nvGraphicFramePr>
        <p:xfrm>
          <a:off x="5059050" y="1864596"/>
          <a:ext cx="3007958" cy="2741880"/>
        </p:xfrm>
        <a:graphic>
          <a:graphicData uri="http://schemas.openxmlformats.org/drawingml/2006/table">
            <a:tbl>
              <a:tblPr>
                <a:tableStyleId>{69C7853C-536D-4A76-A0AE-DD22124D55A5}</a:tableStyleId>
              </a:tblPr>
              <a:tblGrid>
                <a:gridCol w="3007958"/>
              </a:tblGrid>
              <a:tr h="274188">
                <a:tc>
                  <a:txBody>
                    <a:bodyPr/>
                    <a:lstStyle/>
                    <a:p>
                      <a:pPr marL="72000" algn="l" fontAlgn="t"/>
                      <a:r>
                        <a:rPr lang="sv-SE" sz="1200" u="none" strike="noStrike">
                          <a:effectLst/>
                        </a:rPr>
                        <a:t>Interaktionsvarning</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dirty="0">
                          <a:effectLst/>
                        </a:rPr>
                        <a:t>Dubblettvarning</a:t>
                      </a:r>
                      <a:endParaRPr lang="sv-SE" sz="1200" b="0" i="0" u="none" strike="noStrike" dirty="0">
                        <a:solidFill>
                          <a:srgbClr val="000000"/>
                        </a:solidFill>
                        <a:effectLst/>
                        <a:latin typeface="Calibri"/>
                      </a:endParaRPr>
                    </a:p>
                  </a:txBody>
                  <a:tcPr marL="0" marR="0" marT="0" marB="0" anchor="ctr"/>
                </a:tc>
              </a:tr>
              <a:tr h="274188">
                <a:tc>
                  <a:txBody>
                    <a:bodyPr/>
                    <a:lstStyle/>
                    <a:p>
                      <a:pPr marL="72000" algn="l" fontAlgn="t"/>
                      <a:r>
                        <a:rPr lang="sv-SE" sz="1200" u="none" strike="noStrike">
                          <a:effectLst/>
                        </a:rPr>
                        <a:t>Graviditetsvarning</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a:effectLst/>
                        </a:rPr>
                        <a:t>Amningssvarning</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dirty="0" smtClean="0">
                          <a:effectLst/>
                        </a:rPr>
                        <a:t>Biverkan/Biverkansöversikt</a:t>
                      </a:r>
                      <a:endParaRPr lang="sv-SE" sz="1200" b="0" i="0" u="none" strike="noStrike" dirty="0">
                        <a:solidFill>
                          <a:srgbClr val="000000"/>
                        </a:solidFill>
                        <a:effectLst/>
                        <a:latin typeface="Calibri"/>
                      </a:endParaRPr>
                    </a:p>
                  </a:txBody>
                  <a:tcPr marL="0" marR="0" marT="0" marB="0" anchor="ctr"/>
                </a:tc>
              </a:tr>
              <a:tr h="274188">
                <a:tc>
                  <a:txBody>
                    <a:bodyPr/>
                    <a:lstStyle/>
                    <a:p>
                      <a:pPr marL="72000" algn="l" fontAlgn="t"/>
                      <a:r>
                        <a:rPr lang="sv-SE" sz="1200" u="none" strike="noStrike">
                          <a:effectLst/>
                        </a:rPr>
                        <a:t>Narkotika</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a:effectLst/>
                        </a:rPr>
                        <a:t>Läkemedel under särskild bevakning</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a:effectLst/>
                        </a:rPr>
                        <a:t>Läkemedel ej lämpliga för äldre</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a:effectLst/>
                        </a:rPr>
                        <a:t>FASS</a:t>
                      </a:r>
                      <a:endParaRPr lang="sv-SE" sz="1200" b="0" i="0" u="none" strike="noStrike">
                        <a:solidFill>
                          <a:srgbClr val="000000"/>
                        </a:solidFill>
                        <a:effectLst/>
                        <a:latin typeface="Calibri"/>
                      </a:endParaRPr>
                    </a:p>
                  </a:txBody>
                  <a:tcPr marL="0" marR="0" marT="0" marB="0" anchor="ctr"/>
                </a:tc>
              </a:tr>
              <a:tr h="274188">
                <a:tc>
                  <a:txBody>
                    <a:bodyPr/>
                    <a:lstStyle/>
                    <a:p>
                      <a:pPr marL="72000" algn="l" fontAlgn="t"/>
                      <a:r>
                        <a:rPr lang="sv-SE" sz="1200" u="none" strike="noStrike" dirty="0">
                          <a:effectLst/>
                        </a:rPr>
                        <a:t>Rekommenderade läkemedel</a:t>
                      </a:r>
                      <a:endParaRPr lang="sv-SE" sz="1200" b="0" i="0" u="none" strike="noStrike" dirty="0">
                        <a:solidFill>
                          <a:srgbClr val="000000"/>
                        </a:solidFill>
                        <a:effectLst/>
                        <a:latin typeface="Calibri"/>
                      </a:endParaRPr>
                    </a:p>
                  </a:txBody>
                  <a:tcPr marL="0" marR="0" marT="0" marB="0" anchor="ctr"/>
                </a:tc>
              </a:tr>
            </a:tbl>
          </a:graphicData>
        </a:graphic>
      </p:graphicFrame>
      <p:sp>
        <p:nvSpPr>
          <p:cNvPr id="3" name="Platshållare för bildnummer 2"/>
          <p:cNvSpPr>
            <a:spLocks noGrp="1"/>
          </p:cNvSpPr>
          <p:nvPr>
            <p:ph type="sldNum" sz="quarter" idx="10"/>
          </p:nvPr>
        </p:nvSpPr>
        <p:spPr/>
        <p:txBody>
          <a:bodyPr/>
          <a:lstStyle/>
          <a:p>
            <a:fld id="{6EE46765-18A6-4212-A407-C65E2DCE0A05}" type="slidenum">
              <a:rPr lang="sv-SE" smtClean="0"/>
              <a:pPr/>
              <a:t>8</a:t>
            </a:fld>
            <a:endParaRPr lang="sv-SE"/>
          </a:p>
        </p:txBody>
      </p:sp>
      <p:sp>
        <p:nvSpPr>
          <p:cNvPr id="11" name="textruta 10"/>
          <p:cNvSpPr txBox="1"/>
          <p:nvPr/>
        </p:nvSpPr>
        <p:spPr>
          <a:xfrm>
            <a:off x="802125" y="1554876"/>
            <a:ext cx="2631653" cy="307777"/>
          </a:xfrm>
          <a:prstGeom prst="rect">
            <a:avLst/>
          </a:prstGeom>
          <a:noFill/>
        </p:spPr>
        <p:txBody>
          <a:bodyPr wrap="square" rtlCol="0">
            <a:spAutoFit/>
          </a:bodyPr>
          <a:lstStyle/>
          <a:p>
            <a:r>
              <a:rPr lang="sv-SE" sz="1400" i="1" dirty="0" smtClean="0">
                <a:solidFill>
                  <a:schemeClr val="tx2"/>
                </a:solidFill>
                <a:latin typeface="Arial"/>
                <a:cs typeface="Arial"/>
              </a:rPr>
              <a:t>Logistik – hantera dospatient</a:t>
            </a:r>
            <a:endParaRPr lang="sv-SE" sz="1400" i="1" dirty="0">
              <a:solidFill>
                <a:schemeClr val="tx2"/>
              </a:solidFill>
              <a:latin typeface="Arial"/>
              <a:cs typeface="Arial"/>
            </a:endParaRPr>
          </a:p>
        </p:txBody>
      </p:sp>
      <p:graphicFrame>
        <p:nvGraphicFramePr>
          <p:cNvPr id="13" name="Platshållare för innehåll 4"/>
          <p:cNvGraphicFramePr>
            <a:graphicFrameLocks/>
          </p:cNvGraphicFramePr>
          <p:nvPr>
            <p:extLst>
              <p:ext uri="{D42A27DB-BD31-4B8C-83A1-F6EECF244321}">
                <p14:modId xmlns:p14="http://schemas.microsoft.com/office/powerpoint/2010/main" val="1773180797"/>
              </p:ext>
            </p:extLst>
          </p:nvPr>
        </p:nvGraphicFramePr>
        <p:xfrm>
          <a:off x="802125" y="1918747"/>
          <a:ext cx="3517535" cy="2380526"/>
        </p:xfrm>
        <a:graphic>
          <a:graphicData uri="http://schemas.openxmlformats.org/drawingml/2006/table">
            <a:tbl>
              <a:tblPr>
                <a:tableStyleId>{69C7853C-536D-4A76-A0AE-DD22124D55A5}</a:tableStyleId>
              </a:tblPr>
              <a:tblGrid>
                <a:gridCol w="3517535"/>
              </a:tblGrid>
              <a:tr h="414773">
                <a:tc>
                  <a:txBody>
                    <a:bodyPr/>
                    <a:lstStyle/>
                    <a:p>
                      <a:pPr marL="72000" algn="l" fontAlgn="t"/>
                      <a:r>
                        <a:rPr lang="sv-SE" sz="1200" u="none" strike="noStrike" dirty="0">
                          <a:effectLst/>
                        </a:rPr>
                        <a:t>Uppgift om dospatient / dosunderlag</a:t>
                      </a:r>
                      <a:endParaRPr lang="sv-SE" sz="1200" b="0" i="0" u="none" strike="noStrike" dirty="0">
                        <a:solidFill>
                          <a:srgbClr val="000000"/>
                        </a:solidFill>
                        <a:effectLst/>
                        <a:latin typeface="Calibri"/>
                      </a:endParaRPr>
                    </a:p>
                  </a:txBody>
                  <a:tcPr marL="0" marR="0" marT="0" marB="0" anchor="ctr"/>
                </a:tc>
              </a:tr>
              <a:tr h="395740">
                <a:tc>
                  <a:txBody>
                    <a:bodyPr/>
                    <a:lstStyle/>
                    <a:p>
                      <a:pPr marL="72000" algn="l" fontAlgn="t"/>
                      <a:r>
                        <a:rPr lang="sv-SE" sz="1200" u="none" strike="noStrike" dirty="0" smtClean="0">
                          <a:effectLst/>
                        </a:rPr>
                        <a:t>Hämta vårdtagaruppgifter för dospatient</a:t>
                      </a:r>
                      <a:endParaRPr lang="sv-SE" sz="1200" b="0" i="0" u="none" strike="noStrike" dirty="0">
                        <a:solidFill>
                          <a:srgbClr val="000000"/>
                        </a:solidFill>
                        <a:effectLst/>
                        <a:latin typeface="Calibri"/>
                      </a:endParaRPr>
                    </a:p>
                  </a:txBody>
                  <a:tcPr marL="0" marR="0" marT="0" marB="0" anchor="ctr"/>
                </a:tc>
              </a:tr>
              <a:tr h="366684">
                <a:tc>
                  <a:txBody>
                    <a:bodyPr/>
                    <a:lstStyle/>
                    <a:p>
                      <a:pPr marL="72000" algn="l" fontAlgn="t"/>
                      <a:r>
                        <a:rPr lang="sv-SE" sz="1200" u="none" strike="noStrike" dirty="0" smtClean="0">
                          <a:effectLst/>
                        </a:rPr>
                        <a:t>Registrera dospatient (inklusive samtycke)</a:t>
                      </a:r>
                      <a:endParaRPr lang="sv-SE" sz="1200" b="0" i="0" u="none" strike="noStrike" dirty="0">
                        <a:solidFill>
                          <a:srgbClr val="000000"/>
                        </a:solidFill>
                        <a:effectLst/>
                        <a:latin typeface="Calibri"/>
                      </a:endParaRPr>
                    </a:p>
                  </a:txBody>
                  <a:tcPr marL="0" marR="0" marT="0" marB="0" anchor="ctr"/>
                </a:tc>
              </a:tr>
              <a:tr h="408993">
                <a:tc>
                  <a:txBody>
                    <a:bodyPr/>
                    <a:lstStyle/>
                    <a:p>
                      <a:pPr marL="72000" algn="l" fontAlgn="t"/>
                      <a:r>
                        <a:rPr lang="sv-SE" sz="1200" u="none" strike="noStrike" dirty="0">
                          <a:effectLst/>
                        </a:rPr>
                        <a:t>Meddelande till/från dosapotek</a:t>
                      </a:r>
                      <a:endParaRPr lang="sv-SE" sz="1200" b="0" i="0" u="none" strike="noStrike" dirty="0">
                        <a:solidFill>
                          <a:srgbClr val="000000"/>
                        </a:solidFill>
                        <a:effectLst/>
                        <a:latin typeface="Calibri"/>
                      </a:endParaRPr>
                    </a:p>
                  </a:txBody>
                  <a:tcPr marL="0" marR="0" marT="0" marB="0" anchor="ctr"/>
                </a:tc>
              </a:tr>
              <a:tr h="286622">
                <a:tc>
                  <a:txBody>
                    <a:bodyPr/>
                    <a:lstStyle/>
                    <a:p>
                      <a:pPr marL="72000" algn="l" fontAlgn="t"/>
                      <a:r>
                        <a:rPr lang="sv-SE" sz="1200" u="none" strike="noStrike" dirty="0">
                          <a:effectLst/>
                        </a:rPr>
                        <a:t>Beställning mot </a:t>
                      </a:r>
                      <a:r>
                        <a:rPr lang="sv-SE" sz="1200" u="none" strike="noStrike" dirty="0" smtClean="0">
                          <a:effectLst/>
                        </a:rPr>
                        <a:t>dosapotek</a:t>
                      </a:r>
                    </a:p>
                  </a:txBody>
                  <a:tcPr marL="0" marR="0" marT="0" marB="0" anchor="ctr"/>
                </a:tc>
              </a:tr>
              <a:tr h="253857">
                <a:tc>
                  <a:txBody>
                    <a:bodyPr/>
                    <a:lstStyle/>
                    <a:p>
                      <a:pPr marL="72000" marR="0" indent="0" algn="l" defTabSz="914400" rtl="0" eaLnBrk="1" fontAlgn="t" latinLnBrk="0" hangingPunct="1">
                        <a:lnSpc>
                          <a:spcPct val="100000"/>
                        </a:lnSpc>
                        <a:spcBef>
                          <a:spcPts val="0"/>
                        </a:spcBef>
                        <a:spcAft>
                          <a:spcPts val="0"/>
                        </a:spcAft>
                        <a:buClrTx/>
                        <a:buSzTx/>
                        <a:buFontTx/>
                        <a:buNone/>
                        <a:tabLst/>
                        <a:defRPr/>
                      </a:pPr>
                      <a:r>
                        <a:rPr lang="sv-SE" sz="1200" u="none" strike="noStrike" dirty="0" smtClean="0">
                          <a:effectLst/>
                        </a:rPr>
                        <a:t>Hämta &amp; ändra vårdtagaruppgifter för dospatient</a:t>
                      </a:r>
                      <a:endParaRPr lang="sv-SE" sz="1200" b="0" i="0" u="none" strike="noStrike" dirty="0" smtClean="0">
                        <a:solidFill>
                          <a:srgbClr val="000000"/>
                        </a:solidFill>
                        <a:effectLst/>
                        <a:latin typeface="Calibri"/>
                      </a:endParaRPr>
                    </a:p>
                  </a:txBody>
                  <a:tcPr marL="0" marR="0" marT="0" marB="0" anchor="ctr"/>
                </a:tc>
              </a:tr>
              <a:tr h="253857">
                <a:tc>
                  <a:txBody>
                    <a:bodyPr/>
                    <a:lstStyle/>
                    <a:p>
                      <a:pPr marL="72000" algn="l" fontAlgn="t"/>
                      <a:endParaRPr lang="sv-SE" sz="1200" u="none" strike="noStrike" dirty="0" smtClean="0">
                        <a:effectLst/>
                      </a:endParaRPr>
                    </a:p>
                  </a:txBody>
                  <a:tcPr marL="0" marR="0" marT="0" marB="0" anchor="ctr"/>
                </a:tc>
              </a:tr>
            </a:tbl>
          </a:graphicData>
        </a:graphic>
      </p:graphicFrame>
      <p:sp>
        <p:nvSpPr>
          <p:cNvPr id="17" name="textruta 16"/>
          <p:cNvSpPr txBox="1"/>
          <p:nvPr/>
        </p:nvSpPr>
        <p:spPr>
          <a:xfrm>
            <a:off x="5012011" y="1513873"/>
            <a:ext cx="2835503" cy="307777"/>
          </a:xfrm>
          <a:prstGeom prst="rect">
            <a:avLst/>
          </a:prstGeom>
          <a:noFill/>
        </p:spPr>
        <p:txBody>
          <a:bodyPr wrap="square" rtlCol="0">
            <a:spAutoFit/>
          </a:bodyPr>
          <a:lstStyle/>
          <a:p>
            <a:r>
              <a:rPr lang="sv-SE" sz="1400" i="1" dirty="0" smtClean="0">
                <a:solidFill>
                  <a:schemeClr val="tx2"/>
                </a:solidFill>
                <a:latin typeface="Arial"/>
                <a:cs typeface="Arial"/>
              </a:rPr>
              <a:t>Beslutstöd (SIL </a:t>
            </a:r>
            <a:r>
              <a:rPr lang="sv-SE" sz="1400" i="1" dirty="0" err="1" smtClean="0">
                <a:solidFill>
                  <a:schemeClr val="tx2"/>
                </a:solidFill>
                <a:latin typeface="Arial"/>
                <a:cs typeface="Arial"/>
              </a:rPr>
              <a:t>api</a:t>
            </a:r>
            <a:r>
              <a:rPr lang="sv-SE" sz="1400" i="1" dirty="0" smtClean="0">
                <a:solidFill>
                  <a:schemeClr val="tx2"/>
                </a:solidFill>
                <a:latin typeface="Arial"/>
                <a:cs typeface="Arial"/>
              </a:rPr>
              <a:t>)</a:t>
            </a:r>
            <a:endParaRPr lang="sv-SE" sz="1400" i="1" dirty="0">
              <a:solidFill>
                <a:schemeClr val="tx2"/>
              </a:solidFill>
              <a:latin typeface="Arial"/>
              <a:cs typeface="Arial"/>
            </a:endParaRPr>
          </a:p>
        </p:txBody>
      </p:sp>
      <p:sp>
        <p:nvSpPr>
          <p:cNvPr id="19" name="textruta 18"/>
          <p:cNvSpPr txBox="1"/>
          <p:nvPr/>
        </p:nvSpPr>
        <p:spPr>
          <a:xfrm>
            <a:off x="5059050" y="4725656"/>
            <a:ext cx="2788464" cy="307777"/>
          </a:xfrm>
          <a:prstGeom prst="rect">
            <a:avLst/>
          </a:prstGeom>
          <a:noFill/>
        </p:spPr>
        <p:txBody>
          <a:bodyPr wrap="square" rtlCol="0">
            <a:spAutoFit/>
          </a:bodyPr>
          <a:lstStyle/>
          <a:p>
            <a:r>
              <a:rPr lang="sv-SE" sz="1400" i="1" dirty="0">
                <a:solidFill>
                  <a:schemeClr val="tx2"/>
                </a:solidFill>
                <a:latin typeface="Arial"/>
                <a:cs typeface="Arial"/>
              </a:rPr>
              <a:t>U</a:t>
            </a:r>
            <a:r>
              <a:rPr lang="sv-SE" sz="1400" i="1" dirty="0" smtClean="0">
                <a:solidFill>
                  <a:schemeClr val="tx2"/>
                </a:solidFill>
                <a:latin typeface="Arial"/>
                <a:cs typeface="Arial"/>
              </a:rPr>
              <a:t>ppmärksamhetsinformation* </a:t>
            </a:r>
            <a:endParaRPr lang="sv-SE" sz="1400" i="1" dirty="0">
              <a:solidFill>
                <a:schemeClr val="tx2"/>
              </a:solidFill>
              <a:latin typeface="Arial"/>
              <a:cs typeface="Arial"/>
            </a:endParaRPr>
          </a:p>
        </p:txBody>
      </p:sp>
      <p:graphicFrame>
        <p:nvGraphicFramePr>
          <p:cNvPr id="20" name="Platshållare för innehåll 15"/>
          <p:cNvGraphicFramePr>
            <a:graphicFrameLocks noGrp="1"/>
          </p:cNvGraphicFramePr>
          <p:nvPr>
            <p:ph idx="1"/>
            <p:extLst>
              <p:ext uri="{D42A27DB-BD31-4B8C-83A1-F6EECF244321}">
                <p14:modId xmlns:p14="http://schemas.microsoft.com/office/powerpoint/2010/main" val="1044359776"/>
              </p:ext>
            </p:extLst>
          </p:nvPr>
        </p:nvGraphicFramePr>
        <p:xfrm>
          <a:off x="5059050" y="5072633"/>
          <a:ext cx="3007958" cy="365759"/>
        </p:xfrm>
        <a:graphic>
          <a:graphicData uri="http://schemas.openxmlformats.org/drawingml/2006/table">
            <a:tbl>
              <a:tblPr>
                <a:tableStyleId>{69C7853C-536D-4A76-A0AE-DD22124D55A5}</a:tableStyleId>
              </a:tblPr>
              <a:tblGrid>
                <a:gridCol w="3007958"/>
              </a:tblGrid>
              <a:tr h="274188">
                <a:tc>
                  <a:txBody>
                    <a:bodyPr/>
                    <a:lstStyle/>
                    <a:p>
                      <a:pPr marL="72000" algn="l" fontAlgn="t"/>
                      <a:r>
                        <a:rPr lang="sv-SE" sz="1200" u="none" strike="noStrike" dirty="0" smtClean="0">
                          <a:effectLst/>
                        </a:rPr>
                        <a:t>Överkänslighet, blodsmitta,</a:t>
                      </a:r>
                      <a:r>
                        <a:rPr lang="sv-SE" sz="1200" u="none" strike="noStrike" baseline="0" dirty="0" smtClean="0">
                          <a:effectLst/>
                        </a:rPr>
                        <a:t> vårdbegränsningar</a:t>
                      </a:r>
                      <a:endParaRPr lang="sv-SE" sz="1200" b="0" i="0" u="none" strike="noStrike" dirty="0">
                        <a:solidFill>
                          <a:srgbClr val="000000"/>
                        </a:solidFill>
                        <a:effectLst/>
                        <a:latin typeface="Calibri"/>
                      </a:endParaRPr>
                    </a:p>
                  </a:txBody>
                  <a:tcPr marL="0" marR="0" marT="0" marB="0" anchor="ctr"/>
                </a:tc>
              </a:tr>
            </a:tbl>
          </a:graphicData>
        </a:graphic>
      </p:graphicFrame>
      <p:sp>
        <p:nvSpPr>
          <p:cNvPr id="22" name="textruta 21"/>
          <p:cNvSpPr txBox="1"/>
          <p:nvPr/>
        </p:nvSpPr>
        <p:spPr>
          <a:xfrm>
            <a:off x="5059050" y="5583415"/>
            <a:ext cx="2631653" cy="246221"/>
          </a:xfrm>
          <a:prstGeom prst="rect">
            <a:avLst/>
          </a:prstGeom>
          <a:noFill/>
        </p:spPr>
        <p:txBody>
          <a:bodyPr wrap="square" rtlCol="0">
            <a:spAutoFit/>
          </a:bodyPr>
          <a:lstStyle/>
          <a:p>
            <a:r>
              <a:rPr lang="sv-SE" sz="1000" i="1" dirty="0" smtClean="0">
                <a:solidFill>
                  <a:schemeClr val="tx2"/>
                </a:solidFill>
                <a:latin typeface="Arial"/>
                <a:cs typeface="Arial"/>
              </a:rPr>
              <a:t>* </a:t>
            </a:r>
            <a:r>
              <a:rPr lang="sv-SE" sz="1000" i="1" dirty="0">
                <a:solidFill>
                  <a:schemeClr val="tx2"/>
                </a:solidFill>
                <a:latin typeface="PTSans-Regular"/>
              </a:rPr>
              <a:t>GetAlertInformation</a:t>
            </a:r>
            <a:endParaRPr lang="sv-SE" sz="1000" i="1" dirty="0">
              <a:solidFill>
                <a:schemeClr val="tx2"/>
              </a:solidFill>
              <a:latin typeface="Arial"/>
              <a:cs typeface="Arial"/>
            </a:endParaRPr>
          </a:p>
        </p:txBody>
      </p:sp>
    </p:spTree>
    <p:extLst>
      <p:ext uri="{BB962C8B-B14F-4D97-AF65-F5344CB8AC3E}">
        <p14:creationId xmlns:p14="http://schemas.microsoft.com/office/powerpoint/2010/main" val="246133095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ktangel med rundade hörn 22"/>
          <p:cNvSpPr/>
          <p:nvPr/>
        </p:nvSpPr>
        <p:spPr>
          <a:xfrm>
            <a:off x="3414955" y="240828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sp>
        <p:nvSpPr>
          <p:cNvPr id="125" name="Rektangel med rundade hörn 22"/>
          <p:cNvSpPr/>
          <p:nvPr/>
        </p:nvSpPr>
        <p:spPr>
          <a:xfrm>
            <a:off x="3357595" y="246324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grpSp>
        <p:nvGrpSpPr>
          <p:cNvPr id="24" name="Grupp 23"/>
          <p:cNvGrpSpPr/>
          <p:nvPr/>
        </p:nvGrpSpPr>
        <p:grpSpPr>
          <a:xfrm>
            <a:off x="3661441" y="1843707"/>
            <a:ext cx="691104" cy="365630"/>
            <a:chOff x="2330674" y="1012742"/>
            <a:chExt cx="691104" cy="365630"/>
          </a:xfrm>
        </p:grpSpPr>
        <p:pic>
          <p:nvPicPr>
            <p:cNvPr id="2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25" name="Rak pil 6"/>
          <p:cNvCxnSpPr>
            <a:stCxn id="26" idx="2"/>
            <a:endCxn id="212" idx="0"/>
          </p:cNvCxnSpPr>
          <p:nvPr/>
        </p:nvCxnSpPr>
        <p:spPr bwMode="auto">
          <a:xfrm rot="5400000">
            <a:off x="3895042" y="2245355"/>
            <a:ext cx="311380" cy="239345"/>
          </a:xfrm>
          <a:prstGeom prst="curvedConnector3">
            <a:avLst>
              <a:gd name="adj1" fmla="val 50000"/>
            </a:avLst>
          </a:prstGeom>
          <a:noFill/>
          <a:ln w="12700" cap="flat" cmpd="sng" algn="ctr">
            <a:solidFill>
              <a:srgbClr val="A6A6A6"/>
            </a:solidFill>
            <a:prstDash val="solid"/>
            <a:round/>
            <a:headEnd type="none" w="med" len="med"/>
            <a:tailEnd type="stealth"/>
          </a:ln>
          <a:effectLst/>
        </p:spPr>
      </p:cxnSp>
      <p:sp>
        <p:nvSpPr>
          <p:cNvPr id="212" name="Rektangel med rundade hörn 22"/>
          <p:cNvSpPr/>
          <p:nvPr/>
        </p:nvSpPr>
        <p:spPr>
          <a:xfrm>
            <a:off x="3296469" y="2520717"/>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Journal /</a:t>
            </a:r>
            <a:br>
              <a:rPr lang="sv-SE" sz="900"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Läkemedel</a:t>
            </a:r>
            <a:br>
              <a:rPr lang="sv-SE" sz="900" i="1"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(Vård, Tandvård, Omsorg)</a:t>
            </a:r>
            <a:endParaRPr lang="sv-SE" sz="900" dirty="0">
              <a:solidFill>
                <a:srgbClr val="382819"/>
              </a:solidFill>
              <a:latin typeface="Arial" charset="0"/>
              <a:ea typeface="ＭＳ Ｐゴシック" charset="0"/>
              <a:cs typeface="ＭＳ Ｐゴシック" charset="0"/>
            </a:endParaRPr>
          </a:p>
        </p:txBody>
      </p:sp>
      <p:sp>
        <p:nvSpPr>
          <p:cNvPr id="193" name="Rektangel med rundade hörn 192"/>
          <p:cNvSpPr/>
          <p:nvPr/>
        </p:nvSpPr>
        <p:spPr>
          <a:xfrm rot="16200000">
            <a:off x="5463236" y="4122373"/>
            <a:ext cx="1412313" cy="1506173"/>
          </a:xfrm>
          <a:prstGeom prst="roundRect">
            <a:avLst>
              <a:gd name="adj" fmla="val 4658"/>
            </a:avLst>
          </a:prstGeom>
          <a:ln w="19050" cmpd="sng">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5" name="Rektangel med rundade hörn 184"/>
          <p:cNvSpPr/>
          <p:nvPr/>
        </p:nvSpPr>
        <p:spPr>
          <a:xfrm rot="16200000">
            <a:off x="2410751" y="3575209"/>
            <a:ext cx="1537918" cy="2107249"/>
          </a:xfrm>
          <a:prstGeom prst="roundRect">
            <a:avLst>
              <a:gd name="adj" fmla="val 4658"/>
            </a:avLst>
          </a:prstGeom>
          <a:solidFill>
            <a:srgbClr val="AADEE2"/>
          </a:solidFill>
          <a:ln>
            <a:solidFill>
              <a:srgbClr val="00A9A7"/>
            </a:solidFill>
            <a:tailEnd type="triangle" w="lg" len="lg"/>
          </a:ln>
        </p:spPr>
        <p:style>
          <a:lnRef idx="2">
            <a:schemeClr val="accent1"/>
          </a:lnRef>
          <a:fillRef idx="1">
            <a:schemeClr val="lt1"/>
          </a:fillRef>
          <a:effectRef idx="0">
            <a:schemeClr val="accent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1" name="Cylinder 180"/>
          <p:cNvSpPr/>
          <p:nvPr/>
        </p:nvSpPr>
        <p:spPr>
          <a:xfrm>
            <a:off x="1860653" y="5033829"/>
            <a:ext cx="652853" cy="454096"/>
          </a:xfrm>
          <a:prstGeom prst="can">
            <a:avLst/>
          </a:prstGeom>
          <a:ln>
            <a:headEnd type="none"/>
            <a:tailEnd type="none" w="lg" len="lg"/>
          </a:ln>
        </p:spPr>
        <p:style>
          <a:lnRef idx="2">
            <a:schemeClr val="accent1">
              <a:shade val="50000"/>
            </a:schemeClr>
          </a:lnRef>
          <a:fillRef idx="1">
            <a:schemeClr val="accent1"/>
          </a:fillRef>
          <a:effectRef idx="0">
            <a:schemeClr val="accent1"/>
          </a:effectRef>
          <a:fontRef idx="minor">
            <a:schemeClr val="lt1"/>
          </a:fontRef>
        </p:style>
        <p:txBody>
          <a:bodyPr lIns="72000" rIns="72000" anchor="ctr"/>
          <a:lstStyle/>
          <a:p>
            <a:pPr algn="ctr"/>
            <a:r>
              <a:rPr lang="sv-SE" sz="900" dirty="0">
                <a:solidFill>
                  <a:srgbClr val="382819"/>
                </a:solidFill>
                <a:latin typeface="Arial"/>
                <a:ea typeface="ＭＳ Ｐゴシック" pitchFamily="-112" charset="-128"/>
                <a:cs typeface="ＭＳ Ｐゴシック" pitchFamily="-112" charset="-128"/>
              </a:rPr>
              <a:t>NOD</a:t>
            </a:r>
          </a:p>
        </p:txBody>
      </p:sp>
      <p:sp>
        <p:nvSpPr>
          <p:cNvPr id="2" name="Rubrik 1"/>
          <p:cNvSpPr>
            <a:spLocks noGrp="1"/>
          </p:cNvSpPr>
          <p:nvPr>
            <p:ph type="title"/>
          </p:nvPr>
        </p:nvSpPr>
        <p:spPr>
          <a:xfrm>
            <a:off x="1410939" y="212073"/>
            <a:ext cx="6164913" cy="770741"/>
          </a:xfrm>
        </p:spPr>
        <p:txBody>
          <a:bodyPr/>
          <a:lstStyle/>
          <a:p>
            <a:r>
              <a:rPr lang="sv-SE" sz="2000" i="1" dirty="0" smtClean="0"/>
              <a:t>Samlad läkemedelslista</a:t>
            </a:r>
            <a:endParaRPr lang="sv-SE" sz="1600" b="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9</a:t>
            </a:fld>
            <a:endParaRPr lang="sv-SE">
              <a:latin typeface="Arial"/>
            </a:endParaRPr>
          </a:p>
        </p:txBody>
      </p:sp>
      <p:grpSp>
        <p:nvGrpSpPr>
          <p:cNvPr id="20" name="Grupp 19"/>
          <p:cNvGrpSpPr/>
          <p:nvPr/>
        </p:nvGrpSpPr>
        <p:grpSpPr>
          <a:xfrm>
            <a:off x="1347128" y="1853036"/>
            <a:ext cx="854378" cy="698311"/>
            <a:chOff x="7118528" y="949686"/>
            <a:chExt cx="854378" cy="698311"/>
          </a:xfrm>
        </p:grpSpPr>
        <p:pic>
          <p:nvPicPr>
            <p:cNvPr id="21" name="Picture 5" descr="C:\Users\svrlwi\AppData\Local\Microsoft\Windows\Temporary Internet Files\Content.IE5\33SAVMNN\MC900433943[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126349" y="949686"/>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22" name="textruta 21"/>
            <p:cNvSpPr txBox="1"/>
            <p:nvPr/>
          </p:nvSpPr>
          <p:spPr>
            <a:xfrm>
              <a:off x="7118528" y="1401776"/>
              <a:ext cx="854378" cy="246221"/>
            </a:xfrm>
            <a:prstGeom prst="rect">
              <a:avLst/>
            </a:prstGeom>
            <a:noFill/>
          </p:spPr>
          <p:txBody>
            <a:bodyPr wrap="square" rtlCol="0">
              <a:spAutoFit/>
            </a:bodyPr>
            <a:lstStyle/>
            <a:p>
              <a:pPr defTabSz="457200" fontAlgn="auto">
                <a:spcBef>
                  <a:spcPts val="0"/>
                </a:spcBef>
                <a:spcAft>
                  <a:spcPts val="0"/>
                </a:spcAft>
              </a:pPr>
              <a:r>
                <a:rPr lang="sv-SE" sz="1000" i="1" dirty="0">
                  <a:solidFill>
                    <a:prstClr val="black"/>
                  </a:solidFill>
                  <a:latin typeface="Calibri"/>
                  <a:cs typeface="Arial" pitchFamily="34" charset="0"/>
                </a:rPr>
                <a:t>invånare</a:t>
              </a:r>
            </a:p>
          </p:txBody>
        </p:sp>
        <p:pic>
          <p:nvPicPr>
            <p:cNvPr id="23" name="Bildobjekt 22" descr="smart phone.jpeg"/>
            <p:cNvPicPr>
              <a:picLocks noChangeAspect="1"/>
            </p:cNvPicPr>
            <p:nvPr/>
          </p:nvPicPr>
          <p:blipFill rotWithShape="1">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ackgroundRemoval t="521" b="99479" l="0" r="100000"/>
                      </a14:imgEffect>
                    </a14:imgLayer>
                  </a14:imgProps>
                </a:ext>
                <a:ext uri="{28A0092B-C50C-407E-A947-70E740481C1C}">
                  <a14:useLocalDpi xmlns:a14="http://schemas.microsoft.com/office/drawing/2010/main"/>
                </a:ext>
              </a:extLst>
            </a:blip>
            <a:srcRect/>
            <a:stretch/>
          </p:blipFill>
          <p:spPr>
            <a:xfrm>
              <a:off x="7649613" y="1007339"/>
              <a:ext cx="145775" cy="251924"/>
            </a:xfrm>
            <a:prstGeom prst="rect">
              <a:avLst/>
            </a:prstGeom>
          </p:spPr>
        </p:pic>
      </p:grpSp>
      <p:sp>
        <p:nvSpPr>
          <p:cNvPr id="71" name="Rektangel med rundade hörn 22"/>
          <p:cNvSpPr/>
          <p:nvPr/>
        </p:nvSpPr>
        <p:spPr>
          <a:xfrm>
            <a:off x="1802003" y="2518298"/>
            <a:ext cx="78791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Journalen</a:t>
            </a:r>
            <a:br>
              <a:rPr lang="sv-SE" sz="900" dirty="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Vårdhändelser</a:t>
            </a:r>
            <a:endParaRPr lang="sv-SE" sz="900" i="1" dirty="0">
              <a:solidFill>
                <a:srgbClr val="382819"/>
              </a:solidFill>
              <a:latin typeface="Arial" charset="0"/>
              <a:ea typeface="ＭＳ Ｐゴシック" charset="0"/>
              <a:cs typeface="ＭＳ Ｐゴシック" charset="0"/>
            </a:endParaRPr>
          </a:p>
        </p:txBody>
      </p:sp>
      <p:sp>
        <p:nvSpPr>
          <p:cNvPr id="85" name="textruta 84"/>
          <p:cNvSpPr txBox="1"/>
          <p:nvPr/>
        </p:nvSpPr>
        <p:spPr>
          <a:xfrm>
            <a:off x="7495521" y="4414032"/>
            <a:ext cx="854378" cy="369332"/>
          </a:xfrm>
          <a:prstGeom prst="rect">
            <a:avLst/>
          </a:prstGeom>
          <a:noFill/>
        </p:spPr>
        <p:txBody>
          <a:bodyPr wrap="square" rtlCol="0">
            <a:spAutoFit/>
          </a:bodyPr>
          <a:lstStyle/>
          <a:p>
            <a:pPr defTabSz="457200" fontAlgn="auto">
              <a:spcBef>
                <a:spcPts val="0"/>
              </a:spcBef>
              <a:spcAft>
                <a:spcPts val="0"/>
              </a:spcAft>
            </a:pPr>
            <a:r>
              <a:rPr lang="sv-SE" sz="900" i="1" dirty="0">
                <a:solidFill>
                  <a:prstClr val="black"/>
                </a:solidFill>
                <a:latin typeface="Calibri"/>
                <a:cs typeface="Arial" pitchFamily="34" charset="0"/>
              </a:rPr>
              <a:t>farmaceut</a:t>
            </a:r>
          </a:p>
          <a:p>
            <a:pPr defTabSz="457200" fontAlgn="auto">
              <a:spcBef>
                <a:spcPts val="0"/>
              </a:spcBef>
              <a:spcAft>
                <a:spcPts val="0"/>
              </a:spcAft>
            </a:pPr>
            <a:r>
              <a:rPr lang="sv-SE" sz="900" i="1" dirty="0">
                <a:solidFill>
                  <a:prstClr val="black"/>
                </a:solidFill>
                <a:latin typeface="Calibri"/>
                <a:cs typeface="Arial" pitchFamily="34" charset="0"/>
              </a:rPr>
              <a:t>på apotek</a:t>
            </a:r>
          </a:p>
        </p:txBody>
      </p:sp>
      <p:pic>
        <p:nvPicPr>
          <p:cNvPr id="93" name="Picture 5" descr="C:\Users\svrlwi\AppData\Local\Microsoft\Windows\Temporary Internet Files\Content.IE5\33SAVMNN\MC900433943[1].png"/>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41072" y="4528748"/>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96" name="Dokument 95"/>
          <p:cNvSpPr/>
          <p:nvPr/>
        </p:nvSpPr>
        <p:spPr bwMode="auto">
          <a:xfrm>
            <a:off x="7336158" y="4976424"/>
            <a:ext cx="827364" cy="289351"/>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a:solidFill>
                  <a:srgbClr val="382819"/>
                </a:solidFill>
                <a:latin typeface="Arial Narrow"/>
                <a:cs typeface="Arial Narrow"/>
              </a:rPr>
              <a:t>Aktuella recept</a:t>
            </a:r>
          </a:p>
        </p:txBody>
      </p:sp>
      <p:grpSp>
        <p:nvGrpSpPr>
          <p:cNvPr id="283" name="Grupp 282"/>
          <p:cNvGrpSpPr/>
          <p:nvPr/>
        </p:nvGrpSpPr>
        <p:grpSpPr>
          <a:xfrm>
            <a:off x="5410434" y="3755254"/>
            <a:ext cx="571816" cy="401353"/>
            <a:chOff x="5727223" y="2708561"/>
            <a:chExt cx="571816" cy="401353"/>
          </a:xfrm>
        </p:grpSpPr>
        <p:sp>
          <p:nvSpPr>
            <p:cNvPr id="112" name="Rektangel med rundade hörn 111"/>
            <p:cNvSpPr/>
            <p:nvPr/>
          </p:nvSpPr>
          <p:spPr>
            <a:xfrm>
              <a:off x="5727223" y="2826103"/>
              <a:ext cx="571816" cy="283811"/>
            </a:xfrm>
            <a:prstGeom prst="roundRect">
              <a:avLst>
                <a:gd name="adj" fmla="val 9033"/>
              </a:avLst>
            </a:prstGeom>
            <a:ln/>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pPr>
              <a:r>
                <a:rPr lang="sv-SE" sz="1050" kern="0" dirty="0">
                  <a:solidFill>
                    <a:srgbClr val="382819"/>
                  </a:solidFill>
                  <a:latin typeface="Calibri"/>
                  <a:cs typeface="Calibri"/>
                </a:rPr>
                <a:t>PIRR</a:t>
              </a:r>
            </a:p>
          </p:txBody>
        </p:sp>
        <p:grpSp>
          <p:nvGrpSpPr>
            <p:cNvPr id="226" name="Grupp 225"/>
            <p:cNvGrpSpPr/>
            <p:nvPr/>
          </p:nvGrpSpPr>
          <p:grpSpPr>
            <a:xfrm>
              <a:off x="5956324" y="2708561"/>
              <a:ext cx="66751" cy="117542"/>
              <a:chOff x="9018096" y="5768908"/>
              <a:chExt cx="66751" cy="117542"/>
            </a:xfrm>
          </p:grpSpPr>
          <p:cxnSp>
            <p:nvCxnSpPr>
              <p:cNvPr id="230" name="Rak pil 18"/>
              <p:cNvCxnSpPr>
                <a:cxnSpLocks noChangeShapeType="1"/>
                <a:endCxn id="23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1" name="Ellips 23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285" name="Rektangel med rundade hörn 22"/>
          <p:cNvSpPr/>
          <p:nvPr/>
        </p:nvSpPr>
        <p:spPr>
          <a:xfrm>
            <a:off x="5461800" y="2427836"/>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Fristående</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Verktyg</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”Produkt X”</a:t>
            </a:r>
            <a:endParaRPr lang="sv-SE" sz="900" i="1" dirty="0">
              <a:solidFill>
                <a:srgbClr val="382819"/>
              </a:solidFill>
              <a:latin typeface="Arial" charset="0"/>
              <a:ea typeface="ＭＳ Ｐゴシック" charset="0"/>
              <a:cs typeface="ＭＳ Ｐゴシック" charset="0"/>
            </a:endParaRPr>
          </a:p>
        </p:txBody>
      </p:sp>
      <p:sp>
        <p:nvSpPr>
          <p:cNvPr id="293" name="Rektangel med rundade hörn 22"/>
          <p:cNvSpPr/>
          <p:nvPr/>
        </p:nvSpPr>
        <p:spPr>
          <a:xfrm>
            <a:off x="5405512" y="2481105"/>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cxnSp>
        <p:nvCxnSpPr>
          <p:cNvPr id="319" name="Rak pil 6"/>
          <p:cNvCxnSpPr>
            <a:stCxn id="116" idx="2"/>
            <a:endCxn id="285" idx="0"/>
          </p:cNvCxnSpPr>
          <p:nvPr/>
        </p:nvCxnSpPr>
        <p:spPr bwMode="auto">
          <a:xfrm rot="16200000" flipH="1">
            <a:off x="5708906" y="2255586"/>
            <a:ext cx="218499" cy="126000"/>
          </a:xfrm>
          <a:prstGeom prst="curvedConnector3">
            <a:avLst>
              <a:gd name="adj1" fmla="val 50000"/>
            </a:avLst>
          </a:prstGeom>
          <a:noFill/>
          <a:ln w="12700" cap="flat" cmpd="sng" algn="ctr">
            <a:solidFill>
              <a:srgbClr val="A6A6A6"/>
            </a:solidFill>
            <a:prstDash val="solid"/>
            <a:round/>
            <a:headEnd type="none" w="med" len="med"/>
            <a:tailEnd type="stealth"/>
          </a:ln>
          <a:effectLst/>
        </p:spPr>
      </p:cxnSp>
      <p:cxnSp>
        <p:nvCxnSpPr>
          <p:cNvPr id="327" name="Rak pil 6"/>
          <p:cNvCxnSpPr>
            <a:stCxn id="21" idx="1"/>
            <a:endCxn id="71" idx="0"/>
          </p:cNvCxnSpPr>
          <p:nvPr/>
        </p:nvCxnSpPr>
        <p:spPr bwMode="auto">
          <a:xfrm>
            <a:off x="1800975" y="2076874"/>
            <a:ext cx="394983" cy="441424"/>
          </a:xfrm>
          <a:prstGeom prst="curvedConnector2">
            <a:avLst/>
          </a:prstGeom>
          <a:noFill/>
          <a:ln w="12700" cap="flat" cmpd="sng" algn="ctr">
            <a:solidFill>
              <a:srgbClr val="A6A6A6"/>
            </a:solidFill>
            <a:prstDash val="solid"/>
            <a:round/>
            <a:headEnd type="none" w="med" len="med"/>
            <a:tailEnd type="stealth"/>
          </a:ln>
          <a:effectLst/>
        </p:spPr>
      </p:cxnSp>
      <p:grpSp>
        <p:nvGrpSpPr>
          <p:cNvPr id="255" name="Grupp 254"/>
          <p:cNvGrpSpPr/>
          <p:nvPr/>
        </p:nvGrpSpPr>
        <p:grpSpPr>
          <a:xfrm>
            <a:off x="2513507" y="3724111"/>
            <a:ext cx="1294565" cy="131113"/>
            <a:chOff x="2449173" y="3243649"/>
            <a:chExt cx="1294565" cy="131113"/>
          </a:xfrm>
        </p:grpSpPr>
        <p:grpSp>
          <p:nvGrpSpPr>
            <p:cNvPr id="141" name="Grupp 140"/>
            <p:cNvGrpSpPr/>
            <p:nvPr/>
          </p:nvGrpSpPr>
          <p:grpSpPr>
            <a:xfrm>
              <a:off x="2449173" y="3257220"/>
              <a:ext cx="66751" cy="117542"/>
              <a:chOff x="9018096" y="5768908"/>
              <a:chExt cx="66751" cy="117542"/>
            </a:xfrm>
          </p:grpSpPr>
          <p:cxnSp>
            <p:nvCxnSpPr>
              <p:cNvPr id="154" name="Rak pil 18"/>
              <p:cNvCxnSpPr>
                <a:cxnSpLocks noChangeShapeType="1"/>
                <a:endCxn id="155"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Ellips 154"/>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2" name="Grupp 141"/>
            <p:cNvGrpSpPr/>
            <p:nvPr/>
          </p:nvGrpSpPr>
          <p:grpSpPr>
            <a:xfrm>
              <a:off x="2820928" y="3248679"/>
              <a:ext cx="66751" cy="117542"/>
              <a:chOff x="9018096" y="5768908"/>
              <a:chExt cx="66751" cy="117542"/>
            </a:xfrm>
          </p:grpSpPr>
          <p:cxnSp>
            <p:nvCxnSpPr>
              <p:cNvPr id="152" name="Rak pil 18"/>
              <p:cNvCxnSpPr>
                <a:cxnSpLocks noChangeShapeType="1"/>
                <a:endCxn id="153"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Ellips 152"/>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6" name="Grupp 145"/>
            <p:cNvGrpSpPr/>
            <p:nvPr/>
          </p:nvGrpSpPr>
          <p:grpSpPr>
            <a:xfrm>
              <a:off x="2984873" y="3250994"/>
              <a:ext cx="66751" cy="117542"/>
              <a:chOff x="9018096" y="5768908"/>
              <a:chExt cx="66751" cy="117542"/>
            </a:xfrm>
          </p:grpSpPr>
          <p:cxnSp>
            <p:nvCxnSpPr>
              <p:cNvPr id="150" name="Rak pil 18"/>
              <p:cNvCxnSpPr>
                <a:cxnSpLocks noChangeShapeType="1"/>
                <a:endCxn id="15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Ellips 15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7" name="Grupp 146"/>
            <p:cNvGrpSpPr/>
            <p:nvPr/>
          </p:nvGrpSpPr>
          <p:grpSpPr>
            <a:xfrm>
              <a:off x="2625107" y="3253088"/>
              <a:ext cx="66751" cy="117542"/>
              <a:chOff x="9018096" y="5791998"/>
              <a:chExt cx="66751" cy="117542"/>
            </a:xfrm>
          </p:grpSpPr>
          <p:cxnSp>
            <p:nvCxnSpPr>
              <p:cNvPr id="148" name="Rak pil 18"/>
              <p:cNvCxnSpPr>
                <a:cxnSpLocks noChangeShapeType="1"/>
                <a:endCxn id="149"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Ellips 148"/>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7" name="Grupp 156"/>
            <p:cNvGrpSpPr/>
            <p:nvPr/>
          </p:nvGrpSpPr>
          <p:grpSpPr>
            <a:xfrm>
              <a:off x="3141287" y="3252190"/>
              <a:ext cx="66751" cy="117542"/>
              <a:chOff x="9018096" y="5768908"/>
              <a:chExt cx="66751" cy="117542"/>
            </a:xfrm>
          </p:grpSpPr>
          <p:cxnSp>
            <p:nvCxnSpPr>
              <p:cNvPr id="179" name="Rak pil 18"/>
              <p:cNvCxnSpPr>
                <a:cxnSpLocks noChangeShapeType="1"/>
                <a:endCxn id="180"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Ellips 179"/>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8" name="Grupp 157"/>
            <p:cNvGrpSpPr/>
            <p:nvPr/>
          </p:nvGrpSpPr>
          <p:grpSpPr>
            <a:xfrm>
              <a:off x="3513042" y="3243649"/>
              <a:ext cx="66751" cy="117542"/>
              <a:chOff x="9018096" y="5768908"/>
              <a:chExt cx="66751" cy="117542"/>
            </a:xfrm>
          </p:grpSpPr>
          <p:cxnSp>
            <p:nvCxnSpPr>
              <p:cNvPr id="165" name="Rak pil 18"/>
              <p:cNvCxnSpPr>
                <a:cxnSpLocks noChangeShapeType="1"/>
                <a:endCxn id="178"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Ellips 177"/>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9" name="Grupp 158"/>
            <p:cNvGrpSpPr/>
            <p:nvPr/>
          </p:nvGrpSpPr>
          <p:grpSpPr>
            <a:xfrm>
              <a:off x="3676987" y="3245964"/>
              <a:ext cx="66751" cy="117542"/>
              <a:chOff x="9018096" y="5768908"/>
              <a:chExt cx="66751" cy="117542"/>
            </a:xfrm>
          </p:grpSpPr>
          <p:cxnSp>
            <p:nvCxnSpPr>
              <p:cNvPr id="163" name="Rak pil 18"/>
              <p:cNvCxnSpPr>
                <a:cxnSpLocks noChangeShapeType="1"/>
                <a:endCxn id="16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Ellips 16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60" name="Grupp 159"/>
            <p:cNvGrpSpPr/>
            <p:nvPr/>
          </p:nvGrpSpPr>
          <p:grpSpPr>
            <a:xfrm>
              <a:off x="3317221" y="3248058"/>
              <a:ext cx="66751" cy="117542"/>
              <a:chOff x="9018096" y="5791998"/>
              <a:chExt cx="66751" cy="117542"/>
            </a:xfrm>
          </p:grpSpPr>
          <p:cxnSp>
            <p:nvCxnSpPr>
              <p:cNvPr id="161" name="Rak pil 18"/>
              <p:cNvCxnSpPr>
                <a:cxnSpLocks noChangeShapeType="1"/>
                <a:endCxn id="162"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2" name="Ellips 161"/>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182" name="textruta 181"/>
          <p:cNvSpPr txBox="1"/>
          <p:nvPr/>
        </p:nvSpPr>
        <p:spPr>
          <a:xfrm>
            <a:off x="5373558" y="5564390"/>
            <a:ext cx="2213540" cy="830997"/>
          </a:xfrm>
          <a:prstGeom prst="rect">
            <a:avLst/>
          </a:prstGeom>
          <a:noFill/>
        </p:spPr>
        <p:txBody>
          <a:bodyPr wrap="square" rtlCol="0">
            <a:spAutoFit/>
          </a:bodyPr>
          <a:lstStyle/>
          <a:p>
            <a:pPr defTabSz="457200" fontAlgn="auto">
              <a:spcBef>
                <a:spcPts val="0"/>
              </a:spcBef>
              <a:spcAft>
                <a:spcPts val="0"/>
              </a:spcAft>
            </a:pPr>
            <a:r>
              <a:rPr lang="sv-SE" sz="1200" i="1" dirty="0">
                <a:solidFill>
                  <a:srgbClr val="0000FF"/>
                </a:solidFill>
                <a:latin typeface="Calibri"/>
                <a:cs typeface="Arial" pitchFamily="34" charset="0"/>
              </a:rPr>
              <a:t>E-hälsomyndighetens </a:t>
            </a:r>
            <a:r>
              <a:rPr lang="sv-SE" sz="1200" i="1" dirty="0" smtClean="0">
                <a:solidFill>
                  <a:srgbClr val="0000FF"/>
                </a:solidFill>
                <a:latin typeface="Calibri"/>
                <a:cs typeface="Arial" pitchFamily="34" charset="0"/>
              </a:rPr>
              <a:t>register</a:t>
            </a:r>
            <a:br>
              <a:rPr lang="sv-SE" sz="1200" i="1" dirty="0" smtClean="0">
                <a:solidFill>
                  <a:srgbClr val="0000FF"/>
                </a:solidFill>
                <a:latin typeface="Calibri"/>
                <a:cs typeface="Arial" pitchFamily="34" charset="0"/>
              </a:rPr>
            </a:br>
            <a:r>
              <a:rPr lang="sv-SE" sz="1200" i="1" dirty="0" smtClean="0">
                <a:solidFill>
                  <a:srgbClr val="0000FF"/>
                </a:solidFill>
                <a:latin typeface="Calibri"/>
                <a:cs typeface="Arial" pitchFamily="34" charset="0"/>
              </a:rPr>
              <a:t/>
            </a:r>
            <a:br>
              <a:rPr lang="sv-SE" sz="1200" i="1" dirty="0" smtClean="0">
                <a:solidFill>
                  <a:srgbClr val="0000FF"/>
                </a:solidFill>
                <a:latin typeface="Calibri"/>
                <a:cs typeface="Arial" pitchFamily="34" charset="0"/>
              </a:rPr>
            </a:br>
            <a:r>
              <a:rPr lang="sv-SE" sz="1200" i="1" dirty="0" smtClean="0">
                <a:solidFill>
                  <a:srgbClr val="0000FF"/>
                </a:solidFill>
                <a:latin typeface="Calibri"/>
                <a:cs typeface="Arial" pitchFamily="34" charset="0"/>
              </a:rPr>
              <a:t>Receptregisterlag</a:t>
            </a:r>
            <a:br>
              <a:rPr lang="sv-SE" sz="1200" i="1" dirty="0" smtClean="0">
                <a:solidFill>
                  <a:srgbClr val="0000FF"/>
                </a:solidFill>
                <a:latin typeface="Calibri"/>
                <a:cs typeface="Arial" pitchFamily="34" charset="0"/>
              </a:rPr>
            </a:br>
            <a:r>
              <a:rPr lang="sv-SE" sz="1200" i="1" dirty="0" smtClean="0">
                <a:solidFill>
                  <a:srgbClr val="0000FF"/>
                </a:solidFill>
                <a:latin typeface="Calibri"/>
                <a:cs typeface="Arial" pitchFamily="34" charset="0"/>
              </a:rPr>
              <a:t>Lag om Läkemedelsförteckning</a:t>
            </a:r>
            <a:endParaRPr lang="sv-SE" sz="1200" i="1" dirty="0">
              <a:solidFill>
                <a:srgbClr val="0000FF"/>
              </a:solidFill>
              <a:latin typeface="Calibri"/>
              <a:cs typeface="Arial" pitchFamily="34" charset="0"/>
            </a:endParaRPr>
          </a:p>
        </p:txBody>
      </p:sp>
      <p:sp>
        <p:nvSpPr>
          <p:cNvPr id="191" name="Cylinder 190"/>
          <p:cNvSpPr/>
          <p:nvPr/>
        </p:nvSpPr>
        <p:spPr>
          <a:xfrm>
            <a:off x="6450935" y="4350530"/>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RR</a:t>
            </a:r>
          </a:p>
        </p:txBody>
      </p:sp>
      <p:sp>
        <p:nvSpPr>
          <p:cNvPr id="192" name="Cylinder 191"/>
          <p:cNvSpPr/>
          <p:nvPr/>
        </p:nvSpPr>
        <p:spPr>
          <a:xfrm>
            <a:off x="6441968" y="5033946"/>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LF</a:t>
            </a:r>
          </a:p>
        </p:txBody>
      </p:sp>
      <p:graphicFrame>
        <p:nvGraphicFramePr>
          <p:cNvPr id="10" name="Diagram 9"/>
          <p:cNvGraphicFramePr/>
          <p:nvPr>
            <p:extLst>
              <p:ext uri="{D42A27DB-BD31-4B8C-83A1-F6EECF244321}">
                <p14:modId xmlns:p14="http://schemas.microsoft.com/office/powerpoint/2010/main" val="1435806805"/>
              </p:ext>
            </p:extLst>
          </p:nvPr>
        </p:nvGraphicFramePr>
        <p:xfrm>
          <a:off x="5489825" y="4251240"/>
          <a:ext cx="1155319" cy="12313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47" name="textruta 246"/>
          <p:cNvSpPr txBox="1"/>
          <p:nvPr/>
        </p:nvSpPr>
        <p:spPr>
          <a:xfrm>
            <a:off x="5939672" y="3766074"/>
            <a:ext cx="817927" cy="430887"/>
          </a:xfrm>
          <a:prstGeom prst="rect">
            <a:avLst/>
          </a:prstGeom>
          <a:noFill/>
        </p:spPr>
        <p:txBody>
          <a:bodyPr wrap="square" rtlCol="0">
            <a:spAutoFit/>
          </a:bodyPr>
          <a:lstStyle/>
          <a:p>
            <a:pPr defTabSz="457200" fontAlgn="auto">
              <a:spcBef>
                <a:spcPts val="0"/>
              </a:spcBef>
              <a:spcAft>
                <a:spcPts val="0"/>
              </a:spcAft>
            </a:pPr>
            <a:r>
              <a:rPr lang="sv-SE" sz="1100" i="1" dirty="0">
                <a:solidFill>
                  <a:prstClr val="black"/>
                </a:solidFill>
                <a:latin typeface="Calibri"/>
                <a:cs typeface="Arial" pitchFamily="34" charset="0"/>
              </a:rPr>
              <a:t>E-recept-</a:t>
            </a:r>
            <a:br>
              <a:rPr lang="sv-SE" sz="1100" i="1" dirty="0">
                <a:solidFill>
                  <a:prstClr val="black"/>
                </a:solidFill>
                <a:latin typeface="Calibri"/>
                <a:cs typeface="Arial" pitchFamily="34" charset="0"/>
              </a:rPr>
            </a:br>
            <a:r>
              <a:rPr lang="sv-SE" sz="1100" i="1" dirty="0">
                <a:solidFill>
                  <a:prstClr val="black"/>
                </a:solidFill>
                <a:latin typeface="Calibri"/>
                <a:cs typeface="Arial" pitchFamily="34" charset="0"/>
              </a:rPr>
              <a:t>ingång</a:t>
            </a:r>
          </a:p>
        </p:txBody>
      </p:sp>
      <p:sp>
        <p:nvSpPr>
          <p:cNvPr id="249" name="Dokument 248"/>
          <p:cNvSpPr/>
          <p:nvPr/>
        </p:nvSpPr>
        <p:spPr bwMode="auto">
          <a:xfrm>
            <a:off x="471719" y="1931944"/>
            <a:ext cx="875409"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smtClean="0">
                <a:solidFill>
                  <a:srgbClr val="382819"/>
                </a:solidFill>
                <a:latin typeface="Arial Narrow"/>
                <a:cs typeface="Arial Narrow"/>
              </a:rPr>
              <a:t>Samlad Läkemedelslista</a:t>
            </a:r>
            <a:endParaRPr lang="sv-SE" sz="900" dirty="0">
              <a:solidFill>
                <a:srgbClr val="382819"/>
              </a:solidFill>
              <a:latin typeface="Arial Narrow"/>
              <a:cs typeface="Arial Narrow"/>
            </a:endParaRPr>
          </a:p>
        </p:txBody>
      </p:sp>
      <p:graphicFrame>
        <p:nvGraphicFramePr>
          <p:cNvPr id="38" name="Diagram 37"/>
          <p:cNvGraphicFramePr/>
          <p:nvPr>
            <p:extLst>
              <p:ext uri="{D42A27DB-BD31-4B8C-83A1-F6EECF244321}">
                <p14:modId xmlns:p14="http://schemas.microsoft.com/office/powerpoint/2010/main" val="2173469164"/>
              </p:ext>
            </p:extLst>
          </p:nvPr>
        </p:nvGraphicFramePr>
        <p:xfrm>
          <a:off x="2204982" y="3955561"/>
          <a:ext cx="1898142" cy="125808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332" name="textruta 331"/>
          <p:cNvSpPr txBox="1"/>
          <p:nvPr/>
        </p:nvSpPr>
        <p:spPr>
          <a:xfrm>
            <a:off x="1321452" y="3588503"/>
            <a:ext cx="1259536" cy="276999"/>
          </a:xfrm>
          <a:prstGeom prst="rect">
            <a:avLst/>
          </a:prstGeom>
          <a:noFill/>
        </p:spPr>
        <p:txBody>
          <a:bodyPr wrap="square" rtlCol="0">
            <a:spAutoFit/>
          </a:bodyPr>
          <a:lstStyle/>
          <a:p>
            <a:pPr defTabSz="457200" fontAlgn="auto">
              <a:spcBef>
                <a:spcPts val="0"/>
              </a:spcBef>
              <a:spcAft>
                <a:spcPts val="0"/>
              </a:spcAft>
            </a:pPr>
            <a:r>
              <a:rPr lang="sv-SE" sz="1200" i="1" dirty="0">
                <a:solidFill>
                  <a:prstClr val="black"/>
                </a:solidFill>
                <a:latin typeface="Calibri"/>
                <a:cs typeface="Arial" pitchFamily="34" charset="0"/>
              </a:rPr>
              <a:t>Tjänstekontrakt</a:t>
            </a:r>
          </a:p>
        </p:txBody>
      </p:sp>
      <p:grpSp>
        <p:nvGrpSpPr>
          <p:cNvPr id="114" name="Grupp 113"/>
          <p:cNvGrpSpPr/>
          <p:nvPr/>
        </p:nvGrpSpPr>
        <p:grpSpPr>
          <a:xfrm>
            <a:off x="5246192" y="1843707"/>
            <a:ext cx="691104" cy="365630"/>
            <a:chOff x="2330674" y="1012742"/>
            <a:chExt cx="691104" cy="365630"/>
          </a:xfrm>
        </p:grpSpPr>
        <p:pic>
          <p:nvPicPr>
            <p:cNvPr id="11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Vänster-höger 5"/>
          <p:cNvSpPr/>
          <p:nvPr/>
        </p:nvSpPr>
        <p:spPr bwMode="auto">
          <a:xfrm rot="17635053">
            <a:off x="3408623" y="3234465"/>
            <a:ext cx="571772" cy="304618"/>
          </a:xfrm>
          <a:prstGeom prst="lef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04" name="Vänster-höger 103"/>
          <p:cNvSpPr/>
          <p:nvPr/>
        </p:nvSpPr>
        <p:spPr bwMode="auto">
          <a:xfrm>
            <a:off x="4508108" y="4447968"/>
            <a:ext cx="571772" cy="304618"/>
          </a:xfrm>
          <a:prstGeom prst="lef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05" name="Vänster-höger 104"/>
          <p:cNvSpPr/>
          <p:nvPr/>
        </p:nvSpPr>
        <p:spPr bwMode="auto">
          <a:xfrm rot="14398185">
            <a:off x="2227621" y="3233820"/>
            <a:ext cx="571772" cy="304618"/>
          </a:xfrm>
          <a:prstGeom prst="lef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7" name="Ned 6"/>
          <p:cNvSpPr/>
          <p:nvPr/>
        </p:nvSpPr>
        <p:spPr bwMode="auto">
          <a:xfrm>
            <a:off x="5509921" y="3188393"/>
            <a:ext cx="325977" cy="47458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07" name="Dokument 106"/>
          <p:cNvSpPr/>
          <p:nvPr/>
        </p:nvSpPr>
        <p:spPr bwMode="auto">
          <a:xfrm>
            <a:off x="2737727" y="1931944"/>
            <a:ext cx="875409"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smtClean="0">
                <a:solidFill>
                  <a:srgbClr val="382819"/>
                </a:solidFill>
                <a:latin typeface="Arial Narrow"/>
                <a:cs typeface="Arial Narrow"/>
              </a:rPr>
              <a:t>Samlad Läkemedelslista</a:t>
            </a:r>
            <a:endParaRPr lang="sv-SE" sz="900" dirty="0">
              <a:solidFill>
                <a:srgbClr val="382819"/>
              </a:solidFill>
              <a:latin typeface="Arial Narrow"/>
              <a:cs typeface="Arial Narrow"/>
            </a:endParaRPr>
          </a:p>
        </p:txBody>
      </p:sp>
      <p:sp>
        <p:nvSpPr>
          <p:cNvPr id="102" name="textruta 101"/>
          <p:cNvSpPr txBox="1"/>
          <p:nvPr/>
        </p:nvSpPr>
        <p:spPr>
          <a:xfrm>
            <a:off x="6312246" y="2486004"/>
            <a:ext cx="1023912" cy="577081"/>
          </a:xfrm>
          <a:prstGeom prst="rect">
            <a:avLst/>
          </a:prstGeom>
          <a:noFill/>
        </p:spPr>
        <p:txBody>
          <a:bodyPr wrap="square" rtlCol="0">
            <a:spAutoFit/>
          </a:bodyPr>
          <a:lstStyle/>
          <a:p>
            <a:pPr defTabSz="457200" fontAlgn="auto">
              <a:spcBef>
                <a:spcPts val="0"/>
              </a:spcBef>
              <a:spcAft>
                <a:spcPts val="0"/>
              </a:spcAft>
            </a:pPr>
            <a:r>
              <a:rPr lang="sv-SE" sz="1050" i="1" dirty="0" smtClean="0">
                <a:solidFill>
                  <a:prstClr val="black"/>
                </a:solidFill>
                <a:latin typeface="Calibri"/>
                <a:cs typeface="Arial" pitchFamily="34" charset="0"/>
              </a:rPr>
              <a:t>System </a:t>
            </a:r>
            <a:r>
              <a:rPr lang="sv-SE" sz="1050" i="1" dirty="0">
                <a:solidFill>
                  <a:prstClr val="black"/>
                </a:solidFill>
                <a:latin typeface="Calibri"/>
                <a:cs typeface="Arial" pitchFamily="34" charset="0"/>
              </a:rPr>
              <a:t>ej </a:t>
            </a:r>
            <a:r>
              <a:rPr lang="sv-SE" sz="1050" i="1" dirty="0" smtClean="0">
                <a:solidFill>
                  <a:prstClr val="black"/>
                </a:solidFill>
                <a:latin typeface="Calibri"/>
                <a:cs typeface="Arial" pitchFamily="34" charset="0"/>
              </a:rPr>
              <a:t>ännu integrerade </a:t>
            </a:r>
            <a:r>
              <a:rPr lang="sv-SE" sz="1050" i="1" dirty="0">
                <a:solidFill>
                  <a:prstClr val="black"/>
                </a:solidFill>
                <a:latin typeface="Calibri"/>
                <a:cs typeface="Arial" pitchFamily="34" charset="0"/>
              </a:rPr>
              <a:t>med NOD</a:t>
            </a:r>
          </a:p>
        </p:txBody>
      </p:sp>
      <p:sp>
        <p:nvSpPr>
          <p:cNvPr id="109" name="Rektangel med rundade hörn 22"/>
          <p:cNvSpPr/>
          <p:nvPr/>
        </p:nvSpPr>
        <p:spPr>
          <a:xfrm>
            <a:off x="5349598" y="2535958"/>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sp>
        <p:nvSpPr>
          <p:cNvPr id="126" name="Ned 125"/>
          <p:cNvSpPr/>
          <p:nvPr/>
        </p:nvSpPr>
        <p:spPr bwMode="auto">
          <a:xfrm rot="5828019">
            <a:off x="4600816" y="4930326"/>
            <a:ext cx="325977" cy="47458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76" name="textruta 75"/>
          <p:cNvSpPr txBox="1"/>
          <p:nvPr/>
        </p:nvSpPr>
        <p:spPr>
          <a:xfrm>
            <a:off x="2531592" y="5495216"/>
            <a:ext cx="1482909" cy="830997"/>
          </a:xfrm>
          <a:prstGeom prst="rect">
            <a:avLst/>
          </a:prstGeom>
          <a:noFill/>
        </p:spPr>
        <p:txBody>
          <a:bodyPr wrap="square" rtlCol="0">
            <a:spAutoFit/>
          </a:bodyPr>
          <a:lstStyle/>
          <a:p>
            <a:pPr defTabSz="457200" fontAlgn="auto">
              <a:spcBef>
                <a:spcPts val="0"/>
              </a:spcBef>
              <a:spcAft>
                <a:spcPts val="0"/>
              </a:spcAft>
            </a:pPr>
            <a:r>
              <a:rPr lang="sv-SE" sz="1200" i="1" dirty="0" smtClean="0">
                <a:solidFill>
                  <a:srgbClr val="0000FF"/>
                </a:solidFill>
                <a:latin typeface="Calibri"/>
                <a:cs typeface="Arial" pitchFamily="34" charset="0"/>
              </a:rPr>
              <a:t>Vårdgivarens journaldata</a:t>
            </a:r>
            <a:br>
              <a:rPr lang="sv-SE" sz="1200" i="1" dirty="0" smtClean="0">
                <a:solidFill>
                  <a:srgbClr val="0000FF"/>
                </a:solidFill>
                <a:latin typeface="Calibri"/>
                <a:cs typeface="Arial" pitchFamily="34" charset="0"/>
              </a:rPr>
            </a:br>
            <a:r>
              <a:rPr lang="sv-SE" sz="1200" i="1" dirty="0" smtClean="0">
                <a:solidFill>
                  <a:srgbClr val="0000FF"/>
                </a:solidFill>
                <a:latin typeface="Calibri"/>
                <a:cs typeface="Arial" pitchFamily="34" charset="0"/>
              </a:rPr>
              <a:t/>
            </a:r>
            <a:br>
              <a:rPr lang="sv-SE" sz="1200" i="1" dirty="0" smtClean="0">
                <a:solidFill>
                  <a:srgbClr val="0000FF"/>
                </a:solidFill>
                <a:latin typeface="Calibri"/>
                <a:cs typeface="Arial" pitchFamily="34" charset="0"/>
              </a:rPr>
            </a:br>
            <a:r>
              <a:rPr lang="sv-SE" sz="1200" i="1" dirty="0" smtClean="0">
                <a:solidFill>
                  <a:srgbClr val="0000FF"/>
                </a:solidFill>
                <a:latin typeface="Calibri"/>
                <a:cs typeface="Arial" pitchFamily="34" charset="0"/>
              </a:rPr>
              <a:t>Patientdatalagen</a:t>
            </a:r>
            <a:endParaRPr lang="sv-SE" sz="1200" i="1" dirty="0">
              <a:solidFill>
                <a:srgbClr val="0000FF"/>
              </a:solidFill>
              <a:latin typeface="Calibri"/>
              <a:cs typeface="Arial" pitchFamily="34" charset="0"/>
            </a:endParaRPr>
          </a:p>
        </p:txBody>
      </p:sp>
    </p:spTree>
    <p:extLst>
      <p:ext uri="{BB962C8B-B14F-4D97-AF65-F5344CB8AC3E}">
        <p14:creationId xmlns:p14="http://schemas.microsoft.com/office/powerpoint/2010/main" val="49852041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ktangel med rundade hörn 22"/>
          <p:cNvSpPr/>
          <p:nvPr/>
        </p:nvSpPr>
        <p:spPr>
          <a:xfrm>
            <a:off x="3414955" y="240828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sp>
        <p:nvSpPr>
          <p:cNvPr id="125" name="Rektangel med rundade hörn 22"/>
          <p:cNvSpPr/>
          <p:nvPr/>
        </p:nvSpPr>
        <p:spPr>
          <a:xfrm>
            <a:off x="3357595" y="246324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grpSp>
        <p:nvGrpSpPr>
          <p:cNvPr id="24" name="Grupp 23"/>
          <p:cNvGrpSpPr/>
          <p:nvPr/>
        </p:nvGrpSpPr>
        <p:grpSpPr>
          <a:xfrm>
            <a:off x="3661441" y="1843707"/>
            <a:ext cx="691104" cy="365630"/>
            <a:chOff x="2330674" y="1012742"/>
            <a:chExt cx="691104" cy="365630"/>
          </a:xfrm>
        </p:grpSpPr>
        <p:pic>
          <p:nvPicPr>
            <p:cNvPr id="2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25" name="Rak pil 6"/>
          <p:cNvCxnSpPr>
            <a:stCxn id="26" idx="2"/>
            <a:endCxn id="212" idx="0"/>
          </p:cNvCxnSpPr>
          <p:nvPr/>
        </p:nvCxnSpPr>
        <p:spPr bwMode="auto">
          <a:xfrm rot="5400000">
            <a:off x="3895042" y="2245355"/>
            <a:ext cx="311380" cy="239345"/>
          </a:xfrm>
          <a:prstGeom prst="curvedConnector3">
            <a:avLst>
              <a:gd name="adj1" fmla="val 50000"/>
            </a:avLst>
          </a:prstGeom>
          <a:noFill/>
          <a:ln w="12700" cap="flat" cmpd="sng" algn="ctr">
            <a:solidFill>
              <a:srgbClr val="A6A6A6"/>
            </a:solidFill>
            <a:prstDash val="solid"/>
            <a:round/>
            <a:headEnd type="none" w="med" len="med"/>
            <a:tailEnd type="stealth"/>
          </a:ln>
          <a:effectLst/>
        </p:spPr>
      </p:cxnSp>
      <p:sp>
        <p:nvSpPr>
          <p:cNvPr id="212" name="Rektangel med rundade hörn 22"/>
          <p:cNvSpPr/>
          <p:nvPr/>
        </p:nvSpPr>
        <p:spPr>
          <a:xfrm>
            <a:off x="3296469" y="2520717"/>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Journal /</a:t>
            </a:r>
            <a:br>
              <a:rPr lang="sv-SE" sz="900"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Läkemedel</a:t>
            </a:r>
            <a:br>
              <a:rPr lang="sv-SE" sz="900" i="1"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(Vård, Tandvård, Omsorg)</a:t>
            </a:r>
            <a:endParaRPr lang="sv-SE" sz="900" dirty="0">
              <a:solidFill>
                <a:srgbClr val="382819"/>
              </a:solidFill>
              <a:latin typeface="Arial" charset="0"/>
              <a:ea typeface="ＭＳ Ｐゴシック" charset="0"/>
              <a:cs typeface="ＭＳ Ｐゴシック" charset="0"/>
            </a:endParaRPr>
          </a:p>
        </p:txBody>
      </p:sp>
      <p:sp>
        <p:nvSpPr>
          <p:cNvPr id="193" name="Rektangel med rundade hörn 192"/>
          <p:cNvSpPr/>
          <p:nvPr/>
        </p:nvSpPr>
        <p:spPr>
          <a:xfrm rot="16200000">
            <a:off x="5463236" y="4122373"/>
            <a:ext cx="1412313" cy="1506173"/>
          </a:xfrm>
          <a:prstGeom prst="roundRect">
            <a:avLst>
              <a:gd name="adj" fmla="val 4658"/>
            </a:avLst>
          </a:prstGeom>
          <a:ln w="19050" cmpd="sng">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5" name="Rektangel med rundade hörn 184"/>
          <p:cNvSpPr/>
          <p:nvPr/>
        </p:nvSpPr>
        <p:spPr>
          <a:xfrm rot="16200000">
            <a:off x="2410751" y="3575209"/>
            <a:ext cx="1537918" cy="2107249"/>
          </a:xfrm>
          <a:prstGeom prst="roundRect">
            <a:avLst>
              <a:gd name="adj" fmla="val 4658"/>
            </a:avLst>
          </a:prstGeom>
          <a:solidFill>
            <a:schemeClr val="accent1"/>
          </a:solidFill>
          <a:ln>
            <a:solidFill>
              <a:srgbClr val="00A9A7"/>
            </a:solidFill>
            <a:tailEnd type="triangle" w="lg" len="lg"/>
          </a:ln>
        </p:spPr>
        <p:style>
          <a:lnRef idx="2">
            <a:schemeClr val="accent1"/>
          </a:lnRef>
          <a:fillRef idx="1">
            <a:schemeClr val="lt1"/>
          </a:fillRef>
          <a:effectRef idx="0">
            <a:schemeClr val="accent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1" name="Cylinder 180"/>
          <p:cNvSpPr/>
          <p:nvPr/>
        </p:nvSpPr>
        <p:spPr>
          <a:xfrm>
            <a:off x="1860653" y="5033829"/>
            <a:ext cx="652853" cy="454096"/>
          </a:xfrm>
          <a:prstGeom prst="can">
            <a:avLst/>
          </a:prstGeom>
          <a:ln>
            <a:headEnd type="none"/>
            <a:tailEnd type="none" w="lg" len="lg"/>
          </a:ln>
        </p:spPr>
        <p:style>
          <a:lnRef idx="2">
            <a:schemeClr val="accent1">
              <a:shade val="50000"/>
            </a:schemeClr>
          </a:lnRef>
          <a:fillRef idx="1">
            <a:schemeClr val="accent1"/>
          </a:fillRef>
          <a:effectRef idx="0">
            <a:schemeClr val="accent1"/>
          </a:effectRef>
          <a:fontRef idx="minor">
            <a:schemeClr val="lt1"/>
          </a:fontRef>
        </p:style>
        <p:txBody>
          <a:bodyPr lIns="72000" rIns="72000" anchor="ctr"/>
          <a:lstStyle/>
          <a:p>
            <a:pPr algn="ctr"/>
            <a:r>
              <a:rPr lang="sv-SE" sz="900" dirty="0">
                <a:solidFill>
                  <a:srgbClr val="382819"/>
                </a:solidFill>
                <a:latin typeface="Arial"/>
                <a:ea typeface="ＭＳ Ｐゴシック" pitchFamily="-112" charset="-128"/>
                <a:cs typeface="ＭＳ Ｐゴシック" pitchFamily="-112" charset="-128"/>
              </a:rPr>
              <a:t>NOD</a:t>
            </a:r>
          </a:p>
        </p:txBody>
      </p:sp>
      <p:sp>
        <p:nvSpPr>
          <p:cNvPr id="2" name="Rubrik 1"/>
          <p:cNvSpPr>
            <a:spLocks noGrp="1"/>
          </p:cNvSpPr>
          <p:nvPr>
            <p:ph type="title"/>
          </p:nvPr>
        </p:nvSpPr>
        <p:spPr>
          <a:xfrm>
            <a:off x="1410939" y="212073"/>
            <a:ext cx="6164913" cy="770741"/>
          </a:xfrm>
        </p:spPr>
        <p:txBody>
          <a:bodyPr/>
          <a:lstStyle/>
          <a:p>
            <a:r>
              <a:rPr lang="sv-SE" sz="2000" i="1" dirty="0" smtClean="0"/>
              <a:t>Samlad läkemedelslista</a:t>
            </a:r>
            <a:endParaRPr lang="sv-SE" sz="1600" b="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10</a:t>
            </a:fld>
            <a:endParaRPr lang="sv-SE">
              <a:latin typeface="Arial"/>
            </a:endParaRPr>
          </a:p>
        </p:txBody>
      </p:sp>
      <p:sp>
        <p:nvSpPr>
          <p:cNvPr id="85" name="textruta 84"/>
          <p:cNvSpPr txBox="1"/>
          <p:nvPr/>
        </p:nvSpPr>
        <p:spPr>
          <a:xfrm>
            <a:off x="7495521" y="4414032"/>
            <a:ext cx="854378" cy="369332"/>
          </a:xfrm>
          <a:prstGeom prst="rect">
            <a:avLst/>
          </a:prstGeom>
          <a:noFill/>
        </p:spPr>
        <p:txBody>
          <a:bodyPr wrap="square" rtlCol="0">
            <a:spAutoFit/>
          </a:bodyPr>
          <a:lstStyle/>
          <a:p>
            <a:pPr defTabSz="457200" fontAlgn="auto">
              <a:spcBef>
                <a:spcPts val="0"/>
              </a:spcBef>
              <a:spcAft>
                <a:spcPts val="0"/>
              </a:spcAft>
            </a:pPr>
            <a:r>
              <a:rPr lang="sv-SE" sz="900" i="1" dirty="0">
                <a:solidFill>
                  <a:prstClr val="black"/>
                </a:solidFill>
                <a:latin typeface="Calibri"/>
                <a:cs typeface="Arial" pitchFamily="34" charset="0"/>
              </a:rPr>
              <a:t>farmaceut</a:t>
            </a:r>
          </a:p>
          <a:p>
            <a:pPr defTabSz="457200" fontAlgn="auto">
              <a:spcBef>
                <a:spcPts val="0"/>
              </a:spcBef>
              <a:spcAft>
                <a:spcPts val="0"/>
              </a:spcAft>
            </a:pPr>
            <a:r>
              <a:rPr lang="sv-SE" sz="900" i="1" dirty="0">
                <a:solidFill>
                  <a:prstClr val="black"/>
                </a:solidFill>
                <a:latin typeface="Calibri"/>
                <a:cs typeface="Arial" pitchFamily="34" charset="0"/>
              </a:rPr>
              <a:t>på apotek</a:t>
            </a:r>
          </a:p>
        </p:txBody>
      </p:sp>
      <p:pic>
        <p:nvPicPr>
          <p:cNvPr id="93" name="Picture 5" descr="C:\Users\svrlwi\AppData\Local\Microsoft\Windows\Temporary Internet Files\Content.IE5\33SAVMNN\MC900433943[1].png"/>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41072" y="4528748"/>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96" name="Dokument 95"/>
          <p:cNvSpPr/>
          <p:nvPr/>
        </p:nvSpPr>
        <p:spPr bwMode="auto">
          <a:xfrm>
            <a:off x="7336158" y="4976424"/>
            <a:ext cx="827364" cy="289351"/>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a:solidFill>
                  <a:srgbClr val="382819"/>
                </a:solidFill>
                <a:latin typeface="Arial Narrow"/>
                <a:cs typeface="Arial Narrow"/>
              </a:rPr>
              <a:t>Aktuella recept</a:t>
            </a:r>
          </a:p>
        </p:txBody>
      </p:sp>
      <p:grpSp>
        <p:nvGrpSpPr>
          <p:cNvPr id="283" name="Grupp 282"/>
          <p:cNvGrpSpPr/>
          <p:nvPr/>
        </p:nvGrpSpPr>
        <p:grpSpPr>
          <a:xfrm>
            <a:off x="5410434" y="3755254"/>
            <a:ext cx="571816" cy="401353"/>
            <a:chOff x="5727223" y="2708561"/>
            <a:chExt cx="571816" cy="401353"/>
          </a:xfrm>
        </p:grpSpPr>
        <p:sp>
          <p:nvSpPr>
            <p:cNvPr id="112" name="Rektangel med rundade hörn 111"/>
            <p:cNvSpPr/>
            <p:nvPr/>
          </p:nvSpPr>
          <p:spPr>
            <a:xfrm>
              <a:off x="5727223" y="2826103"/>
              <a:ext cx="571816" cy="283811"/>
            </a:xfrm>
            <a:prstGeom prst="roundRect">
              <a:avLst>
                <a:gd name="adj" fmla="val 9033"/>
              </a:avLst>
            </a:prstGeom>
            <a:ln/>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pPr>
              <a:r>
                <a:rPr lang="sv-SE" sz="1050" kern="0" dirty="0">
                  <a:solidFill>
                    <a:srgbClr val="382819"/>
                  </a:solidFill>
                  <a:latin typeface="Calibri"/>
                  <a:cs typeface="Calibri"/>
                </a:rPr>
                <a:t>PIRR</a:t>
              </a:r>
            </a:p>
          </p:txBody>
        </p:sp>
        <p:grpSp>
          <p:nvGrpSpPr>
            <p:cNvPr id="226" name="Grupp 225"/>
            <p:cNvGrpSpPr/>
            <p:nvPr/>
          </p:nvGrpSpPr>
          <p:grpSpPr>
            <a:xfrm>
              <a:off x="5956324" y="2708561"/>
              <a:ext cx="66751" cy="117542"/>
              <a:chOff x="9018096" y="5768908"/>
              <a:chExt cx="66751" cy="117542"/>
            </a:xfrm>
          </p:grpSpPr>
          <p:cxnSp>
            <p:nvCxnSpPr>
              <p:cNvPr id="230" name="Rak pil 18"/>
              <p:cNvCxnSpPr>
                <a:cxnSpLocks noChangeShapeType="1"/>
                <a:endCxn id="23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1" name="Ellips 23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285" name="Rektangel med rundade hörn 22"/>
          <p:cNvSpPr/>
          <p:nvPr/>
        </p:nvSpPr>
        <p:spPr>
          <a:xfrm>
            <a:off x="5461800" y="2427836"/>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Fristående</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Verktyg</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”Produkt X”</a:t>
            </a:r>
            <a:endParaRPr lang="sv-SE" sz="900" i="1" dirty="0">
              <a:solidFill>
                <a:srgbClr val="382819"/>
              </a:solidFill>
              <a:latin typeface="Arial" charset="0"/>
              <a:ea typeface="ＭＳ Ｐゴシック" charset="0"/>
              <a:cs typeface="ＭＳ Ｐゴシック" charset="0"/>
            </a:endParaRPr>
          </a:p>
        </p:txBody>
      </p:sp>
      <p:sp>
        <p:nvSpPr>
          <p:cNvPr id="293" name="Rektangel med rundade hörn 22"/>
          <p:cNvSpPr/>
          <p:nvPr/>
        </p:nvSpPr>
        <p:spPr>
          <a:xfrm>
            <a:off x="5405512" y="2481105"/>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cxnSp>
        <p:nvCxnSpPr>
          <p:cNvPr id="319" name="Rak pil 6"/>
          <p:cNvCxnSpPr>
            <a:stCxn id="116" idx="2"/>
            <a:endCxn id="285" idx="0"/>
          </p:cNvCxnSpPr>
          <p:nvPr/>
        </p:nvCxnSpPr>
        <p:spPr bwMode="auto">
          <a:xfrm rot="16200000" flipH="1">
            <a:off x="5708906" y="2255586"/>
            <a:ext cx="218499" cy="126000"/>
          </a:xfrm>
          <a:prstGeom prst="curvedConnector3">
            <a:avLst>
              <a:gd name="adj1" fmla="val 50000"/>
            </a:avLst>
          </a:prstGeom>
          <a:noFill/>
          <a:ln w="12700" cap="flat" cmpd="sng" algn="ctr">
            <a:solidFill>
              <a:srgbClr val="A6A6A6"/>
            </a:solidFill>
            <a:prstDash val="solid"/>
            <a:round/>
            <a:headEnd type="none" w="med" len="med"/>
            <a:tailEnd type="stealth"/>
          </a:ln>
          <a:effectLst/>
        </p:spPr>
      </p:cxnSp>
      <p:grpSp>
        <p:nvGrpSpPr>
          <p:cNvPr id="255" name="Grupp 254"/>
          <p:cNvGrpSpPr/>
          <p:nvPr/>
        </p:nvGrpSpPr>
        <p:grpSpPr>
          <a:xfrm>
            <a:off x="2513507" y="3724111"/>
            <a:ext cx="1294565" cy="131113"/>
            <a:chOff x="2449173" y="3243649"/>
            <a:chExt cx="1294565" cy="131113"/>
          </a:xfrm>
        </p:grpSpPr>
        <p:grpSp>
          <p:nvGrpSpPr>
            <p:cNvPr id="141" name="Grupp 140"/>
            <p:cNvGrpSpPr/>
            <p:nvPr/>
          </p:nvGrpSpPr>
          <p:grpSpPr>
            <a:xfrm>
              <a:off x="2449173" y="3257220"/>
              <a:ext cx="66751" cy="117542"/>
              <a:chOff x="9018096" y="5768908"/>
              <a:chExt cx="66751" cy="117542"/>
            </a:xfrm>
          </p:grpSpPr>
          <p:cxnSp>
            <p:nvCxnSpPr>
              <p:cNvPr id="154" name="Rak pil 18"/>
              <p:cNvCxnSpPr>
                <a:cxnSpLocks noChangeShapeType="1"/>
                <a:endCxn id="155"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Ellips 154"/>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2" name="Grupp 141"/>
            <p:cNvGrpSpPr/>
            <p:nvPr/>
          </p:nvGrpSpPr>
          <p:grpSpPr>
            <a:xfrm>
              <a:off x="2820928" y="3248679"/>
              <a:ext cx="66751" cy="117542"/>
              <a:chOff x="9018096" y="5768908"/>
              <a:chExt cx="66751" cy="117542"/>
            </a:xfrm>
          </p:grpSpPr>
          <p:cxnSp>
            <p:nvCxnSpPr>
              <p:cNvPr id="152" name="Rak pil 18"/>
              <p:cNvCxnSpPr>
                <a:cxnSpLocks noChangeShapeType="1"/>
                <a:endCxn id="153"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Ellips 152"/>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6" name="Grupp 145"/>
            <p:cNvGrpSpPr/>
            <p:nvPr/>
          </p:nvGrpSpPr>
          <p:grpSpPr>
            <a:xfrm>
              <a:off x="2984873" y="3250994"/>
              <a:ext cx="66751" cy="117542"/>
              <a:chOff x="9018096" y="5768908"/>
              <a:chExt cx="66751" cy="117542"/>
            </a:xfrm>
          </p:grpSpPr>
          <p:cxnSp>
            <p:nvCxnSpPr>
              <p:cNvPr id="150" name="Rak pil 18"/>
              <p:cNvCxnSpPr>
                <a:cxnSpLocks noChangeShapeType="1"/>
                <a:endCxn id="15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Ellips 15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47" name="Grupp 146"/>
            <p:cNvGrpSpPr/>
            <p:nvPr/>
          </p:nvGrpSpPr>
          <p:grpSpPr>
            <a:xfrm>
              <a:off x="2625107" y="3253088"/>
              <a:ext cx="66751" cy="117542"/>
              <a:chOff x="9018096" y="5791998"/>
              <a:chExt cx="66751" cy="117542"/>
            </a:xfrm>
          </p:grpSpPr>
          <p:cxnSp>
            <p:nvCxnSpPr>
              <p:cNvPr id="148" name="Rak pil 18"/>
              <p:cNvCxnSpPr>
                <a:cxnSpLocks noChangeShapeType="1"/>
                <a:endCxn id="149"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Ellips 148"/>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7" name="Grupp 156"/>
            <p:cNvGrpSpPr/>
            <p:nvPr/>
          </p:nvGrpSpPr>
          <p:grpSpPr>
            <a:xfrm>
              <a:off x="3141287" y="3252190"/>
              <a:ext cx="66751" cy="117542"/>
              <a:chOff x="9018096" y="5768908"/>
              <a:chExt cx="66751" cy="117542"/>
            </a:xfrm>
          </p:grpSpPr>
          <p:cxnSp>
            <p:nvCxnSpPr>
              <p:cNvPr id="179" name="Rak pil 18"/>
              <p:cNvCxnSpPr>
                <a:cxnSpLocks noChangeShapeType="1"/>
                <a:endCxn id="180"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Ellips 179"/>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8" name="Grupp 157"/>
            <p:cNvGrpSpPr/>
            <p:nvPr/>
          </p:nvGrpSpPr>
          <p:grpSpPr>
            <a:xfrm>
              <a:off x="3513042" y="3243649"/>
              <a:ext cx="66751" cy="117542"/>
              <a:chOff x="9018096" y="5768908"/>
              <a:chExt cx="66751" cy="117542"/>
            </a:xfrm>
          </p:grpSpPr>
          <p:cxnSp>
            <p:nvCxnSpPr>
              <p:cNvPr id="165" name="Rak pil 18"/>
              <p:cNvCxnSpPr>
                <a:cxnSpLocks noChangeShapeType="1"/>
                <a:endCxn id="178"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Ellips 177"/>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9" name="Grupp 158"/>
            <p:cNvGrpSpPr/>
            <p:nvPr/>
          </p:nvGrpSpPr>
          <p:grpSpPr>
            <a:xfrm>
              <a:off x="3676987" y="3245964"/>
              <a:ext cx="66751" cy="117542"/>
              <a:chOff x="9018096" y="5768908"/>
              <a:chExt cx="66751" cy="117542"/>
            </a:xfrm>
          </p:grpSpPr>
          <p:cxnSp>
            <p:nvCxnSpPr>
              <p:cNvPr id="163" name="Rak pil 18"/>
              <p:cNvCxnSpPr>
                <a:cxnSpLocks noChangeShapeType="1"/>
                <a:endCxn id="16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Ellips 16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60" name="Grupp 159"/>
            <p:cNvGrpSpPr/>
            <p:nvPr/>
          </p:nvGrpSpPr>
          <p:grpSpPr>
            <a:xfrm>
              <a:off x="3317221" y="3248058"/>
              <a:ext cx="66751" cy="117542"/>
              <a:chOff x="9018096" y="5791998"/>
              <a:chExt cx="66751" cy="117542"/>
            </a:xfrm>
          </p:grpSpPr>
          <p:cxnSp>
            <p:nvCxnSpPr>
              <p:cNvPr id="161" name="Rak pil 18"/>
              <p:cNvCxnSpPr>
                <a:cxnSpLocks noChangeShapeType="1"/>
                <a:endCxn id="162"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2" name="Ellips 161"/>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191" name="Cylinder 190"/>
          <p:cNvSpPr/>
          <p:nvPr/>
        </p:nvSpPr>
        <p:spPr>
          <a:xfrm>
            <a:off x="6450935" y="4350530"/>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RR</a:t>
            </a:r>
          </a:p>
        </p:txBody>
      </p:sp>
      <p:sp>
        <p:nvSpPr>
          <p:cNvPr id="192" name="Cylinder 191"/>
          <p:cNvSpPr/>
          <p:nvPr/>
        </p:nvSpPr>
        <p:spPr>
          <a:xfrm>
            <a:off x="6441968" y="5033946"/>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LF</a:t>
            </a:r>
          </a:p>
        </p:txBody>
      </p:sp>
      <p:graphicFrame>
        <p:nvGraphicFramePr>
          <p:cNvPr id="10" name="Diagram 9"/>
          <p:cNvGraphicFramePr/>
          <p:nvPr>
            <p:extLst>
              <p:ext uri="{D42A27DB-BD31-4B8C-83A1-F6EECF244321}">
                <p14:modId xmlns:p14="http://schemas.microsoft.com/office/powerpoint/2010/main" val="1315057268"/>
              </p:ext>
            </p:extLst>
          </p:nvPr>
        </p:nvGraphicFramePr>
        <p:xfrm>
          <a:off x="5489825" y="4251240"/>
          <a:ext cx="1155319" cy="123134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47" name="textruta 246"/>
          <p:cNvSpPr txBox="1"/>
          <p:nvPr/>
        </p:nvSpPr>
        <p:spPr>
          <a:xfrm>
            <a:off x="5939672" y="3766074"/>
            <a:ext cx="817927" cy="430887"/>
          </a:xfrm>
          <a:prstGeom prst="rect">
            <a:avLst/>
          </a:prstGeom>
          <a:noFill/>
        </p:spPr>
        <p:txBody>
          <a:bodyPr wrap="square" rtlCol="0">
            <a:spAutoFit/>
          </a:bodyPr>
          <a:lstStyle/>
          <a:p>
            <a:pPr defTabSz="457200" fontAlgn="auto">
              <a:spcBef>
                <a:spcPts val="0"/>
              </a:spcBef>
              <a:spcAft>
                <a:spcPts val="0"/>
              </a:spcAft>
            </a:pPr>
            <a:r>
              <a:rPr lang="sv-SE" sz="1100" i="1" dirty="0">
                <a:solidFill>
                  <a:prstClr val="black"/>
                </a:solidFill>
                <a:latin typeface="Calibri"/>
                <a:cs typeface="Arial" pitchFamily="34" charset="0"/>
              </a:rPr>
              <a:t>E-recept-</a:t>
            </a:r>
            <a:br>
              <a:rPr lang="sv-SE" sz="1100" i="1" dirty="0">
                <a:solidFill>
                  <a:prstClr val="black"/>
                </a:solidFill>
                <a:latin typeface="Calibri"/>
                <a:cs typeface="Arial" pitchFamily="34" charset="0"/>
              </a:rPr>
            </a:br>
            <a:r>
              <a:rPr lang="sv-SE" sz="1100" i="1" dirty="0">
                <a:solidFill>
                  <a:prstClr val="black"/>
                </a:solidFill>
                <a:latin typeface="Calibri"/>
                <a:cs typeface="Arial" pitchFamily="34" charset="0"/>
              </a:rPr>
              <a:t>ingång</a:t>
            </a:r>
          </a:p>
        </p:txBody>
      </p:sp>
      <p:graphicFrame>
        <p:nvGraphicFramePr>
          <p:cNvPr id="38" name="Diagram 37"/>
          <p:cNvGraphicFramePr/>
          <p:nvPr>
            <p:extLst>
              <p:ext uri="{D42A27DB-BD31-4B8C-83A1-F6EECF244321}">
                <p14:modId xmlns:p14="http://schemas.microsoft.com/office/powerpoint/2010/main" val="1203613461"/>
              </p:ext>
            </p:extLst>
          </p:nvPr>
        </p:nvGraphicFramePr>
        <p:xfrm>
          <a:off x="2204982" y="3955561"/>
          <a:ext cx="1898142" cy="1258083"/>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32" name="textruta 331"/>
          <p:cNvSpPr txBox="1"/>
          <p:nvPr/>
        </p:nvSpPr>
        <p:spPr>
          <a:xfrm>
            <a:off x="1321452" y="3588503"/>
            <a:ext cx="1259536" cy="276999"/>
          </a:xfrm>
          <a:prstGeom prst="rect">
            <a:avLst/>
          </a:prstGeom>
          <a:noFill/>
        </p:spPr>
        <p:txBody>
          <a:bodyPr wrap="square" rtlCol="0">
            <a:spAutoFit/>
          </a:bodyPr>
          <a:lstStyle/>
          <a:p>
            <a:pPr defTabSz="457200" fontAlgn="auto">
              <a:spcBef>
                <a:spcPts val="0"/>
              </a:spcBef>
              <a:spcAft>
                <a:spcPts val="0"/>
              </a:spcAft>
            </a:pPr>
            <a:r>
              <a:rPr lang="sv-SE" sz="1200" i="1" dirty="0">
                <a:solidFill>
                  <a:prstClr val="black"/>
                </a:solidFill>
                <a:latin typeface="Calibri"/>
                <a:cs typeface="Arial" pitchFamily="34" charset="0"/>
              </a:rPr>
              <a:t>Tjänstekontrakt</a:t>
            </a:r>
          </a:p>
        </p:txBody>
      </p:sp>
      <p:grpSp>
        <p:nvGrpSpPr>
          <p:cNvPr id="114" name="Grupp 113"/>
          <p:cNvGrpSpPr/>
          <p:nvPr/>
        </p:nvGrpSpPr>
        <p:grpSpPr>
          <a:xfrm>
            <a:off x="5246192" y="1843707"/>
            <a:ext cx="691104" cy="365630"/>
            <a:chOff x="2330674" y="1012742"/>
            <a:chExt cx="691104" cy="365630"/>
          </a:xfrm>
        </p:grpSpPr>
        <p:pic>
          <p:nvPicPr>
            <p:cNvPr id="11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sp>
        <p:nvSpPr>
          <p:cNvPr id="102" name="textruta 101"/>
          <p:cNvSpPr txBox="1"/>
          <p:nvPr/>
        </p:nvSpPr>
        <p:spPr>
          <a:xfrm>
            <a:off x="6312246" y="2486004"/>
            <a:ext cx="1023912" cy="577081"/>
          </a:xfrm>
          <a:prstGeom prst="rect">
            <a:avLst/>
          </a:prstGeom>
          <a:noFill/>
        </p:spPr>
        <p:txBody>
          <a:bodyPr wrap="square" rtlCol="0">
            <a:spAutoFit/>
          </a:bodyPr>
          <a:lstStyle/>
          <a:p>
            <a:pPr defTabSz="457200" fontAlgn="auto">
              <a:spcBef>
                <a:spcPts val="0"/>
              </a:spcBef>
              <a:spcAft>
                <a:spcPts val="0"/>
              </a:spcAft>
            </a:pPr>
            <a:r>
              <a:rPr lang="sv-SE" sz="1050" i="1" dirty="0" smtClean="0">
                <a:solidFill>
                  <a:prstClr val="black"/>
                </a:solidFill>
                <a:latin typeface="Calibri"/>
                <a:cs typeface="Arial" pitchFamily="34" charset="0"/>
              </a:rPr>
              <a:t>System </a:t>
            </a:r>
            <a:r>
              <a:rPr lang="sv-SE" sz="1050" i="1" dirty="0">
                <a:solidFill>
                  <a:prstClr val="black"/>
                </a:solidFill>
                <a:latin typeface="Calibri"/>
                <a:cs typeface="Arial" pitchFamily="34" charset="0"/>
              </a:rPr>
              <a:t>ej </a:t>
            </a:r>
            <a:r>
              <a:rPr lang="sv-SE" sz="1050" i="1" dirty="0" smtClean="0">
                <a:solidFill>
                  <a:prstClr val="black"/>
                </a:solidFill>
                <a:latin typeface="Calibri"/>
                <a:cs typeface="Arial" pitchFamily="34" charset="0"/>
              </a:rPr>
              <a:t>ännu integrerade </a:t>
            </a:r>
            <a:r>
              <a:rPr lang="sv-SE" sz="1050" i="1" dirty="0">
                <a:solidFill>
                  <a:prstClr val="black"/>
                </a:solidFill>
                <a:latin typeface="Calibri"/>
                <a:cs typeface="Arial" pitchFamily="34" charset="0"/>
              </a:rPr>
              <a:t>med NOD</a:t>
            </a:r>
          </a:p>
        </p:txBody>
      </p:sp>
      <p:sp>
        <p:nvSpPr>
          <p:cNvPr id="109" name="Rektangel med rundade hörn 22"/>
          <p:cNvSpPr/>
          <p:nvPr/>
        </p:nvSpPr>
        <p:spPr>
          <a:xfrm>
            <a:off x="5349598" y="2535958"/>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grpSp>
        <p:nvGrpSpPr>
          <p:cNvPr id="28" name="Grupp 27"/>
          <p:cNvGrpSpPr/>
          <p:nvPr/>
        </p:nvGrpSpPr>
        <p:grpSpPr>
          <a:xfrm>
            <a:off x="5509921" y="3188393"/>
            <a:ext cx="1631151" cy="474585"/>
            <a:chOff x="5509921" y="3188393"/>
            <a:chExt cx="1631151" cy="474585"/>
          </a:xfrm>
        </p:grpSpPr>
        <p:sp>
          <p:nvSpPr>
            <p:cNvPr id="75" name="textruta 74"/>
            <p:cNvSpPr txBox="1"/>
            <p:nvPr/>
          </p:nvSpPr>
          <p:spPr>
            <a:xfrm>
              <a:off x="5881156" y="3188394"/>
              <a:ext cx="1259916" cy="415498"/>
            </a:xfrm>
            <a:prstGeom prst="rect">
              <a:avLst/>
            </a:prstGeom>
            <a:noFill/>
          </p:spPr>
          <p:txBody>
            <a:bodyPr wrap="square" rtlCol="0">
              <a:spAutoFit/>
            </a:bodyPr>
            <a:lstStyle/>
            <a:p>
              <a:pPr defTabSz="457200" fontAlgn="auto">
                <a:spcBef>
                  <a:spcPts val="0"/>
                </a:spcBef>
                <a:spcAft>
                  <a:spcPts val="0"/>
                </a:spcAft>
              </a:pPr>
              <a:r>
                <a:rPr lang="sv-SE" sz="1050" dirty="0" smtClean="0">
                  <a:solidFill>
                    <a:srgbClr val="0000FF"/>
                  </a:solidFill>
                  <a:latin typeface="Arial"/>
                  <a:cs typeface="+mn-cs"/>
                </a:rPr>
                <a:t>”Övrig” receptförskrivning</a:t>
              </a:r>
              <a:endParaRPr lang="sv-SE" sz="1050" dirty="0">
                <a:solidFill>
                  <a:srgbClr val="0000FF"/>
                </a:solidFill>
                <a:latin typeface="Arial"/>
                <a:cs typeface="+mn-cs"/>
              </a:endParaRPr>
            </a:p>
          </p:txBody>
        </p:sp>
        <p:sp>
          <p:nvSpPr>
            <p:cNvPr id="79" name="Ned 78"/>
            <p:cNvSpPr/>
            <p:nvPr/>
          </p:nvSpPr>
          <p:spPr bwMode="auto">
            <a:xfrm>
              <a:off x="5509921" y="3188393"/>
              <a:ext cx="325977" cy="474585"/>
            </a:xfrm>
            <a:prstGeom prst="downArrow">
              <a:avLst/>
            </a:prstGeom>
            <a:noFill/>
            <a:ln w="9525" cap="flat" cmpd="sng" algn="ctr">
              <a:solidFill>
                <a:srgbClr val="0000FF"/>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grpSp>
      <p:sp>
        <p:nvSpPr>
          <p:cNvPr id="86" name="Rundad rektangulär 85"/>
          <p:cNvSpPr/>
          <p:nvPr/>
        </p:nvSpPr>
        <p:spPr bwMode="auto">
          <a:xfrm>
            <a:off x="3192488" y="5397793"/>
            <a:ext cx="1477142" cy="819658"/>
          </a:xfrm>
          <a:prstGeom prst="wedgeRoundRectCallout">
            <a:avLst>
              <a:gd name="adj1" fmla="val 51323"/>
              <a:gd name="adj2" fmla="val -102817"/>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457200" fontAlgn="auto">
              <a:spcBef>
                <a:spcPts val="0"/>
              </a:spcBef>
              <a:spcAft>
                <a:spcPts val="0"/>
              </a:spcAft>
            </a:pPr>
            <a:r>
              <a:rPr lang="sv-SE" sz="1050" dirty="0" smtClean="0">
                <a:solidFill>
                  <a:srgbClr val="0000FF"/>
                </a:solidFill>
                <a:latin typeface="Arial"/>
              </a:rPr>
              <a:t>Sekundärt flöde</a:t>
            </a:r>
            <a:br>
              <a:rPr lang="sv-SE" sz="1050" dirty="0" smtClean="0">
                <a:solidFill>
                  <a:srgbClr val="0000FF"/>
                </a:solidFill>
                <a:latin typeface="Arial"/>
              </a:rPr>
            </a:br>
            <a:r>
              <a:rPr lang="sv-SE" sz="1050" dirty="0" smtClean="0">
                <a:solidFill>
                  <a:srgbClr val="0000FF"/>
                </a:solidFill>
                <a:latin typeface="Arial"/>
              </a:rPr>
              <a:t>Dospatient </a:t>
            </a:r>
            <a:r>
              <a:rPr lang="sv-SE" sz="1050" dirty="0">
                <a:solidFill>
                  <a:srgbClr val="0000FF"/>
                </a:solidFill>
                <a:latin typeface="Arial"/>
              </a:rPr>
              <a:t>= OK</a:t>
            </a:r>
            <a:r>
              <a:rPr lang="sv-SE" sz="1050" dirty="0">
                <a:solidFill>
                  <a:srgbClr val="382819"/>
                </a:solidFill>
                <a:latin typeface="Arial"/>
              </a:rPr>
              <a:t/>
            </a:r>
            <a:br>
              <a:rPr lang="sv-SE" sz="1050" dirty="0">
                <a:solidFill>
                  <a:srgbClr val="382819"/>
                </a:solidFill>
                <a:latin typeface="Arial"/>
              </a:rPr>
            </a:br>
            <a:r>
              <a:rPr lang="sv-SE" sz="1050" dirty="0">
                <a:solidFill>
                  <a:srgbClr val="FF0000"/>
                </a:solidFill>
                <a:latin typeface="Arial"/>
              </a:rPr>
              <a:t>Övriga patienter</a:t>
            </a:r>
            <a:br>
              <a:rPr lang="sv-SE" sz="1050" dirty="0">
                <a:solidFill>
                  <a:srgbClr val="FF0000"/>
                </a:solidFill>
                <a:latin typeface="Arial"/>
              </a:rPr>
            </a:br>
            <a:r>
              <a:rPr lang="sv-SE" sz="1050" dirty="0">
                <a:solidFill>
                  <a:srgbClr val="FF0000"/>
                </a:solidFill>
                <a:latin typeface="Arial"/>
              </a:rPr>
              <a:t>kräver </a:t>
            </a:r>
            <a:r>
              <a:rPr lang="sv-SE" sz="1050" dirty="0" smtClean="0">
                <a:solidFill>
                  <a:srgbClr val="FF0000"/>
                </a:solidFill>
                <a:latin typeface="Arial"/>
              </a:rPr>
              <a:t>lagjustering</a:t>
            </a:r>
            <a:endParaRPr lang="sv-SE" sz="1050" dirty="0">
              <a:solidFill>
                <a:srgbClr val="FF0000"/>
              </a:solidFill>
              <a:latin typeface="Arial"/>
            </a:endParaRPr>
          </a:p>
        </p:txBody>
      </p:sp>
      <p:grpSp>
        <p:nvGrpSpPr>
          <p:cNvPr id="27" name="Grupp 26"/>
          <p:cNvGrpSpPr/>
          <p:nvPr/>
        </p:nvGrpSpPr>
        <p:grpSpPr>
          <a:xfrm>
            <a:off x="4267703" y="4310658"/>
            <a:ext cx="1122487" cy="887827"/>
            <a:chOff x="4267703" y="4310658"/>
            <a:chExt cx="1122487" cy="887827"/>
          </a:xfrm>
        </p:grpSpPr>
        <p:cxnSp>
          <p:nvCxnSpPr>
            <p:cNvPr id="80" name="Rak pil 59"/>
            <p:cNvCxnSpPr/>
            <p:nvPr/>
          </p:nvCxnSpPr>
          <p:spPr>
            <a:xfrm flipH="1" flipV="1">
              <a:off x="4624709" y="4531024"/>
              <a:ext cx="373521" cy="36654"/>
            </a:xfrm>
            <a:prstGeom prst="straightConnector1">
              <a:avLst/>
            </a:prstGeom>
            <a:ln w="38100" cmpd="dbl">
              <a:solidFill>
                <a:srgbClr val="0000F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81" name="Rak pil 59"/>
            <p:cNvCxnSpPr/>
            <p:nvPr/>
          </p:nvCxnSpPr>
          <p:spPr>
            <a:xfrm>
              <a:off x="4624022" y="4727991"/>
              <a:ext cx="372306" cy="37671"/>
            </a:xfrm>
            <a:prstGeom prst="straightConnector1">
              <a:avLst/>
            </a:prstGeom>
            <a:ln w="38100" cmpd="dbl">
              <a:solidFill>
                <a:srgbClr val="0000FF"/>
              </a:solidFill>
              <a:prstDash val="sysDash"/>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83" name="textruta 82"/>
            <p:cNvSpPr txBox="1"/>
            <p:nvPr/>
          </p:nvSpPr>
          <p:spPr>
            <a:xfrm>
              <a:off x="4267703" y="4310658"/>
              <a:ext cx="1122487" cy="246221"/>
            </a:xfrm>
            <a:prstGeom prst="rect">
              <a:avLst/>
            </a:prstGeom>
            <a:noFill/>
          </p:spPr>
          <p:txBody>
            <a:bodyPr wrap="square" rtlCol="0">
              <a:spAutoFit/>
            </a:bodyPr>
            <a:lstStyle/>
            <a:p>
              <a:pPr defTabSz="457200" fontAlgn="auto">
                <a:spcBef>
                  <a:spcPts val="0"/>
                </a:spcBef>
                <a:spcAft>
                  <a:spcPts val="0"/>
                </a:spcAft>
              </a:pPr>
              <a:r>
                <a:rPr lang="sv-SE" sz="1000" i="1" dirty="0">
                  <a:solidFill>
                    <a:srgbClr val="0000FF"/>
                  </a:solidFill>
                  <a:latin typeface="Calibri"/>
                  <a:cs typeface="Arial" pitchFamily="34" charset="0"/>
                </a:rPr>
                <a:t>Skicka / Makulera</a:t>
              </a:r>
            </a:p>
          </p:txBody>
        </p:sp>
        <p:sp>
          <p:nvSpPr>
            <p:cNvPr id="87" name="textruta 86"/>
            <p:cNvSpPr txBox="1"/>
            <p:nvPr/>
          </p:nvSpPr>
          <p:spPr>
            <a:xfrm>
              <a:off x="4271266" y="4555689"/>
              <a:ext cx="682512" cy="246221"/>
            </a:xfrm>
            <a:prstGeom prst="rect">
              <a:avLst/>
            </a:prstGeom>
            <a:noFill/>
            <a:ln>
              <a:noFill/>
            </a:ln>
          </p:spPr>
          <p:txBody>
            <a:bodyPr wrap="square" rtlCol="0">
              <a:spAutoFit/>
            </a:bodyPr>
            <a:lstStyle/>
            <a:p>
              <a:pPr defTabSz="457200" fontAlgn="auto">
                <a:spcBef>
                  <a:spcPts val="0"/>
                </a:spcBef>
                <a:spcAft>
                  <a:spcPts val="0"/>
                </a:spcAft>
              </a:pPr>
              <a:r>
                <a:rPr lang="sv-SE" sz="1000" i="1" dirty="0" smtClean="0">
                  <a:solidFill>
                    <a:srgbClr val="0000FF"/>
                  </a:solidFill>
                  <a:latin typeface="Calibri"/>
                  <a:cs typeface="Arial" pitchFamily="34" charset="0"/>
                </a:rPr>
                <a:t>Läsa</a:t>
              </a:r>
              <a:endParaRPr lang="sv-SE" sz="1000" i="1" dirty="0">
                <a:solidFill>
                  <a:srgbClr val="0000FF"/>
                </a:solidFill>
                <a:latin typeface="Calibri"/>
                <a:cs typeface="Arial" pitchFamily="34" charset="0"/>
              </a:endParaRPr>
            </a:p>
          </p:txBody>
        </p:sp>
        <p:sp>
          <p:nvSpPr>
            <p:cNvPr id="88" name="textruta 87"/>
            <p:cNvSpPr txBox="1"/>
            <p:nvPr/>
          </p:nvSpPr>
          <p:spPr>
            <a:xfrm>
              <a:off x="4755322" y="4952264"/>
              <a:ext cx="504662" cy="246221"/>
            </a:xfrm>
            <a:prstGeom prst="rect">
              <a:avLst/>
            </a:prstGeom>
            <a:noFill/>
            <a:ln>
              <a:noFill/>
            </a:ln>
          </p:spPr>
          <p:txBody>
            <a:bodyPr wrap="square" rtlCol="0">
              <a:spAutoFit/>
            </a:bodyPr>
            <a:lstStyle/>
            <a:p>
              <a:pPr defTabSz="457200" fontAlgn="auto">
                <a:spcBef>
                  <a:spcPts val="0"/>
                </a:spcBef>
                <a:spcAft>
                  <a:spcPts val="0"/>
                </a:spcAft>
              </a:pPr>
              <a:r>
                <a:rPr lang="sv-SE" sz="1000" dirty="0" smtClean="0">
                  <a:solidFill>
                    <a:srgbClr val="0000FF"/>
                  </a:solidFill>
                  <a:latin typeface="Calibri"/>
                  <a:cs typeface="Calibri"/>
                </a:rPr>
                <a:t>Läsa</a:t>
              </a:r>
              <a:endParaRPr lang="sv-SE" sz="1000" dirty="0">
                <a:solidFill>
                  <a:srgbClr val="0000FF"/>
                </a:solidFill>
                <a:latin typeface="Calibri"/>
                <a:cs typeface="Calibri"/>
              </a:endParaRPr>
            </a:p>
          </p:txBody>
        </p:sp>
        <p:cxnSp>
          <p:nvCxnSpPr>
            <p:cNvPr id="89" name="Rak pil 59"/>
            <p:cNvCxnSpPr/>
            <p:nvPr/>
          </p:nvCxnSpPr>
          <p:spPr>
            <a:xfrm>
              <a:off x="4624022" y="5130800"/>
              <a:ext cx="445484" cy="52896"/>
            </a:xfrm>
            <a:prstGeom prst="straightConnector1">
              <a:avLst/>
            </a:prstGeom>
            <a:ln w="38100" cmpd="dbl">
              <a:solidFill>
                <a:srgbClr val="0000F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100" name="Ned 99"/>
          <p:cNvSpPr/>
          <p:nvPr/>
        </p:nvSpPr>
        <p:spPr bwMode="auto">
          <a:xfrm>
            <a:off x="5882102" y="4879012"/>
            <a:ext cx="306206" cy="251788"/>
          </a:xfrm>
          <a:prstGeom prst="downArrow">
            <a:avLst/>
          </a:prstGeom>
          <a:solidFill>
            <a:schemeClr val="bg1"/>
          </a:solidFill>
          <a:ln w="9525" cap="flat" cmpd="sng" algn="ctr">
            <a:solidFill>
              <a:srgbClr val="0000FF"/>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01" name="Rundad rektangulär 100"/>
          <p:cNvSpPr/>
          <p:nvPr/>
        </p:nvSpPr>
        <p:spPr bwMode="auto">
          <a:xfrm>
            <a:off x="4293602" y="3813890"/>
            <a:ext cx="966382" cy="283341"/>
          </a:xfrm>
          <a:prstGeom prst="wedgeRoundRectCallout">
            <a:avLst>
              <a:gd name="adj1" fmla="val -16567"/>
              <a:gd name="adj2" fmla="val 134720"/>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457200" fontAlgn="auto">
              <a:spcBef>
                <a:spcPts val="0"/>
              </a:spcBef>
              <a:spcAft>
                <a:spcPts val="0"/>
              </a:spcAft>
            </a:pPr>
            <a:r>
              <a:rPr lang="sv-SE" sz="1050" dirty="0" smtClean="0">
                <a:solidFill>
                  <a:srgbClr val="0000FF"/>
                </a:solidFill>
                <a:latin typeface="Arial"/>
              </a:rPr>
              <a:t>Primärt flöde</a:t>
            </a:r>
            <a:endParaRPr lang="sv-SE" sz="1050" dirty="0">
              <a:solidFill>
                <a:srgbClr val="0000FF"/>
              </a:solidFill>
              <a:latin typeface="Arial"/>
            </a:endParaRPr>
          </a:p>
        </p:txBody>
      </p:sp>
      <p:grpSp>
        <p:nvGrpSpPr>
          <p:cNvPr id="19" name="Grupp 18"/>
          <p:cNvGrpSpPr/>
          <p:nvPr/>
        </p:nvGrpSpPr>
        <p:grpSpPr>
          <a:xfrm>
            <a:off x="3542200" y="3100888"/>
            <a:ext cx="1630932" cy="645659"/>
            <a:chOff x="3542200" y="3100888"/>
            <a:chExt cx="1630932" cy="645659"/>
          </a:xfrm>
        </p:grpSpPr>
        <p:sp>
          <p:nvSpPr>
            <p:cNvPr id="6" name="Vänster-höger 5"/>
            <p:cNvSpPr/>
            <p:nvPr/>
          </p:nvSpPr>
          <p:spPr bwMode="auto">
            <a:xfrm rot="17635053">
              <a:off x="3408623" y="3234465"/>
              <a:ext cx="571772" cy="304618"/>
            </a:xfrm>
            <a:prstGeom prst="leftRightArrow">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03" name="textruta 102"/>
            <p:cNvSpPr txBox="1"/>
            <p:nvPr/>
          </p:nvSpPr>
          <p:spPr>
            <a:xfrm>
              <a:off x="3809589" y="3169466"/>
              <a:ext cx="1363543" cy="577081"/>
            </a:xfrm>
            <a:prstGeom prst="rect">
              <a:avLst/>
            </a:prstGeom>
            <a:noFill/>
          </p:spPr>
          <p:txBody>
            <a:bodyPr wrap="square" rtlCol="0">
              <a:spAutoFit/>
            </a:bodyPr>
            <a:lstStyle/>
            <a:p>
              <a:pPr defTabSz="457200" fontAlgn="auto">
                <a:spcBef>
                  <a:spcPts val="0"/>
                </a:spcBef>
                <a:spcAft>
                  <a:spcPts val="0"/>
                </a:spcAft>
              </a:pPr>
              <a:r>
                <a:rPr lang="sv-SE" sz="1050" dirty="0" smtClean="0">
                  <a:solidFill>
                    <a:srgbClr val="0000FF"/>
                  </a:solidFill>
                  <a:latin typeface="Arial"/>
                  <a:cs typeface="+mn-cs"/>
                </a:rPr>
                <a:t>Receptförskrivning</a:t>
              </a:r>
            </a:p>
            <a:p>
              <a:pPr defTabSz="457200" fontAlgn="auto">
                <a:spcBef>
                  <a:spcPts val="0"/>
                </a:spcBef>
                <a:spcAft>
                  <a:spcPts val="0"/>
                </a:spcAft>
              </a:pPr>
              <a:r>
                <a:rPr lang="sv-SE" sz="1050" dirty="0" smtClean="0">
                  <a:solidFill>
                    <a:srgbClr val="0000FF"/>
                  </a:solidFill>
                  <a:latin typeface="Arial"/>
                  <a:cs typeface="+mn-cs"/>
                </a:rPr>
                <a:t>Integrerat journalsystem</a:t>
              </a:r>
              <a:endParaRPr lang="sv-SE" sz="1050" dirty="0">
                <a:solidFill>
                  <a:srgbClr val="0000FF"/>
                </a:solidFill>
                <a:latin typeface="Arial"/>
                <a:cs typeface="+mn-cs"/>
              </a:endParaRPr>
            </a:p>
          </p:txBody>
        </p:sp>
      </p:grpSp>
      <p:sp>
        <p:nvSpPr>
          <p:cNvPr id="106" name="textruta 105"/>
          <p:cNvSpPr txBox="1"/>
          <p:nvPr/>
        </p:nvSpPr>
        <p:spPr>
          <a:xfrm>
            <a:off x="4786781" y="174900"/>
            <a:ext cx="3944668" cy="144655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defTabSz="457200" fontAlgn="auto">
              <a:spcBef>
                <a:spcPts val="0"/>
              </a:spcBef>
              <a:spcAft>
                <a:spcPts val="0"/>
              </a:spcAft>
            </a:pPr>
            <a:r>
              <a:rPr lang="sv-SE" sz="1100" dirty="0">
                <a:solidFill>
                  <a:srgbClr val="0000FF"/>
                </a:solidFill>
                <a:latin typeface="Arial"/>
              </a:rPr>
              <a:t>För </a:t>
            </a:r>
            <a:r>
              <a:rPr lang="sv-SE" sz="1100" b="1" dirty="0">
                <a:solidFill>
                  <a:srgbClr val="0000FF"/>
                </a:solidFill>
                <a:latin typeface="Arial"/>
              </a:rPr>
              <a:t>dospatienter</a:t>
            </a:r>
          </a:p>
          <a:p>
            <a:pPr marL="171450" indent="-171450">
              <a:buFont typeface="Arial"/>
              <a:buChar char="•"/>
            </a:pPr>
            <a:r>
              <a:rPr lang="sv-SE" sz="1100" dirty="0">
                <a:solidFill>
                  <a:srgbClr val="0000FF"/>
                </a:solidFill>
                <a:latin typeface="Arial"/>
              </a:rPr>
              <a:t>Full </a:t>
            </a:r>
            <a:r>
              <a:rPr lang="sv-SE" sz="1100" dirty="0" smtClean="0">
                <a:solidFill>
                  <a:srgbClr val="0000FF"/>
                </a:solidFill>
                <a:latin typeface="Arial"/>
              </a:rPr>
              <a:t>historik, samlad läkemedelslista </a:t>
            </a:r>
            <a:r>
              <a:rPr lang="sv-SE" sz="1100" dirty="0">
                <a:solidFill>
                  <a:srgbClr val="0000FF"/>
                </a:solidFill>
                <a:latin typeface="Arial"/>
              </a:rPr>
              <a:t>från </a:t>
            </a:r>
            <a:r>
              <a:rPr lang="sv-SE" sz="1100" dirty="0" smtClean="0">
                <a:solidFill>
                  <a:srgbClr val="0000FF"/>
                </a:solidFill>
                <a:latin typeface="Arial"/>
              </a:rPr>
              <a:t>första anslutna system</a:t>
            </a:r>
          </a:p>
          <a:p>
            <a:pPr marL="171450" indent="-171450">
              <a:buFont typeface="Arial"/>
              <a:buChar char="•"/>
            </a:pPr>
            <a:r>
              <a:rPr lang="sv-SE" sz="1100" dirty="0">
                <a:solidFill>
                  <a:srgbClr val="0000FF"/>
                </a:solidFill>
              </a:rPr>
              <a:t>Alla </a:t>
            </a:r>
            <a:r>
              <a:rPr lang="sv-SE" sz="1100" dirty="0" smtClean="0">
                <a:solidFill>
                  <a:srgbClr val="0000FF"/>
                </a:solidFill>
              </a:rPr>
              <a:t>uthämtade läkemedel och generikautbyten </a:t>
            </a:r>
            <a:br>
              <a:rPr lang="sv-SE" sz="1100" dirty="0" smtClean="0">
                <a:solidFill>
                  <a:srgbClr val="0000FF"/>
                </a:solidFill>
              </a:rPr>
            </a:br>
            <a:endParaRPr lang="sv-SE" sz="1100" dirty="0" smtClean="0">
              <a:solidFill>
                <a:srgbClr val="0000FF"/>
              </a:solidFill>
            </a:endParaRPr>
          </a:p>
          <a:p>
            <a:r>
              <a:rPr lang="sv-SE" sz="1100" dirty="0" smtClean="0">
                <a:solidFill>
                  <a:srgbClr val="0000FF"/>
                </a:solidFill>
                <a:latin typeface="Arial"/>
              </a:rPr>
              <a:t>För </a:t>
            </a:r>
            <a:r>
              <a:rPr lang="sv-SE" sz="1100" b="1" dirty="0">
                <a:solidFill>
                  <a:srgbClr val="0000FF"/>
                </a:solidFill>
                <a:latin typeface="Arial"/>
              </a:rPr>
              <a:t>övriga patienter </a:t>
            </a:r>
          </a:p>
          <a:p>
            <a:pPr marL="171450" indent="-171450">
              <a:buFont typeface="Arial"/>
              <a:buChar char="•"/>
            </a:pPr>
            <a:r>
              <a:rPr lang="sv-SE" sz="1100" dirty="0" smtClean="0">
                <a:solidFill>
                  <a:srgbClr val="0000FF"/>
                </a:solidFill>
                <a:latin typeface="Arial"/>
              </a:rPr>
              <a:t>Historiken byggs upp i NOD från första anslutna system</a:t>
            </a:r>
            <a:endParaRPr lang="sv-SE" sz="1100" dirty="0">
              <a:solidFill>
                <a:srgbClr val="0000FF"/>
              </a:solidFill>
              <a:latin typeface="Arial"/>
            </a:endParaRPr>
          </a:p>
          <a:p>
            <a:pPr marL="171450" indent="-171450">
              <a:buFont typeface="Arial"/>
              <a:buChar char="•"/>
            </a:pPr>
            <a:r>
              <a:rPr lang="sv-SE" sz="1100" dirty="0" smtClean="0">
                <a:solidFill>
                  <a:srgbClr val="0000FF"/>
                </a:solidFill>
              </a:rPr>
              <a:t>Alla </a:t>
            </a:r>
            <a:r>
              <a:rPr lang="sv-SE" sz="1100" dirty="0">
                <a:solidFill>
                  <a:srgbClr val="0000FF"/>
                </a:solidFill>
              </a:rPr>
              <a:t>uthämtade läkemedel </a:t>
            </a:r>
            <a:r>
              <a:rPr lang="sv-SE" sz="1100" dirty="0" smtClean="0">
                <a:solidFill>
                  <a:srgbClr val="0000FF"/>
                </a:solidFill>
              </a:rPr>
              <a:t>och generikautbyten</a:t>
            </a:r>
            <a:endParaRPr lang="sv-SE" sz="1100" dirty="0">
              <a:solidFill>
                <a:srgbClr val="0000FF"/>
              </a:solidFill>
              <a:latin typeface="Arial"/>
            </a:endParaRPr>
          </a:p>
        </p:txBody>
      </p:sp>
      <p:sp>
        <p:nvSpPr>
          <p:cNvPr id="108" name="Rubrik 1"/>
          <p:cNvSpPr txBox="1">
            <a:spLocks/>
          </p:cNvSpPr>
          <p:nvPr/>
        </p:nvSpPr>
        <p:spPr bwMode="auto">
          <a:xfrm>
            <a:off x="1428650" y="885105"/>
            <a:ext cx="2923895" cy="432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b" anchorCtr="0" compatLnSpc="1">
            <a:prstTxWarp prst="textNoShape">
              <a:avLst/>
            </a:prstTxWarp>
          </a:bodyPr>
          <a:lstStyle>
            <a:lvl1pPr algn="l" defTabSz="957263" rtl="0" fontAlgn="base">
              <a:spcBef>
                <a:spcPct val="0"/>
              </a:spcBef>
              <a:spcAft>
                <a:spcPct val="0"/>
              </a:spcAft>
              <a:defRPr sz="2900" b="1">
                <a:solidFill>
                  <a:srgbClr val="00A9A7"/>
                </a:solidFill>
                <a:latin typeface="+mj-lt"/>
                <a:ea typeface="+mj-ea"/>
                <a:cs typeface="+mj-cs"/>
              </a:defRPr>
            </a:lvl1pPr>
            <a:lvl2pPr algn="l" defTabSz="957263" rtl="0" fontAlgn="base">
              <a:spcBef>
                <a:spcPct val="0"/>
              </a:spcBef>
              <a:spcAft>
                <a:spcPct val="0"/>
              </a:spcAft>
              <a:defRPr sz="2900" b="1">
                <a:solidFill>
                  <a:srgbClr val="00A9A7"/>
                </a:solidFill>
                <a:latin typeface="Arial" charset="0"/>
              </a:defRPr>
            </a:lvl2pPr>
            <a:lvl3pPr algn="l" defTabSz="957263" rtl="0" fontAlgn="base">
              <a:spcBef>
                <a:spcPct val="0"/>
              </a:spcBef>
              <a:spcAft>
                <a:spcPct val="0"/>
              </a:spcAft>
              <a:defRPr sz="2900" b="1">
                <a:solidFill>
                  <a:srgbClr val="00A9A7"/>
                </a:solidFill>
                <a:latin typeface="Arial" charset="0"/>
              </a:defRPr>
            </a:lvl3pPr>
            <a:lvl4pPr algn="l" defTabSz="957263" rtl="0" fontAlgn="base">
              <a:spcBef>
                <a:spcPct val="0"/>
              </a:spcBef>
              <a:spcAft>
                <a:spcPct val="0"/>
              </a:spcAft>
              <a:defRPr sz="2900" b="1">
                <a:solidFill>
                  <a:srgbClr val="00A9A7"/>
                </a:solidFill>
                <a:latin typeface="Arial" charset="0"/>
              </a:defRPr>
            </a:lvl4pPr>
            <a:lvl5pPr algn="l" defTabSz="957263" rtl="0" fontAlgn="base">
              <a:spcBef>
                <a:spcPct val="0"/>
              </a:spcBef>
              <a:spcAft>
                <a:spcPct val="0"/>
              </a:spcAft>
              <a:defRPr sz="2900" b="1">
                <a:solidFill>
                  <a:srgbClr val="00A9A7"/>
                </a:solidFill>
                <a:latin typeface="Arial" charset="0"/>
              </a:defRPr>
            </a:lvl5pPr>
            <a:lvl6pPr marL="457200" algn="l" defTabSz="957263" rtl="0" fontAlgn="base">
              <a:spcBef>
                <a:spcPct val="0"/>
              </a:spcBef>
              <a:spcAft>
                <a:spcPct val="0"/>
              </a:spcAft>
              <a:defRPr sz="2900" b="1">
                <a:solidFill>
                  <a:srgbClr val="00A9A7"/>
                </a:solidFill>
                <a:latin typeface="Arial" charset="0"/>
              </a:defRPr>
            </a:lvl6pPr>
            <a:lvl7pPr marL="914400" algn="l" defTabSz="957263" rtl="0" fontAlgn="base">
              <a:spcBef>
                <a:spcPct val="0"/>
              </a:spcBef>
              <a:spcAft>
                <a:spcPct val="0"/>
              </a:spcAft>
              <a:defRPr sz="2900" b="1">
                <a:solidFill>
                  <a:srgbClr val="00A9A7"/>
                </a:solidFill>
                <a:latin typeface="Arial" charset="0"/>
              </a:defRPr>
            </a:lvl7pPr>
            <a:lvl8pPr marL="1371600" algn="l" defTabSz="957263" rtl="0" fontAlgn="base">
              <a:spcBef>
                <a:spcPct val="0"/>
              </a:spcBef>
              <a:spcAft>
                <a:spcPct val="0"/>
              </a:spcAft>
              <a:defRPr sz="2900" b="1">
                <a:solidFill>
                  <a:srgbClr val="00A9A7"/>
                </a:solidFill>
                <a:latin typeface="Arial" charset="0"/>
              </a:defRPr>
            </a:lvl8pPr>
            <a:lvl9pPr marL="1828800" algn="l" defTabSz="957263" rtl="0" fontAlgn="base">
              <a:spcBef>
                <a:spcPct val="0"/>
              </a:spcBef>
              <a:spcAft>
                <a:spcPct val="0"/>
              </a:spcAft>
              <a:defRPr sz="2900" b="1">
                <a:solidFill>
                  <a:srgbClr val="00A9A7"/>
                </a:solidFill>
                <a:latin typeface="Arial" charset="0"/>
              </a:defRPr>
            </a:lvl9pPr>
          </a:lstStyle>
          <a:p>
            <a:r>
              <a:rPr lang="sv-SE" sz="1600" i="1" dirty="0" smtClean="0">
                <a:latin typeface="Arial"/>
              </a:rPr>
              <a:t>- Förskrivningsflödet</a:t>
            </a:r>
            <a:endParaRPr lang="sv-SE" sz="1200" b="0" i="1" dirty="0">
              <a:latin typeface="Arial"/>
            </a:endParaRPr>
          </a:p>
        </p:txBody>
      </p:sp>
      <p:grpSp>
        <p:nvGrpSpPr>
          <p:cNvPr id="18" name="Grupp 17"/>
          <p:cNvGrpSpPr/>
          <p:nvPr/>
        </p:nvGrpSpPr>
        <p:grpSpPr>
          <a:xfrm>
            <a:off x="5203365" y="3142435"/>
            <a:ext cx="3300079" cy="944082"/>
            <a:chOff x="5203365" y="3142435"/>
            <a:chExt cx="3300079" cy="944082"/>
          </a:xfrm>
        </p:grpSpPr>
        <p:sp>
          <p:nvSpPr>
            <p:cNvPr id="113" name="Rundad rektangulär 112"/>
            <p:cNvSpPr/>
            <p:nvPr/>
          </p:nvSpPr>
          <p:spPr bwMode="auto">
            <a:xfrm>
              <a:off x="7097221" y="3445631"/>
              <a:ext cx="1406223" cy="640886"/>
            </a:xfrm>
            <a:prstGeom prst="wedgeRoundRectCallout">
              <a:avLst>
                <a:gd name="adj1" fmla="val -82722"/>
                <a:gd name="adj2" fmla="val -31556"/>
                <a:gd name="adj3" fmla="val 16667"/>
              </a:avLst>
            </a:prstGeom>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457200" fontAlgn="auto">
                <a:spcBef>
                  <a:spcPts val="0"/>
                </a:spcBef>
                <a:spcAft>
                  <a:spcPts val="0"/>
                </a:spcAft>
              </a:pPr>
              <a:r>
                <a:rPr lang="sv-SE" sz="1050" b="1" i="1" dirty="0" smtClean="0">
                  <a:solidFill>
                    <a:srgbClr val="0000FF"/>
                  </a:solidFill>
                  <a:latin typeface="Arial"/>
                </a:rPr>
                <a:t>Kan man styra över flödet till NOD istället?</a:t>
              </a:r>
              <a:endParaRPr lang="sv-SE" sz="1050" b="1" i="1" dirty="0">
                <a:solidFill>
                  <a:srgbClr val="0000FF"/>
                </a:solidFill>
                <a:latin typeface="Arial"/>
              </a:endParaRPr>
            </a:p>
          </p:txBody>
        </p:sp>
        <p:sp>
          <p:nvSpPr>
            <p:cNvPr id="117" name="Ellips 116"/>
            <p:cNvSpPr/>
            <p:nvPr/>
          </p:nvSpPr>
          <p:spPr bwMode="auto">
            <a:xfrm>
              <a:off x="5203365" y="3142435"/>
              <a:ext cx="1483113" cy="581676"/>
            </a:xfrm>
            <a:prstGeom prst="ellipse">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dirty="0">
                <a:solidFill>
                  <a:srgbClr val="382819"/>
                </a:solidFill>
                <a:cs typeface="+mn-cs"/>
              </a:endParaRPr>
            </a:p>
          </p:txBody>
        </p:sp>
      </p:grpSp>
      <p:sp>
        <p:nvSpPr>
          <p:cNvPr id="90" name="Rundad rektangulär 89"/>
          <p:cNvSpPr/>
          <p:nvPr/>
        </p:nvSpPr>
        <p:spPr bwMode="auto">
          <a:xfrm>
            <a:off x="4774136" y="5756434"/>
            <a:ext cx="1403248" cy="640886"/>
          </a:xfrm>
          <a:prstGeom prst="wedgeRoundRectCallout">
            <a:avLst>
              <a:gd name="adj1" fmla="val -40113"/>
              <a:gd name="adj2" fmla="val -123141"/>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fontAlgn="auto">
              <a:spcBef>
                <a:spcPts val="0"/>
              </a:spcBef>
              <a:spcAft>
                <a:spcPts val="0"/>
              </a:spcAft>
            </a:pPr>
            <a:r>
              <a:rPr lang="sv-SE" sz="1050" i="1" dirty="0" smtClean="0">
                <a:solidFill>
                  <a:srgbClr val="0000FF"/>
                </a:solidFill>
                <a:latin typeface="Arial"/>
                <a:cs typeface="Arial"/>
              </a:rPr>
              <a:t>Alla expedierade läkemedel, kopplat till förskrivningen</a:t>
            </a:r>
            <a:endParaRPr lang="sv-SE" sz="1050" b="1" i="1" dirty="0">
              <a:solidFill>
                <a:srgbClr val="0000FF"/>
              </a:solidFill>
              <a:latin typeface="Arial"/>
              <a:cs typeface="Arial"/>
            </a:endParaRPr>
          </a:p>
        </p:txBody>
      </p:sp>
    </p:spTree>
    <p:extLst>
      <p:ext uri="{BB962C8B-B14F-4D97-AF65-F5344CB8AC3E}">
        <p14:creationId xmlns:p14="http://schemas.microsoft.com/office/powerpoint/2010/main" val="259154536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100" grpId="0" animBg="1"/>
      <p:bldP spid="101" grpId="0" animBg="1"/>
      <p:bldP spid="106" grpId="0" animBg="1"/>
      <p:bldP spid="9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ktangel med rundade hörn 22"/>
          <p:cNvSpPr/>
          <p:nvPr/>
        </p:nvSpPr>
        <p:spPr>
          <a:xfrm>
            <a:off x="3414955" y="240828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sp>
        <p:nvSpPr>
          <p:cNvPr id="125" name="Rektangel med rundade hörn 22"/>
          <p:cNvSpPr/>
          <p:nvPr/>
        </p:nvSpPr>
        <p:spPr>
          <a:xfrm>
            <a:off x="3357595" y="246324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grpSp>
        <p:nvGrpSpPr>
          <p:cNvPr id="24" name="Grupp 23"/>
          <p:cNvGrpSpPr/>
          <p:nvPr/>
        </p:nvGrpSpPr>
        <p:grpSpPr>
          <a:xfrm>
            <a:off x="3661441" y="1843707"/>
            <a:ext cx="691104" cy="365630"/>
            <a:chOff x="2330674" y="1012742"/>
            <a:chExt cx="691104" cy="365630"/>
          </a:xfrm>
        </p:grpSpPr>
        <p:pic>
          <p:nvPicPr>
            <p:cNvPr id="2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25" name="Rak pil 6"/>
          <p:cNvCxnSpPr>
            <a:stCxn id="26" idx="2"/>
            <a:endCxn id="212" idx="0"/>
          </p:cNvCxnSpPr>
          <p:nvPr/>
        </p:nvCxnSpPr>
        <p:spPr bwMode="auto">
          <a:xfrm rot="5400000">
            <a:off x="3895042" y="2245355"/>
            <a:ext cx="311380" cy="239345"/>
          </a:xfrm>
          <a:prstGeom prst="curvedConnector3">
            <a:avLst>
              <a:gd name="adj1" fmla="val 50000"/>
            </a:avLst>
          </a:prstGeom>
          <a:noFill/>
          <a:ln w="12700" cap="flat" cmpd="sng" algn="ctr">
            <a:solidFill>
              <a:srgbClr val="A6A6A6"/>
            </a:solidFill>
            <a:prstDash val="solid"/>
            <a:round/>
            <a:headEnd type="none" w="med" len="med"/>
            <a:tailEnd type="stealth"/>
          </a:ln>
          <a:effectLst/>
        </p:spPr>
      </p:cxnSp>
      <p:sp>
        <p:nvSpPr>
          <p:cNvPr id="212" name="Rektangel med rundade hörn 22"/>
          <p:cNvSpPr/>
          <p:nvPr/>
        </p:nvSpPr>
        <p:spPr>
          <a:xfrm>
            <a:off x="3296469" y="2520717"/>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Journal /</a:t>
            </a:r>
            <a:br>
              <a:rPr lang="sv-SE" sz="900"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Läkemedel</a:t>
            </a:r>
            <a:br>
              <a:rPr lang="sv-SE" sz="900" i="1"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(Vård, Tandvård, Omsorg)</a:t>
            </a:r>
            <a:endParaRPr lang="sv-SE" sz="900" dirty="0">
              <a:solidFill>
                <a:srgbClr val="382819"/>
              </a:solidFill>
              <a:latin typeface="Arial" charset="0"/>
              <a:ea typeface="ＭＳ Ｐゴシック" charset="0"/>
              <a:cs typeface="ＭＳ Ｐゴシック" charset="0"/>
            </a:endParaRPr>
          </a:p>
        </p:txBody>
      </p:sp>
      <p:sp>
        <p:nvSpPr>
          <p:cNvPr id="123" name="textruta 122"/>
          <p:cNvSpPr txBox="1"/>
          <p:nvPr/>
        </p:nvSpPr>
        <p:spPr>
          <a:xfrm>
            <a:off x="2637602" y="3195818"/>
            <a:ext cx="934940" cy="400110"/>
          </a:xfrm>
          <a:prstGeom prst="rect">
            <a:avLst/>
          </a:prstGeom>
          <a:noFill/>
        </p:spPr>
        <p:txBody>
          <a:bodyPr wrap="square" rtlCol="0">
            <a:spAutoFit/>
          </a:bodyPr>
          <a:lstStyle/>
          <a:p>
            <a:pPr defTabSz="457200" fontAlgn="auto">
              <a:spcBef>
                <a:spcPts val="0"/>
              </a:spcBef>
              <a:spcAft>
                <a:spcPts val="0"/>
              </a:spcAft>
            </a:pPr>
            <a:r>
              <a:rPr lang="sv-SE" sz="1000" i="1" dirty="0" smtClean="0">
                <a:solidFill>
                  <a:srgbClr val="0000FF"/>
                </a:solidFill>
                <a:latin typeface="Calibri"/>
                <a:cs typeface="Arial" pitchFamily="34" charset="0"/>
              </a:rPr>
              <a:t>Registrera / </a:t>
            </a:r>
            <a:r>
              <a:rPr lang="sv-SE" sz="1000" i="1" dirty="0">
                <a:solidFill>
                  <a:srgbClr val="0000FF"/>
                </a:solidFill>
                <a:latin typeface="Calibri"/>
                <a:cs typeface="Arial" pitchFamily="34" charset="0"/>
              </a:rPr>
              <a:t>Makulera</a:t>
            </a:r>
          </a:p>
        </p:txBody>
      </p:sp>
      <p:sp>
        <p:nvSpPr>
          <p:cNvPr id="60" name="Ned 59"/>
          <p:cNvSpPr/>
          <p:nvPr/>
        </p:nvSpPr>
        <p:spPr bwMode="auto">
          <a:xfrm rot="979391">
            <a:off x="3632664" y="3094123"/>
            <a:ext cx="325977" cy="474585"/>
          </a:xfrm>
          <a:prstGeom prst="downArrow">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93" name="Rektangel med rundade hörn 192"/>
          <p:cNvSpPr/>
          <p:nvPr/>
        </p:nvSpPr>
        <p:spPr>
          <a:xfrm rot="16200000">
            <a:off x="5463236" y="4122373"/>
            <a:ext cx="1412313" cy="1506173"/>
          </a:xfrm>
          <a:prstGeom prst="roundRect">
            <a:avLst>
              <a:gd name="adj" fmla="val 4658"/>
            </a:avLst>
          </a:prstGeom>
          <a:ln w="19050" cmpd="sng">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5" name="Rektangel med rundade hörn 184"/>
          <p:cNvSpPr/>
          <p:nvPr/>
        </p:nvSpPr>
        <p:spPr>
          <a:xfrm rot="16200000">
            <a:off x="2410751" y="3575209"/>
            <a:ext cx="1537918" cy="2107249"/>
          </a:xfrm>
          <a:prstGeom prst="roundRect">
            <a:avLst>
              <a:gd name="adj" fmla="val 4658"/>
            </a:avLst>
          </a:prstGeom>
          <a:solidFill>
            <a:schemeClr val="accent1"/>
          </a:solidFill>
          <a:ln>
            <a:solidFill>
              <a:srgbClr val="00A9A7"/>
            </a:solidFill>
            <a:tailEnd type="triangle" w="lg" len="lg"/>
          </a:ln>
        </p:spPr>
        <p:style>
          <a:lnRef idx="2">
            <a:schemeClr val="accent1"/>
          </a:lnRef>
          <a:fillRef idx="1">
            <a:schemeClr val="lt1"/>
          </a:fillRef>
          <a:effectRef idx="0">
            <a:schemeClr val="accent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1" name="Cylinder 180"/>
          <p:cNvSpPr/>
          <p:nvPr/>
        </p:nvSpPr>
        <p:spPr>
          <a:xfrm>
            <a:off x="1860653" y="5033829"/>
            <a:ext cx="652853" cy="454096"/>
          </a:xfrm>
          <a:prstGeom prst="can">
            <a:avLst/>
          </a:prstGeom>
          <a:ln>
            <a:headEnd type="none"/>
            <a:tailEnd type="none" w="lg" len="lg"/>
          </a:ln>
        </p:spPr>
        <p:style>
          <a:lnRef idx="2">
            <a:schemeClr val="accent1">
              <a:shade val="50000"/>
            </a:schemeClr>
          </a:lnRef>
          <a:fillRef idx="1">
            <a:schemeClr val="accent1"/>
          </a:fillRef>
          <a:effectRef idx="0">
            <a:schemeClr val="accent1"/>
          </a:effectRef>
          <a:fontRef idx="minor">
            <a:schemeClr val="lt1"/>
          </a:fontRef>
        </p:style>
        <p:txBody>
          <a:bodyPr lIns="72000" rIns="72000" anchor="ctr"/>
          <a:lstStyle/>
          <a:p>
            <a:pPr algn="ctr"/>
            <a:r>
              <a:rPr lang="sv-SE" sz="900" dirty="0">
                <a:solidFill>
                  <a:srgbClr val="382819"/>
                </a:solidFill>
                <a:latin typeface="Arial"/>
                <a:ea typeface="ＭＳ Ｐゴシック" pitchFamily="-112" charset="-128"/>
                <a:cs typeface="ＭＳ Ｐゴシック" pitchFamily="-112" charset="-128"/>
              </a:rPr>
              <a:t>NOD</a:t>
            </a:r>
          </a:p>
        </p:txBody>
      </p:sp>
      <p:sp>
        <p:nvSpPr>
          <p:cNvPr id="2" name="Rubrik 1"/>
          <p:cNvSpPr>
            <a:spLocks noGrp="1"/>
          </p:cNvSpPr>
          <p:nvPr>
            <p:ph type="title"/>
          </p:nvPr>
        </p:nvSpPr>
        <p:spPr>
          <a:xfrm>
            <a:off x="1410939" y="201914"/>
            <a:ext cx="6752583" cy="873354"/>
          </a:xfrm>
        </p:spPr>
        <p:txBody>
          <a:bodyPr/>
          <a:lstStyle/>
          <a:p>
            <a:r>
              <a:rPr lang="sv-SE" sz="1600" i="1" dirty="0" smtClean="0"/>
              <a:t>Förberedande steg </a:t>
            </a:r>
            <a:r>
              <a:rPr lang="sv-SE" sz="1600" b="0" i="1" dirty="0" smtClean="0"/>
              <a:t>: </a:t>
            </a:r>
            <a:r>
              <a:rPr lang="sv-SE" sz="1600" b="0" i="1" dirty="0"/>
              <a:t>Implementera </a:t>
            </a:r>
            <a:r>
              <a:rPr lang="sv-SE" sz="1600" b="0" i="1" dirty="0" smtClean="0"/>
              <a:t>tjänstekontrakten </a:t>
            </a:r>
            <a:r>
              <a:rPr lang="sv-SE" sz="1600" b="0" i="1" dirty="0"/>
              <a:t>för att skicka och makulera förskrivningar </a:t>
            </a:r>
            <a:r>
              <a:rPr lang="sv-SE" sz="1600" b="0" i="1" dirty="0" smtClean="0"/>
              <a:t>via NOD</a:t>
            </a:r>
            <a:endParaRPr lang="sv-SE" sz="1200" b="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11</a:t>
            </a:fld>
            <a:endParaRPr lang="sv-SE">
              <a:latin typeface="Arial"/>
            </a:endParaRPr>
          </a:p>
        </p:txBody>
      </p:sp>
      <p:sp>
        <p:nvSpPr>
          <p:cNvPr id="85" name="textruta 84"/>
          <p:cNvSpPr txBox="1"/>
          <p:nvPr/>
        </p:nvSpPr>
        <p:spPr>
          <a:xfrm>
            <a:off x="7495521" y="4414032"/>
            <a:ext cx="854378" cy="369332"/>
          </a:xfrm>
          <a:prstGeom prst="rect">
            <a:avLst/>
          </a:prstGeom>
          <a:noFill/>
        </p:spPr>
        <p:txBody>
          <a:bodyPr wrap="square" rtlCol="0">
            <a:spAutoFit/>
          </a:bodyPr>
          <a:lstStyle/>
          <a:p>
            <a:pPr defTabSz="457200" fontAlgn="auto">
              <a:spcBef>
                <a:spcPts val="0"/>
              </a:spcBef>
              <a:spcAft>
                <a:spcPts val="0"/>
              </a:spcAft>
            </a:pPr>
            <a:r>
              <a:rPr lang="sv-SE" sz="900" i="1" dirty="0">
                <a:solidFill>
                  <a:prstClr val="black"/>
                </a:solidFill>
                <a:latin typeface="Calibri"/>
                <a:cs typeface="Arial" pitchFamily="34" charset="0"/>
              </a:rPr>
              <a:t>farmaceut</a:t>
            </a:r>
          </a:p>
          <a:p>
            <a:pPr defTabSz="457200" fontAlgn="auto">
              <a:spcBef>
                <a:spcPts val="0"/>
              </a:spcBef>
              <a:spcAft>
                <a:spcPts val="0"/>
              </a:spcAft>
            </a:pPr>
            <a:r>
              <a:rPr lang="sv-SE" sz="900" i="1" dirty="0">
                <a:solidFill>
                  <a:prstClr val="black"/>
                </a:solidFill>
                <a:latin typeface="Calibri"/>
                <a:cs typeface="Arial" pitchFamily="34" charset="0"/>
              </a:rPr>
              <a:t>på apotek</a:t>
            </a:r>
          </a:p>
        </p:txBody>
      </p:sp>
      <p:pic>
        <p:nvPicPr>
          <p:cNvPr id="93" name="Picture 5" descr="C:\Users\svrlwi\AppData\Local\Microsoft\Windows\Temporary Internet Files\Content.IE5\33SAVMNN\MC900433943[1].png"/>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41072" y="4528748"/>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96" name="Dokument 95"/>
          <p:cNvSpPr/>
          <p:nvPr/>
        </p:nvSpPr>
        <p:spPr bwMode="auto">
          <a:xfrm>
            <a:off x="7336158" y="4976424"/>
            <a:ext cx="827364" cy="289351"/>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a:solidFill>
                  <a:srgbClr val="382819"/>
                </a:solidFill>
                <a:latin typeface="Arial Narrow"/>
                <a:cs typeface="Arial Narrow"/>
              </a:rPr>
              <a:t>Aktuella recept</a:t>
            </a:r>
          </a:p>
        </p:txBody>
      </p:sp>
      <p:grpSp>
        <p:nvGrpSpPr>
          <p:cNvPr id="283" name="Grupp 282"/>
          <p:cNvGrpSpPr/>
          <p:nvPr/>
        </p:nvGrpSpPr>
        <p:grpSpPr>
          <a:xfrm>
            <a:off x="5410434" y="3755254"/>
            <a:ext cx="571816" cy="401353"/>
            <a:chOff x="5727223" y="2708561"/>
            <a:chExt cx="571816" cy="401353"/>
          </a:xfrm>
        </p:grpSpPr>
        <p:sp>
          <p:nvSpPr>
            <p:cNvPr id="112" name="Rektangel med rundade hörn 111"/>
            <p:cNvSpPr/>
            <p:nvPr/>
          </p:nvSpPr>
          <p:spPr>
            <a:xfrm>
              <a:off x="5727223" y="2826103"/>
              <a:ext cx="571816" cy="283811"/>
            </a:xfrm>
            <a:prstGeom prst="roundRect">
              <a:avLst>
                <a:gd name="adj" fmla="val 9033"/>
              </a:avLst>
            </a:prstGeom>
            <a:ln/>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pPr>
              <a:r>
                <a:rPr lang="sv-SE" sz="1050" kern="0" dirty="0">
                  <a:solidFill>
                    <a:srgbClr val="382819"/>
                  </a:solidFill>
                  <a:latin typeface="Calibri"/>
                  <a:cs typeface="Calibri"/>
                </a:rPr>
                <a:t>PIRR</a:t>
              </a:r>
            </a:p>
          </p:txBody>
        </p:sp>
        <p:grpSp>
          <p:nvGrpSpPr>
            <p:cNvPr id="226" name="Grupp 225"/>
            <p:cNvGrpSpPr/>
            <p:nvPr/>
          </p:nvGrpSpPr>
          <p:grpSpPr>
            <a:xfrm>
              <a:off x="5956324" y="2708561"/>
              <a:ext cx="66751" cy="117542"/>
              <a:chOff x="9018096" y="5768908"/>
              <a:chExt cx="66751" cy="117542"/>
            </a:xfrm>
          </p:grpSpPr>
          <p:cxnSp>
            <p:nvCxnSpPr>
              <p:cNvPr id="230" name="Rak pil 18"/>
              <p:cNvCxnSpPr>
                <a:cxnSpLocks noChangeShapeType="1"/>
                <a:endCxn id="23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1" name="Ellips 23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285" name="Rektangel med rundade hörn 22"/>
          <p:cNvSpPr/>
          <p:nvPr/>
        </p:nvSpPr>
        <p:spPr>
          <a:xfrm>
            <a:off x="5461800" y="2427836"/>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Fristående</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Verktyg</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”Produkt X”</a:t>
            </a:r>
            <a:endParaRPr lang="sv-SE" sz="900" i="1" dirty="0">
              <a:solidFill>
                <a:srgbClr val="382819"/>
              </a:solidFill>
              <a:latin typeface="Arial" charset="0"/>
              <a:ea typeface="ＭＳ Ｐゴシック" charset="0"/>
              <a:cs typeface="ＭＳ Ｐゴシック" charset="0"/>
            </a:endParaRPr>
          </a:p>
        </p:txBody>
      </p:sp>
      <p:sp>
        <p:nvSpPr>
          <p:cNvPr id="293" name="Rektangel med rundade hörn 22"/>
          <p:cNvSpPr/>
          <p:nvPr/>
        </p:nvSpPr>
        <p:spPr>
          <a:xfrm>
            <a:off x="5405512" y="2481105"/>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cxnSp>
        <p:nvCxnSpPr>
          <p:cNvPr id="319" name="Rak pil 6"/>
          <p:cNvCxnSpPr>
            <a:stCxn id="116" idx="2"/>
            <a:endCxn id="285" idx="0"/>
          </p:cNvCxnSpPr>
          <p:nvPr/>
        </p:nvCxnSpPr>
        <p:spPr bwMode="auto">
          <a:xfrm rot="16200000" flipH="1">
            <a:off x="5708906" y="2255586"/>
            <a:ext cx="218499" cy="126000"/>
          </a:xfrm>
          <a:prstGeom prst="curvedConnector3">
            <a:avLst>
              <a:gd name="adj1" fmla="val 50000"/>
            </a:avLst>
          </a:prstGeom>
          <a:noFill/>
          <a:ln w="12700" cap="flat" cmpd="sng" algn="ctr">
            <a:solidFill>
              <a:srgbClr val="A6A6A6"/>
            </a:solidFill>
            <a:prstDash val="solid"/>
            <a:round/>
            <a:headEnd type="none" w="med" len="med"/>
            <a:tailEnd type="stealth"/>
          </a:ln>
          <a:effectLst/>
        </p:spPr>
      </p:cxnSp>
      <p:grpSp>
        <p:nvGrpSpPr>
          <p:cNvPr id="158" name="Grupp 157"/>
          <p:cNvGrpSpPr/>
          <p:nvPr/>
        </p:nvGrpSpPr>
        <p:grpSpPr>
          <a:xfrm>
            <a:off x="3577376" y="3724111"/>
            <a:ext cx="66751" cy="117542"/>
            <a:chOff x="9018096" y="5768908"/>
            <a:chExt cx="66751" cy="117542"/>
          </a:xfrm>
        </p:grpSpPr>
        <p:cxnSp>
          <p:nvCxnSpPr>
            <p:cNvPr id="165" name="Rak pil 18"/>
            <p:cNvCxnSpPr>
              <a:cxnSpLocks noChangeShapeType="1"/>
              <a:endCxn id="178"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Ellips 177"/>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59" name="Grupp 158"/>
          <p:cNvGrpSpPr/>
          <p:nvPr/>
        </p:nvGrpSpPr>
        <p:grpSpPr>
          <a:xfrm>
            <a:off x="3741321" y="3726426"/>
            <a:ext cx="66751" cy="117542"/>
            <a:chOff x="9018096" y="5768908"/>
            <a:chExt cx="66751" cy="117542"/>
          </a:xfrm>
        </p:grpSpPr>
        <p:cxnSp>
          <p:nvCxnSpPr>
            <p:cNvPr id="163" name="Rak pil 18"/>
            <p:cNvCxnSpPr>
              <a:cxnSpLocks noChangeShapeType="1"/>
              <a:endCxn id="16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Ellips 16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sp>
        <p:nvSpPr>
          <p:cNvPr id="191" name="Cylinder 190"/>
          <p:cNvSpPr/>
          <p:nvPr/>
        </p:nvSpPr>
        <p:spPr>
          <a:xfrm>
            <a:off x="6450935" y="4350530"/>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RR</a:t>
            </a:r>
          </a:p>
        </p:txBody>
      </p:sp>
      <p:sp>
        <p:nvSpPr>
          <p:cNvPr id="192" name="Cylinder 191"/>
          <p:cNvSpPr/>
          <p:nvPr/>
        </p:nvSpPr>
        <p:spPr>
          <a:xfrm>
            <a:off x="6441968" y="5033946"/>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LF</a:t>
            </a:r>
          </a:p>
        </p:txBody>
      </p:sp>
      <p:graphicFrame>
        <p:nvGraphicFramePr>
          <p:cNvPr id="10" name="Diagram 9"/>
          <p:cNvGraphicFramePr/>
          <p:nvPr>
            <p:extLst>
              <p:ext uri="{D42A27DB-BD31-4B8C-83A1-F6EECF244321}">
                <p14:modId xmlns:p14="http://schemas.microsoft.com/office/powerpoint/2010/main" val="2924399240"/>
              </p:ext>
            </p:extLst>
          </p:nvPr>
        </p:nvGraphicFramePr>
        <p:xfrm>
          <a:off x="5489825" y="4251240"/>
          <a:ext cx="1155319" cy="123134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47" name="textruta 246"/>
          <p:cNvSpPr txBox="1"/>
          <p:nvPr/>
        </p:nvSpPr>
        <p:spPr>
          <a:xfrm>
            <a:off x="5939672" y="3766074"/>
            <a:ext cx="817927" cy="430887"/>
          </a:xfrm>
          <a:prstGeom prst="rect">
            <a:avLst/>
          </a:prstGeom>
          <a:noFill/>
        </p:spPr>
        <p:txBody>
          <a:bodyPr wrap="square" rtlCol="0">
            <a:spAutoFit/>
          </a:bodyPr>
          <a:lstStyle/>
          <a:p>
            <a:pPr defTabSz="457200" fontAlgn="auto">
              <a:spcBef>
                <a:spcPts val="0"/>
              </a:spcBef>
              <a:spcAft>
                <a:spcPts val="0"/>
              </a:spcAft>
            </a:pPr>
            <a:r>
              <a:rPr lang="sv-SE" sz="1100" i="1" dirty="0">
                <a:solidFill>
                  <a:prstClr val="black"/>
                </a:solidFill>
                <a:latin typeface="Calibri"/>
                <a:cs typeface="Arial" pitchFamily="34" charset="0"/>
              </a:rPr>
              <a:t>E-recept-</a:t>
            </a:r>
            <a:br>
              <a:rPr lang="sv-SE" sz="1100" i="1" dirty="0">
                <a:solidFill>
                  <a:prstClr val="black"/>
                </a:solidFill>
                <a:latin typeface="Calibri"/>
                <a:cs typeface="Arial" pitchFamily="34" charset="0"/>
              </a:rPr>
            </a:br>
            <a:r>
              <a:rPr lang="sv-SE" sz="1100" i="1" dirty="0">
                <a:solidFill>
                  <a:prstClr val="black"/>
                </a:solidFill>
                <a:latin typeface="Calibri"/>
                <a:cs typeface="Arial" pitchFamily="34" charset="0"/>
              </a:rPr>
              <a:t>ingång</a:t>
            </a:r>
          </a:p>
        </p:txBody>
      </p:sp>
      <p:graphicFrame>
        <p:nvGraphicFramePr>
          <p:cNvPr id="38" name="Diagram 37"/>
          <p:cNvGraphicFramePr/>
          <p:nvPr>
            <p:extLst>
              <p:ext uri="{D42A27DB-BD31-4B8C-83A1-F6EECF244321}">
                <p14:modId xmlns:p14="http://schemas.microsoft.com/office/powerpoint/2010/main" val="2417193843"/>
              </p:ext>
            </p:extLst>
          </p:nvPr>
        </p:nvGraphicFramePr>
        <p:xfrm>
          <a:off x="2204982" y="3955561"/>
          <a:ext cx="1898142" cy="1258083"/>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32" name="textruta 331"/>
          <p:cNvSpPr txBox="1"/>
          <p:nvPr/>
        </p:nvSpPr>
        <p:spPr>
          <a:xfrm>
            <a:off x="1321452" y="3588503"/>
            <a:ext cx="1259536" cy="276999"/>
          </a:xfrm>
          <a:prstGeom prst="rect">
            <a:avLst/>
          </a:prstGeom>
          <a:noFill/>
        </p:spPr>
        <p:txBody>
          <a:bodyPr wrap="square" rtlCol="0">
            <a:spAutoFit/>
          </a:bodyPr>
          <a:lstStyle/>
          <a:p>
            <a:pPr defTabSz="457200" fontAlgn="auto">
              <a:spcBef>
                <a:spcPts val="0"/>
              </a:spcBef>
              <a:spcAft>
                <a:spcPts val="0"/>
              </a:spcAft>
            </a:pPr>
            <a:r>
              <a:rPr lang="sv-SE" sz="1200" i="1" dirty="0">
                <a:solidFill>
                  <a:prstClr val="black"/>
                </a:solidFill>
                <a:latin typeface="Calibri"/>
                <a:cs typeface="Arial" pitchFamily="34" charset="0"/>
              </a:rPr>
              <a:t>Tjänstekontrakt</a:t>
            </a:r>
          </a:p>
        </p:txBody>
      </p:sp>
      <p:grpSp>
        <p:nvGrpSpPr>
          <p:cNvPr id="114" name="Grupp 113"/>
          <p:cNvGrpSpPr/>
          <p:nvPr/>
        </p:nvGrpSpPr>
        <p:grpSpPr>
          <a:xfrm>
            <a:off x="5246192" y="1843707"/>
            <a:ext cx="691104" cy="365630"/>
            <a:chOff x="2330674" y="1012742"/>
            <a:chExt cx="691104" cy="365630"/>
          </a:xfrm>
        </p:grpSpPr>
        <p:pic>
          <p:nvPicPr>
            <p:cNvPr id="11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sp>
        <p:nvSpPr>
          <p:cNvPr id="109" name="Rektangel med rundade hörn 22"/>
          <p:cNvSpPr/>
          <p:nvPr/>
        </p:nvSpPr>
        <p:spPr>
          <a:xfrm>
            <a:off x="5349598" y="2535958"/>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cxnSp>
        <p:nvCxnSpPr>
          <p:cNvPr id="80" name="Rak pil 59"/>
          <p:cNvCxnSpPr/>
          <p:nvPr/>
        </p:nvCxnSpPr>
        <p:spPr>
          <a:xfrm flipH="1" flipV="1">
            <a:off x="4624709" y="4531024"/>
            <a:ext cx="373521" cy="36654"/>
          </a:xfrm>
          <a:prstGeom prst="straightConnector1">
            <a:avLst/>
          </a:prstGeom>
          <a:ln w="38100" cmpd="dbl">
            <a:solidFill>
              <a:srgbClr val="0000F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83" name="textruta 82"/>
          <p:cNvSpPr txBox="1"/>
          <p:nvPr/>
        </p:nvSpPr>
        <p:spPr>
          <a:xfrm>
            <a:off x="4267703" y="4310658"/>
            <a:ext cx="1122487" cy="246221"/>
          </a:xfrm>
          <a:prstGeom prst="rect">
            <a:avLst/>
          </a:prstGeom>
          <a:noFill/>
        </p:spPr>
        <p:txBody>
          <a:bodyPr wrap="square" rtlCol="0">
            <a:spAutoFit/>
          </a:bodyPr>
          <a:lstStyle/>
          <a:p>
            <a:pPr defTabSz="457200" fontAlgn="auto">
              <a:spcBef>
                <a:spcPts val="0"/>
              </a:spcBef>
              <a:spcAft>
                <a:spcPts val="0"/>
              </a:spcAft>
            </a:pPr>
            <a:r>
              <a:rPr lang="sv-SE" sz="1000" i="1" dirty="0">
                <a:solidFill>
                  <a:srgbClr val="0000FF"/>
                </a:solidFill>
                <a:latin typeface="Calibri"/>
                <a:cs typeface="Arial" pitchFamily="34" charset="0"/>
              </a:rPr>
              <a:t>Skicka / Makulera</a:t>
            </a:r>
          </a:p>
        </p:txBody>
      </p:sp>
      <p:sp>
        <p:nvSpPr>
          <p:cNvPr id="90" name="textruta 89"/>
          <p:cNvSpPr txBox="1"/>
          <p:nvPr/>
        </p:nvSpPr>
        <p:spPr>
          <a:xfrm>
            <a:off x="6271606" y="2540487"/>
            <a:ext cx="1348394" cy="577081"/>
          </a:xfrm>
          <a:prstGeom prst="rect">
            <a:avLst/>
          </a:prstGeom>
          <a:noFill/>
        </p:spPr>
        <p:txBody>
          <a:bodyPr wrap="square" rtlCol="0">
            <a:spAutoFit/>
          </a:bodyPr>
          <a:lstStyle/>
          <a:p>
            <a:pPr defTabSz="457200" fontAlgn="auto">
              <a:spcBef>
                <a:spcPts val="0"/>
              </a:spcBef>
              <a:spcAft>
                <a:spcPts val="0"/>
              </a:spcAft>
            </a:pPr>
            <a:r>
              <a:rPr lang="sv-SE" sz="1050" i="1" dirty="0" smtClean="0">
                <a:solidFill>
                  <a:prstClr val="black"/>
                </a:solidFill>
                <a:latin typeface="Calibri"/>
                <a:cs typeface="Arial" pitchFamily="34" charset="0"/>
              </a:rPr>
              <a:t>T ex fristående förskrivningsverktyg, mindre journalsystem</a:t>
            </a:r>
            <a:endParaRPr lang="sv-SE" sz="1050" i="1" dirty="0">
              <a:solidFill>
                <a:prstClr val="black"/>
              </a:solidFill>
              <a:latin typeface="Calibri"/>
              <a:cs typeface="Arial" pitchFamily="34" charset="0"/>
            </a:endParaRPr>
          </a:p>
        </p:txBody>
      </p:sp>
      <p:sp>
        <p:nvSpPr>
          <p:cNvPr id="99" name="Ned 98"/>
          <p:cNvSpPr/>
          <p:nvPr/>
        </p:nvSpPr>
        <p:spPr bwMode="auto">
          <a:xfrm>
            <a:off x="5509921" y="3188393"/>
            <a:ext cx="325977" cy="474585"/>
          </a:xfrm>
          <a:prstGeom prst="downArrow">
            <a:avLst/>
          </a:prstGeom>
          <a:noFill/>
          <a:ln w="9525" cap="flat" cmpd="sng" algn="ctr">
            <a:solidFill>
              <a:schemeClr val="bg1">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grpSp>
        <p:nvGrpSpPr>
          <p:cNvPr id="19" name="Grupp 18"/>
          <p:cNvGrpSpPr/>
          <p:nvPr/>
        </p:nvGrpSpPr>
        <p:grpSpPr>
          <a:xfrm>
            <a:off x="5530959" y="3197629"/>
            <a:ext cx="304939" cy="367607"/>
            <a:chOff x="7031219" y="3326025"/>
            <a:chExt cx="304939" cy="367607"/>
          </a:xfrm>
        </p:grpSpPr>
        <p:cxnSp>
          <p:nvCxnSpPr>
            <p:cNvPr id="14" name="Rak 13"/>
            <p:cNvCxnSpPr/>
            <p:nvPr/>
          </p:nvCxnSpPr>
          <p:spPr bwMode="auto">
            <a:xfrm>
              <a:off x="7031219" y="3372196"/>
              <a:ext cx="304939" cy="3011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Rak 109"/>
            <p:cNvCxnSpPr/>
            <p:nvPr/>
          </p:nvCxnSpPr>
          <p:spPr bwMode="auto">
            <a:xfrm flipV="1">
              <a:off x="7064719" y="3326025"/>
              <a:ext cx="261279" cy="3676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1" name="textruta 110"/>
          <p:cNvSpPr txBox="1"/>
          <p:nvPr/>
        </p:nvSpPr>
        <p:spPr>
          <a:xfrm>
            <a:off x="412504" y="1490027"/>
            <a:ext cx="2182623" cy="16158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defTabSz="457200" fontAlgn="auto">
              <a:spcBef>
                <a:spcPts val="0"/>
              </a:spcBef>
              <a:spcAft>
                <a:spcPts val="0"/>
              </a:spcAft>
              <a:buFont typeface="Arial"/>
              <a:buChar char="•"/>
            </a:pPr>
            <a:r>
              <a:rPr lang="sv-SE" sz="1100" dirty="0">
                <a:solidFill>
                  <a:srgbClr val="0000FF"/>
                </a:solidFill>
                <a:latin typeface="Arial"/>
              </a:rPr>
              <a:t>T</a:t>
            </a:r>
            <a:r>
              <a:rPr lang="sv-SE" sz="1100" dirty="0" smtClean="0">
                <a:solidFill>
                  <a:srgbClr val="0000FF"/>
                </a:solidFill>
                <a:latin typeface="Arial"/>
              </a:rPr>
              <a:t>jänstekontrakt </a:t>
            </a:r>
            <a:r>
              <a:rPr lang="sv-SE" sz="1100" dirty="0">
                <a:solidFill>
                  <a:srgbClr val="0000FF"/>
                </a:solidFill>
                <a:latin typeface="Arial"/>
              </a:rPr>
              <a:t>för att </a:t>
            </a:r>
            <a:r>
              <a:rPr lang="sv-SE" sz="1100" b="1" dirty="0" smtClean="0">
                <a:solidFill>
                  <a:srgbClr val="0000FF"/>
                </a:solidFill>
                <a:latin typeface="Arial"/>
              </a:rPr>
              <a:t>registrera &amp; makulera förskrivning</a:t>
            </a:r>
            <a:r>
              <a:rPr lang="sv-SE" sz="1100" b="1" dirty="0">
                <a:solidFill>
                  <a:srgbClr val="0000FF"/>
                </a:solidFill>
                <a:latin typeface="Arial"/>
              </a:rPr>
              <a:t> </a:t>
            </a:r>
            <a:r>
              <a:rPr lang="sv-SE" sz="1100" dirty="0" smtClean="0">
                <a:solidFill>
                  <a:srgbClr val="0000FF"/>
                </a:solidFill>
                <a:latin typeface="Arial"/>
              </a:rPr>
              <a:t>- </a:t>
            </a:r>
            <a:r>
              <a:rPr lang="sv-SE" sz="1100" dirty="0">
                <a:solidFill>
                  <a:srgbClr val="0000FF"/>
                </a:solidFill>
                <a:latin typeface="Arial"/>
              </a:rPr>
              <a:t>b</a:t>
            </a:r>
            <a:r>
              <a:rPr lang="sv-SE" sz="1100" dirty="0" smtClean="0">
                <a:solidFill>
                  <a:srgbClr val="0000FF"/>
                </a:solidFill>
                <a:latin typeface="Arial"/>
              </a:rPr>
              <a:t>ygger </a:t>
            </a:r>
            <a:r>
              <a:rPr lang="sv-SE" sz="1100" dirty="0">
                <a:solidFill>
                  <a:srgbClr val="0000FF"/>
                </a:solidFill>
                <a:latin typeface="Arial"/>
              </a:rPr>
              <a:t>upp historiken i NOD på det </a:t>
            </a:r>
            <a:r>
              <a:rPr lang="sv-SE" sz="1100" dirty="0" smtClean="0">
                <a:solidFill>
                  <a:srgbClr val="0000FF"/>
                </a:solidFill>
                <a:latin typeface="Arial"/>
              </a:rPr>
              <a:t>som förskrivs</a:t>
            </a:r>
          </a:p>
          <a:p>
            <a:pPr marL="171450" indent="-171450" defTabSz="457200" fontAlgn="auto">
              <a:spcBef>
                <a:spcPts val="0"/>
              </a:spcBef>
              <a:spcAft>
                <a:spcPts val="0"/>
              </a:spcAft>
              <a:buFont typeface="Arial"/>
              <a:buChar char="•"/>
            </a:pPr>
            <a:r>
              <a:rPr lang="sv-SE" sz="1100" dirty="0" smtClean="0">
                <a:solidFill>
                  <a:srgbClr val="0000FF"/>
                </a:solidFill>
                <a:latin typeface="Arial"/>
              </a:rPr>
              <a:t>Förskrivaren kan i detta steg ges möjlighet att makulera receptet direkt i vårdsystemet = högre patientsäkerhet</a:t>
            </a:r>
            <a:endParaRPr lang="sv-SE" sz="1100" dirty="0">
              <a:solidFill>
                <a:srgbClr val="0000FF"/>
              </a:solidFill>
              <a:latin typeface="Arial"/>
            </a:endParaRPr>
          </a:p>
        </p:txBody>
      </p:sp>
      <p:sp>
        <p:nvSpPr>
          <p:cNvPr id="120" name="Rektangel 119"/>
          <p:cNvSpPr/>
          <p:nvPr/>
        </p:nvSpPr>
        <p:spPr bwMode="auto">
          <a:xfrm>
            <a:off x="2151074" y="3872796"/>
            <a:ext cx="2033163" cy="497698"/>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defTabSz="957263"/>
            <a:endParaRPr lang="sv-SE">
              <a:solidFill>
                <a:srgbClr val="382819"/>
              </a:solidFill>
              <a:cs typeface="+mn-cs"/>
            </a:endParaRPr>
          </a:p>
        </p:txBody>
      </p:sp>
      <p:sp>
        <p:nvSpPr>
          <p:cNvPr id="121" name="Rektangel 120"/>
          <p:cNvSpPr/>
          <p:nvPr/>
        </p:nvSpPr>
        <p:spPr bwMode="auto">
          <a:xfrm>
            <a:off x="2519261" y="4795044"/>
            <a:ext cx="1685296" cy="448117"/>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noAutofit/>
          </a:bodyPr>
          <a:lstStyle/>
          <a:p>
            <a:pPr defTabSz="957263"/>
            <a:endParaRPr lang="sv-SE">
              <a:solidFill>
                <a:srgbClr val="382819"/>
              </a:solidFill>
              <a:cs typeface="+mn-cs"/>
            </a:endParaRPr>
          </a:p>
        </p:txBody>
      </p:sp>
      <p:sp>
        <p:nvSpPr>
          <p:cNvPr id="122" name="textruta 121"/>
          <p:cNvSpPr txBox="1"/>
          <p:nvPr/>
        </p:nvSpPr>
        <p:spPr>
          <a:xfrm>
            <a:off x="6441969" y="1483291"/>
            <a:ext cx="2540106" cy="76944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defTabSz="457200" fontAlgn="auto">
              <a:spcBef>
                <a:spcPts val="0"/>
              </a:spcBef>
              <a:spcAft>
                <a:spcPts val="0"/>
              </a:spcAft>
              <a:buFont typeface="Arial"/>
              <a:buChar char="•"/>
            </a:pPr>
            <a:r>
              <a:rPr lang="sv-SE" sz="1100" dirty="0">
                <a:solidFill>
                  <a:srgbClr val="0000FF"/>
                </a:solidFill>
                <a:latin typeface="Arial"/>
              </a:rPr>
              <a:t>Samordna anslutning i region/landsting</a:t>
            </a:r>
          </a:p>
          <a:p>
            <a:pPr marL="171450" indent="-171450" defTabSz="457200" fontAlgn="auto">
              <a:spcBef>
                <a:spcPts val="0"/>
              </a:spcBef>
              <a:spcAft>
                <a:spcPts val="0"/>
              </a:spcAft>
              <a:buFont typeface="Arial"/>
              <a:buChar char="•"/>
            </a:pPr>
            <a:r>
              <a:rPr lang="sv-SE" sz="1100" dirty="0" smtClean="0">
                <a:solidFill>
                  <a:srgbClr val="0000FF"/>
                </a:solidFill>
                <a:latin typeface="Arial"/>
              </a:rPr>
              <a:t>Ett första steg mot </a:t>
            </a:r>
            <a:r>
              <a:rPr lang="sv-SE" sz="1100" dirty="0">
                <a:solidFill>
                  <a:srgbClr val="0000FF"/>
                </a:solidFill>
                <a:latin typeface="Arial"/>
              </a:rPr>
              <a:t>full anslutning</a:t>
            </a:r>
          </a:p>
          <a:p>
            <a:pPr marL="171450" indent="-171450" defTabSz="457200" fontAlgn="auto">
              <a:spcBef>
                <a:spcPts val="0"/>
              </a:spcBef>
              <a:spcAft>
                <a:spcPts val="0"/>
              </a:spcAft>
              <a:buFont typeface="Arial"/>
              <a:buChar char="•"/>
            </a:pPr>
            <a:r>
              <a:rPr lang="sv-SE" sz="1100" dirty="0">
                <a:solidFill>
                  <a:srgbClr val="0000FF"/>
                </a:solidFill>
                <a:latin typeface="Arial"/>
              </a:rPr>
              <a:t>PUB-avtal för NOD vid integration</a:t>
            </a:r>
          </a:p>
        </p:txBody>
      </p:sp>
      <p:sp>
        <p:nvSpPr>
          <p:cNvPr id="124" name="Rundad rektangulär 123"/>
          <p:cNvSpPr/>
          <p:nvPr/>
        </p:nvSpPr>
        <p:spPr bwMode="auto">
          <a:xfrm>
            <a:off x="2567273" y="5033829"/>
            <a:ext cx="1940835" cy="640886"/>
          </a:xfrm>
          <a:prstGeom prst="wedgeRoundRectCallout">
            <a:avLst>
              <a:gd name="adj1" fmla="val -31612"/>
              <a:gd name="adj2" fmla="val -76712"/>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fontAlgn="auto">
              <a:spcBef>
                <a:spcPts val="0"/>
              </a:spcBef>
              <a:spcAft>
                <a:spcPts val="0"/>
              </a:spcAft>
            </a:pPr>
            <a:r>
              <a:rPr lang="sv-SE" sz="1050" dirty="0" smtClean="0">
                <a:solidFill>
                  <a:srgbClr val="0000FF"/>
                </a:solidFill>
                <a:latin typeface="Arial"/>
                <a:cs typeface="Arial"/>
              </a:rPr>
              <a:t>Lagras i </a:t>
            </a:r>
            <a:r>
              <a:rPr lang="sv-SE" sz="1050" dirty="0">
                <a:solidFill>
                  <a:srgbClr val="0000FF"/>
                </a:solidFill>
                <a:latin typeface="Arial"/>
                <a:cs typeface="Arial"/>
              </a:rPr>
              <a:t>NOD. Vårdgivaren är personuppgiftsansvarig.</a:t>
            </a:r>
            <a:br>
              <a:rPr lang="sv-SE" sz="1050" dirty="0">
                <a:solidFill>
                  <a:srgbClr val="0000FF"/>
                </a:solidFill>
                <a:latin typeface="Arial"/>
                <a:cs typeface="Arial"/>
              </a:rPr>
            </a:br>
            <a:r>
              <a:rPr lang="sv-SE" sz="1050" b="1" dirty="0">
                <a:solidFill>
                  <a:srgbClr val="0000FF"/>
                </a:solidFill>
                <a:latin typeface="Arial"/>
                <a:cs typeface="Arial"/>
              </a:rPr>
              <a:t>Patientdatalagen</a:t>
            </a:r>
            <a:r>
              <a:rPr lang="sv-SE" sz="1050" dirty="0">
                <a:solidFill>
                  <a:srgbClr val="0000FF"/>
                </a:solidFill>
                <a:latin typeface="Arial"/>
                <a:cs typeface="Arial"/>
              </a:rPr>
              <a:t> </a:t>
            </a:r>
            <a:r>
              <a:rPr lang="sv-SE" sz="1050" dirty="0" smtClean="0">
                <a:solidFill>
                  <a:srgbClr val="0000FF"/>
                </a:solidFill>
                <a:latin typeface="Arial"/>
                <a:cs typeface="Arial"/>
              </a:rPr>
              <a:t>gäller.</a:t>
            </a:r>
            <a:endParaRPr lang="sv-SE" sz="1050" dirty="0">
              <a:solidFill>
                <a:srgbClr val="0000FF"/>
              </a:solidFill>
              <a:latin typeface="Arial"/>
              <a:cs typeface="Arial"/>
            </a:endParaRPr>
          </a:p>
        </p:txBody>
      </p:sp>
      <p:sp>
        <p:nvSpPr>
          <p:cNvPr id="118" name="Ellips 117"/>
          <p:cNvSpPr/>
          <p:nvPr/>
        </p:nvSpPr>
        <p:spPr bwMode="auto">
          <a:xfrm>
            <a:off x="3296469" y="3579552"/>
            <a:ext cx="806655" cy="356964"/>
          </a:xfrm>
          <a:prstGeom prst="ellipse">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noAutofit/>
          </a:bodyPr>
          <a:lstStyle/>
          <a:p>
            <a:pPr defTabSz="957263"/>
            <a:endParaRPr lang="sv-SE" dirty="0">
              <a:solidFill>
                <a:srgbClr val="382819"/>
              </a:solidFill>
              <a:cs typeface="+mn-cs"/>
            </a:endParaRPr>
          </a:p>
        </p:txBody>
      </p:sp>
      <p:sp>
        <p:nvSpPr>
          <p:cNvPr id="58" name="Ned 57"/>
          <p:cNvSpPr/>
          <p:nvPr/>
        </p:nvSpPr>
        <p:spPr bwMode="auto">
          <a:xfrm rot="3608824">
            <a:off x="4632057" y="3142736"/>
            <a:ext cx="325977" cy="474585"/>
          </a:xfrm>
          <a:prstGeom prst="downArrow">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59" name="textruta 58"/>
          <p:cNvSpPr txBox="1"/>
          <p:nvPr/>
        </p:nvSpPr>
        <p:spPr>
          <a:xfrm>
            <a:off x="4339313" y="3550306"/>
            <a:ext cx="1122487" cy="400110"/>
          </a:xfrm>
          <a:prstGeom prst="rect">
            <a:avLst/>
          </a:prstGeom>
          <a:noFill/>
        </p:spPr>
        <p:txBody>
          <a:bodyPr wrap="square" rtlCol="0">
            <a:spAutoFit/>
          </a:bodyPr>
          <a:lstStyle/>
          <a:p>
            <a:r>
              <a:rPr lang="sv-SE" sz="1000" i="1" dirty="0">
                <a:solidFill>
                  <a:srgbClr val="0000FF"/>
                </a:solidFill>
                <a:latin typeface="Calibri"/>
                <a:cs typeface="Arial" pitchFamily="34" charset="0"/>
              </a:rPr>
              <a:t>Registrera / Makulera</a:t>
            </a:r>
          </a:p>
        </p:txBody>
      </p:sp>
    </p:spTree>
    <p:extLst>
      <p:ext uri="{BB962C8B-B14F-4D97-AF65-F5344CB8AC3E}">
        <p14:creationId xmlns:p14="http://schemas.microsoft.com/office/powerpoint/2010/main" val="671544911"/>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22" grpId="0" animBg="1"/>
      <p:bldP spid="1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ktangel med rundade hörn 22"/>
          <p:cNvSpPr/>
          <p:nvPr/>
        </p:nvSpPr>
        <p:spPr>
          <a:xfrm>
            <a:off x="3414955" y="240828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sp>
        <p:nvSpPr>
          <p:cNvPr id="125" name="Rektangel med rundade hörn 22"/>
          <p:cNvSpPr/>
          <p:nvPr/>
        </p:nvSpPr>
        <p:spPr>
          <a:xfrm>
            <a:off x="3357595" y="2463249"/>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dirty="0">
              <a:solidFill>
                <a:srgbClr val="382819"/>
              </a:solidFill>
              <a:latin typeface="Arial" charset="0"/>
              <a:ea typeface="ＭＳ Ｐゴシック" charset="0"/>
              <a:cs typeface="ＭＳ Ｐゴシック" charset="0"/>
            </a:endParaRPr>
          </a:p>
        </p:txBody>
      </p:sp>
      <p:grpSp>
        <p:nvGrpSpPr>
          <p:cNvPr id="24" name="Grupp 23"/>
          <p:cNvGrpSpPr/>
          <p:nvPr/>
        </p:nvGrpSpPr>
        <p:grpSpPr>
          <a:xfrm>
            <a:off x="3661441" y="1843707"/>
            <a:ext cx="691104" cy="365630"/>
            <a:chOff x="2330674" y="1012742"/>
            <a:chExt cx="691104" cy="365630"/>
          </a:xfrm>
        </p:grpSpPr>
        <p:pic>
          <p:nvPicPr>
            <p:cNvPr id="2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25" name="Rak pil 6"/>
          <p:cNvCxnSpPr>
            <a:stCxn id="26" idx="2"/>
            <a:endCxn id="212" idx="0"/>
          </p:cNvCxnSpPr>
          <p:nvPr/>
        </p:nvCxnSpPr>
        <p:spPr bwMode="auto">
          <a:xfrm rot="5400000">
            <a:off x="3895042" y="2245355"/>
            <a:ext cx="311380" cy="239345"/>
          </a:xfrm>
          <a:prstGeom prst="curvedConnector3">
            <a:avLst>
              <a:gd name="adj1" fmla="val 50000"/>
            </a:avLst>
          </a:prstGeom>
          <a:noFill/>
          <a:ln w="12700" cap="flat" cmpd="sng" algn="ctr">
            <a:solidFill>
              <a:srgbClr val="A6A6A6"/>
            </a:solidFill>
            <a:prstDash val="solid"/>
            <a:round/>
            <a:headEnd type="none" w="med" len="med"/>
            <a:tailEnd type="stealth"/>
          </a:ln>
          <a:effectLst/>
        </p:spPr>
      </p:cxnSp>
      <p:sp>
        <p:nvSpPr>
          <p:cNvPr id="212" name="Rektangel med rundade hörn 22"/>
          <p:cNvSpPr/>
          <p:nvPr/>
        </p:nvSpPr>
        <p:spPr>
          <a:xfrm>
            <a:off x="3296469" y="2520717"/>
            <a:ext cx="126918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Journal /</a:t>
            </a:r>
            <a:br>
              <a:rPr lang="sv-SE" sz="900"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Läkemedel</a:t>
            </a:r>
            <a:br>
              <a:rPr lang="sv-SE" sz="900" i="1" dirty="0">
                <a:solidFill>
                  <a:srgbClr val="382819"/>
                </a:solidFill>
                <a:latin typeface="Arial" charset="0"/>
                <a:ea typeface="ＭＳ Ｐゴシック" charset="0"/>
                <a:cs typeface="ＭＳ Ｐゴシック" charset="0"/>
              </a:rPr>
            </a:br>
            <a:r>
              <a:rPr lang="sv-SE" sz="900" i="1" dirty="0">
                <a:solidFill>
                  <a:srgbClr val="382819"/>
                </a:solidFill>
                <a:latin typeface="Arial" charset="0"/>
                <a:ea typeface="ＭＳ Ｐゴシック" charset="0"/>
                <a:cs typeface="ＭＳ Ｐゴシック" charset="0"/>
              </a:rPr>
              <a:t>(Vård, Tandvård, Omsorg)</a:t>
            </a:r>
            <a:endParaRPr lang="sv-SE" sz="900" dirty="0">
              <a:solidFill>
                <a:srgbClr val="382819"/>
              </a:solidFill>
              <a:latin typeface="Arial" charset="0"/>
              <a:ea typeface="ＭＳ Ｐゴシック" charset="0"/>
              <a:cs typeface="ＭＳ Ｐゴシック" charset="0"/>
            </a:endParaRPr>
          </a:p>
        </p:txBody>
      </p:sp>
      <p:sp>
        <p:nvSpPr>
          <p:cNvPr id="193" name="Rektangel med rundade hörn 192"/>
          <p:cNvSpPr/>
          <p:nvPr/>
        </p:nvSpPr>
        <p:spPr>
          <a:xfrm rot="16200000">
            <a:off x="5463236" y="4122373"/>
            <a:ext cx="1412313" cy="1506173"/>
          </a:xfrm>
          <a:prstGeom prst="roundRect">
            <a:avLst>
              <a:gd name="adj" fmla="val 4658"/>
            </a:avLst>
          </a:prstGeom>
          <a:ln w="19050" cmpd="sng">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5" name="Rektangel med rundade hörn 184"/>
          <p:cNvSpPr/>
          <p:nvPr/>
        </p:nvSpPr>
        <p:spPr>
          <a:xfrm rot="16200000">
            <a:off x="2410751" y="3575209"/>
            <a:ext cx="1537918" cy="2107249"/>
          </a:xfrm>
          <a:prstGeom prst="roundRect">
            <a:avLst>
              <a:gd name="adj" fmla="val 4658"/>
            </a:avLst>
          </a:prstGeom>
          <a:solidFill>
            <a:schemeClr val="accent1"/>
          </a:solidFill>
          <a:ln>
            <a:solidFill>
              <a:srgbClr val="00A9A7"/>
            </a:solidFill>
            <a:tailEnd type="triangle" w="lg" len="lg"/>
          </a:ln>
        </p:spPr>
        <p:style>
          <a:lnRef idx="2">
            <a:schemeClr val="accent1"/>
          </a:lnRef>
          <a:fillRef idx="1">
            <a:schemeClr val="lt1"/>
          </a:fillRef>
          <a:effectRef idx="0">
            <a:schemeClr val="accent1"/>
          </a:effectRef>
          <a:fontRef idx="minor">
            <a:schemeClr val="dk1"/>
          </a:fontRef>
        </p:style>
        <p:txBody>
          <a:bodyPr lIns="36000" rIns="36000" anchor="t"/>
          <a:lstStyle/>
          <a:p>
            <a:pPr algn="ctr"/>
            <a:endParaRPr lang="sv-SE" sz="900" dirty="0">
              <a:solidFill>
                <a:srgbClr val="382819"/>
              </a:solidFill>
              <a:latin typeface="Arial"/>
              <a:ea typeface="ＭＳ Ｐゴシック" pitchFamily="-112" charset="-128"/>
              <a:cs typeface="ＭＳ Ｐゴシック" pitchFamily="-112" charset="-128"/>
            </a:endParaRPr>
          </a:p>
        </p:txBody>
      </p:sp>
      <p:sp>
        <p:nvSpPr>
          <p:cNvPr id="181" name="Cylinder 180"/>
          <p:cNvSpPr/>
          <p:nvPr/>
        </p:nvSpPr>
        <p:spPr>
          <a:xfrm>
            <a:off x="1860653" y="5033829"/>
            <a:ext cx="652853" cy="454096"/>
          </a:xfrm>
          <a:prstGeom prst="can">
            <a:avLst/>
          </a:prstGeom>
          <a:ln>
            <a:headEnd type="none"/>
            <a:tailEnd type="none" w="lg" len="lg"/>
          </a:ln>
        </p:spPr>
        <p:style>
          <a:lnRef idx="2">
            <a:schemeClr val="accent1">
              <a:shade val="50000"/>
            </a:schemeClr>
          </a:lnRef>
          <a:fillRef idx="1">
            <a:schemeClr val="accent1"/>
          </a:fillRef>
          <a:effectRef idx="0">
            <a:schemeClr val="accent1"/>
          </a:effectRef>
          <a:fontRef idx="minor">
            <a:schemeClr val="lt1"/>
          </a:fontRef>
        </p:style>
        <p:txBody>
          <a:bodyPr lIns="72000" rIns="72000" anchor="ctr"/>
          <a:lstStyle/>
          <a:p>
            <a:pPr algn="ctr"/>
            <a:r>
              <a:rPr lang="sv-SE" sz="900" dirty="0">
                <a:solidFill>
                  <a:srgbClr val="382819"/>
                </a:solidFill>
                <a:latin typeface="Arial"/>
                <a:ea typeface="ＭＳ Ｐゴシック" pitchFamily="-112" charset="-128"/>
                <a:cs typeface="ＭＳ Ｐゴシック" pitchFamily="-112" charset="-128"/>
              </a:rPr>
              <a:t>NOD</a:t>
            </a:r>
          </a:p>
        </p:txBody>
      </p:sp>
      <p:sp>
        <p:nvSpPr>
          <p:cNvPr id="2" name="Rubrik 1"/>
          <p:cNvSpPr>
            <a:spLocks noGrp="1"/>
          </p:cNvSpPr>
          <p:nvPr>
            <p:ph type="title"/>
          </p:nvPr>
        </p:nvSpPr>
        <p:spPr>
          <a:xfrm>
            <a:off x="1410939" y="201914"/>
            <a:ext cx="6209061" cy="1033684"/>
          </a:xfrm>
        </p:spPr>
        <p:txBody>
          <a:bodyPr/>
          <a:lstStyle/>
          <a:p>
            <a:pPr defTabSz="457200" fontAlgn="auto">
              <a:spcBef>
                <a:spcPts val="0"/>
              </a:spcBef>
              <a:spcAft>
                <a:spcPts val="0"/>
              </a:spcAft>
              <a:defRPr/>
            </a:pPr>
            <a:r>
              <a:rPr lang="sv-SE" sz="2000" i="1" dirty="0" smtClean="0"/>
              <a:t>Anslutning för ”läs” respektive ”läs &amp; skriv”</a:t>
            </a:r>
            <a:br>
              <a:rPr lang="sv-SE" sz="2000" i="1" dirty="0" smtClean="0"/>
            </a:br>
            <a:endParaRPr lang="sv-SE" sz="1600" dirty="0">
              <a:solidFill>
                <a:srgbClr val="0000FF"/>
              </a:solidFill>
            </a:endParaRPr>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12</a:t>
            </a:fld>
            <a:endParaRPr lang="sv-SE">
              <a:latin typeface="Arial"/>
            </a:endParaRPr>
          </a:p>
        </p:txBody>
      </p:sp>
      <p:sp>
        <p:nvSpPr>
          <p:cNvPr id="85" name="textruta 84"/>
          <p:cNvSpPr txBox="1"/>
          <p:nvPr/>
        </p:nvSpPr>
        <p:spPr>
          <a:xfrm>
            <a:off x="7495521" y="4414032"/>
            <a:ext cx="854378" cy="369332"/>
          </a:xfrm>
          <a:prstGeom prst="rect">
            <a:avLst/>
          </a:prstGeom>
          <a:noFill/>
        </p:spPr>
        <p:txBody>
          <a:bodyPr wrap="square" rtlCol="0">
            <a:spAutoFit/>
          </a:bodyPr>
          <a:lstStyle/>
          <a:p>
            <a:pPr defTabSz="457200" fontAlgn="auto">
              <a:spcBef>
                <a:spcPts val="0"/>
              </a:spcBef>
              <a:spcAft>
                <a:spcPts val="0"/>
              </a:spcAft>
            </a:pPr>
            <a:r>
              <a:rPr lang="sv-SE" sz="900" i="1" dirty="0">
                <a:solidFill>
                  <a:prstClr val="black"/>
                </a:solidFill>
                <a:latin typeface="Calibri"/>
                <a:cs typeface="Arial" pitchFamily="34" charset="0"/>
              </a:rPr>
              <a:t>farmaceut</a:t>
            </a:r>
          </a:p>
          <a:p>
            <a:pPr defTabSz="457200" fontAlgn="auto">
              <a:spcBef>
                <a:spcPts val="0"/>
              </a:spcBef>
              <a:spcAft>
                <a:spcPts val="0"/>
              </a:spcAft>
            </a:pPr>
            <a:r>
              <a:rPr lang="sv-SE" sz="900" i="1" dirty="0">
                <a:solidFill>
                  <a:prstClr val="black"/>
                </a:solidFill>
                <a:latin typeface="Calibri"/>
                <a:cs typeface="Arial" pitchFamily="34" charset="0"/>
              </a:rPr>
              <a:t>på apotek</a:t>
            </a:r>
          </a:p>
        </p:txBody>
      </p:sp>
      <p:pic>
        <p:nvPicPr>
          <p:cNvPr id="93" name="Picture 5" descr="C:\Users\svrlwi\AppData\Local\Microsoft\Windows\Temporary Internet Files\Content.IE5\33SAVMNN\MC900433943[1].png"/>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41072" y="4528748"/>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96" name="Dokument 95"/>
          <p:cNvSpPr/>
          <p:nvPr/>
        </p:nvSpPr>
        <p:spPr bwMode="auto">
          <a:xfrm>
            <a:off x="7336158" y="4976424"/>
            <a:ext cx="827364" cy="289351"/>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a:solidFill>
                  <a:srgbClr val="382819"/>
                </a:solidFill>
                <a:latin typeface="Arial Narrow"/>
                <a:cs typeface="Arial Narrow"/>
              </a:rPr>
              <a:t>Aktuella recept</a:t>
            </a:r>
          </a:p>
        </p:txBody>
      </p:sp>
      <p:grpSp>
        <p:nvGrpSpPr>
          <p:cNvPr id="283" name="Grupp 282"/>
          <p:cNvGrpSpPr/>
          <p:nvPr/>
        </p:nvGrpSpPr>
        <p:grpSpPr>
          <a:xfrm>
            <a:off x="5410434" y="3755254"/>
            <a:ext cx="571816" cy="401353"/>
            <a:chOff x="5727223" y="2708561"/>
            <a:chExt cx="571816" cy="401353"/>
          </a:xfrm>
        </p:grpSpPr>
        <p:sp>
          <p:nvSpPr>
            <p:cNvPr id="112" name="Rektangel med rundade hörn 111"/>
            <p:cNvSpPr/>
            <p:nvPr/>
          </p:nvSpPr>
          <p:spPr>
            <a:xfrm>
              <a:off x="5727223" y="2826103"/>
              <a:ext cx="571816" cy="283811"/>
            </a:xfrm>
            <a:prstGeom prst="roundRect">
              <a:avLst>
                <a:gd name="adj" fmla="val 9033"/>
              </a:avLst>
            </a:prstGeom>
            <a:ln/>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pPr>
              <a:r>
                <a:rPr lang="sv-SE" sz="1050" kern="0" dirty="0">
                  <a:solidFill>
                    <a:srgbClr val="382819"/>
                  </a:solidFill>
                  <a:latin typeface="Calibri"/>
                  <a:cs typeface="Calibri"/>
                </a:rPr>
                <a:t>PIRR</a:t>
              </a:r>
            </a:p>
          </p:txBody>
        </p:sp>
        <p:grpSp>
          <p:nvGrpSpPr>
            <p:cNvPr id="226" name="Grupp 225"/>
            <p:cNvGrpSpPr/>
            <p:nvPr/>
          </p:nvGrpSpPr>
          <p:grpSpPr>
            <a:xfrm>
              <a:off x="5956324" y="2708561"/>
              <a:ext cx="66751" cy="117542"/>
              <a:chOff x="9018096" y="5768908"/>
              <a:chExt cx="66751" cy="117542"/>
            </a:xfrm>
          </p:grpSpPr>
          <p:cxnSp>
            <p:nvCxnSpPr>
              <p:cNvPr id="230" name="Rak pil 18"/>
              <p:cNvCxnSpPr>
                <a:cxnSpLocks noChangeShapeType="1"/>
                <a:endCxn id="23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1" name="Ellips 23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285" name="Rektangel med rundade hörn 22"/>
          <p:cNvSpPr/>
          <p:nvPr/>
        </p:nvSpPr>
        <p:spPr>
          <a:xfrm>
            <a:off x="5461800" y="2427836"/>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Fristående</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Verktyg</a:t>
            </a:r>
            <a:br>
              <a:rPr lang="sv-SE" sz="900" dirty="0">
                <a:solidFill>
                  <a:srgbClr val="382819"/>
                </a:solidFill>
                <a:latin typeface="Arial" charset="0"/>
                <a:ea typeface="ＭＳ Ｐゴシック" charset="0"/>
                <a:cs typeface="ＭＳ Ｐゴシック" charset="0"/>
              </a:rPr>
            </a:br>
            <a:r>
              <a:rPr lang="sv-SE" sz="900" dirty="0">
                <a:solidFill>
                  <a:srgbClr val="382819"/>
                </a:solidFill>
                <a:latin typeface="Arial" charset="0"/>
                <a:ea typeface="ＭＳ Ｐゴシック" charset="0"/>
                <a:cs typeface="ＭＳ Ｐゴシック" charset="0"/>
              </a:rPr>
              <a:t>”Produkt X”</a:t>
            </a:r>
            <a:endParaRPr lang="sv-SE" sz="900" i="1" dirty="0">
              <a:solidFill>
                <a:srgbClr val="382819"/>
              </a:solidFill>
              <a:latin typeface="Arial" charset="0"/>
              <a:ea typeface="ＭＳ Ｐゴシック" charset="0"/>
              <a:cs typeface="ＭＳ Ｐゴシック" charset="0"/>
            </a:endParaRPr>
          </a:p>
        </p:txBody>
      </p:sp>
      <p:sp>
        <p:nvSpPr>
          <p:cNvPr id="293" name="Rektangel med rundade hörn 22"/>
          <p:cNvSpPr/>
          <p:nvPr/>
        </p:nvSpPr>
        <p:spPr>
          <a:xfrm>
            <a:off x="5405512" y="2481105"/>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cxnSp>
        <p:nvCxnSpPr>
          <p:cNvPr id="319" name="Rak pil 6"/>
          <p:cNvCxnSpPr>
            <a:stCxn id="116" idx="2"/>
            <a:endCxn id="285" idx="0"/>
          </p:cNvCxnSpPr>
          <p:nvPr/>
        </p:nvCxnSpPr>
        <p:spPr bwMode="auto">
          <a:xfrm rot="16200000" flipH="1">
            <a:off x="5708906" y="2255586"/>
            <a:ext cx="218499" cy="126000"/>
          </a:xfrm>
          <a:prstGeom prst="curvedConnector3">
            <a:avLst>
              <a:gd name="adj1" fmla="val 50000"/>
            </a:avLst>
          </a:prstGeom>
          <a:noFill/>
          <a:ln w="12700" cap="flat" cmpd="sng" algn="ctr">
            <a:solidFill>
              <a:srgbClr val="A6A6A6"/>
            </a:solidFill>
            <a:prstDash val="solid"/>
            <a:round/>
            <a:headEnd type="none" w="med" len="med"/>
            <a:tailEnd type="stealth"/>
          </a:ln>
          <a:effectLst/>
        </p:spPr>
      </p:cxnSp>
      <p:sp>
        <p:nvSpPr>
          <p:cNvPr id="191" name="Cylinder 190"/>
          <p:cNvSpPr/>
          <p:nvPr/>
        </p:nvSpPr>
        <p:spPr>
          <a:xfrm>
            <a:off x="6450935" y="4350530"/>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RR</a:t>
            </a:r>
          </a:p>
        </p:txBody>
      </p:sp>
      <p:sp>
        <p:nvSpPr>
          <p:cNvPr id="192" name="Cylinder 191"/>
          <p:cNvSpPr/>
          <p:nvPr/>
        </p:nvSpPr>
        <p:spPr>
          <a:xfrm>
            <a:off x="6441968" y="5033946"/>
            <a:ext cx="569656" cy="402056"/>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r>
              <a:rPr lang="sv-SE" sz="1000" dirty="0">
                <a:solidFill>
                  <a:srgbClr val="382819"/>
                </a:solidFill>
                <a:latin typeface="Arial"/>
                <a:ea typeface="ＭＳ Ｐゴシック" pitchFamily="-112" charset="-128"/>
                <a:cs typeface="ＭＳ Ｐゴシック" pitchFamily="-112" charset="-128"/>
              </a:rPr>
              <a:t>LF</a:t>
            </a:r>
          </a:p>
        </p:txBody>
      </p:sp>
      <p:graphicFrame>
        <p:nvGraphicFramePr>
          <p:cNvPr id="10" name="Diagram 9"/>
          <p:cNvGraphicFramePr/>
          <p:nvPr>
            <p:extLst>
              <p:ext uri="{D42A27DB-BD31-4B8C-83A1-F6EECF244321}">
                <p14:modId xmlns:p14="http://schemas.microsoft.com/office/powerpoint/2010/main" val="4163170323"/>
              </p:ext>
            </p:extLst>
          </p:nvPr>
        </p:nvGraphicFramePr>
        <p:xfrm>
          <a:off x="5489825" y="4251240"/>
          <a:ext cx="1155319" cy="123134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47" name="textruta 246"/>
          <p:cNvSpPr txBox="1"/>
          <p:nvPr/>
        </p:nvSpPr>
        <p:spPr>
          <a:xfrm>
            <a:off x="5939672" y="3766074"/>
            <a:ext cx="817927" cy="430887"/>
          </a:xfrm>
          <a:prstGeom prst="rect">
            <a:avLst/>
          </a:prstGeom>
          <a:noFill/>
        </p:spPr>
        <p:txBody>
          <a:bodyPr wrap="square" rtlCol="0">
            <a:spAutoFit/>
          </a:bodyPr>
          <a:lstStyle/>
          <a:p>
            <a:pPr defTabSz="457200" fontAlgn="auto">
              <a:spcBef>
                <a:spcPts val="0"/>
              </a:spcBef>
              <a:spcAft>
                <a:spcPts val="0"/>
              </a:spcAft>
            </a:pPr>
            <a:r>
              <a:rPr lang="sv-SE" sz="1100" i="1" dirty="0">
                <a:solidFill>
                  <a:prstClr val="black"/>
                </a:solidFill>
                <a:latin typeface="Calibri"/>
                <a:cs typeface="Arial" pitchFamily="34" charset="0"/>
              </a:rPr>
              <a:t>E-recept-</a:t>
            </a:r>
            <a:br>
              <a:rPr lang="sv-SE" sz="1100" i="1" dirty="0">
                <a:solidFill>
                  <a:prstClr val="black"/>
                </a:solidFill>
                <a:latin typeface="Calibri"/>
                <a:cs typeface="Arial" pitchFamily="34" charset="0"/>
              </a:rPr>
            </a:br>
            <a:r>
              <a:rPr lang="sv-SE" sz="1100" i="1" dirty="0">
                <a:solidFill>
                  <a:prstClr val="black"/>
                </a:solidFill>
                <a:latin typeface="Calibri"/>
                <a:cs typeface="Arial" pitchFamily="34" charset="0"/>
              </a:rPr>
              <a:t>ingång</a:t>
            </a:r>
          </a:p>
        </p:txBody>
      </p:sp>
      <p:graphicFrame>
        <p:nvGraphicFramePr>
          <p:cNvPr id="38" name="Diagram 37"/>
          <p:cNvGraphicFramePr/>
          <p:nvPr>
            <p:extLst>
              <p:ext uri="{D42A27DB-BD31-4B8C-83A1-F6EECF244321}">
                <p14:modId xmlns:p14="http://schemas.microsoft.com/office/powerpoint/2010/main" val="2932488140"/>
              </p:ext>
            </p:extLst>
          </p:nvPr>
        </p:nvGraphicFramePr>
        <p:xfrm>
          <a:off x="2204982" y="3955561"/>
          <a:ext cx="1898142" cy="1258083"/>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32" name="textruta 331"/>
          <p:cNvSpPr txBox="1"/>
          <p:nvPr/>
        </p:nvSpPr>
        <p:spPr>
          <a:xfrm>
            <a:off x="1321452" y="3588503"/>
            <a:ext cx="1259536" cy="276999"/>
          </a:xfrm>
          <a:prstGeom prst="rect">
            <a:avLst/>
          </a:prstGeom>
          <a:noFill/>
        </p:spPr>
        <p:txBody>
          <a:bodyPr wrap="square" rtlCol="0">
            <a:spAutoFit/>
          </a:bodyPr>
          <a:lstStyle/>
          <a:p>
            <a:pPr defTabSz="457200" fontAlgn="auto">
              <a:spcBef>
                <a:spcPts val="0"/>
              </a:spcBef>
              <a:spcAft>
                <a:spcPts val="0"/>
              </a:spcAft>
            </a:pPr>
            <a:r>
              <a:rPr lang="sv-SE" sz="1200" i="1" dirty="0">
                <a:solidFill>
                  <a:prstClr val="black"/>
                </a:solidFill>
                <a:latin typeface="Calibri"/>
                <a:cs typeface="Arial" pitchFamily="34" charset="0"/>
              </a:rPr>
              <a:t>Tjänstekontrakt</a:t>
            </a:r>
          </a:p>
        </p:txBody>
      </p:sp>
      <p:grpSp>
        <p:nvGrpSpPr>
          <p:cNvPr id="114" name="Grupp 113"/>
          <p:cNvGrpSpPr/>
          <p:nvPr/>
        </p:nvGrpSpPr>
        <p:grpSpPr>
          <a:xfrm>
            <a:off x="5246192" y="1843707"/>
            <a:ext cx="691104" cy="365630"/>
            <a:chOff x="2330674" y="1012742"/>
            <a:chExt cx="691104" cy="365630"/>
          </a:xfrm>
        </p:grpSpPr>
        <p:pic>
          <p:nvPicPr>
            <p:cNvPr id="115"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2" descr="C:\Users\svrlwi\AppData\Local\Microsoft\Windows\Temporary Internet Files\Content.IE5\51G1LSV1\MC90043393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grpSp>
      <p:sp>
        <p:nvSpPr>
          <p:cNvPr id="109" name="Rektangel med rundade hörn 22"/>
          <p:cNvSpPr/>
          <p:nvPr/>
        </p:nvSpPr>
        <p:spPr>
          <a:xfrm>
            <a:off x="5349598" y="2535958"/>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sv-SE" sz="900" i="1" dirty="0">
              <a:solidFill>
                <a:srgbClr val="382819"/>
              </a:solidFill>
              <a:latin typeface="Arial" charset="0"/>
              <a:ea typeface="ＭＳ Ｐゴシック" charset="0"/>
              <a:cs typeface="ＭＳ Ｐゴシック" charset="0"/>
            </a:endParaRPr>
          </a:p>
        </p:txBody>
      </p:sp>
      <p:sp>
        <p:nvSpPr>
          <p:cNvPr id="90" name="textruta 89"/>
          <p:cNvSpPr txBox="1"/>
          <p:nvPr/>
        </p:nvSpPr>
        <p:spPr>
          <a:xfrm>
            <a:off x="6271606" y="2540487"/>
            <a:ext cx="1348394" cy="577081"/>
          </a:xfrm>
          <a:prstGeom prst="rect">
            <a:avLst/>
          </a:prstGeom>
          <a:noFill/>
        </p:spPr>
        <p:txBody>
          <a:bodyPr wrap="square" rtlCol="0">
            <a:spAutoFit/>
          </a:bodyPr>
          <a:lstStyle/>
          <a:p>
            <a:pPr defTabSz="457200" fontAlgn="auto">
              <a:spcBef>
                <a:spcPts val="0"/>
              </a:spcBef>
              <a:spcAft>
                <a:spcPts val="0"/>
              </a:spcAft>
            </a:pPr>
            <a:r>
              <a:rPr lang="sv-SE" sz="1050" i="1" dirty="0" smtClean="0">
                <a:solidFill>
                  <a:prstClr val="black"/>
                </a:solidFill>
                <a:latin typeface="Calibri"/>
                <a:cs typeface="Arial" pitchFamily="34" charset="0"/>
              </a:rPr>
              <a:t>T ex fristående förskrivningsverktyg, mindre journalsystem</a:t>
            </a:r>
            <a:endParaRPr lang="sv-SE" sz="1050" i="1" dirty="0">
              <a:solidFill>
                <a:prstClr val="black"/>
              </a:solidFill>
              <a:latin typeface="Calibri"/>
              <a:cs typeface="Arial" pitchFamily="34" charset="0"/>
            </a:endParaRPr>
          </a:p>
        </p:txBody>
      </p:sp>
      <p:sp>
        <p:nvSpPr>
          <p:cNvPr id="99" name="Ned 98"/>
          <p:cNvSpPr/>
          <p:nvPr/>
        </p:nvSpPr>
        <p:spPr bwMode="auto">
          <a:xfrm>
            <a:off x="5509921" y="3188393"/>
            <a:ext cx="325977" cy="474585"/>
          </a:xfrm>
          <a:prstGeom prst="downArrow">
            <a:avLst/>
          </a:prstGeom>
          <a:noFill/>
          <a:ln w="9525" cap="flat" cmpd="sng" algn="ctr">
            <a:solidFill>
              <a:schemeClr val="bg1">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grpSp>
        <p:nvGrpSpPr>
          <p:cNvPr id="19" name="Grupp 18"/>
          <p:cNvGrpSpPr/>
          <p:nvPr/>
        </p:nvGrpSpPr>
        <p:grpSpPr>
          <a:xfrm>
            <a:off x="5530959" y="3197629"/>
            <a:ext cx="304939" cy="367607"/>
            <a:chOff x="7031219" y="3326025"/>
            <a:chExt cx="304939" cy="367607"/>
          </a:xfrm>
        </p:grpSpPr>
        <p:cxnSp>
          <p:nvCxnSpPr>
            <p:cNvPr id="14" name="Rak 13"/>
            <p:cNvCxnSpPr/>
            <p:nvPr/>
          </p:nvCxnSpPr>
          <p:spPr bwMode="auto">
            <a:xfrm>
              <a:off x="7031219" y="3372196"/>
              <a:ext cx="304939" cy="3011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Rak 109"/>
            <p:cNvCxnSpPr/>
            <p:nvPr/>
          </p:nvCxnSpPr>
          <p:spPr bwMode="auto">
            <a:xfrm flipV="1">
              <a:off x="7064719" y="3326025"/>
              <a:ext cx="261279" cy="3676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6" name="Grupp 125"/>
          <p:cNvGrpSpPr/>
          <p:nvPr/>
        </p:nvGrpSpPr>
        <p:grpSpPr>
          <a:xfrm>
            <a:off x="2513507" y="3724111"/>
            <a:ext cx="1294565" cy="131113"/>
            <a:chOff x="2449173" y="3243649"/>
            <a:chExt cx="1294565" cy="131113"/>
          </a:xfrm>
        </p:grpSpPr>
        <p:grpSp>
          <p:nvGrpSpPr>
            <p:cNvPr id="127" name="Grupp 126"/>
            <p:cNvGrpSpPr/>
            <p:nvPr/>
          </p:nvGrpSpPr>
          <p:grpSpPr>
            <a:xfrm>
              <a:off x="2449173" y="3257220"/>
              <a:ext cx="66751" cy="117542"/>
              <a:chOff x="9018096" y="5768908"/>
              <a:chExt cx="66751" cy="117542"/>
            </a:xfrm>
          </p:grpSpPr>
          <p:cxnSp>
            <p:nvCxnSpPr>
              <p:cNvPr id="170" name="Rak pil 18"/>
              <p:cNvCxnSpPr>
                <a:cxnSpLocks noChangeShapeType="1"/>
                <a:endCxn id="17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Ellips 17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28" name="Grupp 127"/>
            <p:cNvGrpSpPr/>
            <p:nvPr/>
          </p:nvGrpSpPr>
          <p:grpSpPr>
            <a:xfrm>
              <a:off x="2820928" y="3248679"/>
              <a:ext cx="66751" cy="117542"/>
              <a:chOff x="9018096" y="5768908"/>
              <a:chExt cx="66751" cy="117542"/>
            </a:xfrm>
          </p:grpSpPr>
          <p:cxnSp>
            <p:nvCxnSpPr>
              <p:cNvPr id="168" name="Rak pil 18"/>
              <p:cNvCxnSpPr>
                <a:cxnSpLocks noChangeShapeType="1"/>
                <a:endCxn id="169"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Ellips 168"/>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29" name="Grupp 128"/>
            <p:cNvGrpSpPr/>
            <p:nvPr/>
          </p:nvGrpSpPr>
          <p:grpSpPr>
            <a:xfrm>
              <a:off x="2984873" y="3250994"/>
              <a:ext cx="66751" cy="117542"/>
              <a:chOff x="9018096" y="5768908"/>
              <a:chExt cx="66751" cy="117542"/>
            </a:xfrm>
          </p:grpSpPr>
          <p:cxnSp>
            <p:nvCxnSpPr>
              <p:cNvPr id="166" name="Rak pil 18"/>
              <p:cNvCxnSpPr>
                <a:cxnSpLocks noChangeShapeType="1"/>
                <a:endCxn id="167"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Ellips 166"/>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30" name="Grupp 129"/>
            <p:cNvGrpSpPr/>
            <p:nvPr/>
          </p:nvGrpSpPr>
          <p:grpSpPr>
            <a:xfrm>
              <a:off x="2625107" y="3253088"/>
              <a:ext cx="66751" cy="117542"/>
              <a:chOff x="9018096" y="5791998"/>
              <a:chExt cx="66751" cy="117542"/>
            </a:xfrm>
          </p:grpSpPr>
          <p:cxnSp>
            <p:nvCxnSpPr>
              <p:cNvPr id="145" name="Rak pil 18"/>
              <p:cNvCxnSpPr>
                <a:cxnSpLocks noChangeShapeType="1"/>
                <a:endCxn id="156"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Ellips 155"/>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31" name="Grupp 130"/>
            <p:cNvGrpSpPr/>
            <p:nvPr/>
          </p:nvGrpSpPr>
          <p:grpSpPr>
            <a:xfrm>
              <a:off x="3141287" y="3252190"/>
              <a:ext cx="66751" cy="117542"/>
              <a:chOff x="9018096" y="5768908"/>
              <a:chExt cx="66751" cy="117542"/>
            </a:xfrm>
          </p:grpSpPr>
          <p:cxnSp>
            <p:nvCxnSpPr>
              <p:cNvPr id="143" name="Rak pil 18"/>
              <p:cNvCxnSpPr>
                <a:cxnSpLocks noChangeShapeType="1"/>
                <a:endCxn id="14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Ellips 14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32" name="Grupp 131"/>
            <p:cNvGrpSpPr/>
            <p:nvPr/>
          </p:nvGrpSpPr>
          <p:grpSpPr>
            <a:xfrm>
              <a:off x="3513042" y="3243649"/>
              <a:ext cx="66751" cy="117542"/>
              <a:chOff x="9018096" y="5768908"/>
              <a:chExt cx="66751" cy="117542"/>
            </a:xfrm>
          </p:grpSpPr>
          <p:cxnSp>
            <p:nvCxnSpPr>
              <p:cNvPr id="139" name="Rak pil 18"/>
              <p:cNvCxnSpPr>
                <a:cxnSpLocks noChangeShapeType="1"/>
                <a:endCxn id="140"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 name="Ellips 139"/>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33" name="Grupp 132"/>
            <p:cNvGrpSpPr/>
            <p:nvPr/>
          </p:nvGrpSpPr>
          <p:grpSpPr>
            <a:xfrm>
              <a:off x="3676987" y="3245964"/>
              <a:ext cx="66751" cy="117542"/>
              <a:chOff x="9018096" y="5768908"/>
              <a:chExt cx="66751" cy="117542"/>
            </a:xfrm>
          </p:grpSpPr>
          <p:cxnSp>
            <p:nvCxnSpPr>
              <p:cNvPr id="137" name="Rak pil 18"/>
              <p:cNvCxnSpPr>
                <a:cxnSpLocks noChangeShapeType="1"/>
                <a:endCxn id="138"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Ellips 137"/>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nvGrpSpPr>
            <p:cNvPr id="134" name="Grupp 133"/>
            <p:cNvGrpSpPr/>
            <p:nvPr/>
          </p:nvGrpSpPr>
          <p:grpSpPr>
            <a:xfrm>
              <a:off x="3317221" y="3248058"/>
              <a:ext cx="66751" cy="117542"/>
              <a:chOff x="9018096" y="5791998"/>
              <a:chExt cx="66751" cy="117542"/>
            </a:xfrm>
          </p:grpSpPr>
          <p:cxnSp>
            <p:nvCxnSpPr>
              <p:cNvPr id="135" name="Rak pil 18"/>
              <p:cNvCxnSpPr>
                <a:cxnSpLocks noChangeShapeType="1"/>
                <a:endCxn id="136"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Ellips 135"/>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defRPr/>
                </a:pPr>
                <a:endParaRPr lang="sv-SE" kern="0">
                  <a:solidFill>
                    <a:srgbClr val="382819"/>
                  </a:solidFill>
                  <a:cs typeface="+mn-cs"/>
                </a:endParaRPr>
              </a:p>
            </p:txBody>
          </p:sp>
        </p:grpSp>
      </p:grpSp>
      <p:sp>
        <p:nvSpPr>
          <p:cNvPr id="172" name="Ellips 171"/>
          <p:cNvSpPr/>
          <p:nvPr/>
        </p:nvSpPr>
        <p:spPr bwMode="auto">
          <a:xfrm>
            <a:off x="2389663" y="3581395"/>
            <a:ext cx="1680042" cy="482116"/>
          </a:xfrm>
          <a:prstGeom prst="ellipse">
            <a:avLst/>
          </a:prstGeom>
          <a:noFill/>
          <a:ln w="952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dirty="0">
              <a:solidFill>
                <a:srgbClr val="382819"/>
              </a:solidFill>
              <a:cs typeface="+mn-cs"/>
            </a:endParaRPr>
          </a:p>
        </p:txBody>
      </p:sp>
      <p:grpSp>
        <p:nvGrpSpPr>
          <p:cNvPr id="173" name="Grupp 172"/>
          <p:cNvGrpSpPr/>
          <p:nvPr/>
        </p:nvGrpSpPr>
        <p:grpSpPr>
          <a:xfrm>
            <a:off x="1347128" y="1853036"/>
            <a:ext cx="854378" cy="698311"/>
            <a:chOff x="7118528" y="949686"/>
            <a:chExt cx="854378" cy="698311"/>
          </a:xfrm>
        </p:grpSpPr>
        <p:pic>
          <p:nvPicPr>
            <p:cNvPr id="174" name="Picture 5" descr="C:\Users\svrlwi\AppData\Local\Microsoft\Windows\Temporary Internet Files\Content.IE5\33SAVMNN\MC900433943[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126349" y="949686"/>
              <a:ext cx="446026" cy="447676"/>
            </a:xfrm>
            <a:prstGeom prst="rect">
              <a:avLst/>
            </a:prstGeom>
            <a:noFill/>
            <a:extLst>
              <a:ext uri="{909E8E84-426E-40dd-AFC4-6F175D3DCCD1}">
                <a14:hiddenFill xmlns:a14="http://schemas.microsoft.com/office/drawing/2010/main">
                  <a:solidFill>
                    <a:srgbClr val="FFFFFF"/>
                  </a:solidFill>
                </a14:hiddenFill>
              </a:ext>
            </a:extLst>
          </p:spPr>
        </p:pic>
        <p:sp>
          <p:nvSpPr>
            <p:cNvPr id="175" name="textruta 174"/>
            <p:cNvSpPr txBox="1"/>
            <p:nvPr/>
          </p:nvSpPr>
          <p:spPr>
            <a:xfrm>
              <a:off x="7118528" y="1401776"/>
              <a:ext cx="854378" cy="246221"/>
            </a:xfrm>
            <a:prstGeom prst="rect">
              <a:avLst/>
            </a:prstGeom>
            <a:noFill/>
          </p:spPr>
          <p:txBody>
            <a:bodyPr wrap="square" rtlCol="0">
              <a:spAutoFit/>
            </a:bodyPr>
            <a:lstStyle/>
            <a:p>
              <a:pPr defTabSz="457200" fontAlgn="auto">
                <a:spcBef>
                  <a:spcPts val="0"/>
                </a:spcBef>
                <a:spcAft>
                  <a:spcPts val="0"/>
                </a:spcAft>
              </a:pPr>
              <a:r>
                <a:rPr lang="sv-SE" sz="1000" i="1" dirty="0">
                  <a:solidFill>
                    <a:prstClr val="black"/>
                  </a:solidFill>
                  <a:latin typeface="Calibri"/>
                  <a:cs typeface="Arial" pitchFamily="34" charset="0"/>
                </a:rPr>
                <a:t>invånare</a:t>
              </a:r>
            </a:p>
          </p:txBody>
        </p:sp>
        <p:pic>
          <p:nvPicPr>
            <p:cNvPr id="176" name="Bildobjekt 175" descr="smart phone.jpeg"/>
            <p:cNvPicPr>
              <a:picLocks noChangeAspect="1"/>
            </p:cNvPicPr>
            <p:nvPr/>
          </p:nvPicPr>
          <p:blipFill rotWithShape="1">
            <a:blip r:embed="rId16" cstate="print">
              <a:duotone>
                <a:schemeClr val="bg2">
                  <a:shade val="45000"/>
                  <a:satMod val="135000"/>
                </a:schemeClr>
                <a:prstClr val="white"/>
              </a:duotone>
              <a:extLst>
                <a:ext uri="{BEBA8EAE-BF5A-486C-A8C5-ECC9F3942E4B}">
                  <a14:imgProps xmlns:a14="http://schemas.microsoft.com/office/drawing/2010/main">
                    <a14:imgLayer r:embed="rId17">
                      <a14:imgEffect>
                        <a14:backgroundRemoval t="521" b="99479" l="0" r="100000"/>
                      </a14:imgEffect>
                    </a14:imgLayer>
                  </a14:imgProps>
                </a:ext>
                <a:ext uri="{28A0092B-C50C-407E-A947-70E740481C1C}">
                  <a14:useLocalDpi xmlns:a14="http://schemas.microsoft.com/office/drawing/2010/main"/>
                </a:ext>
              </a:extLst>
            </a:blip>
            <a:srcRect/>
            <a:stretch/>
          </p:blipFill>
          <p:spPr>
            <a:xfrm>
              <a:off x="7649613" y="1007339"/>
              <a:ext cx="145775" cy="251924"/>
            </a:xfrm>
            <a:prstGeom prst="rect">
              <a:avLst/>
            </a:prstGeom>
          </p:spPr>
        </p:pic>
      </p:grpSp>
      <p:sp>
        <p:nvSpPr>
          <p:cNvPr id="177" name="Rektangel med rundade hörn 22"/>
          <p:cNvSpPr/>
          <p:nvPr/>
        </p:nvSpPr>
        <p:spPr>
          <a:xfrm>
            <a:off x="1802003" y="2518298"/>
            <a:ext cx="78791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r>
              <a:rPr lang="sv-SE" sz="900" dirty="0">
                <a:solidFill>
                  <a:srgbClr val="382819"/>
                </a:solidFill>
                <a:latin typeface="Arial" charset="0"/>
                <a:ea typeface="ＭＳ Ｐゴシック" charset="0"/>
                <a:cs typeface="ＭＳ Ｐゴシック" charset="0"/>
              </a:rPr>
              <a:t>Journalen</a:t>
            </a:r>
            <a:br>
              <a:rPr lang="sv-SE" sz="900" dirty="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Vårdhändelser</a:t>
            </a:r>
            <a:endParaRPr lang="sv-SE" sz="900" dirty="0">
              <a:solidFill>
                <a:srgbClr val="382819"/>
              </a:solidFill>
              <a:latin typeface="Arial" charset="0"/>
              <a:ea typeface="ＭＳ Ｐゴシック" charset="0"/>
              <a:cs typeface="ＭＳ Ｐゴシック" charset="0"/>
            </a:endParaRPr>
          </a:p>
        </p:txBody>
      </p:sp>
      <p:cxnSp>
        <p:nvCxnSpPr>
          <p:cNvPr id="183" name="Rak pil 6"/>
          <p:cNvCxnSpPr>
            <a:stCxn id="174" idx="1"/>
            <a:endCxn id="177" idx="0"/>
          </p:cNvCxnSpPr>
          <p:nvPr/>
        </p:nvCxnSpPr>
        <p:spPr bwMode="auto">
          <a:xfrm>
            <a:off x="1800975" y="2076874"/>
            <a:ext cx="394983" cy="441424"/>
          </a:xfrm>
          <a:prstGeom prst="curvedConnector2">
            <a:avLst/>
          </a:prstGeom>
          <a:noFill/>
          <a:ln w="12700" cap="flat" cmpd="sng" algn="ctr">
            <a:solidFill>
              <a:srgbClr val="A6A6A6"/>
            </a:solidFill>
            <a:prstDash val="solid"/>
            <a:round/>
            <a:headEnd type="none" w="med" len="med"/>
            <a:tailEnd type="stealth"/>
          </a:ln>
          <a:effectLst/>
        </p:spPr>
      </p:cxnSp>
      <p:sp>
        <p:nvSpPr>
          <p:cNvPr id="184" name="Dokument 183"/>
          <p:cNvSpPr/>
          <p:nvPr/>
        </p:nvSpPr>
        <p:spPr bwMode="auto">
          <a:xfrm>
            <a:off x="471719" y="1931944"/>
            <a:ext cx="875409"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smtClean="0">
                <a:solidFill>
                  <a:srgbClr val="382819"/>
                </a:solidFill>
                <a:latin typeface="Arial Narrow"/>
                <a:cs typeface="Arial Narrow"/>
              </a:rPr>
              <a:t>Samlad Läkemedelslista</a:t>
            </a:r>
            <a:endParaRPr lang="sv-SE" sz="900" dirty="0">
              <a:solidFill>
                <a:srgbClr val="382819"/>
              </a:solidFill>
              <a:latin typeface="Arial Narrow"/>
              <a:cs typeface="Arial Narrow"/>
            </a:endParaRPr>
          </a:p>
        </p:txBody>
      </p:sp>
      <p:sp>
        <p:nvSpPr>
          <p:cNvPr id="187" name="Vänster-höger 186"/>
          <p:cNvSpPr/>
          <p:nvPr/>
        </p:nvSpPr>
        <p:spPr bwMode="auto">
          <a:xfrm rot="17635053">
            <a:off x="3453423" y="3205325"/>
            <a:ext cx="515431" cy="316016"/>
          </a:xfrm>
          <a:prstGeom prst="lef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89" name="Vänster-höger 188"/>
          <p:cNvSpPr/>
          <p:nvPr/>
        </p:nvSpPr>
        <p:spPr bwMode="auto">
          <a:xfrm>
            <a:off x="4508108" y="4447968"/>
            <a:ext cx="571772" cy="304618"/>
          </a:xfrm>
          <a:prstGeom prst="lef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90" name="Ned 189"/>
          <p:cNvSpPr/>
          <p:nvPr/>
        </p:nvSpPr>
        <p:spPr bwMode="auto">
          <a:xfrm rot="5828019">
            <a:off x="4600816" y="4930326"/>
            <a:ext cx="325977" cy="47458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94" name="Ned 193"/>
          <p:cNvSpPr/>
          <p:nvPr/>
        </p:nvSpPr>
        <p:spPr bwMode="auto">
          <a:xfrm rot="3608824">
            <a:off x="4632057" y="3142736"/>
            <a:ext cx="325977" cy="47458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195" name="textruta 194"/>
          <p:cNvSpPr txBox="1"/>
          <p:nvPr/>
        </p:nvSpPr>
        <p:spPr>
          <a:xfrm>
            <a:off x="4339313" y="3550306"/>
            <a:ext cx="1122487" cy="400110"/>
          </a:xfrm>
          <a:prstGeom prst="rect">
            <a:avLst/>
          </a:prstGeom>
          <a:noFill/>
        </p:spPr>
        <p:txBody>
          <a:bodyPr wrap="square" rtlCol="0">
            <a:spAutoFit/>
          </a:bodyPr>
          <a:lstStyle/>
          <a:p>
            <a:r>
              <a:rPr lang="sv-SE" sz="1000" i="1" dirty="0">
                <a:solidFill>
                  <a:srgbClr val="0000FF"/>
                </a:solidFill>
                <a:latin typeface="Calibri"/>
                <a:cs typeface="Arial" pitchFamily="34" charset="0"/>
              </a:rPr>
              <a:t>Registrera </a:t>
            </a:r>
            <a:r>
              <a:rPr lang="sv-SE" sz="1000" i="1" dirty="0" smtClean="0">
                <a:solidFill>
                  <a:srgbClr val="0000FF"/>
                </a:solidFill>
                <a:latin typeface="Calibri"/>
                <a:cs typeface="Arial" pitchFamily="34" charset="0"/>
              </a:rPr>
              <a:t>/ </a:t>
            </a:r>
            <a:r>
              <a:rPr lang="sv-SE" sz="1000" i="1" dirty="0">
                <a:solidFill>
                  <a:srgbClr val="0000FF"/>
                </a:solidFill>
                <a:latin typeface="Calibri"/>
                <a:cs typeface="Arial" pitchFamily="34" charset="0"/>
              </a:rPr>
              <a:t>Makulera</a:t>
            </a:r>
          </a:p>
        </p:txBody>
      </p:sp>
      <p:sp>
        <p:nvSpPr>
          <p:cNvPr id="196" name="textruta 195"/>
          <p:cNvSpPr txBox="1"/>
          <p:nvPr/>
        </p:nvSpPr>
        <p:spPr>
          <a:xfrm>
            <a:off x="2824170" y="3195818"/>
            <a:ext cx="1122487"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srgbClr val="0000FF"/>
                </a:solidFill>
                <a:latin typeface="Calibri"/>
                <a:cs typeface="Arial" pitchFamily="34" charset="0"/>
              </a:rPr>
              <a:t>Läs / Skriv</a:t>
            </a:r>
            <a:endParaRPr lang="sv-SE" sz="1000" i="1" dirty="0">
              <a:solidFill>
                <a:srgbClr val="0000FF"/>
              </a:solidFill>
              <a:latin typeface="Calibri"/>
              <a:cs typeface="Arial" pitchFamily="34" charset="0"/>
            </a:endParaRPr>
          </a:p>
        </p:txBody>
      </p:sp>
      <p:sp>
        <p:nvSpPr>
          <p:cNvPr id="197" name="Rundad rektangulär 196"/>
          <p:cNvSpPr/>
          <p:nvPr/>
        </p:nvSpPr>
        <p:spPr bwMode="auto">
          <a:xfrm>
            <a:off x="5672910" y="3339018"/>
            <a:ext cx="2031514" cy="998430"/>
          </a:xfrm>
          <a:prstGeom prst="wedgeRoundRectCallout">
            <a:avLst>
              <a:gd name="adj1" fmla="val -94853"/>
              <a:gd name="adj2" fmla="val 58106"/>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fontAlgn="auto">
              <a:spcBef>
                <a:spcPts val="0"/>
              </a:spcBef>
              <a:spcAft>
                <a:spcPts val="0"/>
              </a:spcAft>
            </a:pPr>
            <a:r>
              <a:rPr lang="sv-SE" sz="1050" i="1" dirty="0" smtClean="0">
                <a:solidFill>
                  <a:srgbClr val="0000FF"/>
                </a:solidFill>
                <a:latin typeface="Arial"/>
                <a:cs typeface="Arial"/>
              </a:rPr>
              <a:t>Dospatientens alla recept. Kommande lagstiftning kan ge kompletterande underlag för övriga patienter sett över riket </a:t>
            </a:r>
          </a:p>
        </p:txBody>
      </p:sp>
      <p:sp>
        <p:nvSpPr>
          <p:cNvPr id="199" name="Rundad rektangulär 198"/>
          <p:cNvSpPr/>
          <p:nvPr/>
        </p:nvSpPr>
        <p:spPr bwMode="auto">
          <a:xfrm>
            <a:off x="471719" y="5397793"/>
            <a:ext cx="1650799" cy="819658"/>
          </a:xfrm>
          <a:prstGeom prst="wedgeRoundRectCallout">
            <a:avLst>
              <a:gd name="adj1" fmla="val 36695"/>
              <a:gd name="adj2" fmla="val -66519"/>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fontAlgn="auto">
              <a:spcBef>
                <a:spcPts val="0"/>
              </a:spcBef>
              <a:spcAft>
                <a:spcPts val="0"/>
              </a:spcAft>
            </a:pPr>
            <a:r>
              <a:rPr lang="sv-SE" sz="1050" i="1" dirty="0">
                <a:solidFill>
                  <a:srgbClr val="0000FF"/>
                </a:solidFill>
                <a:latin typeface="Arial"/>
                <a:cs typeface="Arial"/>
              </a:rPr>
              <a:t>E</a:t>
            </a:r>
            <a:r>
              <a:rPr lang="sv-SE" sz="1050" i="1" dirty="0" smtClean="0">
                <a:solidFill>
                  <a:srgbClr val="0000FF"/>
                </a:solidFill>
                <a:latin typeface="Arial"/>
                <a:cs typeface="Arial"/>
              </a:rPr>
              <a:t>xpedieringsunderlag finns från start från de källsystem som anslutits</a:t>
            </a:r>
            <a:endParaRPr lang="sv-SE" sz="1050" b="1" i="1" dirty="0">
              <a:solidFill>
                <a:srgbClr val="0000FF"/>
              </a:solidFill>
              <a:latin typeface="Arial"/>
              <a:cs typeface="Arial"/>
            </a:endParaRPr>
          </a:p>
        </p:txBody>
      </p:sp>
      <p:sp>
        <p:nvSpPr>
          <p:cNvPr id="201" name="Dokument 200"/>
          <p:cNvSpPr/>
          <p:nvPr/>
        </p:nvSpPr>
        <p:spPr bwMode="auto">
          <a:xfrm>
            <a:off x="2737727" y="1931944"/>
            <a:ext cx="875409"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a:r>
              <a:rPr lang="sv-SE" sz="900" dirty="0" smtClean="0">
                <a:solidFill>
                  <a:srgbClr val="382819"/>
                </a:solidFill>
                <a:latin typeface="Arial Narrow"/>
                <a:cs typeface="Arial Narrow"/>
              </a:rPr>
              <a:t>Samlad Läkemedelslista</a:t>
            </a:r>
            <a:endParaRPr lang="sv-SE" sz="900" dirty="0">
              <a:solidFill>
                <a:srgbClr val="382819"/>
              </a:solidFill>
              <a:latin typeface="Arial Narrow"/>
              <a:cs typeface="Arial Narrow"/>
            </a:endParaRPr>
          </a:p>
        </p:txBody>
      </p:sp>
      <p:sp>
        <p:nvSpPr>
          <p:cNvPr id="203" name="Rundad rektangulär 202"/>
          <p:cNvSpPr/>
          <p:nvPr/>
        </p:nvSpPr>
        <p:spPr bwMode="auto">
          <a:xfrm>
            <a:off x="3774696" y="5481063"/>
            <a:ext cx="1403248" cy="640886"/>
          </a:xfrm>
          <a:prstGeom prst="wedgeRoundRectCallout">
            <a:avLst>
              <a:gd name="adj1" fmla="val 18378"/>
              <a:gd name="adj2" fmla="val -66519"/>
              <a:gd name="adj3" fmla="val 16667"/>
            </a:avLst>
          </a:prstGeom>
          <a:ln>
            <a:solidFill>
              <a:schemeClr val="accent2"/>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fontAlgn="auto">
              <a:spcBef>
                <a:spcPts val="0"/>
              </a:spcBef>
              <a:spcAft>
                <a:spcPts val="0"/>
              </a:spcAft>
            </a:pPr>
            <a:r>
              <a:rPr lang="sv-SE" sz="1050" b="1" i="1" dirty="0" smtClean="0">
                <a:solidFill>
                  <a:srgbClr val="0000FF"/>
                </a:solidFill>
                <a:latin typeface="Arial"/>
                <a:cs typeface="Arial"/>
              </a:rPr>
              <a:t>Alla</a:t>
            </a:r>
            <a:r>
              <a:rPr lang="sv-SE" sz="1050" i="1" dirty="0" smtClean="0">
                <a:solidFill>
                  <a:srgbClr val="0000FF"/>
                </a:solidFill>
                <a:latin typeface="Arial"/>
                <a:cs typeface="Arial"/>
              </a:rPr>
              <a:t> expedierade läkemedel, kopplat till förskrivningarna</a:t>
            </a:r>
            <a:endParaRPr lang="sv-SE" sz="1050" b="1" i="1" dirty="0">
              <a:solidFill>
                <a:srgbClr val="0000FF"/>
              </a:solidFill>
              <a:latin typeface="Arial"/>
              <a:cs typeface="Arial"/>
            </a:endParaRPr>
          </a:p>
        </p:txBody>
      </p:sp>
      <p:sp>
        <p:nvSpPr>
          <p:cNvPr id="88" name="Ned 87"/>
          <p:cNvSpPr/>
          <p:nvPr/>
        </p:nvSpPr>
        <p:spPr bwMode="auto">
          <a:xfrm rot="9054520">
            <a:off x="2217329" y="3139084"/>
            <a:ext cx="325977" cy="474585"/>
          </a:xfrm>
          <a:prstGeom prst="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defTabSz="957263"/>
            <a:endParaRPr lang="sv-SE" smtClean="0">
              <a:solidFill>
                <a:srgbClr val="382819"/>
              </a:solidFill>
              <a:cs typeface="+mn-cs"/>
            </a:endParaRPr>
          </a:p>
        </p:txBody>
      </p:sp>
      <p:sp>
        <p:nvSpPr>
          <p:cNvPr id="89" name="textruta 88"/>
          <p:cNvSpPr txBox="1"/>
          <p:nvPr/>
        </p:nvSpPr>
        <p:spPr>
          <a:xfrm>
            <a:off x="622801" y="3041197"/>
            <a:ext cx="1464296" cy="553998"/>
          </a:xfrm>
          <a:prstGeom prst="rect">
            <a:avLst/>
          </a:prstGeom>
          <a:noFill/>
        </p:spPr>
        <p:txBody>
          <a:bodyPr wrap="square" rtlCol="0">
            <a:spAutoFit/>
          </a:bodyPr>
          <a:lstStyle/>
          <a:p>
            <a:r>
              <a:rPr lang="sv-SE" sz="1000" i="1" dirty="0">
                <a:solidFill>
                  <a:srgbClr val="0000FF"/>
                </a:solidFill>
                <a:latin typeface="Calibri"/>
                <a:cs typeface="Arial" pitchFamily="34" charset="0"/>
              </a:rPr>
              <a:t>Läs</a:t>
            </a:r>
            <a:br>
              <a:rPr lang="sv-SE" sz="1000" i="1" dirty="0">
                <a:solidFill>
                  <a:srgbClr val="0000FF"/>
                </a:solidFill>
                <a:latin typeface="Calibri"/>
                <a:cs typeface="Arial" pitchFamily="34" charset="0"/>
              </a:rPr>
            </a:br>
            <a:r>
              <a:rPr lang="sv-SE" sz="1000" i="1" dirty="0">
                <a:solidFill>
                  <a:srgbClr val="0000FF"/>
                </a:solidFill>
                <a:latin typeface="Calibri"/>
                <a:cs typeface="Arial" pitchFamily="34" charset="0"/>
              </a:rPr>
              <a:t>(</a:t>
            </a:r>
            <a:r>
              <a:rPr lang="sv-SE" sz="1000" i="1" dirty="0" smtClean="0">
                <a:solidFill>
                  <a:srgbClr val="0000FF"/>
                </a:solidFill>
                <a:latin typeface="Calibri"/>
                <a:cs typeface="Arial" pitchFamily="34" charset="0"/>
              </a:rPr>
              <a:t>GetMedicationHistory</a:t>
            </a:r>
            <a:br>
              <a:rPr lang="sv-SE" sz="1000" i="1" dirty="0" smtClean="0">
                <a:solidFill>
                  <a:srgbClr val="0000FF"/>
                </a:solidFill>
                <a:latin typeface="Calibri"/>
                <a:cs typeface="Arial" pitchFamily="34" charset="0"/>
              </a:rPr>
            </a:br>
            <a:r>
              <a:rPr lang="sv-SE" sz="1000" i="1" dirty="0" smtClean="0">
                <a:solidFill>
                  <a:srgbClr val="0000FF"/>
                </a:solidFill>
                <a:latin typeface="Calibri"/>
                <a:cs typeface="Arial" pitchFamily="34" charset="0"/>
              </a:rPr>
              <a:t>via aggregat eller direkt)</a:t>
            </a:r>
            <a:endParaRPr lang="sv-SE" sz="1000" i="1" dirty="0">
              <a:solidFill>
                <a:srgbClr val="0000FF"/>
              </a:solidFill>
              <a:latin typeface="Calibri"/>
              <a:cs typeface="Arial" pitchFamily="34" charset="0"/>
            </a:endParaRPr>
          </a:p>
        </p:txBody>
      </p:sp>
      <p:sp>
        <p:nvSpPr>
          <p:cNvPr id="91" name="textruta 90"/>
          <p:cNvSpPr txBox="1"/>
          <p:nvPr/>
        </p:nvSpPr>
        <p:spPr>
          <a:xfrm>
            <a:off x="6188308" y="1051282"/>
            <a:ext cx="2540106" cy="110799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defTabSz="457200" fontAlgn="auto">
              <a:spcBef>
                <a:spcPts val="0"/>
              </a:spcBef>
              <a:spcAft>
                <a:spcPts val="0"/>
              </a:spcAft>
            </a:pPr>
            <a:r>
              <a:rPr lang="sv-SE" sz="1100" dirty="0" smtClean="0">
                <a:solidFill>
                  <a:srgbClr val="0000FF"/>
                </a:solidFill>
                <a:latin typeface="Arial"/>
              </a:rPr>
              <a:t>Scenario:</a:t>
            </a:r>
          </a:p>
          <a:p>
            <a:pPr marL="171450" indent="-171450" defTabSz="457200" fontAlgn="auto">
              <a:spcBef>
                <a:spcPts val="0"/>
              </a:spcBef>
              <a:spcAft>
                <a:spcPts val="0"/>
              </a:spcAft>
              <a:buFont typeface="Arial"/>
              <a:buChar char="•"/>
            </a:pPr>
            <a:r>
              <a:rPr lang="sv-SE" sz="1100" dirty="0" smtClean="0">
                <a:solidFill>
                  <a:srgbClr val="0000FF"/>
                </a:solidFill>
                <a:latin typeface="Arial"/>
              </a:rPr>
              <a:t>Huvudjournalsystemet i regionen ansluter ( läs &amp; skriv )</a:t>
            </a:r>
            <a:endParaRPr lang="sv-SE" sz="1100" dirty="0">
              <a:solidFill>
                <a:srgbClr val="0000FF"/>
              </a:solidFill>
              <a:latin typeface="Arial"/>
            </a:endParaRPr>
          </a:p>
          <a:p>
            <a:pPr marL="171450" indent="-171450" defTabSz="457200" fontAlgn="auto">
              <a:spcBef>
                <a:spcPts val="0"/>
              </a:spcBef>
              <a:spcAft>
                <a:spcPts val="0"/>
              </a:spcAft>
              <a:buFont typeface="Arial"/>
              <a:buChar char="•"/>
            </a:pPr>
            <a:r>
              <a:rPr lang="sv-SE" sz="1100" dirty="0" smtClean="0">
                <a:solidFill>
                  <a:srgbClr val="0000FF"/>
                </a:solidFill>
                <a:latin typeface="Arial"/>
              </a:rPr>
              <a:t>Fristående förskrivningsverktyg i regionen ansluter ( skriv )</a:t>
            </a:r>
          </a:p>
          <a:p>
            <a:pPr marL="171450" indent="-171450" defTabSz="457200" fontAlgn="auto">
              <a:spcBef>
                <a:spcPts val="0"/>
              </a:spcBef>
              <a:spcAft>
                <a:spcPts val="0"/>
              </a:spcAft>
              <a:buFont typeface="Arial"/>
              <a:buChar char="•"/>
            </a:pPr>
            <a:r>
              <a:rPr lang="sv-SE" sz="1100" dirty="0" err="1" smtClean="0">
                <a:solidFill>
                  <a:srgbClr val="0000FF"/>
                </a:solidFill>
                <a:latin typeface="Arial"/>
              </a:rPr>
              <a:t>Invåndaren</a:t>
            </a:r>
            <a:r>
              <a:rPr lang="sv-SE" sz="1100" dirty="0" smtClean="0">
                <a:solidFill>
                  <a:srgbClr val="0000FF"/>
                </a:solidFill>
                <a:latin typeface="Arial"/>
              </a:rPr>
              <a:t> ges tillgång via </a:t>
            </a:r>
            <a:endParaRPr lang="sv-SE" sz="1100" dirty="0">
              <a:solidFill>
                <a:srgbClr val="0000FF"/>
              </a:solidFill>
              <a:latin typeface="Arial"/>
            </a:endParaRPr>
          </a:p>
        </p:txBody>
      </p:sp>
    </p:spTree>
    <p:extLst>
      <p:ext uri="{BB962C8B-B14F-4D97-AF65-F5344CB8AC3E}">
        <p14:creationId xmlns:p14="http://schemas.microsoft.com/office/powerpoint/2010/main" val="3034223817"/>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animBg="1"/>
      <p:bldP spid="199" grpId="0" animBg="1"/>
      <p:bldP spid="203" grpId="0" animBg="1"/>
      <p:bldP spid="9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ctrTitle"/>
          </p:nvPr>
        </p:nvSpPr>
        <p:spPr>
          <a:xfrm>
            <a:off x="829732" y="1532466"/>
            <a:ext cx="7296573" cy="2997200"/>
          </a:xfrm>
        </p:spPr>
        <p:txBody>
          <a:bodyPr/>
          <a:lstStyle/>
          <a:p>
            <a:r>
              <a:rPr lang="sv-SE" sz="2800" dirty="0" smtClean="0"/>
              <a:t>Samlad läkemedelslista / NOD </a:t>
            </a:r>
            <a:r>
              <a:rPr lang="sv-SE" sz="2400" dirty="0" smtClean="0"/>
              <a:t/>
            </a:r>
            <a:br>
              <a:rPr lang="sv-SE" sz="2400" dirty="0" smtClean="0"/>
            </a:br>
            <a:r>
              <a:rPr lang="sv-SE" sz="2400" dirty="0" smtClean="0"/>
              <a:t/>
            </a:r>
            <a:br>
              <a:rPr lang="sv-SE" sz="2400" dirty="0" smtClean="0"/>
            </a:br>
            <a:r>
              <a:rPr lang="sv-SE" sz="2000" i="1" dirty="0" smtClean="0"/>
              <a:t>Översikt &amp; nyheter i tjänstedomänen revision 2.0</a:t>
            </a:r>
            <a:r>
              <a:rPr lang="sv-SE" sz="1600" b="0" i="1" dirty="0"/>
              <a:t/>
            </a:r>
            <a:br>
              <a:rPr lang="sv-SE" sz="1600" b="0" i="1" dirty="0"/>
            </a:br>
            <a:r>
              <a:rPr lang="sv-SE" sz="1600" b="0" i="1" dirty="0"/>
              <a:t/>
            </a:r>
            <a:br>
              <a:rPr lang="sv-SE" sz="1600" b="0" i="1" dirty="0"/>
            </a:br>
            <a:endParaRPr lang="sv-SE" sz="1800" b="0" i="1" dirty="0"/>
          </a:p>
        </p:txBody>
      </p:sp>
      <p:sp>
        <p:nvSpPr>
          <p:cNvPr id="5" name="Underrubrik 4"/>
          <p:cNvSpPr>
            <a:spLocks noGrp="1"/>
          </p:cNvSpPr>
          <p:nvPr>
            <p:ph type="subTitle" idx="1"/>
          </p:nvPr>
        </p:nvSpPr>
        <p:spPr>
          <a:xfrm>
            <a:off x="1371600" y="5080000"/>
            <a:ext cx="6400800" cy="558800"/>
          </a:xfrm>
        </p:spPr>
        <p:txBody>
          <a:bodyPr/>
          <a:lstStyle/>
          <a:p>
            <a:endParaRPr lang="sv-SE"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13</a:t>
            </a:fld>
            <a:endParaRPr lang="sv-SE">
              <a:latin typeface="Arial"/>
            </a:endParaRPr>
          </a:p>
        </p:txBody>
      </p:sp>
      <p:pic>
        <p:nvPicPr>
          <p:cNvPr id="6" name="Bildobjekt 5"/>
          <p:cNvPicPr>
            <a:picLocks noChangeAspect="1"/>
          </p:cNvPicPr>
          <p:nvPr/>
        </p:nvPicPr>
        <p:blipFill>
          <a:blip r:embed="rId3"/>
          <a:stretch>
            <a:fillRect/>
          </a:stretch>
        </p:blipFill>
        <p:spPr>
          <a:xfrm>
            <a:off x="7668139" y="18852"/>
            <a:ext cx="1384717" cy="1037201"/>
          </a:xfrm>
          <a:prstGeom prst="rect">
            <a:avLst/>
          </a:prstGeom>
        </p:spPr>
      </p:pic>
    </p:spTree>
    <p:extLst>
      <p:ext uri="{BB962C8B-B14F-4D97-AF65-F5344CB8AC3E}">
        <p14:creationId xmlns:p14="http://schemas.microsoft.com/office/powerpoint/2010/main" val="1052516385"/>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346528"/>
            <a:ext cx="6792913" cy="692150"/>
          </a:xfrm>
        </p:spPr>
        <p:txBody>
          <a:bodyPr/>
          <a:lstStyle/>
          <a:p>
            <a:r>
              <a:rPr lang="sv-SE" sz="2400" dirty="0"/>
              <a:t>Exempel på nyheter i </a:t>
            </a:r>
            <a:r>
              <a:rPr lang="sv-SE" sz="2400" dirty="0" smtClean="0"/>
              <a:t>v2.0       1(3)</a:t>
            </a:r>
            <a:endParaRPr lang="sv-SE" dirty="0"/>
          </a:p>
        </p:txBody>
      </p:sp>
      <p:sp>
        <p:nvSpPr>
          <p:cNvPr id="3" name="Platshållare för innehåll 2"/>
          <p:cNvSpPr>
            <a:spLocks noGrp="1"/>
          </p:cNvSpPr>
          <p:nvPr>
            <p:ph idx="1"/>
          </p:nvPr>
        </p:nvSpPr>
        <p:spPr>
          <a:xfrm>
            <a:off x="1355969" y="1197710"/>
            <a:ext cx="6808820" cy="5158640"/>
          </a:xfrm>
        </p:spPr>
        <p:txBody>
          <a:bodyPr>
            <a:normAutofit fontScale="92500" lnSpcReduction="10000"/>
          </a:bodyPr>
          <a:lstStyle/>
          <a:p>
            <a:r>
              <a:rPr lang="sv-SE" sz="1900" dirty="0" smtClean="0"/>
              <a:t>Dosdispenserade läkemedel via NOD</a:t>
            </a:r>
          </a:p>
          <a:p>
            <a:pPr lvl="1"/>
            <a:r>
              <a:rPr lang="sv-SE" sz="1600" dirty="0" smtClean="0"/>
              <a:t>All funktionalitet nu via Tjänstekontrakt för NOD </a:t>
            </a:r>
          </a:p>
          <a:p>
            <a:pPr lvl="1"/>
            <a:r>
              <a:rPr lang="sv-SE" sz="1600" dirty="0" smtClean="0"/>
              <a:t>Ny princip, expedieringsunderlag genereras </a:t>
            </a:r>
            <a:r>
              <a:rPr lang="sv-SE" sz="1600" i="1" dirty="0" smtClean="0"/>
              <a:t>utgående från ordinationen</a:t>
            </a:r>
          </a:p>
          <a:p>
            <a:r>
              <a:rPr lang="sv-SE" sz="1900" dirty="0" smtClean="0"/>
              <a:t>Ändrad ”livscykel” för en ordinationskedja </a:t>
            </a:r>
          </a:p>
          <a:p>
            <a:pPr lvl="1"/>
            <a:r>
              <a:rPr lang="sv-SE" sz="1600" dirty="0" smtClean="0"/>
              <a:t>Enklare att göra justeringar av behandlingen (lägga in nya beslut)</a:t>
            </a:r>
          </a:p>
          <a:p>
            <a:pPr lvl="1"/>
            <a:r>
              <a:rPr lang="sv-SE" sz="1600" dirty="0"/>
              <a:t>S</a:t>
            </a:r>
            <a:r>
              <a:rPr lang="sv-SE" sz="1600" dirty="0" smtClean="0"/>
              <a:t>töd för t.ex. </a:t>
            </a:r>
            <a:r>
              <a:rPr lang="sv-SE" sz="1600" i="1" dirty="0"/>
              <a:t>planerat byte </a:t>
            </a:r>
            <a:r>
              <a:rPr lang="sv-SE" sz="1600" dirty="0"/>
              <a:t>av läkemedelsprodukt/styrka inom en sammanhållen </a:t>
            </a:r>
            <a:r>
              <a:rPr lang="sv-SE" sz="1600" dirty="0" smtClean="0"/>
              <a:t>ordinationskedja</a:t>
            </a:r>
          </a:p>
          <a:p>
            <a:r>
              <a:rPr lang="sv-SE" sz="1900" dirty="0" smtClean="0"/>
              <a:t>Enklare att koppla ett eller flera expedieringsunderlag/recept till läkemedelsbehandling (ordinationen)</a:t>
            </a:r>
          </a:p>
          <a:p>
            <a:r>
              <a:rPr lang="sv-SE" sz="1900" dirty="0"/>
              <a:t>Ökad spårbarhet vid delegerad ordinationsrätt, ordination på generellt direktiv etc</a:t>
            </a:r>
            <a:r>
              <a:rPr lang="sv-SE" sz="1900" dirty="0" smtClean="0"/>
              <a:t>.</a:t>
            </a:r>
          </a:p>
          <a:p>
            <a:r>
              <a:rPr lang="sv-SE" sz="1900" dirty="0" smtClean="0"/>
              <a:t>Markera </a:t>
            </a:r>
            <a:r>
              <a:rPr lang="sv-SE" sz="1900" dirty="0"/>
              <a:t>avstämning även vid oförändrade ordinationer</a:t>
            </a:r>
          </a:p>
          <a:p>
            <a:r>
              <a:rPr lang="sv-SE" sz="1900" dirty="0"/>
              <a:t>Få information om lokal hantering av medicinering (signalera från sjukhuset vid inläggning</a:t>
            </a:r>
            <a:r>
              <a:rPr lang="sv-SE" sz="1900" dirty="0" smtClean="0"/>
              <a:t>)</a:t>
            </a:r>
            <a:endParaRPr lang="sv-SE" sz="2200" b="1" dirty="0"/>
          </a:p>
          <a:p>
            <a:endParaRPr lang="sv-SE" sz="1900" dirty="0" smtClean="0"/>
          </a:p>
        </p:txBody>
      </p:sp>
      <p:sp>
        <p:nvSpPr>
          <p:cNvPr id="4" name="Platshållare för bildnummer 3"/>
          <p:cNvSpPr>
            <a:spLocks noGrp="1"/>
          </p:cNvSpPr>
          <p:nvPr>
            <p:ph type="sldNum" sz="quarter" idx="10"/>
          </p:nvPr>
        </p:nvSpPr>
        <p:spPr/>
        <p:txBody>
          <a:bodyPr/>
          <a:lstStyle/>
          <a:p>
            <a:fld id="{4F4A6512-6F32-47C0-A1DC-EECCB630EF99}" type="slidenum">
              <a:rPr lang="sv-SE" smtClean="0"/>
              <a:pPr/>
              <a:t>14</a:t>
            </a:fld>
            <a:endParaRPr lang="sv-SE"/>
          </a:p>
        </p:txBody>
      </p:sp>
    </p:spTree>
    <p:extLst>
      <p:ext uri="{BB962C8B-B14F-4D97-AF65-F5344CB8AC3E}">
        <p14:creationId xmlns:p14="http://schemas.microsoft.com/office/powerpoint/2010/main" val="2575945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356052"/>
            <a:ext cx="6792913" cy="692150"/>
          </a:xfrm>
        </p:spPr>
        <p:txBody>
          <a:bodyPr/>
          <a:lstStyle/>
          <a:p>
            <a:r>
              <a:rPr lang="sv-SE" sz="2400" dirty="0"/>
              <a:t>Exempel på nyheter i </a:t>
            </a:r>
            <a:r>
              <a:rPr lang="sv-SE" sz="2400" dirty="0" smtClean="0"/>
              <a:t>v2.0       2(3)</a:t>
            </a:r>
            <a:endParaRPr lang="sv-SE" sz="2400" dirty="0"/>
          </a:p>
        </p:txBody>
      </p:sp>
      <p:sp>
        <p:nvSpPr>
          <p:cNvPr id="4" name="Platshållare för bildnummer 3"/>
          <p:cNvSpPr>
            <a:spLocks noGrp="1"/>
          </p:cNvSpPr>
          <p:nvPr>
            <p:ph type="sldNum" sz="quarter" idx="10"/>
          </p:nvPr>
        </p:nvSpPr>
        <p:spPr/>
        <p:txBody>
          <a:bodyPr/>
          <a:lstStyle/>
          <a:p>
            <a:fld id="{4F4A6512-6F32-47C0-A1DC-EECCB630EF99}" type="slidenum">
              <a:rPr lang="sv-SE" smtClean="0"/>
              <a:pPr/>
              <a:t>15</a:t>
            </a:fld>
            <a:endParaRPr lang="sv-SE"/>
          </a:p>
        </p:txBody>
      </p:sp>
      <p:pic>
        <p:nvPicPr>
          <p:cNvPr id="5" name="Bildobjekt 4"/>
          <p:cNvPicPr>
            <a:picLocks noChangeAspect="1"/>
          </p:cNvPicPr>
          <p:nvPr/>
        </p:nvPicPr>
        <p:blipFill>
          <a:blip r:embed="rId3"/>
          <a:srcRect/>
          <a:stretch>
            <a:fillRect/>
          </a:stretch>
        </p:blipFill>
        <p:spPr bwMode="auto">
          <a:xfrm>
            <a:off x="-2" y="1110324"/>
            <a:ext cx="9144002" cy="5246026"/>
          </a:xfrm>
          <a:prstGeom prst="rect">
            <a:avLst/>
          </a:prstGeom>
          <a:noFill/>
          <a:ln w="9525">
            <a:noFill/>
            <a:miter lim="800000"/>
            <a:headEnd/>
            <a:tailEnd/>
          </a:ln>
        </p:spPr>
      </p:pic>
      <p:sp>
        <p:nvSpPr>
          <p:cNvPr id="9" name="Platshållare för innehåll 4"/>
          <p:cNvSpPr txBox="1">
            <a:spLocks/>
          </p:cNvSpPr>
          <p:nvPr/>
        </p:nvSpPr>
        <p:spPr>
          <a:xfrm>
            <a:off x="3386756" y="1100702"/>
            <a:ext cx="5746564" cy="5384950"/>
          </a:xfrm>
          <a:prstGeom prst="rect">
            <a:avLst/>
          </a:prstGeom>
          <a:solidFill>
            <a:schemeClr val="bg1"/>
          </a:solidFill>
        </p:spPr>
        <p:txBody>
          <a:bodyPr/>
          <a:lst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4"/>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4"/>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4"/>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4"/>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4"/>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4"/>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4"/>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4"/>
              </a:buBlip>
              <a:defRPr>
                <a:solidFill>
                  <a:schemeClr val="tx1"/>
                </a:solidFill>
                <a:latin typeface="+mn-lt"/>
              </a:defRPr>
            </a:lvl9pPr>
          </a:lstStyle>
          <a:p>
            <a:r>
              <a:rPr lang="sv-SE" sz="1600" b="1" i="1" dirty="0" smtClean="0"/>
              <a:t>Läkemedelsordination</a:t>
            </a:r>
            <a:r>
              <a:rPr lang="sv-SE" sz="1600" i="1" dirty="0" smtClean="0"/>
              <a:t> </a:t>
            </a:r>
            <a:r>
              <a:rPr lang="sv-SE" sz="1600" dirty="0" smtClean="0"/>
              <a:t>omarbetad</a:t>
            </a:r>
            <a:r>
              <a:rPr lang="sv-SE" sz="1600" i="1" dirty="0" smtClean="0"/>
              <a:t>, </a:t>
            </a:r>
            <a:r>
              <a:rPr lang="sv-SE" sz="1600" dirty="0" smtClean="0"/>
              <a:t>beskriver hela beslutet</a:t>
            </a:r>
          </a:p>
          <a:p>
            <a:r>
              <a:rPr lang="sv-SE" sz="1600" b="1" i="1" dirty="0" smtClean="0"/>
              <a:t>Läkemedelsbehandling</a:t>
            </a:r>
            <a:r>
              <a:rPr lang="sv-SE" sz="1600" i="1" dirty="0" smtClean="0"/>
              <a:t> </a:t>
            </a:r>
            <a:r>
              <a:rPr lang="sv-SE" sz="1600" dirty="0" smtClean="0"/>
              <a:t>visar effekten av flera ordinationer genom </a:t>
            </a:r>
            <a:r>
              <a:rPr lang="sv-SE" sz="1600" b="1" i="1" dirty="0" smtClean="0"/>
              <a:t>Behandlingssteg</a:t>
            </a:r>
            <a:endParaRPr lang="sv-SE" sz="1600" dirty="0" smtClean="0"/>
          </a:p>
          <a:p>
            <a:r>
              <a:rPr lang="sv-SE" sz="1600" i="1" dirty="0" smtClean="0"/>
              <a:t>Ordinerad </a:t>
            </a:r>
            <a:r>
              <a:rPr lang="sv-SE" sz="1600" b="1" i="1" dirty="0" err="1" smtClean="0"/>
              <a:t>administreringsväg</a:t>
            </a:r>
            <a:r>
              <a:rPr lang="sv-SE" sz="1600" b="1" i="1" dirty="0" smtClean="0"/>
              <a:t>, </a:t>
            </a:r>
            <a:r>
              <a:rPr lang="sv-SE" sz="1600" b="1" i="1" dirty="0"/>
              <a:t>-</a:t>
            </a:r>
            <a:r>
              <a:rPr lang="sv-SE" sz="1600" b="1" i="1" dirty="0" smtClean="0"/>
              <a:t>plats, </a:t>
            </a:r>
            <a:r>
              <a:rPr lang="sv-SE" sz="1600" b="1" i="1" dirty="0"/>
              <a:t>-</a:t>
            </a:r>
            <a:r>
              <a:rPr lang="sv-SE" sz="1600" b="1" i="1" dirty="0" smtClean="0"/>
              <a:t>metod</a:t>
            </a:r>
            <a:endParaRPr lang="sv-SE" sz="1600" b="1" dirty="0" smtClean="0"/>
          </a:p>
          <a:p>
            <a:r>
              <a:rPr lang="sv-SE" sz="1600" b="1" i="1" dirty="0" smtClean="0"/>
              <a:t>Expedieringsärende</a:t>
            </a:r>
            <a:r>
              <a:rPr lang="sv-SE" sz="1600" i="1" dirty="0" smtClean="0"/>
              <a:t>  (</a:t>
            </a:r>
            <a:r>
              <a:rPr lang="sv-SE" sz="1600" dirty="0" smtClean="0"/>
              <a:t>underlag, status, makulering och expediering</a:t>
            </a:r>
            <a:r>
              <a:rPr lang="sv-SE" sz="1600" i="1" dirty="0" smtClean="0"/>
              <a:t>)</a:t>
            </a:r>
            <a:endParaRPr lang="sv-SE" sz="1600" dirty="0" smtClean="0"/>
          </a:p>
          <a:p>
            <a:r>
              <a:rPr lang="sv-SE" sz="1600" i="1" dirty="0" smtClean="0"/>
              <a:t>Vad patienten själv uppger – </a:t>
            </a:r>
            <a:r>
              <a:rPr lang="sv-SE" sz="1600" b="1" i="1" dirty="0" err="1" smtClean="0"/>
              <a:t>MedicationStatement</a:t>
            </a:r>
            <a:r>
              <a:rPr lang="sv-SE" sz="1600" b="1" i="1" dirty="0" smtClean="0"/>
              <a:t> </a:t>
            </a:r>
            <a:r>
              <a:rPr lang="sv-SE" sz="1600" b="1" dirty="0" smtClean="0"/>
              <a:t> </a:t>
            </a:r>
          </a:p>
          <a:p>
            <a:r>
              <a:rPr lang="sv-SE" sz="1600" dirty="0" smtClean="0"/>
              <a:t>Markering av </a:t>
            </a:r>
            <a:r>
              <a:rPr lang="sv-SE" sz="1600" b="1" i="1" dirty="0" smtClean="0"/>
              <a:t>Genomgång (Review) </a:t>
            </a:r>
            <a:r>
              <a:rPr lang="sv-SE" sz="1600" i="1" dirty="0" smtClean="0"/>
              <a:t>och</a:t>
            </a:r>
            <a:r>
              <a:rPr lang="sv-SE" sz="1600" b="1" i="1" dirty="0" smtClean="0"/>
              <a:t> Senast ändrad</a:t>
            </a:r>
            <a:endParaRPr lang="sv-SE" sz="1600" b="1" dirty="0" smtClean="0"/>
          </a:p>
          <a:p>
            <a:r>
              <a:rPr lang="sv-SE" sz="1600" b="1" dirty="0"/>
              <a:t>Ökad spårbarhet </a:t>
            </a:r>
            <a:r>
              <a:rPr lang="sv-SE" sz="1600" dirty="0"/>
              <a:t>vid delegerad </a:t>
            </a:r>
            <a:r>
              <a:rPr lang="sv-SE" sz="1600" dirty="0" smtClean="0"/>
              <a:t>ordinationsrätt</a:t>
            </a:r>
            <a:endParaRPr lang="sv-SE" sz="1600" dirty="0"/>
          </a:p>
          <a:p>
            <a:r>
              <a:rPr lang="sv-SE" sz="1600" dirty="0"/>
              <a:t>Kodifierad </a:t>
            </a:r>
            <a:r>
              <a:rPr lang="sv-SE" sz="1600" b="1" i="1" dirty="0"/>
              <a:t>strukturerad</a:t>
            </a:r>
            <a:r>
              <a:rPr lang="sv-SE" sz="1600" b="1" dirty="0"/>
              <a:t> </a:t>
            </a:r>
            <a:r>
              <a:rPr lang="sv-SE" sz="1600" b="1" i="1" dirty="0"/>
              <a:t>utsättningsorsak</a:t>
            </a:r>
            <a:r>
              <a:rPr lang="sv-SE" sz="1600" b="1" dirty="0"/>
              <a:t> </a:t>
            </a:r>
            <a:r>
              <a:rPr lang="sv-SE" sz="1600" dirty="0"/>
              <a:t>från </a:t>
            </a:r>
            <a:r>
              <a:rPr lang="sv-SE" sz="1600" dirty="0" smtClean="0"/>
              <a:t>SIL</a:t>
            </a:r>
          </a:p>
          <a:p>
            <a:r>
              <a:rPr lang="sv-SE" sz="1600" dirty="0" err="1" smtClean="0"/>
              <a:t>Informationsspecifikationen</a:t>
            </a:r>
            <a:r>
              <a:rPr lang="sv-SE" sz="1600" dirty="0" smtClean="0"/>
              <a:t> genererar direkt innehåll i Tjänstekontrakten</a:t>
            </a:r>
          </a:p>
          <a:p>
            <a:pPr marL="0" indent="0">
              <a:buNone/>
            </a:pPr>
            <a:endParaRPr lang="sv-SE" sz="1600" dirty="0"/>
          </a:p>
        </p:txBody>
      </p:sp>
    </p:spTree>
    <p:extLst>
      <p:ext uri="{BB962C8B-B14F-4D97-AF65-F5344CB8AC3E}">
        <p14:creationId xmlns:p14="http://schemas.microsoft.com/office/powerpoint/2010/main" val="25582993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50000" y="50000"/>
                                    </p:animScale>
                                  </p:childTnLst>
                                </p:cTn>
                              </p:par>
                              <p:par>
                                <p:cTn id="7" presetID="0" presetClass="path" presetSubtype="0" accel="50000" decel="50000" fill="hold" nodeType="withEffect">
                                  <p:stCondLst>
                                    <p:cond delay="0"/>
                                  </p:stCondLst>
                                  <p:childTnLst>
                                    <p:animMotion origin="layout" path="M 0 -2.96296E-6 L -0.28333 0.17223 " pathEditMode="relative" rAng="0" ptsTypes="AA">
                                      <p:cBhvr>
                                        <p:cTn id="8" dur="2000" fill="hold"/>
                                        <p:tgtEl>
                                          <p:spTgt spid="5"/>
                                        </p:tgtEl>
                                        <p:attrNameLst>
                                          <p:attrName>ppt_x</p:attrName>
                                          <p:attrName>ppt_y</p:attrName>
                                        </p:attrNameLst>
                                      </p:cBhvr>
                                      <p:rCtr x="-14167" y="8611"/>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par>
                          <p:cTn id="12" fill="hold">
                            <p:stCondLst>
                              <p:cond delay="2000"/>
                            </p:stCondLst>
                            <p:childTnLst>
                              <p:par>
                                <p:cTn id="13" presetID="2" presetClass="entr" presetSubtype="2" fill="hold" grpId="1"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346528"/>
            <a:ext cx="6792913" cy="692150"/>
          </a:xfrm>
        </p:spPr>
        <p:txBody>
          <a:bodyPr/>
          <a:lstStyle/>
          <a:p>
            <a:r>
              <a:rPr lang="sv-SE" sz="2400" dirty="0"/>
              <a:t>Exempel på nyheter i v2.0       </a:t>
            </a:r>
            <a:r>
              <a:rPr lang="sv-SE" sz="2400" dirty="0" smtClean="0"/>
              <a:t>3(</a:t>
            </a:r>
            <a:r>
              <a:rPr lang="sv-SE" sz="2400" dirty="0"/>
              <a:t>3)</a:t>
            </a:r>
            <a:endParaRPr lang="sv-SE" dirty="0"/>
          </a:p>
        </p:txBody>
      </p:sp>
      <p:sp>
        <p:nvSpPr>
          <p:cNvPr id="3" name="Platshållare för innehåll 2"/>
          <p:cNvSpPr>
            <a:spLocks noGrp="1"/>
          </p:cNvSpPr>
          <p:nvPr>
            <p:ph idx="1"/>
          </p:nvPr>
        </p:nvSpPr>
        <p:spPr>
          <a:xfrm>
            <a:off x="1355969" y="1196093"/>
            <a:ext cx="5908583" cy="5115583"/>
          </a:xfrm>
        </p:spPr>
        <p:txBody>
          <a:bodyPr>
            <a:normAutofit/>
          </a:bodyPr>
          <a:lstStyle/>
          <a:p>
            <a:r>
              <a:rPr lang="sv-SE" sz="1700" i="1" dirty="0" err="1" smtClean="0"/>
              <a:t>GetMedicationPrescriptions</a:t>
            </a:r>
            <a:endParaRPr lang="sv-SE" sz="1700" i="1" dirty="0" smtClean="0"/>
          </a:p>
          <a:p>
            <a:pPr lvl="1"/>
            <a:r>
              <a:rPr lang="sv-SE" sz="1400" dirty="0" smtClean="0"/>
              <a:t>Ersätter tre ”hämtatjänster” - </a:t>
            </a:r>
            <a:r>
              <a:rPr lang="sv-SE" sz="1400" dirty="0"/>
              <a:t>ökad flexibilitet med </a:t>
            </a:r>
            <a:r>
              <a:rPr lang="sv-SE" sz="1400" dirty="0" smtClean="0"/>
              <a:t>filter:</a:t>
            </a:r>
            <a:br>
              <a:rPr lang="sv-SE" sz="1400" dirty="0" smtClean="0"/>
            </a:br>
            <a:r>
              <a:rPr lang="sv-SE" sz="1400" dirty="0" smtClean="0"/>
              <a:t>allt, endast aktuella behandlingar, historik 6 mån etc.</a:t>
            </a:r>
          </a:p>
          <a:p>
            <a:pPr lvl="1"/>
            <a:r>
              <a:rPr lang="sv-SE" sz="1400" dirty="0" smtClean="0"/>
              <a:t>Räknar fram </a:t>
            </a:r>
            <a:r>
              <a:rPr lang="sv-SE" sz="1400" i="1" dirty="0" smtClean="0"/>
              <a:t>Behandlingssteg</a:t>
            </a:r>
            <a:r>
              <a:rPr lang="sv-SE" sz="1400" dirty="0" smtClean="0"/>
              <a:t> som resultatet av flera ordinationer i kedja</a:t>
            </a:r>
          </a:p>
          <a:p>
            <a:pPr lvl="1"/>
            <a:r>
              <a:rPr lang="sv-SE" sz="1400" dirty="0" smtClean="0"/>
              <a:t>Bättre stöd för att visa läkemedelslistan som ”tidslinje”</a:t>
            </a:r>
          </a:p>
          <a:p>
            <a:r>
              <a:rPr lang="sv-SE" sz="1700" i="1" dirty="0" smtClean="0"/>
              <a:t>CheckMedicationListVersion</a:t>
            </a:r>
            <a:r>
              <a:rPr lang="sv-SE" sz="1700" dirty="0" smtClean="0"/>
              <a:t> </a:t>
            </a:r>
          </a:p>
          <a:p>
            <a:pPr lvl="1"/>
            <a:r>
              <a:rPr lang="sv-SE" sz="1400" dirty="0"/>
              <a:t>U</a:t>
            </a:r>
            <a:r>
              <a:rPr lang="sv-SE" sz="1400" dirty="0" smtClean="0"/>
              <a:t>nderlättar att hålla vårdsystem och NOD i synk</a:t>
            </a:r>
          </a:p>
          <a:p>
            <a:r>
              <a:rPr lang="sv-SE" sz="1700" i="1" dirty="0" smtClean="0"/>
              <a:t>RegisterMedicationDispenseAuthorization </a:t>
            </a:r>
            <a:br>
              <a:rPr lang="sv-SE" sz="1700" i="1" dirty="0" smtClean="0"/>
            </a:br>
            <a:r>
              <a:rPr lang="sv-SE" sz="1700" i="1" dirty="0" smtClean="0"/>
              <a:t>(registrera och skicka ”recept”)</a:t>
            </a:r>
          </a:p>
          <a:p>
            <a:pPr lvl="1"/>
            <a:r>
              <a:rPr lang="sv-SE" sz="1400" dirty="0" smtClean="0"/>
              <a:t>Stödjer även ”lösa recept” och patient utan </a:t>
            </a:r>
            <a:r>
              <a:rPr lang="sv-SE" sz="1400" dirty="0" err="1" smtClean="0"/>
              <a:t>pnr</a:t>
            </a:r>
            <a:endParaRPr lang="sv-SE" sz="1400" dirty="0" smtClean="0"/>
          </a:p>
          <a:p>
            <a:r>
              <a:rPr lang="sv-SE" sz="1700" dirty="0" smtClean="0"/>
              <a:t>Svenska och engelska benämningar (HL7 FHIR resources, EU ePrescriptions)</a:t>
            </a:r>
          </a:p>
        </p:txBody>
      </p:sp>
      <p:sp>
        <p:nvSpPr>
          <p:cNvPr id="4" name="Platshållare för bildnummer 3"/>
          <p:cNvSpPr>
            <a:spLocks noGrp="1"/>
          </p:cNvSpPr>
          <p:nvPr>
            <p:ph type="sldNum" sz="quarter" idx="10"/>
          </p:nvPr>
        </p:nvSpPr>
        <p:spPr/>
        <p:txBody>
          <a:bodyPr/>
          <a:lstStyle/>
          <a:p>
            <a:fld id="{4F4A6512-6F32-47C0-A1DC-EECCB630EF99}" type="slidenum">
              <a:rPr lang="sv-SE" smtClean="0"/>
              <a:pPr/>
              <a:t>16</a:t>
            </a:fld>
            <a:endParaRPr lang="sv-SE"/>
          </a:p>
        </p:txBody>
      </p:sp>
    </p:spTree>
    <p:extLst>
      <p:ext uri="{BB962C8B-B14F-4D97-AF65-F5344CB8AC3E}">
        <p14:creationId xmlns:p14="http://schemas.microsoft.com/office/powerpoint/2010/main" val="30834984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ctrTitle"/>
          </p:nvPr>
        </p:nvSpPr>
        <p:spPr>
          <a:xfrm>
            <a:off x="829732" y="1532466"/>
            <a:ext cx="7296573" cy="2997200"/>
          </a:xfrm>
        </p:spPr>
        <p:txBody>
          <a:bodyPr/>
          <a:lstStyle/>
          <a:p>
            <a:r>
              <a:rPr lang="sv-SE" sz="2800" dirty="0" smtClean="0"/>
              <a:t>Samlad läkemedelslista / NOD </a:t>
            </a:r>
            <a:r>
              <a:rPr lang="sv-SE" sz="2400" dirty="0" smtClean="0"/>
              <a:t/>
            </a:r>
            <a:br>
              <a:rPr lang="sv-SE" sz="2400" dirty="0" smtClean="0"/>
            </a:br>
            <a:r>
              <a:rPr lang="sv-SE" sz="2400" dirty="0" smtClean="0"/>
              <a:t/>
            </a:r>
            <a:br>
              <a:rPr lang="sv-SE" sz="2400" dirty="0" smtClean="0"/>
            </a:br>
            <a:r>
              <a:rPr lang="sv-SE" sz="2000" i="1" dirty="0" smtClean="0"/>
              <a:t>Informationsmodellen</a:t>
            </a:r>
            <a:br>
              <a:rPr lang="sv-SE" sz="2000" i="1" dirty="0" smtClean="0"/>
            </a:br>
            <a:r>
              <a:rPr lang="sv-SE" sz="1600" b="0" i="1" dirty="0"/>
              <a:t/>
            </a:r>
            <a:br>
              <a:rPr lang="sv-SE" sz="1600" b="0" i="1" dirty="0"/>
            </a:br>
            <a:endParaRPr lang="sv-SE" sz="1800" b="0" i="1" dirty="0"/>
          </a:p>
        </p:txBody>
      </p:sp>
      <p:sp>
        <p:nvSpPr>
          <p:cNvPr id="5" name="Underrubrik 4"/>
          <p:cNvSpPr>
            <a:spLocks noGrp="1"/>
          </p:cNvSpPr>
          <p:nvPr>
            <p:ph type="subTitle" idx="1"/>
          </p:nvPr>
        </p:nvSpPr>
        <p:spPr>
          <a:xfrm>
            <a:off x="1371600" y="5080000"/>
            <a:ext cx="6400800" cy="558800"/>
          </a:xfrm>
        </p:spPr>
        <p:txBody>
          <a:bodyPr/>
          <a:lstStyle/>
          <a:p>
            <a:endParaRPr lang="sv-SE"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17</a:t>
            </a:fld>
            <a:endParaRPr lang="sv-SE">
              <a:latin typeface="Arial"/>
            </a:endParaRPr>
          </a:p>
        </p:txBody>
      </p:sp>
      <p:pic>
        <p:nvPicPr>
          <p:cNvPr id="6" name="Bildobjekt 5"/>
          <p:cNvPicPr>
            <a:picLocks noChangeAspect="1"/>
          </p:cNvPicPr>
          <p:nvPr/>
        </p:nvPicPr>
        <p:blipFill>
          <a:blip r:embed="rId3"/>
          <a:stretch>
            <a:fillRect/>
          </a:stretch>
        </p:blipFill>
        <p:spPr>
          <a:xfrm>
            <a:off x="7668139" y="18852"/>
            <a:ext cx="1384717" cy="1037201"/>
          </a:xfrm>
          <a:prstGeom prst="rect">
            <a:avLst/>
          </a:prstGeom>
        </p:spPr>
      </p:pic>
    </p:spTree>
    <p:extLst>
      <p:ext uri="{BB962C8B-B14F-4D97-AF65-F5344CB8AC3E}">
        <p14:creationId xmlns:p14="http://schemas.microsoft.com/office/powerpoint/2010/main" val="3896468048"/>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p:cNvSpPr>
            <a:spLocks noGrp="1"/>
          </p:cNvSpPr>
          <p:nvPr>
            <p:ph type="title"/>
          </p:nvPr>
        </p:nvSpPr>
        <p:spPr/>
        <p:txBody>
          <a:bodyPr/>
          <a:lstStyle/>
          <a:p>
            <a:r>
              <a:rPr lang="sv-SE" sz="2400" i="1" dirty="0" smtClean="0"/>
              <a:t>Informationsmodell för NOD</a:t>
            </a:r>
            <a:endParaRPr lang="sv-SE" sz="2400" dirty="0"/>
          </a:p>
        </p:txBody>
      </p:sp>
      <p:sp>
        <p:nvSpPr>
          <p:cNvPr id="4" name="Platshållare för bildnummer 3"/>
          <p:cNvSpPr>
            <a:spLocks noGrp="1"/>
          </p:cNvSpPr>
          <p:nvPr>
            <p:ph type="sldNum" sz="quarter" idx="10"/>
          </p:nvPr>
        </p:nvSpPr>
        <p:spPr/>
        <p:txBody>
          <a:bodyPr/>
          <a:lstStyle/>
          <a:p>
            <a:fld id="{4F4A6512-6F32-47C0-A1DC-EECCB630EF99}" type="slidenum">
              <a:rPr lang="sv-SE" smtClean="0"/>
              <a:pPr/>
              <a:t>18</a:t>
            </a:fld>
            <a:endParaRPr lang="sv-SE"/>
          </a:p>
        </p:txBody>
      </p:sp>
      <p:pic>
        <p:nvPicPr>
          <p:cNvPr id="2" name="Bildobjekt 1" descr="NOD översik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84762"/>
            <a:ext cx="9144000" cy="4971379"/>
          </a:xfrm>
          <a:prstGeom prst="rect">
            <a:avLst/>
          </a:prstGeom>
        </p:spPr>
      </p:pic>
    </p:spTree>
    <p:extLst>
      <p:ext uri="{BB962C8B-B14F-4D97-AF65-F5344CB8AC3E}">
        <p14:creationId xmlns:p14="http://schemas.microsoft.com/office/powerpoint/2010/main" val="2568033005"/>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ubrik 5"/>
          <p:cNvSpPr>
            <a:spLocks noGrp="1"/>
          </p:cNvSpPr>
          <p:nvPr>
            <p:ph type="title"/>
          </p:nvPr>
        </p:nvSpPr>
        <p:spPr>
          <a:xfrm>
            <a:off x="1371876" y="353466"/>
            <a:ext cx="6792913" cy="875979"/>
          </a:xfrm>
        </p:spPr>
        <p:txBody>
          <a:bodyPr/>
          <a:lstStyle/>
          <a:p>
            <a:r>
              <a:rPr lang="sv-SE" sz="2000" dirty="0" smtClean="0"/>
              <a:t>Läkemedelsbehandling och Läkemedelsordination</a:t>
            </a:r>
            <a:endParaRPr lang="sv-SE" dirty="0"/>
          </a:p>
        </p:txBody>
      </p:sp>
      <p:sp>
        <p:nvSpPr>
          <p:cNvPr id="4" name="Platshållare för bildnummer 3"/>
          <p:cNvSpPr>
            <a:spLocks noGrp="1"/>
          </p:cNvSpPr>
          <p:nvPr>
            <p:ph type="sldNum" sz="quarter" idx="10"/>
          </p:nvPr>
        </p:nvSpPr>
        <p:spPr/>
        <p:txBody>
          <a:bodyPr/>
          <a:lstStyle/>
          <a:p>
            <a:fld id="{4F4A6512-6F32-47C0-A1DC-EECCB630EF99}" type="slidenum">
              <a:rPr lang="sv-SE" smtClean="0"/>
              <a:pPr/>
              <a:t>19</a:t>
            </a:fld>
            <a:endParaRPr lang="sv-SE"/>
          </a:p>
        </p:txBody>
      </p:sp>
      <p:pic>
        <p:nvPicPr>
          <p:cNvPr id="5" name="Bildobjekt 4"/>
          <p:cNvPicPr/>
          <p:nvPr/>
        </p:nvPicPr>
        <p:blipFill>
          <a:blip r:embed="rId3"/>
          <a:srcRect/>
          <a:stretch>
            <a:fillRect/>
          </a:stretch>
        </p:blipFill>
        <p:spPr bwMode="auto">
          <a:xfrm>
            <a:off x="1680297" y="1749974"/>
            <a:ext cx="5481222" cy="3148822"/>
          </a:xfrm>
          <a:prstGeom prst="rect">
            <a:avLst/>
          </a:prstGeom>
          <a:noFill/>
          <a:ln w="9525">
            <a:noFill/>
            <a:miter lim="800000"/>
            <a:headEnd/>
            <a:tailEnd/>
          </a:ln>
        </p:spPr>
      </p:pic>
      <p:sp>
        <p:nvSpPr>
          <p:cNvPr id="2049" name="Rectangle 1"/>
          <p:cNvSpPr>
            <a:spLocks noChangeArrowheads="1"/>
          </p:cNvSpPr>
          <p:nvPr/>
        </p:nvSpPr>
        <p:spPr bwMode="auto">
          <a:xfrm>
            <a:off x="714616" y="5402701"/>
            <a:ext cx="7776242" cy="1323439"/>
          </a:xfrm>
          <a:prstGeom prst="rect">
            <a:avLst/>
          </a:prstGeom>
          <a:solidFill>
            <a:srgbClr val="FFFFCC"/>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 En</a:t>
            </a: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a:t>
            </a:r>
            <a:r>
              <a:rPr kumimoji="0" lang="sv-SE" sz="16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Läkemedelsordination</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representerar ett </a:t>
            </a:r>
            <a:r>
              <a:rPr kumimoji="0" lang="sv-SE" sz="16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beslut</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om </a:t>
            </a: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läkemedelsbehandling och</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beskriver </a:t>
            </a:r>
            <a:r>
              <a:rPr kumimoji="0" lang="sv-SE" sz="1600" b="0" i="0" u="sng" strike="noStrike" cap="none" normalizeH="0" baseline="0" dirty="0" smtClean="0">
                <a:ln>
                  <a:noFill/>
                </a:ln>
                <a:solidFill>
                  <a:schemeClr val="tx1"/>
                </a:solidFill>
                <a:effectLst/>
                <a:latin typeface="Arial" pitchFamily="34" charset="0"/>
                <a:ea typeface="Times New Roman" pitchFamily="18" charset="0"/>
                <a:cs typeface="Arial" pitchFamily="34" charset="0"/>
              </a:rPr>
              <a:t>hela </a:t>
            </a:r>
            <a:r>
              <a:rPr kumimoji="0" lang="sv-SE" sz="1600" b="0" i="0" u="sng" strike="noStrike" cap="none" normalizeH="0" baseline="0" dirty="0" smtClean="0">
                <a:ln>
                  <a:noFill/>
                </a:ln>
                <a:solidFill>
                  <a:srgbClr val="000000"/>
                </a:solidFill>
                <a:effectLst/>
                <a:latin typeface="Arial" pitchFamily="34" charset="0"/>
                <a:ea typeface="Times New Roman" pitchFamily="18" charset="0"/>
                <a:cs typeface="Arial" pitchFamily="34" charset="0"/>
              </a:rPr>
              <a:t>läkemedelsbehandlingen</a:t>
            </a: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från beslutstidpunkten och framåt.</a:t>
            </a:r>
            <a:endParaRPr kumimoji="0" lang="sv-SE"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2. Det </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finns vid varje tidpunkt alltid exakt en </a:t>
            </a:r>
            <a:r>
              <a:rPr kumimoji="0" lang="sv-SE" sz="16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gällande</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sv-SE" sz="16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Läkemedelsordination</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för varje </a:t>
            </a: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läkemedelsbehandling.</a:t>
            </a:r>
            <a:endParaRPr kumimoji="0" lang="sv-SE"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3. En </a:t>
            </a: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läkemedelsbehandling </a:t>
            </a:r>
            <a:r>
              <a:rPr kumimoji="0" lang="sv-SE" sz="16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ändras</a:t>
            </a:r>
            <a:r>
              <a:rPr kumimoji="0" lang="sv-S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 genom en ny </a:t>
            </a:r>
            <a:r>
              <a:rPr kumimoji="0" lang="sv-SE" sz="16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Läkemedelsordination</a:t>
            </a:r>
            <a:r>
              <a:rPr kumimoji="0" lang="sv-SE"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sv-SE"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279516068"/>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000" dirty="0" smtClean="0"/>
              <a:t>Läkemedelsbehandling och Expedieringsärende</a:t>
            </a:r>
            <a:endParaRPr lang="sv-SE" sz="20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20</a:t>
            </a:fld>
            <a:endParaRPr lang="sv-SE"/>
          </a:p>
        </p:txBody>
      </p:sp>
      <p:pic>
        <p:nvPicPr>
          <p:cNvPr id="4" name="Bildobjekt 3"/>
          <p:cNvPicPr/>
          <p:nvPr/>
        </p:nvPicPr>
        <p:blipFill>
          <a:blip r:embed="rId3"/>
          <a:srcRect/>
          <a:stretch>
            <a:fillRect/>
          </a:stretch>
        </p:blipFill>
        <p:spPr bwMode="auto">
          <a:xfrm>
            <a:off x="1679219" y="1481531"/>
            <a:ext cx="5367040" cy="4765587"/>
          </a:xfrm>
          <a:prstGeom prst="rect">
            <a:avLst/>
          </a:prstGeom>
          <a:noFill/>
          <a:ln w="9525">
            <a:noFill/>
            <a:miter lim="800000"/>
            <a:headEnd/>
            <a:tailEnd/>
          </a:ln>
        </p:spPr>
      </p:pic>
    </p:spTree>
    <p:extLst>
      <p:ext uri="{BB962C8B-B14F-4D97-AF65-F5344CB8AC3E}">
        <p14:creationId xmlns:p14="http://schemas.microsoft.com/office/powerpoint/2010/main" val="396776016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ubrik 1"/>
          <p:cNvSpPr>
            <a:spLocks noGrp="1"/>
          </p:cNvSpPr>
          <p:nvPr>
            <p:ph type="title"/>
          </p:nvPr>
        </p:nvSpPr>
        <p:spPr>
          <a:xfrm>
            <a:off x="1371876" y="365674"/>
            <a:ext cx="6792913" cy="692150"/>
          </a:xfrm>
        </p:spPr>
        <p:txBody>
          <a:bodyPr/>
          <a:lstStyle/>
          <a:p>
            <a:r>
              <a:rPr lang="sv-SE" sz="2000" dirty="0" smtClean="0"/>
              <a:t>Tjänstekontrakt v2.0 - översikt</a:t>
            </a:r>
            <a:endParaRPr lang="sv-SE" sz="20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21</a:t>
            </a:fld>
            <a:endParaRPr lang="sv-SE"/>
          </a:p>
        </p:txBody>
      </p:sp>
      <p:graphicFrame>
        <p:nvGraphicFramePr>
          <p:cNvPr id="4" name="Tabell 3"/>
          <p:cNvGraphicFramePr>
            <a:graphicFrameLocks noGrp="1"/>
          </p:cNvGraphicFramePr>
          <p:nvPr>
            <p:extLst>
              <p:ext uri="{D42A27DB-BD31-4B8C-83A1-F6EECF244321}">
                <p14:modId xmlns:p14="http://schemas.microsoft.com/office/powerpoint/2010/main" val="3406862649"/>
              </p:ext>
            </p:extLst>
          </p:nvPr>
        </p:nvGraphicFramePr>
        <p:xfrm>
          <a:off x="212459" y="1236574"/>
          <a:ext cx="8824594" cy="3798883"/>
        </p:xfrm>
        <a:graphic>
          <a:graphicData uri="http://schemas.openxmlformats.org/drawingml/2006/table">
            <a:tbl>
              <a:tblPr firstRow="1" bandRow="1">
                <a:tableStyleId>{BDBED569-4797-4DF1-A0F4-6AAB3CD982D8}</a:tableStyleId>
              </a:tblPr>
              <a:tblGrid>
                <a:gridCol w="3016015"/>
                <a:gridCol w="3390675"/>
                <a:gridCol w="2417904"/>
              </a:tblGrid>
              <a:tr h="375481">
                <a:tc gridSpan="2">
                  <a:txBody>
                    <a:bodyPr/>
                    <a:lstStyle/>
                    <a:p>
                      <a:r>
                        <a:rPr lang="sv-SE" sz="1200" b="1" kern="1200" dirty="0" smtClean="0">
                          <a:solidFill>
                            <a:schemeClr val="tx1"/>
                          </a:solidFill>
                          <a:latin typeface="+mn-lt"/>
                          <a:ea typeface="+mn-ea"/>
                          <a:cs typeface="+mn-cs"/>
                        </a:rPr>
                        <a:t>Läkemedelsordination &amp; behandling</a:t>
                      </a:r>
                      <a:endParaRPr lang="sv-SE" sz="1000" dirty="0">
                        <a:latin typeface="Courier New"/>
                        <a:cs typeface="Courier New"/>
                      </a:endParaRPr>
                    </a:p>
                  </a:txBody>
                  <a:tcPr>
                    <a:solidFill>
                      <a:schemeClr val="accent1"/>
                    </a:solidFill>
                  </a:tcPr>
                </a:tc>
                <a:tc hMerge="1">
                  <a:txBody>
                    <a:bodyPr/>
                    <a:lstStyle/>
                    <a:p>
                      <a:endParaRPr lang="sv-SE"/>
                    </a:p>
                  </a:txBody>
                  <a:tcPr/>
                </a:tc>
                <a:tc>
                  <a:txBody>
                    <a:bodyPr/>
                    <a:lstStyle/>
                    <a:p>
                      <a:r>
                        <a:rPr lang="sv-SE" sz="1050" dirty="0" smtClean="0">
                          <a:latin typeface="+mj-lt"/>
                          <a:cs typeface="Courier New"/>
                        </a:rPr>
                        <a:t>Ersätter 1.0</a:t>
                      </a:r>
                      <a:endParaRPr lang="sv-SE" sz="1050" dirty="0">
                        <a:latin typeface="+mj-lt"/>
                        <a:cs typeface="Courier New"/>
                      </a:endParaRPr>
                    </a:p>
                  </a:txBody>
                  <a:tcPr>
                    <a:solidFill>
                      <a:schemeClr val="accent1"/>
                    </a:solidFill>
                  </a:tcPr>
                </a:tc>
              </a:tr>
              <a:tr h="13486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solidFill>
                            <a:prstClr val="black"/>
                          </a:solidFill>
                          <a:latin typeface="Courier New"/>
                          <a:cs typeface="Courier New"/>
                        </a:rPr>
                        <a:t>GetMedicationPrescriptions</a:t>
                      </a:r>
                      <a:endParaRPr lang="sv-SE" sz="1200" dirty="0">
                        <a:latin typeface="Courier New"/>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dirty="0" smtClean="0">
                          <a:latin typeface="Cambria"/>
                          <a:cs typeface="Cambria"/>
                        </a:rPr>
                        <a:t>Ordinerade</a:t>
                      </a:r>
                      <a:r>
                        <a:rPr lang="sv-SE" sz="1200" b="1" baseline="0" dirty="0" smtClean="0">
                          <a:latin typeface="Cambria"/>
                          <a:cs typeface="Cambria"/>
                        </a:rPr>
                        <a:t> </a:t>
                      </a:r>
                      <a:r>
                        <a:rPr lang="sv-SE" sz="1200" b="1" dirty="0" smtClean="0">
                          <a:latin typeface="Cambria"/>
                          <a:cs typeface="Cambria"/>
                        </a:rPr>
                        <a:t>läkemedel</a:t>
                      </a:r>
                      <a:r>
                        <a:rPr lang="sv-SE" sz="1200" b="0" baseline="0" dirty="0" smtClean="0">
                          <a:latin typeface="Cambria"/>
                          <a:cs typeface="Cambria"/>
                        </a:rPr>
                        <a:t> på </a:t>
                      </a:r>
                      <a:r>
                        <a:rPr lang="sv-SE" sz="1200" dirty="0" smtClean="0">
                          <a:latin typeface="Cambria"/>
                          <a:cs typeface="Cambria"/>
                        </a:rPr>
                        <a:t>samlad</a:t>
                      </a:r>
                      <a:r>
                        <a:rPr lang="sv-SE" sz="1200" baseline="0" dirty="0" smtClean="0">
                          <a:latin typeface="Cambria"/>
                          <a:cs typeface="Cambria"/>
                        </a:rPr>
                        <a:t> </a:t>
                      </a:r>
                      <a:r>
                        <a:rPr lang="sv-SE" sz="1200" dirty="0" smtClean="0">
                          <a:latin typeface="Cambria"/>
                          <a:cs typeface="Cambria"/>
                        </a:rPr>
                        <a:t>läkemedelslista,</a:t>
                      </a:r>
                      <a:r>
                        <a:rPr lang="sv-SE" sz="1200" baseline="0" dirty="0" smtClean="0">
                          <a:latin typeface="Cambria"/>
                          <a:cs typeface="Cambria"/>
                        </a:rPr>
                        <a:t> m</a:t>
                      </a:r>
                      <a:r>
                        <a:rPr lang="sv-SE" sz="1200" dirty="0" smtClean="0">
                          <a:latin typeface="Cambria"/>
                          <a:cs typeface="Cambria"/>
                        </a:rPr>
                        <a:t>ed tillhörande Expedieringsunderlag</a:t>
                      </a:r>
                      <a:r>
                        <a:rPr lang="sv-SE" sz="1200" baseline="0" dirty="0" smtClean="0">
                          <a:latin typeface="Cambria"/>
                          <a:cs typeface="Cambria"/>
                        </a:rPr>
                        <a:t> (förskrivning).</a:t>
                      </a:r>
                      <a:endParaRPr lang="sv-SE" sz="1200" dirty="0" smtClean="0">
                        <a:latin typeface="Cambria"/>
                        <a:cs typeface="Cambria"/>
                      </a:endParaRP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Tids-</a:t>
                      </a:r>
                      <a:r>
                        <a:rPr lang="sv-SE" sz="1200" baseline="0" dirty="0" smtClean="0">
                          <a:latin typeface="Cambria"/>
                          <a:cs typeface="Cambria"/>
                        </a:rPr>
                        <a:t> &amp; statusfilter.</a:t>
                      </a:r>
                      <a:br>
                        <a:rPr lang="sv-SE" sz="1200" baseline="0" dirty="0" smtClean="0">
                          <a:latin typeface="Cambria"/>
                          <a:cs typeface="Cambria"/>
                        </a:rPr>
                      </a:br>
                      <a:r>
                        <a:rPr lang="sv-SE" sz="1200" baseline="0" dirty="0" smtClean="0">
                          <a:latin typeface="Cambria"/>
                          <a:cs typeface="Cambria"/>
                        </a:rPr>
                        <a:t>Även resulterande läkemedelsbehandling (behandlingssteg) för flera ordinationer i följd.</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prstClr val="black"/>
                          </a:solidFill>
                          <a:latin typeface="Courier New"/>
                          <a:ea typeface="+mn-ea"/>
                          <a:cs typeface="Courier New"/>
                        </a:rPr>
                        <a:t>GetActivePrescriptions</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prstClr val="black"/>
                          </a:solidFill>
                          <a:latin typeface="Courier New"/>
                          <a:ea typeface="+mn-ea"/>
                          <a:cs typeface="Courier New"/>
                        </a:rPr>
                        <a:t>GetInactivePrescriptions</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prstClr val="black"/>
                          </a:solidFill>
                          <a:latin typeface="Courier New"/>
                          <a:ea typeface="+mn-ea"/>
                          <a:cs typeface="Courier New"/>
                        </a:rPr>
                        <a:t>GetPrescriptionHistory</a:t>
                      </a:r>
                      <a:endParaRPr lang="sv-SE" sz="1200" kern="1200" dirty="0">
                        <a:solidFill>
                          <a:prstClr val="black"/>
                        </a:solidFill>
                        <a:latin typeface="Courier New"/>
                        <a:ea typeface="+mn-ea"/>
                        <a:cs typeface="Courier New"/>
                      </a:endParaRPr>
                    </a:p>
                  </a:txBody>
                  <a:tcPr/>
                </a:tc>
              </a:tr>
              <a:tr h="13486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prstClr val="black"/>
                          </a:solidFill>
                          <a:latin typeface="Courier New"/>
                          <a:ea typeface="+mn-ea"/>
                          <a:cs typeface="Courier New"/>
                        </a:rPr>
                        <a:t>RegisterMedicationPrescription</a:t>
                      </a:r>
                      <a:endParaRPr lang="sv-SE" sz="1200" kern="1200" dirty="0">
                        <a:solidFill>
                          <a:prstClr val="black"/>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dirty="0" smtClean="0">
                          <a:latin typeface="Cambria"/>
                          <a:cs typeface="Cambria"/>
                        </a:rPr>
                        <a:t>Registrerar Läkemedelsordination </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och ev. tillhörande Expedieringsunderlag.</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Kan peka på en existerande Läkemedelsbehandling, varpå registreringen sker mot denna. Annars skapas en ny Läkemedelsbehandling.</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prstClr val="black"/>
                          </a:solidFill>
                          <a:latin typeface="Courier New"/>
                          <a:ea typeface="+mn-ea"/>
                          <a:cs typeface="Courier New"/>
                        </a:rPr>
                        <a:t>RegisterPrescription</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prstClr val="black"/>
                          </a:solidFill>
                          <a:latin typeface="Courier New"/>
                          <a:ea typeface="+mn-ea"/>
                          <a:cs typeface="Courier New"/>
                        </a:rPr>
                        <a:t>ChangePrescription</a:t>
                      </a:r>
                      <a:endParaRPr lang="sv-SE" sz="1200" kern="1200" dirty="0">
                        <a:solidFill>
                          <a:prstClr val="black"/>
                        </a:solidFill>
                        <a:latin typeface="Courier New"/>
                        <a:ea typeface="+mn-ea"/>
                        <a:cs typeface="Courier New"/>
                      </a:endParaRPr>
                    </a:p>
                  </a:txBody>
                  <a:tcPr/>
                </a:tc>
              </a:tr>
              <a:tr h="726176">
                <a:tc>
                  <a:txBody>
                    <a:bodyPr/>
                    <a:lstStyle/>
                    <a:p>
                      <a:r>
                        <a:rPr lang="sv-SE" sz="1200" kern="1200" dirty="0" smtClean="0">
                          <a:solidFill>
                            <a:prstClr val="black"/>
                          </a:solidFill>
                          <a:latin typeface="Courier New"/>
                          <a:ea typeface="+mn-ea"/>
                          <a:cs typeface="Courier New"/>
                        </a:rPr>
                        <a:t>DiscontinueMedication</a:t>
                      </a:r>
                      <a:endParaRPr lang="sv-SE" sz="1200" kern="1200" dirty="0">
                        <a:solidFill>
                          <a:prstClr val="black"/>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dirty="0" smtClean="0">
                          <a:latin typeface="Cambria"/>
                          <a:cs typeface="Cambria"/>
                        </a:rPr>
                        <a:t>Sätter ut </a:t>
                      </a:r>
                      <a:r>
                        <a:rPr lang="sv-SE" sz="1200" dirty="0" smtClean="0">
                          <a:latin typeface="Cambria"/>
                          <a:cs typeface="Cambria"/>
                        </a:rPr>
                        <a:t>läkemedelsbehandlingen.</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Kan även stoppa ev. kvarvarande uttag på tillhörande expedieringsunderlag.</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sv-SE" sz="1200" b="0" i="0" u="none" strike="noStrike" kern="1200" cap="none" spc="0" normalizeH="0" baseline="0" noProof="0" dirty="0" smtClean="0">
                          <a:ln>
                            <a:noFill/>
                          </a:ln>
                          <a:solidFill>
                            <a:prstClr val="black"/>
                          </a:solidFill>
                          <a:effectLst/>
                          <a:uLnTx/>
                          <a:uFillTx/>
                          <a:latin typeface="Courier New"/>
                          <a:ea typeface="+mn-ea"/>
                          <a:cs typeface="Courier New"/>
                        </a:rPr>
                        <a:t>DiscontinueMedication</a:t>
                      </a:r>
                      <a:endParaRPr lang="sv-SE" sz="1400" dirty="0">
                        <a:latin typeface="Courier New"/>
                        <a:cs typeface="Courier New"/>
                      </a:endParaRPr>
                    </a:p>
                  </a:txBody>
                  <a:tcPr/>
                </a:tc>
              </a:tr>
            </a:tbl>
          </a:graphicData>
        </a:graphic>
      </p:graphicFrame>
      <p:sp>
        <p:nvSpPr>
          <p:cNvPr id="7" name="Rektangel med rundade hörn 6"/>
          <p:cNvSpPr/>
          <p:nvPr/>
        </p:nvSpPr>
        <p:spPr>
          <a:xfrm>
            <a:off x="3221627" y="1127674"/>
            <a:ext cx="691130" cy="540218"/>
          </a:xfrm>
          <a:prstGeom prst="roundRect">
            <a:avLst>
              <a:gd name="adj" fmla="val 10000"/>
            </a:avLst>
          </a:prstGeom>
          <a:blipFill>
            <a:blip r:embed="rId2">
              <a:extLst>
                <a:ext uri="{28A0092B-C50C-407E-A947-70E740481C1C}">
                  <a14:useLocalDpi xmlns:a14="http://schemas.microsoft.com/office/drawing/2010/main" val="0"/>
                </a:ext>
              </a:extLst>
            </a:blip>
            <a:srcRect/>
            <a:stretch>
              <a:fillRect l="-6000" r="-6000"/>
            </a:stretch>
          </a:blipFill>
        </p:spPr>
        <p:style>
          <a:lnRef idx="0">
            <a:schemeClr val="lt1">
              <a:hueOff val="0"/>
              <a:satOff val="0"/>
              <a:lumOff val="0"/>
              <a:alphaOff val="0"/>
            </a:schemeClr>
          </a:lnRef>
          <a:fillRef idx="1">
            <a:scrgbClr r="0" g="0" b="0"/>
          </a:fillRef>
          <a:effectRef idx="2">
            <a:schemeClr val="accent1">
              <a:tint val="50000"/>
              <a:hueOff val="0"/>
              <a:satOff val="0"/>
              <a:lumOff val="0"/>
              <a:alphaOff val="0"/>
            </a:schemeClr>
          </a:effectRef>
          <a:fontRef idx="minor">
            <a:schemeClr val="lt1">
              <a:hueOff val="0"/>
              <a:satOff val="0"/>
              <a:lumOff val="0"/>
              <a:alphaOff val="0"/>
            </a:schemeClr>
          </a:fontRef>
        </p:style>
      </p:sp>
      <p:grpSp>
        <p:nvGrpSpPr>
          <p:cNvPr id="8" name="Grupp 7"/>
          <p:cNvGrpSpPr/>
          <p:nvPr/>
        </p:nvGrpSpPr>
        <p:grpSpPr>
          <a:xfrm>
            <a:off x="1159268" y="1971837"/>
            <a:ext cx="1941135" cy="1900841"/>
            <a:chOff x="3839637" y="1765673"/>
            <a:chExt cx="1941135" cy="1900841"/>
          </a:xfrm>
        </p:grpSpPr>
        <p:sp>
          <p:nvSpPr>
            <p:cNvPr id="9" name="Rundad rektangulär 8"/>
            <p:cNvSpPr/>
            <p:nvPr/>
          </p:nvSpPr>
          <p:spPr bwMode="auto">
            <a:xfrm>
              <a:off x="4297413" y="1765673"/>
              <a:ext cx="1483359" cy="617302"/>
            </a:xfrm>
            <a:prstGeom prst="wedgeRoundRectCallout">
              <a:avLst>
                <a:gd name="adj1" fmla="val -60806"/>
                <a:gd name="adj2" fmla="val -57740"/>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a:solidFill>
                    <a:srgbClr val="0000FF"/>
                  </a:solidFill>
                </a:rPr>
                <a:t>B</a:t>
              </a:r>
              <a:r>
                <a:rPr lang="sv-SE" sz="1000" i="1" dirty="0" smtClean="0">
                  <a:solidFill>
                    <a:srgbClr val="0000FF"/>
                  </a:solidFill>
                </a:rPr>
                <a:t>ättre anpassad för tidslinjer, kan hämta ”allt” eller selektivt</a:t>
              </a:r>
              <a:endParaRPr lang="sv-SE" sz="1000" i="1" dirty="0">
                <a:solidFill>
                  <a:srgbClr val="0000FF"/>
                </a:solidFill>
              </a:endParaRPr>
            </a:p>
          </p:txBody>
        </p:sp>
        <p:sp>
          <p:nvSpPr>
            <p:cNvPr id="12" name="Rundad rektangulär 11"/>
            <p:cNvSpPr/>
            <p:nvPr/>
          </p:nvSpPr>
          <p:spPr bwMode="auto">
            <a:xfrm>
              <a:off x="3839637" y="3221426"/>
              <a:ext cx="1200574" cy="445088"/>
            </a:xfrm>
            <a:prstGeom prst="wedgeRoundRectCallout">
              <a:avLst>
                <a:gd name="adj1" fmla="val 8151"/>
                <a:gd name="adj2" fmla="val -9608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a:solidFill>
                    <a:srgbClr val="0000FF"/>
                  </a:solidFill>
                </a:rPr>
                <a:t>Flexiblare, </a:t>
              </a:r>
              <a:br>
                <a:rPr lang="sv-SE" sz="1000" i="1" dirty="0">
                  <a:solidFill>
                    <a:srgbClr val="0000FF"/>
                  </a:solidFill>
                </a:rPr>
              </a:br>
              <a:r>
                <a:rPr lang="sv-SE" sz="1000" i="1" dirty="0" smtClean="0">
                  <a:solidFill>
                    <a:srgbClr val="0000FF"/>
                  </a:solidFill>
                </a:rPr>
                <a:t>&amp; enklare </a:t>
              </a:r>
              <a:r>
                <a:rPr lang="sv-SE" sz="1000" i="1" dirty="0">
                  <a:solidFill>
                    <a:srgbClr val="0000FF"/>
                  </a:solidFill>
                </a:rPr>
                <a:t>logik</a:t>
              </a:r>
            </a:p>
          </p:txBody>
        </p:sp>
      </p:grpSp>
      <p:sp>
        <p:nvSpPr>
          <p:cNvPr id="2" name="Rektangel 1"/>
          <p:cNvSpPr/>
          <p:nvPr/>
        </p:nvSpPr>
        <p:spPr>
          <a:xfrm>
            <a:off x="212459" y="5675990"/>
            <a:ext cx="4572000" cy="600164"/>
          </a:xfrm>
          <a:prstGeom prst="rect">
            <a:avLst/>
          </a:prstGeom>
        </p:spPr>
        <p:txBody>
          <a:bodyPr>
            <a:spAutoFit/>
          </a:bodyPr>
          <a:lstStyle/>
          <a:p>
            <a:r>
              <a:rPr lang="sv-SE" sz="1100" dirty="0">
                <a:solidFill>
                  <a:schemeClr val="tx2"/>
                </a:solidFill>
              </a:rPr>
              <a:t>T</a:t>
            </a:r>
            <a:r>
              <a:rPr lang="sv-SE" sz="1100" dirty="0" smtClean="0">
                <a:solidFill>
                  <a:schemeClr val="tx2"/>
                </a:solidFill>
              </a:rPr>
              <a:t>jänstedomän: </a:t>
            </a:r>
            <a:r>
              <a:rPr lang="sv-SE" sz="1100" i="1" dirty="0">
                <a:solidFill>
                  <a:schemeClr val="tx2"/>
                </a:solidFill>
              </a:rPr>
              <a:t>vård- och omsorg kärnprocess: </a:t>
            </a:r>
            <a:r>
              <a:rPr lang="sv-SE" sz="1100" i="1" dirty="0" smtClean="0">
                <a:solidFill>
                  <a:schemeClr val="tx2"/>
                </a:solidFill>
              </a:rPr>
              <a:t/>
            </a:r>
            <a:br>
              <a:rPr lang="sv-SE" sz="1100" i="1" dirty="0" smtClean="0">
                <a:solidFill>
                  <a:schemeClr val="tx2"/>
                </a:solidFill>
              </a:rPr>
            </a:br>
            <a:r>
              <a:rPr lang="sv-SE" sz="1100" i="1" dirty="0" smtClean="0">
                <a:solidFill>
                  <a:schemeClr val="tx2"/>
                </a:solidFill>
              </a:rPr>
              <a:t>hantera aktiviteter:ordination</a:t>
            </a:r>
            <a:r>
              <a:rPr lang="sv-SE" sz="1100" i="1" dirty="0">
                <a:solidFill>
                  <a:schemeClr val="tx2"/>
                </a:solidFill>
              </a:rPr>
              <a:t/>
            </a:r>
            <a:br>
              <a:rPr lang="sv-SE" sz="1100" i="1" dirty="0">
                <a:solidFill>
                  <a:schemeClr val="tx2"/>
                </a:solidFill>
              </a:rPr>
            </a:br>
            <a:r>
              <a:rPr lang="sv-SE" sz="1100" i="1" dirty="0">
                <a:solidFill>
                  <a:schemeClr val="tx2"/>
                </a:solidFill>
              </a:rPr>
              <a:t>clinicalprocess:activityprescription:prescribe</a:t>
            </a:r>
            <a:endParaRPr lang="sv-SE" sz="1100" dirty="0">
              <a:solidFill>
                <a:schemeClr val="tx2"/>
              </a:solidFill>
            </a:endParaRPr>
          </a:p>
        </p:txBody>
      </p:sp>
    </p:spTree>
    <p:extLst>
      <p:ext uri="{BB962C8B-B14F-4D97-AF65-F5344CB8AC3E}">
        <p14:creationId xmlns:p14="http://schemas.microsoft.com/office/powerpoint/2010/main" val="428051646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000" dirty="0"/>
              <a:t>Tjänstekontrakt v2.0 - översikt</a:t>
            </a:r>
            <a:endParaRPr lang="sv-SE" sz="36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22</a:t>
            </a:fld>
            <a:endParaRPr lang="sv-SE"/>
          </a:p>
        </p:txBody>
      </p:sp>
      <p:graphicFrame>
        <p:nvGraphicFramePr>
          <p:cNvPr id="4" name="Tabell 3"/>
          <p:cNvGraphicFramePr>
            <a:graphicFrameLocks noGrp="1"/>
          </p:cNvGraphicFramePr>
          <p:nvPr>
            <p:extLst>
              <p:ext uri="{D42A27DB-BD31-4B8C-83A1-F6EECF244321}">
                <p14:modId xmlns:p14="http://schemas.microsoft.com/office/powerpoint/2010/main" val="3496059000"/>
              </p:ext>
            </p:extLst>
          </p:nvPr>
        </p:nvGraphicFramePr>
        <p:xfrm>
          <a:off x="207211" y="1236584"/>
          <a:ext cx="8824594" cy="4033081"/>
        </p:xfrm>
        <a:graphic>
          <a:graphicData uri="http://schemas.openxmlformats.org/drawingml/2006/table">
            <a:tbl>
              <a:tblPr firstRow="1" bandRow="1">
                <a:tableStyleId>{BDBED569-4797-4DF1-A0F4-6AAB3CD982D8}</a:tableStyleId>
              </a:tblPr>
              <a:tblGrid>
                <a:gridCol w="2934368"/>
                <a:gridCol w="3472322"/>
                <a:gridCol w="2417904"/>
              </a:tblGrid>
              <a:tr h="375481">
                <a:tc gridSpan="2">
                  <a:txBody>
                    <a:bodyPr/>
                    <a:lstStyle/>
                    <a:p>
                      <a:r>
                        <a:rPr lang="sv-SE" sz="1200" b="1" kern="1200" dirty="0" smtClean="0">
                          <a:solidFill>
                            <a:schemeClr val="tx1"/>
                          </a:solidFill>
                          <a:latin typeface="Cambria"/>
                          <a:ea typeface="+mn-ea"/>
                          <a:cs typeface="Cambria"/>
                        </a:rPr>
                        <a:t>Expedieringsunderlag</a:t>
                      </a:r>
                      <a:r>
                        <a:rPr lang="sv-SE" sz="1200" b="1" kern="1200" baseline="0" dirty="0" smtClean="0">
                          <a:solidFill>
                            <a:schemeClr val="tx1"/>
                          </a:solidFill>
                          <a:latin typeface="Cambria"/>
                          <a:ea typeface="+mn-ea"/>
                          <a:cs typeface="Cambria"/>
                        </a:rPr>
                        <a:t> (förskrivningar)</a:t>
                      </a:r>
                      <a:endParaRPr lang="sv-SE" sz="1200" dirty="0">
                        <a:latin typeface="Cambria"/>
                        <a:cs typeface="Cambria"/>
                      </a:endParaRPr>
                    </a:p>
                  </a:txBody>
                  <a:tcPr>
                    <a:solidFill>
                      <a:srgbClr val="AADEE2"/>
                    </a:solidFill>
                  </a:tcPr>
                </a:tc>
                <a:tc hMerge="1">
                  <a:txBody>
                    <a:bodyPr/>
                    <a:lstStyle/>
                    <a:p>
                      <a:endParaRPr lang="sv-SE"/>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050" b="1" kern="1200" dirty="0" smtClean="0">
                          <a:solidFill>
                            <a:schemeClr val="tx1"/>
                          </a:solidFill>
                          <a:latin typeface="+mn-lt"/>
                          <a:ea typeface="+mn-ea"/>
                          <a:cs typeface="Courier New"/>
                        </a:rPr>
                        <a:t>Ersätter 1.0</a:t>
                      </a:r>
                    </a:p>
                  </a:txBody>
                  <a:tcPr>
                    <a:solidFill>
                      <a:schemeClr val="accent1"/>
                    </a:solidFill>
                  </a:tcPr>
                </a:tc>
              </a:tr>
              <a:tr h="5186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ourier New"/>
                          <a:cs typeface="Courier New"/>
                        </a:rPr>
                        <a:t>GetMedicationDispense</a:t>
                      </a:r>
                      <a:br>
                        <a:rPr lang="sv-SE" sz="1200" dirty="0" smtClean="0">
                          <a:latin typeface="Courier New"/>
                          <a:cs typeface="Courier New"/>
                        </a:rPr>
                      </a:br>
                      <a:r>
                        <a:rPr lang="sv-SE" sz="1200" dirty="0" smtClean="0">
                          <a:latin typeface="Courier New"/>
                          <a:cs typeface="Courier New"/>
                        </a:rPr>
                        <a:t>Authorizations</a:t>
                      </a:r>
                      <a:endParaRPr lang="sv-SE" sz="1200" dirty="0">
                        <a:latin typeface="Courier New"/>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kern="1200" dirty="0" smtClean="0">
                          <a:solidFill>
                            <a:schemeClr val="tx1"/>
                          </a:solidFill>
                          <a:latin typeface="Cambria"/>
                          <a:ea typeface="+mn-ea"/>
                          <a:cs typeface="Cambria"/>
                        </a:rPr>
                        <a:t>Expedieringsunderlag</a:t>
                      </a:r>
                      <a:r>
                        <a:rPr lang="sv-SE" sz="1200" kern="1200" baseline="0" dirty="0" smtClean="0">
                          <a:solidFill>
                            <a:schemeClr val="tx1"/>
                          </a:solidFill>
                          <a:latin typeface="Cambria"/>
                          <a:ea typeface="+mn-ea"/>
                          <a:cs typeface="Cambria"/>
                        </a:rPr>
                        <a:t>.</a:t>
                      </a:r>
                      <a:br>
                        <a:rPr lang="sv-SE" sz="1200" kern="1200" baseline="0" dirty="0" smtClean="0">
                          <a:solidFill>
                            <a:schemeClr val="tx1"/>
                          </a:solidFill>
                          <a:latin typeface="Cambria"/>
                          <a:ea typeface="+mn-ea"/>
                          <a:cs typeface="Cambria"/>
                        </a:rPr>
                      </a:br>
                      <a:r>
                        <a:rPr lang="sv-SE" sz="1200" kern="1200" baseline="0" dirty="0" smtClean="0">
                          <a:solidFill>
                            <a:schemeClr val="tx1"/>
                          </a:solidFill>
                          <a:latin typeface="Cambria"/>
                          <a:ea typeface="+mn-ea"/>
                          <a:cs typeface="Cambria"/>
                        </a:rPr>
                        <a:t>För dospatient hämtas allt från NOD och RR med direktåtkomst, för övriga hämtas allt från NOD.</a:t>
                      </a:r>
                      <a:br>
                        <a:rPr lang="sv-SE" sz="1200" kern="1200" baseline="0" dirty="0" smtClean="0">
                          <a:solidFill>
                            <a:schemeClr val="tx1"/>
                          </a:solidFill>
                          <a:latin typeface="Cambria"/>
                          <a:ea typeface="+mn-ea"/>
                          <a:cs typeface="Cambria"/>
                        </a:rPr>
                      </a:br>
                      <a:r>
                        <a:rPr lang="sv-SE" sz="1200" dirty="0" smtClean="0">
                          <a:latin typeface="Cambria"/>
                          <a:cs typeface="Cambria"/>
                        </a:rPr>
                        <a:t>Tids-</a:t>
                      </a:r>
                      <a:r>
                        <a:rPr lang="sv-SE" sz="1200" baseline="0" dirty="0" smtClean="0">
                          <a:latin typeface="Cambria"/>
                          <a:cs typeface="Cambria"/>
                        </a:rPr>
                        <a:t> &amp; statusfilter.</a:t>
                      </a:r>
                      <a:endParaRPr lang="sv-SE" sz="1200" kern="1200" baseline="0" dirty="0" smtClean="0">
                        <a:solidFill>
                          <a:schemeClr val="tx1"/>
                        </a:solidFill>
                        <a:latin typeface="Cambria"/>
                        <a:ea typeface="+mn-ea"/>
                        <a:cs typeface="Cambria"/>
                      </a:endParaRPr>
                    </a:p>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baseline="0" dirty="0" smtClean="0">
                          <a:solidFill>
                            <a:schemeClr val="tx1"/>
                          </a:solidFill>
                          <a:latin typeface="Cambria"/>
                          <a:ea typeface="+mn-ea"/>
                          <a:cs typeface="Cambria"/>
                        </a:rPr>
                        <a:t>Underlagen kan vara kopplade till läkemedelsbehandling i NOD eller icke kopplade (lösa).</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GetMedicalPrescriptions</a:t>
                      </a:r>
                      <a:endParaRPr lang="sv-SE" sz="1200" kern="1200" dirty="0">
                        <a:solidFill>
                          <a:schemeClr val="tx1"/>
                        </a:solidFill>
                        <a:latin typeface="Courier New"/>
                        <a:ea typeface="+mn-ea"/>
                        <a:cs typeface="Courier New"/>
                      </a:endParaRPr>
                    </a:p>
                  </a:txBody>
                  <a:tcPr/>
                </a:tc>
              </a:tr>
              <a:tr h="4149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RegisterMedicationDispense</a:t>
                      </a:r>
                      <a:br>
                        <a:rPr lang="sv-SE" sz="1200" kern="1200" dirty="0" smtClean="0">
                          <a:solidFill>
                            <a:schemeClr val="tx1"/>
                          </a:solidFill>
                          <a:latin typeface="Courier New"/>
                          <a:ea typeface="+mn-ea"/>
                          <a:cs typeface="Courier New"/>
                        </a:rPr>
                      </a:br>
                      <a:r>
                        <a:rPr lang="sv-SE" sz="1200" kern="1200" dirty="0" smtClean="0">
                          <a:solidFill>
                            <a:schemeClr val="tx1"/>
                          </a:solidFill>
                          <a:latin typeface="Courier New"/>
                          <a:ea typeface="+mn-ea"/>
                          <a:cs typeface="Courier New"/>
                        </a:rPr>
                        <a:t>Authorization</a:t>
                      </a:r>
                      <a:endParaRPr lang="sv-SE" sz="1200" kern="1200" dirty="0">
                        <a:solidFill>
                          <a:schemeClr val="tx1"/>
                        </a:solidFill>
                        <a:latin typeface="Courier New"/>
                        <a:ea typeface="+mn-ea"/>
                        <a:cs typeface="Courier New"/>
                      </a:endParaRPr>
                    </a:p>
                  </a:txBody>
                  <a:tcPr/>
                </a:tc>
                <a:tc>
                  <a:txBody>
                    <a:bodyPr/>
                    <a:lstStyle/>
                    <a:p>
                      <a:r>
                        <a:rPr lang="sv-SE" sz="1200" b="1" dirty="0" smtClean="0">
                          <a:latin typeface="Cambria"/>
                          <a:cs typeface="Cambria"/>
                        </a:rPr>
                        <a:t>Registrerar Expedieringsunderlag </a:t>
                      </a:r>
                    </a:p>
                    <a:p>
                      <a:r>
                        <a:rPr lang="sv-SE" sz="1200" dirty="0" smtClean="0">
                          <a:latin typeface="Cambria"/>
                          <a:cs typeface="Cambria"/>
                        </a:rPr>
                        <a:t>- antingen baserat på en existerande läkemedelsbehandling i NOD (kopplat)</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 eller fristående (ej kopplat)</a:t>
                      </a:r>
                      <a:br>
                        <a:rPr lang="sv-SE" sz="1200" dirty="0" smtClean="0">
                          <a:latin typeface="Cambria"/>
                          <a:cs typeface="Cambria"/>
                        </a:rPr>
                      </a:br>
                      <a:r>
                        <a:rPr lang="sv-SE" sz="1200" dirty="0" smtClean="0">
                          <a:latin typeface="Cambria"/>
                          <a:cs typeface="Cambria"/>
                        </a:rPr>
                        <a:t>Patient anges med personnummer,</a:t>
                      </a:r>
                      <a:r>
                        <a:rPr lang="sv-SE" sz="1200" baseline="0" dirty="0" smtClean="0">
                          <a:latin typeface="Cambria"/>
                          <a:cs typeface="Cambria"/>
                        </a:rPr>
                        <a:t> alternativt med </a:t>
                      </a:r>
                      <a:r>
                        <a:rPr lang="sv-SE" sz="1200" kern="1200" baseline="0" dirty="0" smtClean="0">
                          <a:solidFill>
                            <a:schemeClr val="tx1"/>
                          </a:solidFill>
                          <a:latin typeface="Cambria"/>
                          <a:ea typeface="+mn-ea"/>
                          <a:cs typeface="Cambria"/>
                        </a:rPr>
                        <a:t>namn och födelsedata för</a:t>
                      </a:r>
                      <a:r>
                        <a:rPr lang="sv-SE" sz="1200" b="0" kern="1200" baseline="0" dirty="0" smtClean="0">
                          <a:solidFill>
                            <a:schemeClr val="tx1"/>
                          </a:solidFill>
                          <a:latin typeface="Cambria"/>
                          <a:ea typeface="+mn-ea"/>
                          <a:cs typeface="Cambria"/>
                        </a:rPr>
                        <a:t> person utan svenskt personnummer.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kern="1200" noProof="0" dirty="0" smtClean="0">
                          <a:solidFill>
                            <a:schemeClr val="tx1"/>
                          </a:solidFill>
                          <a:latin typeface="Courier New"/>
                          <a:ea typeface="+mn-ea"/>
                          <a:cs typeface="Courier New"/>
                        </a:rPr>
                        <a:t>(ny)</a:t>
                      </a:r>
                    </a:p>
                  </a:txBody>
                  <a:tcPr/>
                </a:tc>
              </a:tr>
              <a:tr h="4149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err="1" smtClean="0">
                          <a:solidFill>
                            <a:schemeClr val="tx1"/>
                          </a:solidFill>
                          <a:latin typeface="Courier New"/>
                          <a:ea typeface="+mn-ea"/>
                          <a:cs typeface="Courier New"/>
                        </a:rPr>
                        <a:t>RevokeMedicationDispense</a:t>
                      </a:r>
                      <a:endParaRPr lang="sv-SE" sz="1200" kern="1200" dirty="0" smtClean="0">
                        <a:solidFill>
                          <a:schemeClr val="tx1"/>
                        </a:solidFill>
                        <a:latin typeface="Courier New"/>
                        <a:ea typeface="+mn-ea"/>
                        <a:cs typeface="Courier New"/>
                      </a:endParaRPr>
                    </a:p>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Authorization</a:t>
                      </a:r>
                      <a:endParaRPr lang="sv-SE" sz="1200" kern="1200" dirty="0">
                        <a:solidFill>
                          <a:schemeClr val="tx1"/>
                        </a:solidFill>
                        <a:latin typeface="Courier New"/>
                        <a:ea typeface="+mn-ea"/>
                        <a:cs typeface="Courier New"/>
                      </a:endParaRPr>
                    </a:p>
                  </a:txBody>
                  <a:tcPr/>
                </a:tc>
                <a:tc>
                  <a:txBody>
                    <a:bodyPr/>
                    <a:lstStyle/>
                    <a:p>
                      <a:r>
                        <a:rPr lang="sv-SE" sz="1200" b="1" dirty="0" smtClean="0">
                          <a:solidFill>
                            <a:prstClr val="black"/>
                          </a:solidFill>
                          <a:latin typeface="Cambria"/>
                          <a:cs typeface="Cambria"/>
                        </a:rPr>
                        <a:t>Makulerar</a:t>
                      </a:r>
                      <a:r>
                        <a:rPr lang="sv-SE" sz="1200" baseline="0" dirty="0" smtClean="0">
                          <a:solidFill>
                            <a:prstClr val="black"/>
                          </a:solidFill>
                          <a:latin typeface="Cambria"/>
                          <a:cs typeface="Cambria"/>
                        </a:rPr>
                        <a:t> </a:t>
                      </a:r>
                      <a:r>
                        <a:rPr lang="sv-SE" sz="1200" dirty="0" smtClean="0">
                          <a:solidFill>
                            <a:prstClr val="black"/>
                          </a:solidFill>
                          <a:latin typeface="Cambria"/>
                          <a:cs typeface="Cambria"/>
                        </a:rPr>
                        <a:t>Expedieringsunderlag </a:t>
                      </a:r>
                    </a:p>
                    <a:p>
                      <a:r>
                        <a:rPr lang="sv-SE" sz="1200" dirty="0" smtClean="0">
                          <a:solidFill>
                            <a:prstClr val="black"/>
                          </a:solidFill>
                          <a:latin typeface="Cambria"/>
                          <a:cs typeface="Cambria"/>
                        </a:rPr>
                        <a:t>och stoppar därmed kvarvarande expedieringar</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StopPrescription</a:t>
                      </a:r>
                      <a:br>
                        <a:rPr lang="sv-SE" sz="1200" kern="1200" dirty="0" smtClean="0">
                          <a:solidFill>
                            <a:schemeClr val="tx1"/>
                          </a:solidFill>
                          <a:latin typeface="Courier New"/>
                          <a:ea typeface="+mn-ea"/>
                          <a:cs typeface="Courier New"/>
                        </a:rPr>
                      </a:br>
                      <a:r>
                        <a:rPr lang="sv-SE" sz="1200" kern="1200" dirty="0" smtClean="0">
                          <a:solidFill>
                            <a:schemeClr val="tx1"/>
                          </a:solidFill>
                          <a:latin typeface="Courier New"/>
                          <a:ea typeface="+mn-ea"/>
                          <a:cs typeface="Courier New"/>
                        </a:rPr>
                        <a:t>Dispensation</a:t>
                      </a:r>
                      <a:endParaRPr lang="sv-SE" sz="1200" kern="1200" dirty="0">
                        <a:solidFill>
                          <a:schemeClr val="tx1"/>
                        </a:solidFill>
                        <a:latin typeface="Courier New"/>
                        <a:ea typeface="+mn-ea"/>
                        <a:cs typeface="Courier New"/>
                      </a:endParaRPr>
                    </a:p>
                  </a:txBody>
                  <a:tcPr/>
                </a:tc>
              </a:tr>
              <a:tr h="4149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ourier New"/>
                          <a:cs typeface="Courier New"/>
                        </a:rPr>
                        <a:t>AttachMedicationDispense</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ourier New"/>
                          <a:cs typeface="Courier New"/>
                        </a:rPr>
                        <a:t>Authorization</a:t>
                      </a:r>
                      <a:endParaRPr lang="sv-SE" sz="1200" dirty="0">
                        <a:latin typeface="Courier New"/>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dirty="0" smtClean="0">
                          <a:latin typeface="Cambria"/>
                          <a:cs typeface="Cambria"/>
                        </a:rPr>
                        <a:t>Kopplar </a:t>
                      </a:r>
                      <a:r>
                        <a:rPr lang="sv-SE" sz="1200" b="0" dirty="0" smtClean="0">
                          <a:latin typeface="Cambria"/>
                          <a:cs typeface="Cambria"/>
                        </a:rPr>
                        <a:t>Expedieringsunderlag</a:t>
                      </a:r>
                      <a:r>
                        <a:rPr lang="sv-SE" sz="1200" dirty="0" smtClean="0">
                          <a:latin typeface="Cambria"/>
                          <a:cs typeface="Cambria"/>
                        </a:rPr>
                        <a:t> till en Läkemedelsbehandling</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solidFill>
                            <a:schemeClr val="tx1"/>
                          </a:solidFill>
                          <a:latin typeface="Courier New"/>
                          <a:cs typeface="Courier New"/>
                        </a:rPr>
                        <a:t>ConfirmPrescription</a:t>
                      </a:r>
                      <a:endParaRPr lang="sv-SE" sz="1400" dirty="0">
                        <a:solidFill>
                          <a:schemeClr val="tx1"/>
                        </a:solidFill>
                        <a:latin typeface="Courier New"/>
                        <a:cs typeface="Courier New"/>
                      </a:endParaRPr>
                    </a:p>
                  </a:txBody>
                  <a:tcPr/>
                </a:tc>
              </a:tr>
            </a:tbl>
          </a:graphicData>
        </a:graphic>
      </p:graphicFrame>
      <p:sp>
        <p:nvSpPr>
          <p:cNvPr id="6" name="Rektangel med rundade hörn 5"/>
          <p:cNvSpPr/>
          <p:nvPr/>
        </p:nvSpPr>
        <p:spPr>
          <a:xfrm>
            <a:off x="3241843" y="1136316"/>
            <a:ext cx="688473" cy="529771"/>
          </a:xfrm>
          <a:prstGeom prst="roundRect">
            <a:avLst>
              <a:gd name="adj" fmla="val 10000"/>
            </a:avLst>
          </a:prstGeom>
          <a:blipFill>
            <a:blip r:embed="rId2">
              <a:extLst>
                <a:ext uri="{28A0092B-C50C-407E-A947-70E740481C1C}">
                  <a14:useLocalDpi xmlns:a14="http://schemas.microsoft.com/office/drawing/2010/main" val="0"/>
                </a:ext>
              </a:extLst>
            </a:blip>
            <a:srcRect/>
            <a:stretch>
              <a:fillRect t="-35000" b="-35000"/>
            </a:stretch>
          </a:blipFill>
        </p:spPr>
        <p:style>
          <a:lnRef idx="0">
            <a:schemeClr val="lt1">
              <a:hueOff val="0"/>
              <a:satOff val="0"/>
              <a:lumOff val="0"/>
              <a:alphaOff val="0"/>
            </a:schemeClr>
          </a:lnRef>
          <a:fillRef idx="1">
            <a:scrgbClr r="0" g="0" b="0"/>
          </a:fillRef>
          <a:effectRef idx="2">
            <a:schemeClr val="accent1">
              <a:tint val="50000"/>
              <a:hueOff val="0"/>
              <a:satOff val="0"/>
              <a:lumOff val="0"/>
              <a:alphaOff val="0"/>
            </a:schemeClr>
          </a:effectRef>
          <a:fontRef idx="minor">
            <a:schemeClr val="lt1">
              <a:hueOff val="0"/>
              <a:satOff val="0"/>
              <a:lumOff val="0"/>
              <a:alphaOff val="0"/>
            </a:schemeClr>
          </a:fontRef>
        </p:style>
      </p:sp>
      <p:grpSp>
        <p:nvGrpSpPr>
          <p:cNvPr id="7" name="Grupp 6"/>
          <p:cNvGrpSpPr/>
          <p:nvPr/>
        </p:nvGrpSpPr>
        <p:grpSpPr>
          <a:xfrm>
            <a:off x="925597" y="3370546"/>
            <a:ext cx="1730810" cy="2380150"/>
            <a:chOff x="1923026" y="462258"/>
            <a:chExt cx="1730810" cy="2380150"/>
          </a:xfrm>
        </p:grpSpPr>
        <p:sp>
          <p:nvSpPr>
            <p:cNvPr id="8" name="Rundad rektangulär 7"/>
            <p:cNvSpPr/>
            <p:nvPr/>
          </p:nvSpPr>
          <p:spPr bwMode="auto">
            <a:xfrm>
              <a:off x="2718047" y="462258"/>
              <a:ext cx="935789" cy="445088"/>
            </a:xfrm>
            <a:prstGeom prst="wedgeRoundRectCallout">
              <a:avLst>
                <a:gd name="adj1" fmla="val -70092"/>
                <a:gd name="adj2" fmla="val -50231"/>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0000FF"/>
                  </a:solidFill>
                </a:rPr>
                <a:t>Även lösa ”recept”</a:t>
              </a:r>
              <a:endParaRPr lang="sv-SE" sz="1000" i="1" dirty="0">
                <a:solidFill>
                  <a:srgbClr val="0000FF"/>
                </a:solidFill>
              </a:endParaRPr>
            </a:p>
          </p:txBody>
        </p:sp>
        <p:sp>
          <p:nvSpPr>
            <p:cNvPr id="9" name="Rundad rektangulär 8"/>
            <p:cNvSpPr/>
            <p:nvPr/>
          </p:nvSpPr>
          <p:spPr bwMode="auto">
            <a:xfrm>
              <a:off x="1923026" y="2397320"/>
              <a:ext cx="1200574" cy="445088"/>
            </a:xfrm>
            <a:prstGeom prst="wedgeRoundRectCallout">
              <a:avLst>
                <a:gd name="adj1" fmla="val 8151"/>
                <a:gd name="adj2" fmla="val -9608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a:solidFill>
                    <a:srgbClr val="0000FF"/>
                  </a:solidFill>
                </a:rPr>
                <a:t>Flexiblare, </a:t>
              </a:r>
              <a:br>
                <a:rPr lang="sv-SE" sz="1000" i="1" dirty="0">
                  <a:solidFill>
                    <a:srgbClr val="0000FF"/>
                  </a:solidFill>
                </a:rPr>
              </a:br>
              <a:r>
                <a:rPr lang="sv-SE" sz="1000" i="1" dirty="0" smtClean="0">
                  <a:solidFill>
                    <a:srgbClr val="0000FF"/>
                  </a:solidFill>
                </a:rPr>
                <a:t>&amp; enklare </a:t>
              </a:r>
              <a:r>
                <a:rPr lang="sv-SE" sz="1000" i="1" dirty="0">
                  <a:solidFill>
                    <a:srgbClr val="0000FF"/>
                  </a:solidFill>
                </a:rPr>
                <a:t>logik</a:t>
              </a:r>
            </a:p>
          </p:txBody>
        </p:sp>
      </p:grpSp>
    </p:spTree>
    <p:extLst>
      <p:ext uri="{BB962C8B-B14F-4D97-AF65-F5344CB8AC3E}">
        <p14:creationId xmlns:p14="http://schemas.microsoft.com/office/powerpoint/2010/main" val="412578786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365674"/>
            <a:ext cx="6792913" cy="692150"/>
          </a:xfrm>
        </p:spPr>
        <p:txBody>
          <a:bodyPr/>
          <a:lstStyle/>
          <a:p>
            <a:r>
              <a:rPr lang="sv-SE" sz="2000" dirty="0"/>
              <a:t>Tjänstekontrakt v2.0 - översikt</a:t>
            </a:r>
            <a:endParaRPr lang="sv-SE" sz="36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23</a:t>
            </a:fld>
            <a:endParaRPr lang="sv-SE"/>
          </a:p>
        </p:txBody>
      </p:sp>
      <p:graphicFrame>
        <p:nvGraphicFramePr>
          <p:cNvPr id="4" name="Tabell 3"/>
          <p:cNvGraphicFramePr>
            <a:graphicFrameLocks noGrp="1"/>
          </p:cNvGraphicFramePr>
          <p:nvPr>
            <p:extLst>
              <p:ext uri="{D42A27DB-BD31-4B8C-83A1-F6EECF244321}">
                <p14:modId xmlns:p14="http://schemas.microsoft.com/office/powerpoint/2010/main" val="3576831118"/>
              </p:ext>
            </p:extLst>
          </p:nvPr>
        </p:nvGraphicFramePr>
        <p:xfrm>
          <a:off x="207211" y="1236585"/>
          <a:ext cx="8824594" cy="5229955"/>
        </p:xfrm>
        <a:graphic>
          <a:graphicData uri="http://schemas.openxmlformats.org/drawingml/2006/table">
            <a:tbl>
              <a:tblPr firstRow="1" bandRow="1">
                <a:tableStyleId>{BDBED569-4797-4DF1-A0F4-6AAB3CD982D8}</a:tableStyleId>
              </a:tblPr>
              <a:tblGrid>
                <a:gridCol w="2934368"/>
                <a:gridCol w="3375526"/>
                <a:gridCol w="2514700"/>
              </a:tblGrid>
              <a:tr h="364708">
                <a:tc gridSpan="2">
                  <a:txBody>
                    <a:bodyPr/>
                    <a:lstStyle/>
                    <a:p>
                      <a:r>
                        <a:rPr lang="sv-SE" sz="1200" b="1" kern="1200" dirty="0" smtClean="0">
                          <a:solidFill>
                            <a:schemeClr val="tx1"/>
                          </a:solidFill>
                          <a:latin typeface="Cambria"/>
                          <a:ea typeface="+mn-ea"/>
                          <a:cs typeface="Cambria"/>
                        </a:rPr>
                        <a:t>Expedieringar</a:t>
                      </a:r>
                      <a:endParaRPr lang="sv-SE" sz="1200" dirty="0">
                        <a:latin typeface="Cambria"/>
                        <a:cs typeface="Cambria"/>
                      </a:endParaRPr>
                    </a:p>
                  </a:txBody>
                  <a:tcPr>
                    <a:solidFill>
                      <a:srgbClr val="AADEE2"/>
                    </a:solidFill>
                  </a:tcPr>
                </a:tc>
                <a:tc hMerge="1">
                  <a:txBody>
                    <a:bodyPr/>
                    <a:lstStyle/>
                    <a:p>
                      <a:endParaRPr lang="sv-SE"/>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050" b="1" kern="1200" dirty="0" smtClean="0">
                          <a:solidFill>
                            <a:schemeClr val="tx1"/>
                          </a:solidFill>
                          <a:latin typeface="+mn-lt"/>
                          <a:ea typeface="+mn-ea"/>
                          <a:cs typeface="Courier New"/>
                        </a:rPr>
                        <a:t>Ersätter 1.0</a:t>
                      </a:r>
                    </a:p>
                  </a:txBody>
                  <a:tcPr>
                    <a:solidFill>
                      <a:schemeClr val="accent1"/>
                    </a:solidFill>
                  </a:tcPr>
                </a:tc>
              </a:tr>
              <a:tr h="13322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ourier New"/>
                          <a:cs typeface="Courier New"/>
                        </a:rPr>
                        <a:t>GetDispensedDrugs</a:t>
                      </a:r>
                      <a:endParaRPr lang="sv-SE" sz="1200" dirty="0">
                        <a:latin typeface="Courier New"/>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dirty="0" smtClean="0">
                          <a:latin typeface="Cambria"/>
                          <a:cs typeface="Cambria"/>
                        </a:rPr>
                        <a:t>Expedieringar</a:t>
                      </a:r>
                      <a:r>
                        <a:rPr lang="sv-SE" sz="1200" dirty="0" smtClean="0">
                          <a:latin typeface="Cambria"/>
                          <a:cs typeface="Cambria"/>
                        </a:rPr>
                        <a:t> på apotek </a:t>
                      </a:r>
                      <a:r>
                        <a:rPr lang="sv-SE" sz="1200" b="1" dirty="0" smtClean="0">
                          <a:latin typeface="Cambria"/>
                          <a:cs typeface="Cambria"/>
                        </a:rPr>
                        <a:t>kopplat till respektive expedieringsunderlag</a:t>
                      </a:r>
                      <a:r>
                        <a:rPr lang="sv-SE" sz="1200" dirty="0" smtClean="0">
                          <a:latin typeface="Cambria"/>
                          <a:cs typeface="Cambria"/>
                        </a:rPr>
                        <a:t> och därmed till ordinationen. </a:t>
                      </a:r>
                    </a:p>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Även expedieringar ifrån t.ex. pappersrecept returneras (okopplade).</a:t>
                      </a:r>
                      <a:br>
                        <a:rPr lang="sv-SE" sz="1200" dirty="0" smtClean="0">
                          <a:latin typeface="Cambria"/>
                          <a:cs typeface="Cambria"/>
                        </a:rPr>
                      </a:br>
                      <a:r>
                        <a:rPr lang="sv-SE" sz="1200" dirty="0" smtClean="0">
                          <a:latin typeface="Cambria"/>
                          <a:cs typeface="Cambria"/>
                        </a:rPr>
                        <a:t>Kan returnera antingen</a:t>
                      </a:r>
                      <a:r>
                        <a:rPr lang="sv-SE" sz="1200" baseline="0" dirty="0" smtClean="0">
                          <a:latin typeface="Cambria"/>
                          <a:cs typeface="Cambria"/>
                        </a:rPr>
                        <a:t> </a:t>
                      </a:r>
                      <a:r>
                        <a:rPr lang="sv-SE" sz="1200" baseline="0" dirty="0" err="1" smtClean="0">
                          <a:latin typeface="Cambria"/>
                          <a:cs typeface="Cambria"/>
                        </a:rPr>
                        <a:t>xml</a:t>
                      </a:r>
                      <a:r>
                        <a:rPr lang="sv-SE" sz="1200" baseline="0" dirty="0" smtClean="0">
                          <a:latin typeface="Cambria"/>
                          <a:cs typeface="Cambria"/>
                        </a:rPr>
                        <a:t>/text eller en färdig PDF för utskrift.</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err="1" smtClean="0">
                          <a:latin typeface="Courier New"/>
                          <a:cs typeface="Courier New"/>
                        </a:rPr>
                        <a:t>GetDispensedDrugs</a:t>
                      </a:r>
                      <a:r>
                        <a:rPr lang="sv-SE" sz="1200" dirty="0" smtClean="0">
                          <a:latin typeface="Courier New"/>
                          <a:cs typeface="Courier New"/>
                        </a:rPr>
                        <a:t/>
                      </a:r>
                      <a:br>
                        <a:rPr lang="sv-SE" sz="1200" dirty="0" smtClean="0">
                          <a:latin typeface="Courier New"/>
                          <a:cs typeface="Courier New"/>
                        </a:rPr>
                      </a:br>
                      <a:r>
                        <a:rPr lang="sv-SE" sz="1200" dirty="0" err="1" smtClean="0">
                          <a:latin typeface="Courier New"/>
                          <a:cs typeface="Courier New"/>
                        </a:rPr>
                        <a:t>PrintListOfDispensedDrugs</a:t>
                      </a:r>
                      <a:endParaRPr lang="sv-SE" sz="1200" kern="1200" dirty="0">
                        <a:solidFill>
                          <a:schemeClr val="tx1"/>
                        </a:solidFill>
                        <a:latin typeface="Courier New"/>
                        <a:ea typeface="+mn-ea"/>
                        <a:cs typeface="Courier New"/>
                      </a:endParaRPr>
                    </a:p>
                  </a:txBody>
                  <a:tcPr/>
                </a:tc>
              </a:tr>
              <a:tr h="403052">
                <a:tc>
                  <a:txBody>
                    <a:bodyPr/>
                    <a:lstStyle/>
                    <a:p>
                      <a:r>
                        <a:rPr lang="sv-SE" sz="1200" b="1" kern="1200" dirty="0" smtClean="0">
                          <a:solidFill>
                            <a:schemeClr val="tx1"/>
                          </a:solidFill>
                          <a:latin typeface="Cambria"/>
                          <a:ea typeface="+mn-ea"/>
                          <a:cs typeface="Cambria"/>
                        </a:rPr>
                        <a:t>Stödtjänster</a:t>
                      </a:r>
                    </a:p>
                  </a:txBody>
                  <a:tcPr>
                    <a:solidFill>
                      <a:schemeClr val="tx2">
                        <a:alpha val="2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sv-SE" sz="1200" kern="1200" baseline="0" dirty="0">
                        <a:solidFill>
                          <a:schemeClr val="tx1"/>
                        </a:solidFill>
                        <a:latin typeface="Cambria"/>
                        <a:ea typeface="+mn-ea"/>
                        <a:cs typeface="Cambria"/>
                      </a:endParaRPr>
                    </a:p>
                  </a:txBody>
                  <a:tcPr>
                    <a:solidFill>
                      <a:schemeClr val="tx2">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050" b="1" i="0" u="none" strike="noStrike" kern="1200" cap="none" spc="0" normalizeH="0" baseline="0" noProof="0" dirty="0" smtClean="0">
                          <a:ln>
                            <a:noFill/>
                          </a:ln>
                          <a:solidFill>
                            <a:srgbClr val="382819"/>
                          </a:solidFill>
                          <a:effectLst/>
                          <a:uLnTx/>
                          <a:uFillTx/>
                          <a:latin typeface="+mn-lt"/>
                          <a:ea typeface="+mn-ea"/>
                          <a:cs typeface="Courier New"/>
                        </a:rPr>
                        <a:t>Ersätter 1.0</a:t>
                      </a:r>
                    </a:p>
                  </a:txBody>
                  <a:tcPr>
                    <a:solidFill>
                      <a:schemeClr val="tx2">
                        <a:alpha val="20000"/>
                      </a:schemeClr>
                    </a:solidFill>
                  </a:tcPr>
                </a:tc>
              </a:tr>
              <a:tr h="6217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CheckMedicationListVersion</a:t>
                      </a:r>
                      <a:endParaRPr lang="sv-SE" sz="1200"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ambria"/>
                          <a:ea typeface="+mn-ea"/>
                          <a:cs typeface="Cambria"/>
                        </a:rPr>
                        <a:t>Kontrollerar att tjänstekonsumenten har den aktuella versionen av patientens</a:t>
                      </a:r>
                      <a:r>
                        <a:rPr lang="sv-SE" sz="1200" kern="1200" baseline="0" dirty="0" smtClean="0">
                          <a:solidFill>
                            <a:schemeClr val="tx1"/>
                          </a:solidFill>
                          <a:latin typeface="Cambria"/>
                          <a:ea typeface="+mn-ea"/>
                          <a:cs typeface="Cambria"/>
                        </a:rPr>
                        <a:t> </a:t>
                      </a:r>
                      <a:r>
                        <a:rPr lang="sv-SE" sz="1200" kern="1200" dirty="0" smtClean="0">
                          <a:solidFill>
                            <a:schemeClr val="tx1"/>
                          </a:solidFill>
                          <a:latin typeface="Cambria"/>
                          <a:ea typeface="+mn-ea"/>
                          <a:cs typeface="Cambria"/>
                        </a:rPr>
                        <a:t>läkemedelslista i NOD</a:t>
                      </a:r>
                      <a:endParaRPr lang="sv-SE" sz="1200" kern="1200" dirty="0">
                        <a:solidFill>
                          <a:schemeClr val="tx1"/>
                        </a:solidFill>
                        <a:latin typeface="Cambria"/>
                        <a:ea typeface="+mn-ea"/>
                        <a:cs typeface="Cambria"/>
                      </a:endParaRPr>
                    </a:p>
                  </a:txBody>
                  <a:tcPr/>
                </a:tc>
                <a:tc>
                  <a:txBody>
                    <a:bodyPr/>
                    <a:lstStyle/>
                    <a:p>
                      <a:r>
                        <a:rPr lang="sv-SE" sz="1200" kern="1200" dirty="0" smtClean="0">
                          <a:solidFill>
                            <a:schemeClr val="tx1"/>
                          </a:solidFill>
                          <a:latin typeface="Courier New"/>
                          <a:ea typeface="+mn-ea"/>
                          <a:cs typeface="Courier New"/>
                        </a:rPr>
                        <a:t>(ny)</a:t>
                      </a:r>
                      <a:endParaRPr lang="sv-SE" sz="1200" kern="1200" dirty="0">
                        <a:solidFill>
                          <a:schemeClr val="tx1"/>
                        </a:solidFill>
                        <a:latin typeface="Courier New"/>
                        <a:ea typeface="+mn-ea"/>
                        <a:cs typeface="Courier New"/>
                      </a:endParaRPr>
                    </a:p>
                  </a:txBody>
                  <a:tcPr/>
                </a:tc>
              </a:tr>
              <a:tr h="44408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SetMedicationListReviewNeeded</a:t>
                      </a:r>
                      <a:endParaRPr lang="sv-SE" sz="1200"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ambria"/>
                          <a:ea typeface="+mn-ea"/>
                          <a:cs typeface="Cambria"/>
                        </a:rPr>
                        <a:t>Markerar</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att</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läkemedelslistan</a:t>
                      </a:r>
                      <a:r>
                        <a:rPr lang="sv-SE" sz="1200" dirty="0" smtClean="0">
                          <a:solidFill>
                            <a:prstClr val="black"/>
                          </a:solidFill>
                          <a:latin typeface="Cambria"/>
                          <a:cs typeface="Cambria"/>
                        </a:rPr>
                        <a:t> i </a:t>
                      </a:r>
                      <a:r>
                        <a:rPr lang="sv-SE" sz="1200" kern="1200" dirty="0" smtClean="0">
                          <a:solidFill>
                            <a:schemeClr val="tx1"/>
                          </a:solidFill>
                          <a:latin typeface="Cambria"/>
                          <a:ea typeface="+mn-ea"/>
                          <a:cs typeface="Cambria"/>
                        </a:rPr>
                        <a:t>NOD</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inte</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kan</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betraktas</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som</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avstämd (behov av avstämning)</a:t>
                      </a:r>
                      <a:r>
                        <a:rPr lang="sv-SE" sz="1200" dirty="0" smtClean="0">
                          <a:solidFill>
                            <a:prstClr val="black"/>
                          </a:solidFill>
                          <a:latin typeface="Cambria"/>
                          <a:cs typeface="Cambria"/>
                        </a:rPr>
                        <a:t>.</a:t>
                      </a:r>
                      <a:endParaRPr lang="sv-SE" sz="1200" kern="1200" dirty="0">
                        <a:solidFill>
                          <a:schemeClr val="tx1"/>
                        </a:solidFill>
                        <a:latin typeface="Cambria"/>
                        <a:ea typeface="+mn-e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(ny)</a:t>
                      </a:r>
                    </a:p>
                    <a:p>
                      <a:endParaRPr lang="sv-SE" sz="1200" kern="1200" dirty="0" smtClean="0">
                        <a:solidFill>
                          <a:schemeClr val="tx1"/>
                        </a:solidFill>
                        <a:latin typeface="Courier New"/>
                        <a:ea typeface="+mn-ea"/>
                        <a:cs typeface="Courier New"/>
                      </a:endParaRPr>
                    </a:p>
                  </a:txBody>
                  <a:tcPr/>
                </a:tc>
              </a:tr>
              <a:tr h="44408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SetMedicationListReviewed</a:t>
                      </a:r>
                      <a:endParaRPr lang="sv-SE" sz="1200"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ambria"/>
                          <a:ea typeface="+mn-ea"/>
                          <a:cs typeface="Cambria"/>
                        </a:rPr>
                        <a:t>Markerar läkemedelslistan i NOD som avstämd</a:t>
                      </a:r>
                      <a:endParaRPr lang="sv-SE" sz="1200" kern="1200" dirty="0">
                        <a:solidFill>
                          <a:schemeClr val="tx1"/>
                        </a:solidFill>
                        <a:latin typeface="Cambria"/>
                        <a:ea typeface="+mn-e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(ny)</a:t>
                      </a:r>
                    </a:p>
                    <a:p>
                      <a:endParaRPr lang="sv-SE" sz="1200" kern="1200" dirty="0" smtClean="0">
                        <a:solidFill>
                          <a:schemeClr val="tx1"/>
                        </a:solidFill>
                        <a:latin typeface="Courier New"/>
                        <a:ea typeface="+mn-ea"/>
                        <a:cs typeface="Courier New"/>
                      </a:endParaRPr>
                    </a:p>
                  </a:txBody>
                  <a:tcPr/>
                </a:tc>
              </a:tr>
              <a:tr h="44408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err="1" smtClean="0">
                          <a:solidFill>
                            <a:schemeClr val="tx1"/>
                          </a:solidFill>
                          <a:latin typeface="Courier New"/>
                          <a:ea typeface="+mn-ea"/>
                          <a:cs typeface="Courier New"/>
                        </a:rPr>
                        <a:t>GetDispensedDrugsConsent</a:t>
                      </a:r>
                      <a:endParaRPr lang="sv-SE" sz="1200"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latin typeface="Cambria"/>
                          <a:cs typeface="Cambria"/>
                        </a:rPr>
                        <a:t>Hämtar status för tillsvidaresamtycke till Läkemedelsförteckningen</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i="1" kern="1200" dirty="0" smtClean="0">
                          <a:solidFill>
                            <a:schemeClr val="tx1"/>
                          </a:solidFill>
                          <a:latin typeface="Cambria"/>
                          <a:ea typeface="+mn-ea"/>
                          <a:cs typeface="Cambria"/>
                        </a:rPr>
                        <a:t>Ersättning</a:t>
                      </a:r>
                      <a:r>
                        <a:rPr lang="sv-SE" sz="1200" i="1" kern="1200" baseline="0" dirty="0" smtClean="0">
                          <a:solidFill>
                            <a:schemeClr val="tx1"/>
                          </a:solidFill>
                          <a:latin typeface="Cambria"/>
                          <a:ea typeface="+mn-ea"/>
                          <a:cs typeface="Cambria"/>
                        </a:rPr>
                        <a:t> för</a:t>
                      </a:r>
                      <a:r>
                        <a:rPr lang="sv-SE" sz="1200" i="1" kern="1200" dirty="0" smtClean="0">
                          <a:solidFill>
                            <a:schemeClr val="tx1"/>
                          </a:solidFill>
                          <a:latin typeface="Cambria"/>
                          <a:ea typeface="+mn-ea"/>
                          <a:cs typeface="Cambria"/>
                        </a:rPr>
                        <a:t> äldre tjänst i se.apotekenservice:lf</a:t>
                      </a:r>
                    </a:p>
                  </a:txBody>
                  <a:tcPr/>
                </a:tc>
              </a:tr>
              <a:tr h="44408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err="1" smtClean="0">
                          <a:solidFill>
                            <a:schemeClr val="tx1"/>
                          </a:solidFill>
                          <a:latin typeface="Courier New"/>
                          <a:ea typeface="+mn-ea"/>
                          <a:cs typeface="Courier New"/>
                        </a:rPr>
                        <a:t>RegisterDispensedDrugsConsent</a:t>
                      </a:r>
                      <a:endParaRPr lang="sv-SE" sz="1200"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solidFill>
                            <a:prstClr val="black"/>
                          </a:solidFill>
                          <a:latin typeface="Cambria"/>
                          <a:cs typeface="Cambria"/>
                        </a:rPr>
                        <a:t>Registrerar tillsvidaresamtycke till Läkemedelsförteckningen</a:t>
                      </a:r>
                      <a:endParaRPr lang="sv-SE" sz="1200" dirty="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i="1" kern="1200" dirty="0" smtClean="0">
                          <a:solidFill>
                            <a:schemeClr val="tx1"/>
                          </a:solidFill>
                          <a:latin typeface="Cambria"/>
                          <a:ea typeface="+mn-ea"/>
                          <a:cs typeface="Cambria"/>
                        </a:rPr>
                        <a:t>Ersättning äldre tjänst i se.apotekenservice:lf</a:t>
                      </a:r>
                    </a:p>
                  </a:txBody>
                  <a:tcPr/>
                </a:tc>
              </a:tr>
              <a:tr h="6217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err="1" smtClean="0">
                          <a:solidFill>
                            <a:schemeClr val="tx1"/>
                          </a:solidFill>
                          <a:latin typeface="Courier New"/>
                          <a:ea typeface="+mn-ea"/>
                          <a:cs typeface="Courier New"/>
                        </a:rPr>
                        <a:t>RevokeDispensedDrugsConsent</a:t>
                      </a:r>
                      <a:endParaRPr lang="sv-SE" sz="1200"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dirty="0" smtClean="0">
                          <a:solidFill>
                            <a:prstClr val="black"/>
                          </a:solidFill>
                          <a:latin typeface="Cambria"/>
                          <a:cs typeface="Cambria"/>
                        </a:rPr>
                        <a:t>Återkallar tillsvidaresamtycke till Läkemedelsförteckningen</a:t>
                      </a:r>
                      <a:endParaRPr lang="sv-SE" sz="1200" dirty="0" smtClean="0">
                        <a:latin typeface="Cambria"/>
                        <a:cs typeface="Cambri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i="1" kern="1200" dirty="0" smtClean="0">
                          <a:solidFill>
                            <a:schemeClr val="tx1"/>
                          </a:solidFill>
                          <a:latin typeface="Cambria"/>
                          <a:ea typeface="+mn-ea"/>
                          <a:cs typeface="Cambria"/>
                        </a:rPr>
                        <a:t>Ersättning äldre tjänst i </a:t>
                      </a:r>
                      <a:r>
                        <a:rPr lang="sv-SE" sz="1200" i="1" kern="1200" dirty="0" err="1" smtClean="0">
                          <a:solidFill>
                            <a:schemeClr val="tx1"/>
                          </a:solidFill>
                          <a:latin typeface="Cambria"/>
                          <a:ea typeface="+mn-ea"/>
                          <a:cs typeface="Cambria"/>
                        </a:rPr>
                        <a:t>se.apotekenservice:lf</a:t>
                      </a:r>
                      <a:endParaRPr lang="sv-SE" sz="1200" i="1" kern="1200" dirty="0" smtClean="0">
                        <a:solidFill>
                          <a:schemeClr val="tx1"/>
                        </a:solidFill>
                        <a:latin typeface="Cambria"/>
                        <a:ea typeface="+mn-ea"/>
                        <a:cs typeface="Cambria"/>
                      </a:endParaRPr>
                    </a:p>
                  </a:txBody>
                  <a:tcPr/>
                </a:tc>
              </a:tr>
            </a:tbl>
          </a:graphicData>
        </a:graphic>
      </p:graphicFrame>
      <p:sp>
        <p:nvSpPr>
          <p:cNvPr id="7" name="Rektangel med rundade hörn 6"/>
          <p:cNvSpPr/>
          <p:nvPr/>
        </p:nvSpPr>
        <p:spPr>
          <a:xfrm>
            <a:off x="3259237" y="1163060"/>
            <a:ext cx="630974" cy="487942"/>
          </a:xfrm>
          <a:prstGeom prst="roundRect">
            <a:avLst>
              <a:gd name="adj" fmla="val 10000"/>
            </a:avLst>
          </a:prstGeom>
          <a:blipFill>
            <a:blip r:embed="rId2">
              <a:extLst>
                <a:ext uri="{28A0092B-C50C-407E-A947-70E740481C1C}">
                  <a14:useLocalDpi xmlns:a14="http://schemas.microsoft.com/office/drawing/2010/main" val="0"/>
                </a:ext>
              </a:extLst>
            </a:blip>
            <a:srcRect/>
            <a:stretch>
              <a:fillRect l="-13000" r="-13000"/>
            </a:stretch>
          </a:blipFill>
        </p:spPr>
        <p:style>
          <a:lnRef idx="0">
            <a:schemeClr val="lt1">
              <a:hueOff val="0"/>
              <a:satOff val="0"/>
              <a:lumOff val="0"/>
              <a:alphaOff val="0"/>
            </a:schemeClr>
          </a:lnRef>
          <a:fillRef idx="1">
            <a:scrgbClr r="0" g="0" b="0"/>
          </a:fillRef>
          <a:effectRef idx="2">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2582261395"/>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558406"/>
            <a:ext cx="6792913" cy="507161"/>
          </a:xfrm>
        </p:spPr>
        <p:txBody>
          <a:bodyPr vert="horz" lIns="91440" tIns="45720" rIns="91440" bIns="45720" rtlCol="0" anchor="ctr">
            <a:normAutofit/>
          </a:bodyPr>
          <a:lstStyle/>
          <a:p>
            <a:r>
              <a:rPr lang="sv-SE" sz="2400" dirty="0" smtClean="0">
                <a:solidFill>
                  <a:schemeClr val="bg1">
                    <a:lumMod val="65000"/>
                  </a:schemeClr>
                </a:solidFill>
              </a:rPr>
              <a:t>Modell v1.0 (gamla modellen)</a:t>
            </a:r>
            <a:endParaRPr lang="sv-SE" sz="2400" b="1" kern="0" dirty="0">
              <a:solidFill>
                <a:schemeClr val="bg1">
                  <a:lumMod val="65000"/>
                </a:schemeClr>
              </a:solidFill>
            </a:endParaRPr>
          </a:p>
        </p:txBody>
      </p:sp>
      <p:sp>
        <p:nvSpPr>
          <p:cNvPr id="25" name="Rounded Rectangle 23"/>
          <p:cNvSpPr/>
          <p:nvPr/>
        </p:nvSpPr>
        <p:spPr>
          <a:xfrm>
            <a:off x="383368" y="4612216"/>
            <a:ext cx="2377261" cy="797983"/>
          </a:xfrm>
          <a:prstGeom prst="round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sv-SE" sz="1600" dirty="0" smtClean="0">
                <a:solidFill>
                  <a:srgbClr val="000000"/>
                </a:solidFill>
              </a:rPr>
              <a:t>Läkemedelsordination</a:t>
            </a:r>
            <a:br>
              <a:rPr lang="sv-SE" sz="1600" dirty="0" smtClean="0">
                <a:solidFill>
                  <a:srgbClr val="000000"/>
                </a:solidFill>
              </a:rPr>
            </a:br>
            <a:r>
              <a:rPr lang="sv-SE" sz="1600" dirty="0" smtClean="0">
                <a:solidFill>
                  <a:srgbClr val="000000"/>
                </a:solidFill>
              </a:rPr>
              <a:t>underlag</a:t>
            </a:r>
          </a:p>
        </p:txBody>
      </p:sp>
      <p:sp>
        <p:nvSpPr>
          <p:cNvPr id="28" name="Rounded Rectangle 15"/>
          <p:cNvSpPr/>
          <p:nvPr/>
        </p:nvSpPr>
        <p:spPr>
          <a:xfrm>
            <a:off x="203999" y="2802774"/>
            <a:ext cx="1368000" cy="159142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smtClean="0">
                <a:solidFill>
                  <a:srgbClr val="000000"/>
                </a:solidFill>
              </a:rPr>
              <a:t>Insättning</a:t>
            </a:r>
            <a:endParaRPr lang="sv-SE" sz="1050" i="1" dirty="0">
              <a:solidFill>
                <a:srgbClr val="000000"/>
              </a:solidFill>
            </a:endParaRPr>
          </a:p>
          <a:p>
            <a:endParaRPr lang="sv-SE" sz="900" dirty="0" smtClean="0">
              <a:solidFill>
                <a:srgbClr val="000000"/>
              </a:solidFill>
            </a:endParaRPr>
          </a:p>
          <a:p>
            <a:r>
              <a:rPr lang="sv-SE" sz="1050" dirty="0" smtClean="0">
                <a:solidFill>
                  <a:srgbClr val="000000"/>
                </a:solidFill>
              </a:rPr>
              <a:t>HSA</a:t>
            </a:r>
            <a:r>
              <a:rPr lang="sv-SE" sz="1050" dirty="0">
                <a:solidFill>
                  <a:srgbClr val="000000"/>
                </a:solidFill>
              </a:rPr>
              <a:t>-</a:t>
            </a:r>
            <a:r>
              <a:rPr lang="sv-SE" sz="1050" dirty="0" smtClean="0">
                <a:solidFill>
                  <a:srgbClr val="000000"/>
                </a:solidFill>
              </a:rPr>
              <a:t>person A</a:t>
            </a:r>
            <a:endParaRPr lang="sv-SE" sz="1050" dirty="0">
              <a:solidFill>
                <a:srgbClr val="000000"/>
              </a:solidFill>
            </a:endParaRPr>
          </a:p>
          <a:p>
            <a:r>
              <a:rPr lang="sv-SE" sz="1050" dirty="0" smtClean="0">
                <a:solidFill>
                  <a:srgbClr val="000000"/>
                </a:solidFill>
              </a:rPr>
              <a:t>Vårdenhet 1</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000000"/>
                </a:solidFill>
              </a:rPr>
              <a:t>Insättningstidpunkt</a:t>
            </a:r>
          </a:p>
          <a:p>
            <a:r>
              <a:rPr lang="sv-SE" sz="1050" dirty="0" smtClean="0">
                <a:solidFill>
                  <a:srgbClr val="000000"/>
                </a:solidFill>
              </a:rPr>
              <a:t>Insättningsorsak</a:t>
            </a:r>
          </a:p>
        </p:txBody>
      </p:sp>
      <p:sp>
        <p:nvSpPr>
          <p:cNvPr id="29" name="Rounded Rectangle 16"/>
          <p:cNvSpPr/>
          <p:nvPr/>
        </p:nvSpPr>
        <p:spPr>
          <a:xfrm>
            <a:off x="1616924" y="2826126"/>
            <a:ext cx="1368000" cy="159142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smtClean="0">
                <a:solidFill>
                  <a:srgbClr val="000000"/>
                </a:solidFill>
              </a:rPr>
              <a:t>Utsättning</a:t>
            </a:r>
            <a:endParaRPr lang="sv-SE" sz="1050" i="1" dirty="0">
              <a:solidFill>
                <a:srgbClr val="000000"/>
              </a:solidFill>
            </a:endParaRPr>
          </a:p>
          <a:p>
            <a:pPr algn="ctr"/>
            <a:endParaRPr lang="sv-SE" sz="900" dirty="0">
              <a:solidFill>
                <a:srgbClr val="000000"/>
              </a:solidFill>
            </a:endParaRPr>
          </a:p>
          <a:p>
            <a:r>
              <a:rPr lang="sv-SE" sz="1050" dirty="0">
                <a:solidFill>
                  <a:srgbClr val="000000"/>
                </a:solidFill>
              </a:rPr>
              <a:t>HSA-</a:t>
            </a:r>
            <a:r>
              <a:rPr lang="sv-SE" sz="1050" dirty="0" smtClean="0">
                <a:solidFill>
                  <a:srgbClr val="000000"/>
                </a:solidFill>
              </a:rPr>
              <a:t>person B</a:t>
            </a:r>
            <a:endParaRPr lang="sv-SE" sz="1050" dirty="0">
              <a:solidFill>
                <a:srgbClr val="000000"/>
              </a:solidFill>
            </a:endParaRPr>
          </a:p>
          <a:p>
            <a:r>
              <a:rPr lang="sv-SE" sz="1050" dirty="0" smtClean="0">
                <a:solidFill>
                  <a:srgbClr val="000000"/>
                </a:solidFill>
              </a:rPr>
              <a:t>Vårdenhet 5</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000000"/>
                </a:solidFill>
              </a:rPr>
              <a:t>Utsättningstidpunkt</a:t>
            </a:r>
            <a:endParaRPr lang="sv-SE" sz="1050" dirty="0">
              <a:solidFill>
                <a:srgbClr val="000000"/>
              </a:solidFill>
            </a:endParaRPr>
          </a:p>
          <a:p>
            <a:r>
              <a:rPr lang="sv-SE" sz="1050" dirty="0" smtClean="0">
                <a:solidFill>
                  <a:srgbClr val="000000"/>
                </a:solidFill>
              </a:rPr>
              <a:t>Utsättningsorsak</a:t>
            </a:r>
          </a:p>
        </p:txBody>
      </p:sp>
      <p:sp>
        <p:nvSpPr>
          <p:cNvPr id="30" name="TextBox 25"/>
          <p:cNvSpPr txBox="1"/>
          <p:nvPr/>
        </p:nvSpPr>
        <p:spPr>
          <a:xfrm>
            <a:off x="203998" y="1763192"/>
            <a:ext cx="1877323" cy="492443"/>
          </a:xfrm>
          <a:prstGeom prst="rect">
            <a:avLst/>
          </a:prstGeom>
          <a:noFill/>
          <a:ln>
            <a:solidFill>
              <a:schemeClr val="tx1"/>
            </a:solidFill>
          </a:ln>
        </p:spPr>
        <p:txBody>
          <a:bodyPr wrap="square" rtlCol="0" anchor="t">
            <a:spAutoFit/>
          </a:bodyPr>
          <a:lstStyle/>
          <a:p>
            <a:pPr algn="ctr"/>
            <a:r>
              <a:rPr lang="sv-SE" sz="1400" b="1" dirty="0" smtClean="0"/>
              <a:t>Ordinera insättning</a:t>
            </a:r>
          </a:p>
          <a:p>
            <a:pPr algn="ctr"/>
            <a:r>
              <a:rPr lang="sv-SE" sz="1200" i="1" dirty="0" smtClean="0"/>
              <a:t>RegisterPrescription</a:t>
            </a:r>
            <a:endParaRPr lang="sv-SE" sz="1200" i="1" dirty="0"/>
          </a:p>
        </p:txBody>
      </p:sp>
      <p:sp>
        <p:nvSpPr>
          <p:cNvPr id="31" name="TextBox 26"/>
          <p:cNvSpPr txBox="1"/>
          <p:nvPr/>
        </p:nvSpPr>
        <p:spPr>
          <a:xfrm>
            <a:off x="2663572" y="1763192"/>
            <a:ext cx="1800000" cy="492443"/>
          </a:xfrm>
          <a:prstGeom prst="rect">
            <a:avLst/>
          </a:prstGeom>
          <a:noFill/>
          <a:ln>
            <a:solidFill>
              <a:schemeClr val="tx1"/>
            </a:solidFill>
          </a:ln>
        </p:spPr>
        <p:txBody>
          <a:bodyPr wrap="square" rtlCol="0" anchor="t">
            <a:spAutoFit/>
          </a:bodyPr>
          <a:lstStyle/>
          <a:p>
            <a:pPr algn="ctr"/>
            <a:r>
              <a:rPr lang="sv-SE" sz="1400" b="1" dirty="0"/>
              <a:t>Ä</a:t>
            </a:r>
            <a:r>
              <a:rPr lang="sv-SE" sz="1400" b="1" dirty="0" smtClean="0"/>
              <a:t>ndring</a:t>
            </a:r>
          </a:p>
          <a:p>
            <a:pPr algn="ctr"/>
            <a:r>
              <a:rPr lang="sv-SE" sz="1200" i="1" dirty="0" smtClean="0"/>
              <a:t>ChangePrescription</a:t>
            </a:r>
            <a:endParaRPr lang="sv-SE" sz="1200" i="1" dirty="0"/>
          </a:p>
        </p:txBody>
      </p:sp>
      <p:sp>
        <p:nvSpPr>
          <p:cNvPr id="33" name="TextBox 54"/>
          <p:cNvSpPr txBox="1"/>
          <p:nvPr/>
        </p:nvSpPr>
        <p:spPr>
          <a:xfrm>
            <a:off x="4985571" y="1752928"/>
            <a:ext cx="1800000" cy="492443"/>
          </a:xfrm>
          <a:prstGeom prst="rect">
            <a:avLst/>
          </a:prstGeom>
          <a:noFill/>
          <a:ln>
            <a:solidFill>
              <a:schemeClr val="tx1"/>
            </a:solidFill>
          </a:ln>
        </p:spPr>
        <p:txBody>
          <a:bodyPr wrap="square" rtlCol="0" anchor="t">
            <a:spAutoFit/>
          </a:bodyPr>
          <a:lstStyle/>
          <a:p>
            <a:pPr algn="ctr"/>
            <a:r>
              <a:rPr lang="sv-SE" sz="1400" b="1" dirty="0" smtClean="0"/>
              <a:t>Ändring</a:t>
            </a:r>
          </a:p>
          <a:p>
            <a:pPr algn="ctr"/>
            <a:r>
              <a:rPr lang="sv-SE" sz="1200" i="1" dirty="0" smtClean="0"/>
              <a:t>ChangePrescription</a:t>
            </a:r>
            <a:endParaRPr lang="sv-SE" sz="1200" i="1" dirty="0"/>
          </a:p>
        </p:txBody>
      </p:sp>
      <p:sp>
        <p:nvSpPr>
          <p:cNvPr id="34" name="TextBox 58"/>
          <p:cNvSpPr txBox="1"/>
          <p:nvPr/>
        </p:nvSpPr>
        <p:spPr>
          <a:xfrm>
            <a:off x="7172918" y="1763192"/>
            <a:ext cx="1859306" cy="492443"/>
          </a:xfrm>
          <a:prstGeom prst="rect">
            <a:avLst/>
          </a:prstGeom>
          <a:noFill/>
          <a:ln>
            <a:solidFill>
              <a:schemeClr val="tx1"/>
            </a:solidFill>
          </a:ln>
        </p:spPr>
        <p:txBody>
          <a:bodyPr wrap="square" rtlCol="0" anchor="t">
            <a:spAutoFit/>
          </a:bodyPr>
          <a:lstStyle/>
          <a:p>
            <a:pPr algn="ctr"/>
            <a:r>
              <a:rPr lang="sv-SE" sz="1400" b="1" dirty="0" smtClean="0"/>
              <a:t>Ordinera utsättning</a:t>
            </a:r>
          </a:p>
          <a:p>
            <a:pPr algn="ctr"/>
            <a:r>
              <a:rPr lang="sv-SE" sz="1200" i="1" dirty="0" err="1" smtClean="0"/>
              <a:t>Discontinue</a:t>
            </a:r>
            <a:r>
              <a:rPr lang="sv-SE" sz="1200" i="1" dirty="0" err="1"/>
              <a:t>P</a:t>
            </a:r>
            <a:r>
              <a:rPr lang="sv-SE" sz="1200" i="1" dirty="0" err="1" smtClean="0"/>
              <a:t>rescription</a:t>
            </a:r>
            <a:endParaRPr lang="sv-SE" sz="1200" i="1" dirty="0"/>
          </a:p>
        </p:txBody>
      </p:sp>
      <p:cxnSp>
        <p:nvCxnSpPr>
          <p:cNvPr id="35" name="Straight Arrow Connector 60"/>
          <p:cNvCxnSpPr>
            <a:stCxn id="30" idx="3"/>
            <a:endCxn id="31" idx="1"/>
          </p:cNvCxnSpPr>
          <p:nvPr/>
        </p:nvCxnSpPr>
        <p:spPr>
          <a:xfrm>
            <a:off x="2081321" y="2009414"/>
            <a:ext cx="582251" cy="0"/>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62"/>
          <p:cNvCxnSpPr>
            <a:stCxn id="31" idx="3"/>
            <a:endCxn id="33" idx="1"/>
          </p:cNvCxnSpPr>
          <p:nvPr/>
        </p:nvCxnSpPr>
        <p:spPr>
          <a:xfrm flipV="1">
            <a:off x="4463572" y="1999150"/>
            <a:ext cx="521999" cy="10264"/>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65"/>
          <p:cNvCxnSpPr>
            <a:stCxn id="33" idx="3"/>
            <a:endCxn id="34" idx="1"/>
          </p:cNvCxnSpPr>
          <p:nvPr/>
        </p:nvCxnSpPr>
        <p:spPr>
          <a:xfrm>
            <a:off x="6785571" y="1999150"/>
            <a:ext cx="387347" cy="10264"/>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83"/>
          <p:cNvCxnSpPr>
            <a:stCxn id="30" idx="2"/>
            <a:endCxn id="28" idx="0"/>
          </p:cNvCxnSpPr>
          <p:nvPr/>
        </p:nvCxnSpPr>
        <p:spPr>
          <a:xfrm flipH="1">
            <a:off x="887999" y="2255635"/>
            <a:ext cx="254661" cy="547139"/>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0" name="Straight Arrow Connector 86"/>
          <p:cNvCxnSpPr>
            <a:stCxn id="31" idx="2"/>
            <a:endCxn id="29" idx="0"/>
          </p:cNvCxnSpPr>
          <p:nvPr/>
        </p:nvCxnSpPr>
        <p:spPr>
          <a:xfrm flipH="1">
            <a:off x="2300924" y="2255635"/>
            <a:ext cx="1262648" cy="570491"/>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1" name="Straight Arrow Connector 89"/>
          <p:cNvCxnSpPr>
            <a:stCxn id="45" idx="0"/>
            <a:endCxn id="31" idx="2"/>
          </p:cNvCxnSpPr>
          <p:nvPr/>
        </p:nvCxnSpPr>
        <p:spPr>
          <a:xfrm flipH="1" flipV="1">
            <a:off x="3563572" y="2255635"/>
            <a:ext cx="357512" cy="561963"/>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2" name="Straight Arrow Connector 93"/>
          <p:cNvCxnSpPr>
            <a:stCxn id="33" idx="2"/>
            <a:endCxn id="47" idx="0"/>
          </p:cNvCxnSpPr>
          <p:nvPr/>
        </p:nvCxnSpPr>
        <p:spPr>
          <a:xfrm flipH="1">
            <a:off x="5334009" y="2245371"/>
            <a:ext cx="551562" cy="572227"/>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3" name="Straight Arrow Connector 97"/>
          <p:cNvCxnSpPr>
            <a:stCxn id="33" idx="2"/>
            <a:endCxn id="48" idx="0"/>
          </p:cNvCxnSpPr>
          <p:nvPr/>
        </p:nvCxnSpPr>
        <p:spPr>
          <a:xfrm>
            <a:off x="5885571" y="2245371"/>
            <a:ext cx="1056197" cy="581124"/>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4" name="Straight Arrow Connector 101"/>
          <p:cNvCxnSpPr>
            <a:stCxn id="34" idx="2"/>
            <a:endCxn id="49" idx="0"/>
          </p:cNvCxnSpPr>
          <p:nvPr/>
        </p:nvCxnSpPr>
        <p:spPr>
          <a:xfrm>
            <a:off x="8102571" y="2255635"/>
            <a:ext cx="245313" cy="570491"/>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sp>
        <p:nvSpPr>
          <p:cNvPr id="45" name="Rounded Rectangle 30"/>
          <p:cNvSpPr/>
          <p:nvPr/>
        </p:nvSpPr>
        <p:spPr>
          <a:xfrm>
            <a:off x="3237084" y="2817598"/>
            <a:ext cx="1368000" cy="159142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smtClean="0">
                <a:solidFill>
                  <a:srgbClr val="000000"/>
                </a:solidFill>
              </a:rPr>
              <a:t>Insättning</a:t>
            </a:r>
            <a:endParaRPr lang="sv-SE" sz="1050" i="1" dirty="0">
              <a:solidFill>
                <a:srgbClr val="000000"/>
              </a:solidFill>
            </a:endParaRPr>
          </a:p>
          <a:p>
            <a:pPr algn="ctr"/>
            <a:endParaRPr lang="sv-SE" sz="900" dirty="0">
              <a:solidFill>
                <a:srgbClr val="000000"/>
              </a:solidFill>
            </a:endParaRPr>
          </a:p>
          <a:p>
            <a:r>
              <a:rPr lang="sv-SE" sz="1050" dirty="0">
                <a:solidFill>
                  <a:srgbClr val="000000"/>
                </a:solidFill>
              </a:rPr>
              <a:t>HSA-</a:t>
            </a:r>
            <a:r>
              <a:rPr lang="sv-SE" sz="1050" dirty="0" smtClean="0">
                <a:solidFill>
                  <a:srgbClr val="000000"/>
                </a:solidFill>
              </a:rPr>
              <a:t>person B</a:t>
            </a:r>
            <a:endParaRPr lang="sv-SE" sz="1050" dirty="0">
              <a:solidFill>
                <a:srgbClr val="000000"/>
              </a:solidFill>
            </a:endParaRPr>
          </a:p>
          <a:p>
            <a:r>
              <a:rPr lang="sv-SE" sz="1050" dirty="0" smtClean="0">
                <a:solidFill>
                  <a:srgbClr val="000000"/>
                </a:solidFill>
              </a:rPr>
              <a:t>Vårdenhet 5</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000000"/>
                </a:solidFill>
              </a:rPr>
              <a:t>Insättningstidpunkt</a:t>
            </a:r>
          </a:p>
          <a:p>
            <a:r>
              <a:rPr lang="sv-SE" sz="1050" dirty="0" smtClean="0">
                <a:solidFill>
                  <a:srgbClr val="000000"/>
                </a:solidFill>
              </a:rPr>
              <a:t>Insättningsorsak</a:t>
            </a:r>
          </a:p>
        </p:txBody>
      </p:sp>
      <p:sp>
        <p:nvSpPr>
          <p:cNvPr id="47" name="Rounded Rectangle 32"/>
          <p:cNvSpPr/>
          <p:nvPr/>
        </p:nvSpPr>
        <p:spPr>
          <a:xfrm>
            <a:off x="4650009" y="2817598"/>
            <a:ext cx="1368000" cy="159142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smtClean="0">
                <a:solidFill>
                  <a:srgbClr val="000000"/>
                </a:solidFill>
              </a:rPr>
              <a:t>Utsättning</a:t>
            </a:r>
            <a:endParaRPr lang="sv-SE" sz="1050" i="1" dirty="0">
              <a:solidFill>
                <a:srgbClr val="000000"/>
              </a:solidFill>
            </a:endParaRPr>
          </a:p>
          <a:p>
            <a:pPr algn="ctr"/>
            <a:endParaRPr lang="sv-SE" sz="900" dirty="0">
              <a:solidFill>
                <a:srgbClr val="000000"/>
              </a:solidFill>
            </a:endParaRPr>
          </a:p>
          <a:p>
            <a:r>
              <a:rPr lang="sv-SE" sz="1050" dirty="0">
                <a:solidFill>
                  <a:srgbClr val="000000"/>
                </a:solidFill>
              </a:rPr>
              <a:t>HSA-</a:t>
            </a:r>
            <a:r>
              <a:rPr lang="sv-SE" sz="1050" dirty="0" smtClean="0">
                <a:solidFill>
                  <a:srgbClr val="000000"/>
                </a:solidFill>
              </a:rPr>
              <a:t>person C</a:t>
            </a:r>
            <a:endParaRPr lang="sv-SE" sz="1050" dirty="0">
              <a:solidFill>
                <a:srgbClr val="000000"/>
              </a:solidFill>
            </a:endParaRPr>
          </a:p>
          <a:p>
            <a:r>
              <a:rPr lang="sv-SE" sz="1050" dirty="0" smtClean="0">
                <a:solidFill>
                  <a:srgbClr val="000000"/>
                </a:solidFill>
              </a:rPr>
              <a:t>Vårdenhet 4</a:t>
            </a:r>
          </a:p>
          <a:p>
            <a:r>
              <a:rPr lang="sv-SE" sz="1050" dirty="0" smtClean="0">
                <a:solidFill>
                  <a:srgbClr val="000000"/>
                </a:solidFill>
              </a:rPr>
              <a:t>Vårdgivare </a:t>
            </a:r>
            <a:r>
              <a:rPr lang="sv-SE" sz="1050" dirty="0">
                <a:solidFill>
                  <a:srgbClr val="000000"/>
                </a:solidFill>
              </a:rPr>
              <a:t>9</a:t>
            </a:r>
            <a:endParaRPr lang="sv-SE" sz="1050" dirty="0" smtClean="0">
              <a:solidFill>
                <a:srgbClr val="000000"/>
              </a:solidFill>
            </a:endParaRPr>
          </a:p>
          <a:p>
            <a:endParaRPr lang="sv-SE" sz="1050" dirty="0" smtClean="0">
              <a:solidFill>
                <a:srgbClr val="000000"/>
              </a:solidFill>
            </a:endParaRPr>
          </a:p>
          <a:p>
            <a:r>
              <a:rPr lang="sv-SE" sz="1050" dirty="0" smtClean="0">
                <a:solidFill>
                  <a:srgbClr val="000000"/>
                </a:solidFill>
              </a:rPr>
              <a:t>Utsättningstidpunkt</a:t>
            </a:r>
            <a:endParaRPr lang="sv-SE" sz="1050" dirty="0">
              <a:solidFill>
                <a:srgbClr val="000000"/>
              </a:solidFill>
            </a:endParaRPr>
          </a:p>
          <a:p>
            <a:r>
              <a:rPr lang="sv-SE" sz="1050" dirty="0" smtClean="0">
                <a:solidFill>
                  <a:srgbClr val="000000"/>
                </a:solidFill>
              </a:rPr>
              <a:t>Utsättningsorsak</a:t>
            </a:r>
          </a:p>
        </p:txBody>
      </p:sp>
      <p:sp>
        <p:nvSpPr>
          <p:cNvPr id="48" name="Rounded Rectangle 34"/>
          <p:cNvSpPr/>
          <p:nvPr/>
        </p:nvSpPr>
        <p:spPr>
          <a:xfrm>
            <a:off x="6287299" y="2826495"/>
            <a:ext cx="1308938" cy="159142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smtClean="0">
                <a:solidFill>
                  <a:srgbClr val="000000"/>
                </a:solidFill>
              </a:rPr>
              <a:t>Insättning</a:t>
            </a:r>
            <a:endParaRPr lang="sv-SE" sz="1050" i="1" dirty="0">
              <a:solidFill>
                <a:srgbClr val="000000"/>
              </a:solidFill>
            </a:endParaRPr>
          </a:p>
          <a:p>
            <a:pPr algn="ctr"/>
            <a:endParaRPr lang="sv-SE" sz="900" dirty="0">
              <a:solidFill>
                <a:srgbClr val="000000"/>
              </a:solidFill>
            </a:endParaRPr>
          </a:p>
          <a:p>
            <a:r>
              <a:rPr lang="sv-SE" sz="1050" dirty="0">
                <a:solidFill>
                  <a:srgbClr val="000000"/>
                </a:solidFill>
              </a:rPr>
              <a:t>HSA-</a:t>
            </a:r>
            <a:r>
              <a:rPr lang="sv-SE" sz="1050" dirty="0" smtClean="0">
                <a:solidFill>
                  <a:srgbClr val="000000"/>
                </a:solidFill>
              </a:rPr>
              <a:t>person </a:t>
            </a:r>
            <a:r>
              <a:rPr lang="sv-SE" sz="1050" dirty="0">
                <a:solidFill>
                  <a:srgbClr val="000000"/>
                </a:solidFill>
              </a:rPr>
              <a:t>C</a:t>
            </a:r>
          </a:p>
          <a:p>
            <a:r>
              <a:rPr lang="sv-SE" sz="1050" dirty="0" smtClean="0">
                <a:solidFill>
                  <a:srgbClr val="000000"/>
                </a:solidFill>
              </a:rPr>
              <a:t>Vårdenhet 4</a:t>
            </a:r>
          </a:p>
          <a:p>
            <a:r>
              <a:rPr lang="sv-SE" sz="1050" dirty="0" smtClean="0">
                <a:solidFill>
                  <a:srgbClr val="000000"/>
                </a:solidFill>
              </a:rPr>
              <a:t>Vårdgivare </a:t>
            </a:r>
            <a:r>
              <a:rPr lang="sv-SE" sz="1050" dirty="0">
                <a:solidFill>
                  <a:srgbClr val="000000"/>
                </a:solidFill>
              </a:rPr>
              <a:t>9</a:t>
            </a:r>
            <a:endParaRPr lang="sv-SE" sz="1050" dirty="0" smtClean="0">
              <a:solidFill>
                <a:srgbClr val="000000"/>
              </a:solidFill>
            </a:endParaRPr>
          </a:p>
          <a:p>
            <a:endParaRPr lang="sv-SE" sz="1050" dirty="0" smtClean="0">
              <a:solidFill>
                <a:srgbClr val="000000"/>
              </a:solidFill>
            </a:endParaRPr>
          </a:p>
          <a:p>
            <a:r>
              <a:rPr lang="sv-SE" sz="1050" dirty="0" smtClean="0">
                <a:solidFill>
                  <a:srgbClr val="000000"/>
                </a:solidFill>
              </a:rPr>
              <a:t>Insättningstidpunkt</a:t>
            </a:r>
          </a:p>
          <a:p>
            <a:r>
              <a:rPr lang="sv-SE" sz="1050" dirty="0" smtClean="0">
                <a:solidFill>
                  <a:srgbClr val="000000"/>
                </a:solidFill>
              </a:rPr>
              <a:t>Insättningsorsak</a:t>
            </a:r>
          </a:p>
        </p:txBody>
      </p:sp>
      <p:sp>
        <p:nvSpPr>
          <p:cNvPr id="49" name="Rounded Rectangle 36"/>
          <p:cNvSpPr/>
          <p:nvPr/>
        </p:nvSpPr>
        <p:spPr>
          <a:xfrm>
            <a:off x="7700224" y="2826126"/>
            <a:ext cx="1295320" cy="159142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smtClean="0">
                <a:solidFill>
                  <a:srgbClr val="000000"/>
                </a:solidFill>
              </a:rPr>
              <a:t>Utsättning</a:t>
            </a:r>
            <a:endParaRPr lang="sv-SE" sz="1050" i="1" dirty="0">
              <a:solidFill>
                <a:srgbClr val="000000"/>
              </a:solidFill>
            </a:endParaRPr>
          </a:p>
          <a:p>
            <a:pPr algn="ctr"/>
            <a:endParaRPr lang="sv-SE" sz="900" dirty="0">
              <a:solidFill>
                <a:srgbClr val="000000"/>
              </a:solidFill>
            </a:endParaRPr>
          </a:p>
          <a:p>
            <a:r>
              <a:rPr lang="sv-SE" sz="1050" dirty="0">
                <a:solidFill>
                  <a:srgbClr val="000000"/>
                </a:solidFill>
              </a:rPr>
              <a:t>HSA-</a:t>
            </a:r>
            <a:r>
              <a:rPr lang="sv-SE" sz="1050" dirty="0" smtClean="0">
                <a:solidFill>
                  <a:srgbClr val="000000"/>
                </a:solidFill>
              </a:rPr>
              <a:t>person A</a:t>
            </a:r>
            <a:endParaRPr lang="sv-SE" sz="1050" dirty="0">
              <a:solidFill>
                <a:srgbClr val="000000"/>
              </a:solidFill>
            </a:endParaRPr>
          </a:p>
          <a:p>
            <a:r>
              <a:rPr lang="sv-SE" sz="1050" dirty="0" smtClean="0">
                <a:solidFill>
                  <a:srgbClr val="000000"/>
                </a:solidFill>
              </a:rPr>
              <a:t>Vårdenhet 1</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000000"/>
                </a:solidFill>
              </a:rPr>
              <a:t>Utsättningstidpunkt</a:t>
            </a:r>
            <a:endParaRPr lang="sv-SE" sz="1050" dirty="0">
              <a:solidFill>
                <a:srgbClr val="000000"/>
              </a:solidFill>
            </a:endParaRPr>
          </a:p>
          <a:p>
            <a:r>
              <a:rPr lang="sv-SE" sz="1050" dirty="0" smtClean="0">
                <a:solidFill>
                  <a:srgbClr val="000000"/>
                </a:solidFill>
              </a:rPr>
              <a:t>Utsättningsorsak</a:t>
            </a:r>
          </a:p>
        </p:txBody>
      </p:sp>
      <p:cxnSp>
        <p:nvCxnSpPr>
          <p:cNvPr id="50" name="Straight Arrow Connector 74"/>
          <p:cNvCxnSpPr>
            <a:stCxn id="65" idx="1"/>
            <a:endCxn id="25" idx="3"/>
          </p:cNvCxnSpPr>
          <p:nvPr/>
        </p:nvCxnSpPr>
        <p:spPr>
          <a:xfrm flipH="1">
            <a:off x="2760629" y="5011208"/>
            <a:ext cx="720630" cy="0"/>
          </a:xfrm>
          <a:prstGeom prst="straightConnector1">
            <a:avLst/>
          </a:prstGeom>
          <a:ln w="38100"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53" name="Straight Arrow Connector 80"/>
          <p:cNvCxnSpPr>
            <a:stCxn id="67" idx="1"/>
            <a:endCxn id="65" idx="3"/>
          </p:cNvCxnSpPr>
          <p:nvPr/>
        </p:nvCxnSpPr>
        <p:spPr>
          <a:xfrm flipH="1">
            <a:off x="5858520" y="5011208"/>
            <a:ext cx="653073" cy="0"/>
          </a:xfrm>
          <a:prstGeom prst="straightConnector1">
            <a:avLst/>
          </a:prstGeom>
          <a:ln w="38100"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54" name="Straight Arrow Connector 46"/>
          <p:cNvCxnSpPr>
            <a:stCxn id="25" idx="0"/>
            <a:endCxn id="29" idx="2"/>
          </p:cNvCxnSpPr>
          <p:nvPr/>
        </p:nvCxnSpPr>
        <p:spPr>
          <a:xfrm flipV="1">
            <a:off x="1571999" y="4417552"/>
            <a:ext cx="728925" cy="194664"/>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56" name="Straight Arrow Connector 49"/>
          <p:cNvCxnSpPr>
            <a:stCxn id="25" idx="0"/>
            <a:endCxn id="28" idx="2"/>
          </p:cNvCxnSpPr>
          <p:nvPr/>
        </p:nvCxnSpPr>
        <p:spPr>
          <a:xfrm flipH="1" flipV="1">
            <a:off x="887999" y="4394200"/>
            <a:ext cx="684000" cy="218016"/>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57" name="Straight Arrow Connector 57"/>
          <p:cNvCxnSpPr>
            <a:stCxn id="65" idx="0"/>
            <a:endCxn id="47" idx="2"/>
          </p:cNvCxnSpPr>
          <p:nvPr/>
        </p:nvCxnSpPr>
        <p:spPr>
          <a:xfrm flipV="1">
            <a:off x="4669890" y="4409024"/>
            <a:ext cx="664119" cy="203192"/>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60" name="Straight Arrow Connector 61"/>
          <p:cNvCxnSpPr>
            <a:stCxn id="65" idx="0"/>
            <a:endCxn id="45" idx="2"/>
          </p:cNvCxnSpPr>
          <p:nvPr/>
        </p:nvCxnSpPr>
        <p:spPr>
          <a:xfrm flipH="1" flipV="1">
            <a:off x="3921084" y="4409024"/>
            <a:ext cx="748806" cy="203192"/>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62" name="Straight Arrow Connector 79"/>
          <p:cNvCxnSpPr>
            <a:stCxn id="67" idx="0"/>
            <a:endCxn id="48" idx="2"/>
          </p:cNvCxnSpPr>
          <p:nvPr/>
        </p:nvCxnSpPr>
        <p:spPr>
          <a:xfrm flipH="1" flipV="1">
            <a:off x="6941768" y="4417921"/>
            <a:ext cx="758456" cy="194295"/>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64" name="Straight Arrow Connector 82"/>
          <p:cNvCxnSpPr>
            <a:stCxn id="67" idx="0"/>
            <a:endCxn id="49" idx="2"/>
          </p:cNvCxnSpPr>
          <p:nvPr/>
        </p:nvCxnSpPr>
        <p:spPr>
          <a:xfrm flipV="1">
            <a:off x="7700224" y="4417552"/>
            <a:ext cx="647660" cy="194664"/>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sp>
        <p:nvSpPr>
          <p:cNvPr id="65" name="Rounded Rectangle 156"/>
          <p:cNvSpPr/>
          <p:nvPr/>
        </p:nvSpPr>
        <p:spPr>
          <a:xfrm>
            <a:off x="3481259" y="4612216"/>
            <a:ext cx="2377261" cy="797983"/>
          </a:xfrm>
          <a:prstGeom prst="round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sv-SE" sz="1600" dirty="0">
                <a:solidFill>
                  <a:srgbClr val="000000"/>
                </a:solidFill>
              </a:rPr>
              <a:t>Läkemedelsordination</a:t>
            </a:r>
            <a:br>
              <a:rPr lang="sv-SE" sz="1600" dirty="0">
                <a:solidFill>
                  <a:srgbClr val="000000"/>
                </a:solidFill>
              </a:rPr>
            </a:br>
            <a:r>
              <a:rPr lang="sv-SE" sz="1600" dirty="0">
                <a:solidFill>
                  <a:srgbClr val="000000"/>
                </a:solidFill>
              </a:rPr>
              <a:t>underlag</a:t>
            </a:r>
          </a:p>
        </p:txBody>
      </p:sp>
      <p:sp>
        <p:nvSpPr>
          <p:cNvPr id="67" name="Rounded Rectangle 161"/>
          <p:cNvSpPr/>
          <p:nvPr/>
        </p:nvSpPr>
        <p:spPr>
          <a:xfrm>
            <a:off x="6511593" y="4612216"/>
            <a:ext cx="2377261" cy="797983"/>
          </a:xfrm>
          <a:prstGeom prst="round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sv-SE" sz="1600" dirty="0">
                <a:solidFill>
                  <a:srgbClr val="000000"/>
                </a:solidFill>
              </a:rPr>
              <a:t>Läkemedelsordination</a:t>
            </a:r>
            <a:br>
              <a:rPr lang="sv-SE" sz="1600" dirty="0">
                <a:solidFill>
                  <a:srgbClr val="000000"/>
                </a:solidFill>
              </a:rPr>
            </a:br>
            <a:r>
              <a:rPr lang="sv-SE" sz="1600" dirty="0">
                <a:solidFill>
                  <a:srgbClr val="000000"/>
                </a:solidFill>
              </a:rPr>
              <a:t>underlag</a:t>
            </a:r>
          </a:p>
        </p:txBody>
      </p:sp>
      <p:sp>
        <p:nvSpPr>
          <p:cNvPr id="36" name="Rektangel 35"/>
          <p:cNvSpPr/>
          <p:nvPr/>
        </p:nvSpPr>
        <p:spPr>
          <a:xfrm>
            <a:off x="7705321" y="253390"/>
            <a:ext cx="1164359" cy="523220"/>
          </a:xfrm>
          <a:prstGeom prst="rect">
            <a:avLst/>
          </a:prstGeom>
          <a:noFill/>
        </p:spPr>
        <p:txBody>
          <a:bodyPr wrap="square" lIns="91440" tIns="45720" rIns="91440" bIns="45720">
            <a:spAutoFit/>
          </a:bodyPr>
          <a:lstStyle/>
          <a:p>
            <a:pPr algn="ctr"/>
            <a:r>
              <a:rPr lang="sv-SE"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v</a:t>
            </a:r>
            <a:r>
              <a:rPr lang="sv-SE" sz="28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1</a:t>
            </a:r>
            <a:endParaRPr lang="sv-SE"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sp>
        <p:nvSpPr>
          <p:cNvPr id="46" name="Rubrik 1"/>
          <p:cNvSpPr txBox="1">
            <a:spLocks/>
          </p:cNvSpPr>
          <p:nvPr/>
        </p:nvSpPr>
        <p:spPr bwMode="auto">
          <a:xfrm>
            <a:off x="183157" y="1129782"/>
            <a:ext cx="2651484" cy="507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lvl1pPr algn="l" defTabSz="957263" rtl="0" fontAlgn="base">
              <a:spcBef>
                <a:spcPct val="0"/>
              </a:spcBef>
              <a:spcAft>
                <a:spcPct val="0"/>
              </a:spcAft>
              <a:defRPr sz="2900" b="1">
                <a:solidFill>
                  <a:srgbClr val="00A9A7"/>
                </a:solidFill>
                <a:latin typeface="+mj-lt"/>
                <a:ea typeface="+mj-ea"/>
                <a:cs typeface="+mj-cs"/>
              </a:defRPr>
            </a:lvl1pPr>
            <a:lvl2pPr algn="l" defTabSz="957263" rtl="0" fontAlgn="base">
              <a:spcBef>
                <a:spcPct val="0"/>
              </a:spcBef>
              <a:spcAft>
                <a:spcPct val="0"/>
              </a:spcAft>
              <a:defRPr sz="2900" b="1">
                <a:solidFill>
                  <a:srgbClr val="00A9A7"/>
                </a:solidFill>
                <a:latin typeface="Arial" charset="0"/>
              </a:defRPr>
            </a:lvl2pPr>
            <a:lvl3pPr algn="l" defTabSz="957263" rtl="0" fontAlgn="base">
              <a:spcBef>
                <a:spcPct val="0"/>
              </a:spcBef>
              <a:spcAft>
                <a:spcPct val="0"/>
              </a:spcAft>
              <a:defRPr sz="2900" b="1">
                <a:solidFill>
                  <a:srgbClr val="00A9A7"/>
                </a:solidFill>
                <a:latin typeface="Arial" charset="0"/>
              </a:defRPr>
            </a:lvl3pPr>
            <a:lvl4pPr algn="l" defTabSz="957263" rtl="0" fontAlgn="base">
              <a:spcBef>
                <a:spcPct val="0"/>
              </a:spcBef>
              <a:spcAft>
                <a:spcPct val="0"/>
              </a:spcAft>
              <a:defRPr sz="2900" b="1">
                <a:solidFill>
                  <a:srgbClr val="00A9A7"/>
                </a:solidFill>
                <a:latin typeface="Arial" charset="0"/>
              </a:defRPr>
            </a:lvl4pPr>
            <a:lvl5pPr algn="l" defTabSz="957263" rtl="0" fontAlgn="base">
              <a:spcBef>
                <a:spcPct val="0"/>
              </a:spcBef>
              <a:spcAft>
                <a:spcPct val="0"/>
              </a:spcAft>
              <a:defRPr sz="2900" b="1">
                <a:solidFill>
                  <a:srgbClr val="00A9A7"/>
                </a:solidFill>
                <a:latin typeface="Arial" charset="0"/>
              </a:defRPr>
            </a:lvl5pPr>
            <a:lvl6pPr marL="457200" algn="l" defTabSz="957263" rtl="0" fontAlgn="base">
              <a:spcBef>
                <a:spcPct val="0"/>
              </a:spcBef>
              <a:spcAft>
                <a:spcPct val="0"/>
              </a:spcAft>
              <a:defRPr sz="2900" b="1">
                <a:solidFill>
                  <a:srgbClr val="00A9A7"/>
                </a:solidFill>
                <a:latin typeface="Arial" charset="0"/>
              </a:defRPr>
            </a:lvl6pPr>
            <a:lvl7pPr marL="914400" algn="l" defTabSz="957263" rtl="0" fontAlgn="base">
              <a:spcBef>
                <a:spcPct val="0"/>
              </a:spcBef>
              <a:spcAft>
                <a:spcPct val="0"/>
              </a:spcAft>
              <a:defRPr sz="2900" b="1">
                <a:solidFill>
                  <a:srgbClr val="00A9A7"/>
                </a:solidFill>
                <a:latin typeface="Arial" charset="0"/>
              </a:defRPr>
            </a:lvl7pPr>
            <a:lvl8pPr marL="1371600" algn="l" defTabSz="957263" rtl="0" fontAlgn="base">
              <a:spcBef>
                <a:spcPct val="0"/>
              </a:spcBef>
              <a:spcAft>
                <a:spcPct val="0"/>
              </a:spcAft>
              <a:defRPr sz="2900" b="1">
                <a:solidFill>
                  <a:srgbClr val="00A9A7"/>
                </a:solidFill>
                <a:latin typeface="Arial" charset="0"/>
              </a:defRPr>
            </a:lvl8pPr>
            <a:lvl9pPr marL="1828800" algn="l" defTabSz="957263" rtl="0" fontAlgn="base">
              <a:spcBef>
                <a:spcPct val="0"/>
              </a:spcBef>
              <a:spcAft>
                <a:spcPct val="0"/>
              </a:spcAft>
              <a:defRPr sz="2900" b="1">
                <a:solidFill>
                  <a:srgbClr val="00A9A7"/>
                </a:solidFill>
                <a:latin typeface="Arial" charset="0"/>
              </a:defRPr>
            </a:lvl9pPr>
          </a:lstStyle>
          <a:p>
            <a:r>
              <a:rPr lang="sv-SE" sz="1800" i="1" dirty="0" smtClean="0"/>
              <a:t>Ordinationskedja</a:t>
            </a:r>
            <a:endParaRPr lang="sv-SE" sz="1800" i="1" dirty="0"/>
          </a:p>
        </p:txBody>
      </p:sp>
    </p:spTree>
    <p:extLst>
      <p:ext uri="{BB962C8B-B14F-4D97-AF65-F5344CB8AC3E}">
        <p14:creationId xmlns:p14="http://schemas.microsoft.com/office/powerpoint/2010/main" val="28231072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400" dirty="0">
                <a:solidFill>
                  <a:srgbClr val="A6A6A6"/>
                </a:solidFill>
              </a:rPr>
              <a:t>Modell v1.0 (gamla modellen)</a:t>
            </a:r>
            <a:endParaRPr lang="sv-SE" dirty="0">
              <a:solidFill>
                <a:srgbClr val="A6A6A6"/>
              </a:solidFill>
            </a:endParaRPr>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25</a:t>
            </a:fld>
            <a:endParaRPr lang="sv-SE"/>
          </a:p>
        </p:txBody>
      </p:sp>
      <p:sp>
        <p:nvSpPr>
          <p:cNvPr id="5" name="textruta 4"/>
          <p:cNvSpPr txBox="1"/>
          <p:nvPr/>
        </p:nvSpPr>
        <p:spPr>
          <a:xfrm>
            <a:off x="1728865" y="1943653"/>
            <a:ext cx="1013005" cy="523220"/>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Ordination</a:t>
            </a:r>
          </a:p>
          <a:p>
            <a:endParaRPr lang="sv-SE" sz="1400" dirty="0"/>
          </a:p>
        </p:txBody>
      </p:sp>
      <p:sp>
        <p:nvSpPr>
          <p:cNvPr id="6" name="textruta 5"/>
          <p:cNvSpPr txBox="1"/>
          <p:nvPr/>
        </p:nvSpPr>
        <p:spPr>
          <a:xfrm>
            <a:off x="1469178" y="3319461"/>
            <a:ext cx="1491740" cy="523220"/>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err="1" smtClean="0"/>
              <a:t>Förskrivningsdel</a:t>
            </a:r>
            <a:endParaRPr lang="sv-SE" sz="1400" dirty="0" smtClean="0"/>
          </a:p>
          <a:p>
            <a:endParaRPr lang="sv-SE" sz="1400" dirty="0" smtClean="0"/>
          </a:p>
        </p:txBody>
      </p:sp>
      <p:sp>
        <p:nvSpPr>
          <p:cNvPr id="20" name="textruta 19"/>
          <p:cNvSpPr txBox="1"/>
          <p:nvPr/>
        </p:nvSpPr>
        <p:spPr>
          <a:xfrm>
            <a:off x="2396108" y="3061245"/>
            <a:ext cx="441347" cy="276999"/>
          </a:xfrm>
          <a:prstGeom prst="rect">
            <a:avLst/>
          </a:prstGeom>
          <a:noFill/>
        </p:spPr>
        <p:txBody>
          <a:bodyPr wrap="none" rtlCol="0">
            <a:spAutoFit/>
          </a:bodyPr>
          <a:lstStyle/>
          <a:p>
            <a:r>
              <a:rPr lang="sv-SE" sz="1200" dirty="0" smtClean="0"/>
              <a:t>0..1</a:t>
            </a:r>
            <a:endParaRPr lang="sv-SE" sz="1200" dirty="0"/>
          </a:p>
        </p:txBody>
      </p:sp>
      <p:sp>
        <p:nvSpPr>
          <p:cNvPr id="28" name="textruta 27"/>
          <p:cNvSpPr txBox="1"/>
          <p:nvPr/>
        </p:nvSpPr>
        <p:spPr>
          <a:xfrm>
            <a:off x="1715913" y="5071538"/>
            <a:ext cx="423989"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O-i</a:t>
            </a:r>
          </a:p>
        </p:txBody>
      </p:sp>
      <p:sp>
        <p:nvSpPr>
          <p:cNvPr id="30" name="textruta 29"/>
          <p:cNvSpPr txBox="1"/>
          <p:nvPr/>
        </p:nvSpPr>
        <p:spPr>
          <a:xfrm>
            <a:off x="1774554" y="5582515"/>
            <a:ext cx="294334"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F</a:t>
            </a:r>
          </a:p>
        </p:txBody>
      </p:sp>
      <p:cxnSp>
        <p:nvCxnSpPr>
          <p:cNvPr id="32" name="Rak 31"/>
          <p:cNvCxnSpPr>
            <a:stCxn id="28" idx="2"/>
            <a:endCxn id="30" idx="0"/>
          </p:cNvCxnSpPr>
          <p:nvPr/>
        </p:nvCxnSpPr>
        <p:spPr bwMode="auto">
          <a:xfrm flipH="1">
            <a:off x="1921721" y="5379315"/>
            <a:ext cx="6187" cy="20320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Rektangel 49"/>
          <p:cNvSpPr/>
          <p:nvPr/>
        </p:nvSpPr>
        <p:spPr bwMode="auto">
          <a:xfrm>
            <a:off x="1534161" y="4964854"/>
            <a:ext cx="4947919" cy="552026"/>
          </a:xfrm>
          <a:prstGeom prst="rect">
            <a:avLst/>
          </a:prstGeom>
          <a:noFill/>
          <a:ln w="19050" cmpd="sng">
            <a:solidFill>
              <a:schemeClr val="accent2"/>
            </a:solidFill>
            <a:prstDash val="dash"/>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54" name="textruta 53"/>
          <p:cNvSpPr txBox="1"/>
          <p:nvPr/>
        </p:nvSpPr>
        <p:spPr>
          <a:xfrm>
            <a:off x="6582589" y="5074870"/>
            <a:ext cx="1343474" cy="276999"/>
          </a:xfrm>
          <a:prstGeom prst="rect">
            <a:avLst/>
          </a:prstGeom>
          <a:noFill/>
        </p:spPr>
        <p:txBody>
          <a:bodyPr wrap="none" rtlCol="0">
            <a:spAutoFit/>
          </a:bodyPr>
          <a:lstStyle/>
          <a:p>
            <a:r>
              <a:rPr lang="sv-SE" sz="1200" i="1" dirty="0"/>
              <a:t>o</a:t>
            </a:r>
            <a:r>
              <a:rPr lang="sv-SE" sz="1200" i="1" dirty="0" smtClean="0"/>
              <a:t>rdinationskedja</a:t>
            </a:r>
            <a:endParaRPr lang="sv-SE" sz="1200" i="1" dirty="0"/>
          </a:p>
        </p:txBody>
      </p:sp>
      <p:sp>
        <p:nvSpPr>
          <p:cNvPr id="55" name="textruta 54"/>
          <p:cNvSpPr txBox="1"/>
          <p:nvPr/>
        </p:nvSpPr>
        <p:spPr>
          <a:xfrm>
            <a:off x="1814888" y="2031736"/>
            <a:ext cx="1013005" cy="523220"/>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Ordination</a:t>
            </a:r>
          </a:p>
          <a:p>
            <a:endParaRPr lang="sv-SE" sz="1400" dirty="0"/>
          </a:p>
        </p:txBody>
      </p:sp>
      <p:sp>
        <p:nvSpPr>
          <p:cNvPr id="58" name="textruta 57"/>
          <p:cNvSpPr txBox="1"/>
          <p:nvPr/>
        </p:nvSpPr>
        <p:spPr>
          <a:xfrm>
            <a:off x="1562553" y="3401738"/>
            <a:ext cx="1491740" cy="523220"/>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err="1" smtClean="0"/>
              <a:t>Förskrivningsdel</a:t>
            </a:r>
            <a:endParaRPr lang="sv-SE" sz="1400" dirty="0" smtClean="0"/>
          </a:p>
          <a:p>
            <a:endParaRPr lang="sv-SE" sz="1400" dirty="0" smtClean="0"/>
          </a:p>
        </p:txBody>
      </p:sp>
      <p:sp>
        <p:nvSpPr>
          <p:cNvPr id="59" name="textruta 58"/>
          <p:cNvSpPr txBox="1"/>
          <p:nvPr/>
        </p:nvSpPr>
        <p:spPr>
          <a:xfrm>
            <a:off x="1655928" y="3484015"/>
            <a:ext cx="1491740" cy="52322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pPr algn="ctr"/>
            <a:r>
              <a:rPr lang="sv-SE" sz="1400" dirty="0" err="1" smtClean="0"/>
              <a:t>Förskrivningsdel</a:t>
            </a:r>
            <a:r>
              <a:rPr lang="sv-SE" sz="1400" dirty="0" smtClean="0"/>
              <a:t/>
            </a:r>
            <a:br>
              <a:rPr lang="sv-SE" sz="1400" dirty="0" smtClean="0"/>
            </a:br>
            <a:r>
              <a:rPr lang="sv-SE" sz="1400" dirty="0" smtClean="0"/>
              <a:t>(F)</a:t>
            </a:r>
          </a:p>
        </p:txBody>
      </p:sp>
      <p:cxnSp>
        <p:nvCxnSpPr>
          <p:cNvPr id="10" name="Rak 9"/>
          <p:cNvCxnSpPr>
            <a:stCxn id="56" idx="2"/>
            <a:endCxn id="59" idx="0"/>
          </p:cNvCxnSpPr>
          <p:nvPr/>
        </p:nvCxnSpPr>
        <p:spPr bwMode="auto">
          <a:xfrm flipH="1">
            <a:off x="2401798" y="2643039"/>
            <a:ext cx="5616" cy="840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Kurva 61"/>
          <p:cNvCxnSpPr/>
          <p:nvPr/>
        </p:nvCxnSpPr>
        <p:spPr bwMode="auto">
          <a:xfrm flipH="1" flipV="1">
            <a:off x="2830192" y="2040927"/>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Rak 62"/>
          <p:cNvCxnSpPr>
            <a:endCxn id="58" idx="0"/>
          </p:cNvCxnSpPr>
          <p:nvPr/>
        </p:nvCxnSpPr>
        <p:spPr bwMode="auto">
          <a:xfrm>
            <a:off x="2308423" y="2657717"/>
            <a:ext cx="0" cy="74402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Rak 65"/>
          <p:cNvCxnSpPr>
            <a:endCxn id="6" idx="0"/>
          </p:cNvCxnSpPr>
          <p:nvPr/>
        </p:nvCxnSpPr>
        <p:spPr bwMode="auto">
          <a:xfrm>
            <a:off x="2215048" y="2657717"/>
            <a:ext cx="0" cy="66174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ruta 55"/>
          <p:cNvSpPr txBox="1"/>
          <p:nvPr/>
        </p:nvSpPr>
        <p:spPr>
          <a:xfrm>
            <a:off x="1900911" y="2119819"/>
            <a:ext cx="1013005" cy="52322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Ordination</a:t>
            </a:r>
            <a:br>
              <a:rPr lang="sv-SE" sz="1400" dirty="0" smtClean="0"/>
            </a:br>
            <a:r>
              <a:rPr lang="sv-SE" sz="1400" dirty="0" smtClean="0"/>
              <a:t>(beslut)</a:t>
            </a:r>
          </a:p>
        </p:txBody>
      </p:sp>
      <p:sp>
        <p:nvSpPr>
          <p:cNvPr id="70" name="textruta 69"/>
          <p:cNvSpPr txBox="1"/>
          <p:nvPr/>
        </p:nvSpPr>
        <p:spPr>
          <a:xfrm>
            <a:off x="1473975" y="4316347"/>
            <a:ext cx="870936" cy="415498"/>
          </a:xfrm>
          <a:prstGeom prst="rect">
            <a:avLst/>
          </a:prstGeom>
          <a:noFill/>
        </p:spPr>
        <p:txBody>
          <a:bodyPr wrap="none" rtlCol="0">
            <a:spAutoFit/>
          </a:bodyPr>
          <a:lstStyle/>
          <a:p>
            <a:r>
              <a:rPr lang="sv-SE" sz="1050" b="1" i="1" dirty="0" smtClean="0"/>
              <a:t>Insättning</a:t>
            </a:r>
            <a:r>
              <a:rPr lang="sv-SE" sz="1050" i="1" dirty="0" smtClean="0"/>
              <a:t/>
            </a:r>
            <a:br>
              <a:rPr lang="sv-SE" sz="1050" i="1" dirty="0" smtClean="0"/>
            </a:br>
            <a:r>
              <a:rPr lang="sv-SE" sz="1050" i="1" dirty="0" smtClean="0"/>
              <a:t>(tillsvidare)</a:t>
            </a:r>
            <a:endParaRPr lang="sv-SE" sz="1050" i="1" dirty="0"/>
          </a:p>
        </p:txBody>
      </p:sp>
      <p:sp>
        <p:nvSpPr>
          <p:cNvPr id="73" name="textruta 72"/>
          <p:cNvSpPr txBox="1"/>
          <p:nvPr/>
        </p:nvSpPr>
        <p:spPr>
          <a:xfrm>
            <a:off x="3780511" y="1855659"/>
            <a:ext cx="913888" cy="430887"/>
          </a:xfrm>
          <a:prstGeom prst="rect">
            <a:avLst/>
          </a:prstGeom>
          <a:ln w="9525" cmpd="sng">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Insättnings-</a:t>
            </a:r>
            <a:br>
              <a:rPr lang="sv-SE" sz="1100" dirty="0" smtClean="0"/>
            </a:br>
            <a:r>
              <a:rPr lang="sv-SE" sz="1100" dirty="0" smtClean="0"/>
              <a:t>ordination</a:t>
            </a:r>
          </a:p>
        </p:txBody>
      </p:sp>
      <p:sp>
        <p:nvSpPr>
          <p:cNvPr id="74" name="textruta 73"/>
          <p:cNvSpPr txBox="1"/>
          <p:nvPr/>
        </p:nvSpPr>
        <p:spPr>
          <a:xfrm>
            <a:off x="3790671" y="2404299"/>
            <a:ext cx="937307" cy="430887"/>
          </a:xfrm>
          <a:prstGeom prst="rect">
            <a:avLst/>
          </a:prstGeom>
          <a:ln w="9525" cmpd="sng">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Utsättnings-</a:t>
            </a:r>
            <a:br>
              <a:rPr lang="sv-SE" sz="1100" dirty="0" smtClean="0"/>
            </a:br>
            <a:r>
              <a:rPr lang="sv-SE" sz="1100" dirty="0" smtClean="0"/>
              <a:t>ordination</a:t>
            </a:r>
          </a:p>
        </p:txBody>
      </p:sp>
      <p:cxnSp>
        <p:nvCxnSpPr>
          <p:cNvPr id="75" name="Rak 74"/>
          <p:cNvCxnSpPr>
            <a:stCxn id="74" idx="1"/>
            <a:endCxn id="56" idx="3"/>
          </p:cNvCxnSpPr>
          <p:nvPr/>
        </p:nvCxnSpPr>
        <p:spPr bwMode="auto">
          <a:xfrm rot="10800000">
            <a:off x="2913917" y="2381429"/>
            <a:ext cx="876755" cy="238314"/>
          </a:xfrm>
          <a:prstGeom prst="bentConnector3">
            <a:avLst>
              <a:gd name="adj1" fmla="val 50000"/>
            </a:avLst>
          </a:prstGeom>
          <a:noFill/>
          <a:ln w="9525" cap="flat" cmpd="sng" algn="ctr">
            <a:solidFill>
              <a:schemeClr val="accent1"/>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Rak 74"/>
          <p:cNvCxnSpPr>
            <a:stCxn id="73" idx="1"/>
            <a:endCxn id="56" idx="3"/>
          </p:cNvCxnSpPr>
          <p:nvPr/>
        </p:nvCxnSpPr>
        <p:spPr bwMode="auto">
          <a:xfrm rot="10800000" flipV="1">
            <a:off x="2913917" y="2071103"/>
            <a:ext cx="866595" cy="310326"/>
          </a:xfrm>
          <a:prstGeom prst="bentConnector3">
            <a:avLst>
              <a:gd name="adj1" fmla="val 50000"/>
            </a:avLst>
          </a:prstGeom>
          <a:noFill/>
          <a:ln w="9525" cap="flat" cmpd="sng" algn="ctr">
            <a:solidFill>
              <a:schemeClr val="accent1"/>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Rektangel 82"/>
          <p:cNvSpPr/>
          <p:nvPr/>
        </p:nvSpPr>
        <p:spPr>
          <a:xfrm>
            <a:off x="4866640" y="1846888"/>
            <a:ext cx="2468880" cy="646331"/>
          </a:xfrm>
          <a:prstGeom prst="rect">
            <a:avLst/>
          </a:prstGeom>
        </p:spPr>
        <p:txBody>
          <a:bodyPr wrap="square">
            <a:spAutoFit/>
          </a:bodyPr>
          <a:lstStyle/>
          <a:p>
            <a:r>
              <a:rPr lang="sv-SE" baseline="30000" dirty="0"/>
              <a:t>anger om aktuell ordination ska räknas som en insättning eller </a:t>
            </a:r>
            <a:r>
              <a:rPr lang="sv-SE" baseline="30000" dirty="0" smtClean="0"/>
              <a:t>utsättning</a:t>
            </a:r>
            <a:endParaRPr lang="sv-SE" dirty="0"/>
          </a:p>
        </p:txBody>
      </p:sp>
      <p:sp>
        <p:nvSpPr>
          <p:cNvPr id="84" name="textruta 83"/>
          <p:cNvSpPr txBox="1"/>
          <p:nvPr/>
        </p:nvSpPr>
        <p:spPr>
          <a:xfrm>
            <a:off x="3595549" y="1569670"/>
            <a:ext cx="1180869" cy="276999"/>
          </a:xfrm>
          <a:prstGeom prst="rect">
            <a:avLst/>
          </a:prstGeom>
          <a:noFill/>
        </p:spPr>
        <p:txBody>
          <a:bodyPr wrap="none" rtlCol="0">
            <a:spAutoFit/>
          </a:bodyPr>
          <a:lstStyle/>
          <a:p>
            <a:r>
              <a:rPr lang="sv-SE" sz="1200" i="1" dirty="0" err="1" smtClean="0"/>
              <a:t>ordinationstyp</a:t>
            </a:r>
            <a:endParaRPr lang="sv-SE" sz="1200" i="1" dirty="0"/>
          </a:p>
        </p:txBody>
      </p:sp>
      <p:sp>
        <p:nvSpPr>
          <p:cNvPr id="43" name="Rektangel 42"/>
          <p:cNvSpPr/>
          <p:nvPr/>
        </p:nvSpPr>
        <p:spPr>
          <a:xfrm>
            <a:off x="7705321" y="253390"/>
            <a:ext cx="1164359" cy="523220"/>
          </a:xfrm>
          <a:prstGeom prst="rect">
            <a:avLst/>
          </a:prstGeom>
          <a:noFill/>
        </p:spPr>
        <p:txBody>
          <a:bodyPr wrap="square" lIns="91440" tIns="45720" rIns="91440" bIns="45720">
            <a:spAutoFit/>
          </a:bodyPr>
          <a:lstStyle/>
          <a:p>
            <a:pPr algn="ctr"/>
            <a:r>
              <a:rPr lang="sv-SE"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v</a:t>
            </a:r>
            <a:r>
              <a:rPr lang="sv-SE" sz="28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1</a:t>
            </a:r>
            <a:endParaRPr lang="sv-SE" sz="2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grpSp>
        <p:nvGrpSpPr>
          <p:cNvPr id="4" name="Grupp 3"/>
          <p:cNvGrpSpPr/>
          <p:nvPr/>
        </p:nvGrpSpPr>
        <p:grpSpPr>
          <a:xfrm>
            <a:off x="2139903" y="4316347"/>
            <a:ext cx="2140685" cy="1584105"/>
            <a:chOff x="2139903" y="4316347"/>
            <a:chExt cx="2140685" cy="1584105"/>
          </a:xfrm>
        </p:grpSpPr>
        <p:cxnSp>
          <p:nvCxnSpPr>
            <p:cNvPr id="36" name="Kurva 35"/>
            <p:cNvCxnSpPr>
              <a:endCxn id="28" idx="3"/>
            </p:cNvCxnSpPr>
            <p:nvPr/>
          </p:nvCxnSpPr>
          <p:spPr bwMode="auto">
            <a:xfrm rot="10800000" flipV="1">
              <a:off x="2139903" y="5223937"/>
              <a:ext cx="417171" cy="1490"/>
            </a:xfrm>
            <a:prstGeom prst="curvedConnector3">
              <a:avLst>
                <a:gd name="adj1" fmla="val 50000"/>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ruta 39"/>
            <p:cNvSpPr txBox="1"/>
            <p:nvPr/>
          </p:nvSpPr>
          <p:spPr>
            <a:xfrm>
              <a:off x="2457248" y="5059963"/>
              <a:ext cx="483952"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O-u</a:t>
              </a:r>
            </a:p>
          </p:txBody>
        </p:sp>
        <p:sp>
          <p:nvSpPr>
            <p:cNvPr id="71" name="textruta 70"/>
            <p:cNvSpPr txBox="1"/>
            <p:nvPr/>
          </p:nvSpPr>
          <p:spPr>
            <a:xfrm>
              <a:off x="2337575" y="4712587"/>
              <a:ext cx="803938" cy="253916"/>
            </a:xfrm>
            <a:prstGeom prst="rect">
              <a:avLst/>
            </a:prstGeom>
            <a:noFill/>
          </p:spPr>
          <p:txBody>
            <a:bodyPr wrap="none" rtlCol="0">
              <a:spAutoFit/>
            </a:bodyPr>
            <a:lstStyle/>
            <a:p>
              <a:r>
                <a:rPr lang="sv-SE" sz="1050" i="1" dirty="0" smtClean="0"/>
                <a:t>utsättning </a:t>
              </a:r>
              <a:endParaRPr lang="sv-SE" sz="1050" i="1" dirty="0"/>
            </a:p>
          </p:txBody>
        </p:sp>
        <p:sp>
          <p:nvSpPr>
            <p:cNvPr id="72" name="textruta 71"/>
            <p:cNvSpPr txBox="1"/>
            <p:nvPr/>
          </p:nvSpPr>
          <p:spPr>
            <a:xfrm>
              <a:off x="2469655" y="4316347"/>
              <a:ext cx="1810933" cy="253916"/>
            </a:xfrm>
            <a:prstGeom prst="rect">
              <a:avLst/>
            </a:prstGeom>
            <a:noFill/>
          </p:spPr>
          <p:txBody>
            <a:bodyPr wrap="none" rtlCol="0">
              <a:spAutoFit/>
            </a:bodyPr>
            <a:lstStyle/>
            <a:p>
              <a:r>
                <a:rPr lang="sv-SE" sz="1050" b="1" i="1" dirty="0" smtClean="0"/>
                <a:t>Ändring</a:t>
              </a:r>
              <a:r>
                <a:rPr lang="sv-SE" sz="1050" i="1" dirty="0" smtClean="0"/>
                <a:t> (</a:t>
              </a:r>
              <a:r>
                <a:rPr lang="sv-SE" sz="1050" i="1" dirty="0" err="1" smtClean="0"/>
                <a:t>dosjustering</a:t>
              </a:r>
              <a:r>
                <a:rPr lang="sv-SE" sz="1050" i="1" dirty="0" smtClean="0"/>
                <a:t> </a:t>
              </a:r>
              <a:r>
                <a:rPr lang="sv-SE" sz="1050" i="1" dirty="0" err="1" smtClean="0"/>
                <a:t>etc</a:t>
              </a:r>
              <a:r>
                <a:rPr lang="sv-SE" sz="1050" i="1" dirty="0" smtClean="0"/>
                <a:t>)</a:t>
              </a:r>
              <a:endParaRPr lang="sv-SE" sz="1050" i="1" dirty="0"/>
            </a:p>
          </p:txBody>
        </p:sp>
        <p:sp>
          <p:nvSpPr>
            <p:cNvPr id="51" name="textruta 50"/>
            <p:cNvSpPr txBox="1"/>
            <p:nvPr/>
          </p:nvSpPr>
          <p:spPr>
            <a:xfrm>
              <a:off x="3280553" y="5061378"/>
              <a:ext cx="423989"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O-i</a:t>
              </a:r>
            </a:p>
          </p:txBody>
        </p:sp>
        <p:cxnSp>
          <p:nvCxnSpPr>
            <p:cNvPr id="52" name="Kurva 51"/>
            <p:cNvCxnSpPr>
              <a:stCxn id="51" idx="1"/>
              <a:endCxn id="40" idx="3"/>
            </p:cNvCxnSpPr>
            <p:nvPr/>
          </p:nvCxnSpPr>
          <p:spPr bwMode="auto">
            <a:xfrm rot="10800000">
              <a:off x="2941201" y="5213853"/>
              <a:ext cx="339353" cy="1415"/>
            </a:xfrm>
            <a:prstGeom prst="curvedConnector3">
              <a:avLst>
                <a:gd name="adj1" fmla="val 50000"/>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ruta 52"/>
            <p:cNvSpPr txBox="1"/>
            <p:nvPr/>
          </p:nvSpPr>
          <p:spPr>
            <a:xfrm>
              <a:off x="3339194" y="5592675"/>
              <a:ext cx="294334"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F</a:t>
              </a:r>
            </a:p>
          </p:txBody>
        </p:sp>
        <p:cxnSp>
          <p:nvCxnSpPr>
            <p:cNvPr id="57" name="Rak 56"/>
            <p:cNvCxnSpPr>
              <a:stCxn id="51" idx="2"/>
              <a:endCxn id="53" idx="0"/>
            </p:cNvCxnSpPr>
            <p:nvPr/>
          </p:nvCxnSpPr>
          <p:spPr bwMode="auto">
            <a:xfrm flipH="1">
              <a:off x="3486361" y="5369155"/>
              <a:ext cx="6187" cy="22352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Höger klammerparentes 11"/>
            <p:cNvSpPr/>
            <p:nvPr/>
          </p:nvSpPr>
          <p:spPr bwMode="auto">
            <a:xfrm rot="16200000">
              <a:off x="3007360" y="3942080"/>
              <a:ext cx="264160" cy="1463040"/>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60" name="textruta 59"/>
            <p:cNvSpPr txBox="1"/>
            <p:nvPr/>
          </p:nvSpPr>
          <p:spPr>
            <a:xfrm>
              <a:off x="3109735" y="4702427"/>
              <a:ext cx="796443" cy="253916"/>
            </a:xfrm>
            <a:prstGeom prst="rect">
              <a:avLst/>
            </a:prstGeom>
            <a:noFill/>
          </p:spPr>
          <p:txBody>
            <a:bodyPr wrap="none" rtlCol="0">
              <a:spAutoFit/>
            </a:bodyPr>
            <a:lstStyle/>
            <a:p>
              <a:r>
                <a:rPr lang="sv-SE" sz="1050" i="1" dirty="0" smtClean="0"/>
                <a:t>insättning </a:t>
              </a:r>
              <a:endParaRPr lang="sv-SE" sz="1050" i="1" dirty="0"/>
            </a:p>
          </p:txBody>
        </p:sp>
      </p:grpSp>
      <p:sp>
        <p:nvSpPr>
          <p:cNvPr id="61" name="textruta 60"/>
          <p:cNvSpPr txBox="1"/>
          <p:nvPr/>
        </p:nvSpPr>
        <p:spPr>
          <a:xfrm>
            <a:off x="1575575" y="4712587"/>
            <a:ext cx="796443" cy="253916"/>
          </a:xfrm>
          <a:prstGeom prst="rect">
            <a:avLst/>
          </a:prstGeom>
          <a:noFill/>
        </p:spPr>
        <p:txBody>
          <a:bodyPr wrap="none" rtlCol="0">
            <a:spAutoFit/>
          </a:bodyPr>
          <a:lstStyle/>
          <a:p>
            <a:r>
              <a:rPr lang="sv-SE" sz="1050" i="1" dirty="0" smtClean="0"/>
              <a:t>insättning </a:t>
            </a:r>
            <a:endParaRPr lang="sv-SE" sz="1050" i="1" dirty="0"/>
          </a:p>
        </p:txBody>
      </p:sp>
      <p:grpSp>
        <p:nvGrpSpPr>
          <p:cNvPr id="7" name="Grupp 6"/>
          <p:cNvGrpSpPr/>
          <p:nvPr/>
        </p:nvGrpSpPr>
        <p:grpSpPr>
          <a:xfrm>
            <a:off x="3704542" y="4326507"/>
            <a:ext cx="1296762" cy="1038330"/>
            <a:chOff x="3704542" y="4326507"/>
            <a:chExt cx="1296762" cy="1038330"/>
          </a:xfrm>
        </p:grpSpPr>
        <p:cxnSp>
          <p:nvCxnSpPr>
            <p:cNvPr id="44" name="Kurva 43"/>
            <p:cNvCxnSpPr>
              <a:stCxn id="46" idx="1"/>
              <a:endCxn id="51" idx="3"/>
            </p:cNvCxnSpPr>
            <p:nvPr/>
          </p:nvCxnSpPr>
          <p:spPr bwMode="auto">
            <a:xfrm flipH="1">
              <a:off x="3704542" y="5210949"/>
              <a:ext cx="467380" cy="4318"/>
            </a:xfrm>
            <a:prstGeom prst="straightConnector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textruta 45"/>
            <p:cNvSpPr txBox="1"/>
            <p:nvPr/>
          </p:nvSpPr>
          <p:spPr>
            <a:xfrm>
              <a:off x="4171922" y="5057060"/>
              <a:ext cx="483952"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O-u</a:t>
              </a:r>
            </a:p>
          </p:txBody>
        </p:sp>
        <p:sp>
          <p:nvSpPr>
            <p:cNvPr id="64" name="textruta 63"/>
            <p:cNvSpPr txBox="1"/>
            <p:nvPr/>
          </p:nvSpPr>
          <p:spPr>
            <a:xfrm>
              <a:off x="4115575" y="4326507"/>
              <a:ext cx="885729" cy="415498"/>
            </a:xfrm>
            <a:prstGeom prst="rect">
              <a:avLst/>
            </a:prstGeom>
            <a:noFill/>
          </p:spPr>
          <p:txBody>
            <a:bodyPr wrap="none" rtlCol="0">
              <a:spAutoFit/>
            </a:bodyPr>
            <a:lstStyle/>
            <a:p>
              <a:r>
                <a:rPr lang="sv-SE" sz="1050" b="1" i="1" dirty="0" smtClean="0"/>
                <a:t>Utsättning</a:t>
              </a:r>
              <a:r>
                <a:rPr lang="sv-SE" sz="1050" i="1" dirty="0" smtClean="0"/>
                <a:t> </a:t>
              </a:r>
              <a:br>
                <a:rPr lang="sv-SE" sz="1050" i="1" dirty="0" smtClean="0"/>
              </a:br>
              <a:r>
                <a:rPr lang="sv-SE" sz="1050" i="1" dirty="0" smtClean="0"/>
                <a:t>(</a:t>
              </a:r>
              <a:r>
                <a:rPr lang="sv-SE" sz="1050" b="1" i="1" dirty="0" smtClean="0"/>
                <a:t>planerad</a:t>
              </a:r>
              <a:r>
                <a:rPr lang="sv-SE" sz="1050" i="1" dirty="0" smtClean="0"/>
                <a:t>)</a:t>
              </a:r>
              <a:endParaRPr lang="sv-SE" sz="1050" i="1" dirty="0"/>
            </a:p>
          </p:txBody>
        </p:sp>
        <p:sp>
          <p:nvSpPr>
            <p:cNvPr id="65" name="textruta 64"/>
            <p:cNvSpPr txBox="1"/>
            <p:nvPr/>
          </p:nvSpPr>
          <p:spPr>
            <a:xfrm>
              <a:off x="4125735" y="4692267"/>
              <a:ext cx="803938" cy="253916"/>
            </a:xfrm>
            <a:prstGeom prst="rect">
              <a:avLst/>
            </a:prstGeom>
            <a:noFill/>
          </p:spPr>
          <p:txBody>
            <a:bodyPr wrap="none" rtlCol="0">
              <a:spAutoFit/>
            </a:bodyPr>
            <a:lstStyle/>
            <a:p>
              <a:r>
                <a:rPr lang="sv-SE" sz="1050" i="1" dirty="0" smtClean="0"/>
                <a:t>utsättning </a:t>
              </a:r>
              <a:endParaRPr lang="sv-SE" sz="1050" i="1" dirty="0"/>
            </a:p>
          </p:txBody>
        </p:sp>
      </p:grpSp>
      <p:grpSp>
        <p:nvGrpSpPr>
          <p:cNvPr id="31" name="Grupp 30"/>
          <p:cNvGrpSpPr/>
          <p:nvPr/>
        </p:nvGrpSpPr>
        <p:grpSpPr>
          <a:xfrm>
            <a:off x="3704542" y="4336667"/>
            <a:ext cx="2721316" cy="1766985"/>
            <a:chOff x="3704542" y="4336667"/>
            <a:chExt cx="2721316" cy="1766985"/>
          </a:xfrm>
        </p:grpSpPr>
        <p:grpSp>
          <p:nvGrpSpPr>
            <p:cNvPr id="29" name="Grupp 28"/>
            <p:cNvGrpSpPr/>
            <p:nvPr/>
          </p:nvGrpSpPr>
          <p:grpSpPr>
            <a:xfrm>
              <a:off x="4857255" y="4336667"/>
              <a:ext cx="1568603" cy="629836"/>
              <a:chOff x="4857255" y="4336667"/>
              <a:chExt cx="1568603" cy="629836"/>
            </a:xfrm>
          </p:grpSpPr>
          <p:sp>
            <p:nvSpPr>
              <p:cNvPr id="69" name="textruta 68"/>
              <p:cNvSpPr txBox="1"/>
              <p:nvPr/>
            </p:nvSpPr>
            <p:spPr>
              <a:xfrm>
                <a:off x="4948694" y="4336667"/>
                <a:ext cx="1380985" cy="253916"/>
              </a:xfrm>
              <a:prstGeom prst="rect">
                <a:avLst/>
              </a:prstGeom>
              <a:noFill/>
            </p:spPr>
            <p:txBody>
              <a:bodyPr wrap="square" rtlCol="0">
                <a:spAutoFit/>
              </a:bodyPr>
              <a:lstStyle/>
              <a:p>
                <a:r>
                  <a:rPr lang="sv-SE" sz="1050" b="1" i="1" dirty="0" smtClean="0"/>
                  <a:t>Ändring</a:t>
                </a:r>
                <a:endParaRPr lang="sv-SE" sz="1050" i="1" dirty="0"/>
              </a:p>
            </p:txBody>
          </p:sp>
          <p:sp>
            <p:nvSpPr>
              <p:cNvPr id="77" name="textruta 76"/>
              <p:cNvSpPr txBox="1"/>
              <p:nvPr/>
            </p:nvSpPr>
            <p:spPr>
              <a:xfrm>
                <a:off x="4857255" y="4712587"/>
                <a:ext cx="803938" cy="253916"/>
              </a:xfrm>
              <a:prstGeom prst="rect">
                <a:avLst/>
              </a:prstGeom>
              <a:noFill/>
            </p:spPr>
            <p:txBody>
              <a:bodyPr wrap="none" rtlCol="0">
                <a:spAutoFit/>
              </a:bodyPr>
              <a:lstStyle/>
              <a:p>
                <a:r>
                  <a:rPr lang="sv-SE" sz="1050" i="1" dirty="0" smtClean="0"/>
                  <a:t>utsättning </a:t>
                </a:r>
                <a:endParaRPr lang="sv-SE" sz="1050" i="1" dirty="0"/>
              </a:p>
            </p:txBody>
          </p:sp>
          <p:sp>
            <p:nvSpPr>
              <p:cNvPr id="78" name="Höger klammerparentes 77"/>
              <p:cNvSpPr/>
              <p:nvPr/>
            </p:nvSpPr>
            <p:spPr bwMode="auto">
              <a:xfrm rot="16200000">
                <a:off x="5527040" y="3942080"/>
                <a:ext cx="264160" cy="1463040"/>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9" name="textruta 78"/>
              <p:cNvSpPr txBox="1"/>
              <p:nvPr/>
            </p:nvSpPr>
            <p:spPr>
              <a:xfrm>
                <a:off x="5629415" y="4702427"/>
                <a:ext cx="796443" cy="253916"/>
              </a:xfrm>
              <a:prstGeom prst="rect">
                <a:avLst/>
              </a:prstGeom>
              <a:noFill/>
            </p:spPr>
            <p:txBody>
              <a:bodyPr wrap="none" rtlCol="0">
                <a:spAutoFit/>
              </a:bodyPr>
              <a:lstStyle/>
              <a:p>
                <a:r>
                  <a:rPr lang="sv-SE" sz="1050" i="1" dirty="0" smtClean="0"/>
                  <a:t>insättning </a:t>
                </a:r>
                <a:endParaRPr lang="sv-SE" sz="1050" i="1" dirty="0"/>
              </a:p>
            </p:txBody>
          </p:sp>
        </p:grpSp>
        <p:grpSp>
          <p:nvGrpSpPr>
            <p:cNvPr id="27" name="Grupp 26"/>
            <p:cNvGrpSpPr/>
            <p:nvPr/>
          </p:nvGrpSpPr>
          <p:grpSpPr>
            <a:xfrm>
              <a:off x="3704542" y="5215267"/>
              <a:ext cx="2509520" cy="888385"/>
              <a:chOff x="3704542" y="5215267"/>
              <a:chExt cx="2509520" cy="888385"/>
            </a:xfrm>
          </p:grpSpPr>
          <p:cxnSp>
            <p:nvCxnSpPr>
              <p:cNvPr id="67" name="Kurva 43"/>
              <p:cNvCxnSpPr>
                <a:stCxn id="68" idx="1"/>
                <a:endCxn id="51" idx="3"/>
              </p:cNvCxnSpPr>
              <p:nvPr/>
            </p:nvCxnSpPr>
            <p:spPr bwMode="auto">
              <a:xfrm rot="10800000">
                <a:off x="3704542" y="5215267"/>
                <a:ext cx="1391940" cy="209042"/>
              </a:xfrm>
              <a:prstGeom prst="bentConnector3">
                <a:avLst>
                  <a:gd name="adj1" fmla="val 77007"/>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ruta 67"/>
              <p:cNvSpPr txBox="1"/>
              <p:nvPr/>
            </p:nvSpPr>
            <p:spPr>
              <a:xfrm>
                <a:off x="5096482" y="5270420"/>
                <a:ext cx="483952"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O-u</a:t>
                </a:r>
              </a:p>
            </p:txBody>
          </p:sp>
          <p:sp>
            <p:nvSpPr>
              <p:cNvPr id="76" name="textruta 75"/>
              <p:cNvSpPr txBox="1"/>
              <p:nvPr/>
            </p:nvSpPr>
            <p:spPr>
              <a:xfrm>
                <a:off x="5790073" y="5274738"/>
                <a:ext cx="423989"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O-i</a:t>
                </a:r>
              </a:p>
            </p:txBody>
          </p:sp>
          <p:cxnSp>
            <p:nvCxnSpPr>
              <p:cNvPr id="81" name="Kurva 80"/>
              <p:cNvCxnSpPr>
                <a:stCxn id="76" idx="1"/>
                <a:endCxn id="68" idx="3"/>
              </p:cNvCxnSpPr>
              <p:nvPr/>
            </p:nvCxnSpPr>
            <p:spPr bwMode="auto">
              <a:xfrm rot="10800000">
                <a:off x="5580435" y="5424309"/>
                <a:ext cx="209639" cy="4318"/>
              </a:xfrm>
              <a:prstGeom prst="curvedConnector3">
                <a:avLst>
                  <a:gd name="adj1" fmla="val 50000"/>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ruta 81"/>
              <p:cNvSpPr txBox="1"/>
              <p:nvPr/>
            </p:nvSpPr>
            <p:spPr>
              <a:xfrm>
                <a:off x="5848714" y="5795875"/>
                <a:ext cx="294334"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smtClean="0"/>
                  <a:t>F</a:t>
                </a:r>
              </a:p>
            </p:txBody>
          </p:sp>
          <p:cxnSp>
            <p:nvCxnSpPr>
              <p:cNvPr id="85" name="Rak 84"/>
              <p:cNvCxnSpPr>
                <a:stCxn id="76" idx="2"/>
                <a:endCxn id="82" idx="0"/>
              </p:cNvCxnSpPr>
              <p:nvPr/>
            </p:nvCxnSpPr>
            <p:spPr bwMode="auto">
              <a:xfrm flipH="1">
                <a:off x="5995881" y="5582515"/>
                <a:ext cx="6187" cy="21336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86" name="textruta 85"/>
          <p:cNvSpPr txBox="1"/>
          <p:nvPr/>
        </p:nvSpPr>
        <p:spPr>
          <a:xfrm>
            <a:off x="4896029" y="2747946"/>
            <a:ext cx="3252291" cy="1384995"/>
          </a:xfrm>
          <a:prstGeom prst="rect">
            <a:avLst/>
          </a:prstGeom>
          <a:noFill/>
        </p:spPr>
        <p:txBody>
          <a:bodyPr wrap="square" rtlCol="0">
            <a:spAutoFit/>
          </a:bodyPr>
          <a:lstStyle/>
          <a:p>
            <a:r>
              <a:rPr lang="sv-SE" sz="1200" i="1" dirty="0" smtClean="0"/>
              <a:t>Läkemedelsordination</a:t>
            </a:r>
            <a:r>
              <a:rPr lang="sv-SE" sz="1200" dirty="0" smtClean="0"/>
              <a:t> beskriver läkemedelsbehandlingen, eller vid ändring hur den </a:t>
            </a:r>
            <a:r>
              <a:rPr lang="sv-SE" sz="1200" b="1" dirty="0" smtClean="0"/>
              <a:t>påverkas</a:t>
            </a:r>
            <a:r>
              <a:rPr lang="sv-SE" sz="1200" dirty="0" smtClean="0"/>
              <a:t>, t ex ”sättas ut”. </a:t>
            </a:r>
            <a:br>
              <a:rPr lang="sv-SE" sz="1200" dirty="0" smtClean="0"/>
            </a:br>
            <a:r>
              <a:rPr lang="sv-SE" sz="1200" dirty="0" smtClean="0"/>
              <a:t>För att få ut helheten, dvs hur det nu gällande beslutet om läkemedelsbehandling ser ut, behöver man för vissa fall sammanväga flera </a:t>
            </a:r>
            <a:r>
              <a:rPr lang="sv-SE" sz="1200" i="1" dirty="0" smtClean="0"/>
              <a:t>Läkemedelsordinationer:</a:t>
            </a:r>
            <a:endParaRPr lang="sv-SE" sz="1200" i="1" dirty="0"/>
          </a:p>
        </p:txBody>
      </p:sp>
    </p:spTree>
    <p:extLst>
      <p:ext uri="{BB962C8B-B14F-4D97-AF65-F5344CB8AC3E}">
        <p14:creationId xmlns:p14="http://schemas.microsoft.com/office/powerpoint/2010/main" val="122140545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6172" y="266550"/>
            <a:ext cx="6715542" cy="967165"/>
          </a:xfrm>
        </p:spPr>
        <p:txBody>
          <a:bodyPr/>
          <a:lstStyle/>
          <a:p>
            <a:r>
              <a:rPr lang="sv-SE" dirty="0" smtClean="0"/>
              <a:t>Reviderad modell </a:t>
            </a:r>
            <a:br>
              <a:rPr lang="sv-SE" dirty="0" smtClean="0"/>
            </a:br>
            <a:r>
              <a:rPr lang="sv-SE" sz="2000" dirty="0" smtClean="0"/>
              <a:t>– men med några gamla grundprinciper</a:t>
            </a:r>
            <a:endParaRPr lang="sv-SE" sz="2000" dirty="0"/>
          </a:p>
        </p:txBody>
      </p:sp>
      <p:sp>
        <p:nvSpPr>
          <p:cNvPr id="6" name="Platshållare för innehåll 5"/>
          <p:cNvSpPr>
            <a:spLocks noGrp="1"/>
          </p:cNvSpPr>
          <p:nvPr>
            <p:ph idx="13"/>
          </p:nvPr>
        </p:nvSpPr>
        <p:spPr>
          <a:xfrm>
            <a:off x="904873" y="1437876"/>
            <a:ext cx="7219951" cy="3885853"/>
          </a:xfrm>
        </p:spPr>
        <p:txBody>
          <a:bodyPr>
            <a:normAutofit fontScale="92500"/>
          </a:bodyPr>
          <a:lstStyle/>
          <a:p>
            <a:r>
              <a:rPr lang="sv-SE" dirty="0" smtClean="0"/>
              <a:t>Klassen </a:t>
            </a:r>
            <a:r>
              <a:rPr lang="sv-SE" b="1" i="1" dirty="0" smtClean="0"/>
              <a:t>Läkemedelsordination</a:t>
            </a:r>
            <a:r>
              <a:rPr lang="sv-SE" dirty="0" smtClean="0"/>
              <a:t> beskriver ett </a:t>
            </a:r>
            <a:r>
              <a:rPr lang="sv-SE" u="sng" dirty="0" smtClean="0"/>
              <a:t>beslut</a:t>
            </a:r>
            <a:r>
              <a:rPr lang="sv-SE" dirty="0" smtClean="0"/>
              <a:t> om läkemedelsbehandling – både avseende beslutsprocessen (t.ex. vem som beslutat och när) och vad som faktiskt beslutats, dvs. själva behandlingen (t.ex. dosering, läkemedel, ordinationsorsak). </a:t>
            </a:r>
          </a:p>
          <a:p>
            <a:r>
              <a:rPr lang="sv-SE" dirty="0" smtClean="0"/>
              <a:t>Läkemedelsbehandlingen beskrivs bl.a. genom </a:t>
            </a:r>
            <a:r>
              <a:rPr lang="sv-SE" i="1" dirty="0" smtClean="0"/>
              <a:t>Dosering</a:t>
            </a:r>
            <a:r>
              <a:rPr lang="sv-SE" dirty="0" smtClean="0"/>
              <a:t>, </a:t>
            </a:r>
            <a:r>
              <a:rPr lang="sv-SE" i="1" dirty="0" smtClean="0"/>
              <a:t>Ordinerat läkemedel</a:t>
            </a:r>
            <a:r>
              <a:rPr lang="sv-SE" dirty="0" smtClean="0"/>
              <a:t> och </a:t>
            </a:r>
            <a:r>
              <a:rPr lang="sv-SE" i="1" dirty="0" smtClean="0"/>
              <a:t>Ordinationsorsak</a:t>
            </a:r>
            <a:endParaRPr lang="sv-SE" dirty="0" smtClean="0"/>
          </a:p>
          <a:p>
            <a:r>
              <a:rPr lang="sv-SE" dirty="0" smtClean="0"/>
              <a:t>Det finns </a:t>
            </a:r>
            <a:r>
              <a:rPr lang="sv-SE" u="sng" dirty="0" smtClean="0"/>
              <a:t>vid varje tidpunkt </a:t>
            </a:r>
            <a:r>
              <a:rPr lang="sv-SE" dirty="0" smtClean="0"/>
              <a:t>alltid exakt </a:t>
            </a:r>
            <a:r>
              <a:rPr lang="sv-SE" u="sng" dirty="0" smtClean="0"/>
              <a:t>ett</a:t>
            </a:r>
            <a:r>
              <a:rPr lang="sv-SE" dirty="0" smtClean="0"/>
              <a:t> gällande beslut, dvs. en gällande </a:t>
            </a:r>
            <a:r>
              <a:rPr lang="sv-SE" i="1" dirty="0" smtClean="0"/>
              <a:t>Läkemedelsordination</a:t>
            </a:r>
            <a:r>
              <a:rPr lang="sv-SE" dirty="0" smtClean="0"/>
              <a:t>, för varje läkemedelsbehandling. </a:t>
            </a:r>
          </a:p>
          <a:p>
            <a:endParaRPr lang="sv-SE" dirty="0"/>
          </a:p>
        </p:txBody>
      </p:sp>
      <p:sp>
        <p:nvSpPr>
          <p:cNvPr id="4" name="Rektangel 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5" name="Rundad rektangulär 4"/>
          <p:cNvSpPr/>
          <p:nvPr/>
        </p:nvSpPr>
        <p:spPr bwMode="auto">
          <a:xfrm>
            <a:off x="2486896" y="5507531"/>
            <a:ext cx="1516144" cy="581295"/>
          </a:xfrm>
          <a:prstGeom prst="wedgeRoundRectCallout">
            <a:avLst>
              <a:gd name="adj1" fmla="val -55214"/>
              <a:gd name="adj2" fmla="val -98319"/>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400" i="1" dirty="0" smtClean="0">
                <a:solidFill>
                  <a:schemeClr val="tx1"/>
                </a:solidFill>
              </a:rPr>
              <a:t>Men hur uppnår vi det?</a:t>
            </a:r>
            <a:endParaRPr lang="sv-SE" sz="1400" i="1" dirty="0">
              <a:solidFill>
                <a:schemeClr val="tx1"/>
              </a:solidFill>
            </a:endParaRPr>
          </a:p>
        </p:txBody>
      </p:sp>
    </p:spTree>
    <p:extLst>
      <p:ext uri="{BB962C8B-B14F-4D97-AF65-F5344CB8AC3E}">
        <p14:creationId xmlns:p14="http://schemas.microsoft.com/office/powerpoint/2010/main" val="31369667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558406"/>
            <a:ext cx="6792913" cy="507161"/>
          </a:xfrm>
        </p:spPr>
        <p:txBody>
          <a:bodyPr vert="horz" lIns="91440" tIns="45720" rIns="91440" bIns="45720" rtlCol="0" anchor="ctr">
            <a:normAutofit/>
          </a:bodyPr>
          <a:lstStyle/>
          <a:p>
            <a:r>
              <a:rPr lang="sv-SE" sz="2400" dirty="0">
                <a:solidFill>
                  <a:srgbClr val="382819"/>
                </a:solidFill>
              </a:rPr>
              <a:t>Ändring av läkemedelsbehandling i </a:t>
            </a:r>
            <a:r>
              <a:rPr lang="sv-SE" sz="2400" dirty="0" smtClean="0">
                <a:solidFill>
                  <a:schemeClr val="tx1"/>
                </a:solidFill>
              </a:rPr>
              <a:t>v2.0</a:t>
            </a:r>
            <a:endParaRPr lang="sv-SE" sz="2400" b="1" kern="0" dirty="0">
              <a:solidFill>
                <a:schemeClr val="tx1"/>
              </a:solidFill>
            </a:endParaRPr>
          </a:p>
        </p:txBody>
      </p:sp>
      <p:sp>
        <p:nvSpPr>
          <p:cNvPr id="28" name="Rounded Rectangle 15"/>
          <p:cNvSpPr/>
          <p:nvPr/>
        </p:nvSpPr>
        <p:spPr>
          <a:xfrm>
            <a:off x="458660" y="2802774"/>
            <a:ext cx="1368000" cy="238898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a:solidFill>
                  <a:srgbClr val="000000"/>
                </a:solidFill>
              </a:rPr>
              <a:t>Läkemedelsordination</a:t>
            </a:r>
            <a:endParaRPr lang="sv-SE" sz="1050" i="1" dirty="0">
              <a:solidFill>
                <a:srgbClr val="000000"/>
              </a:solidFill>
            </a:endParaRPr>
          </a:p>
          <a:p>
            <a:endParaRPr lang="sv-SE" sz="900" dirty="0" smtClean="0">
              <a:solidFill>
                <a:srgbClr val="000000"/>
              </a:solidFill>
            </a:endParaRPr>
          </a:p>
          <a:p>
            <a:r>
              <a:rPr lang="sv-SE" sz="1050" dirty="0" smtClean="0">
                <a:solidFill>
                  <a:srgbClr val="000000"/>
                </a:solidFill>
              </a:rPr>
              <a:t>HSA</a:t>
            </a:r>
            <a:r>
              <a:rPr lang="sv-SE" sz="1050" dirty="0">
                <a:solidFill>
                  <a:srgbClr val="000000"/>
                </a:solidFill>
              </a:rPr>
              <a:t>-</a:t>
            </a:r>
            <a:r>
              <a:rPr lang="sv-SE" sz="1050" dirty="0" smtClean="0">
                <a:solidFill>
                  <a:srgbClr val="000000"/>
                </a:solidFill>
              </a:rPr>
              <a:t>person A</a:t>
            </a:r>
            <a:endParaRPr lang="sv-SE" sz="1050" dirty="0">
              <a:solidFill>
                <a:srgbClr val="000000"/>
              </a:solidFill>
            </a:endParaRPr>
          </a:p>
          <a:p>
            <a:r>
              <a:rPr lang="sv-SE" sz="1050" dirty="0" smtClean="0">
                <a:solidFill>
                  <a:srgbClr val="000000"/>
                </a:solidFill>
              </a:rPr>
              <a:t>Vårdenhet 1</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000000"/>
                </a:solidFill>
              </a:rPr>
              <a:t>Insättningstidpunkt</a:t>
            </a:r>
          </a:p>
          <a:p>
            <a:r>
              <a:rPr lang="sv-SE" sz="1050" dirty="0">
                <a:solidFill>
                  <a:srgbClr val="000000"/>
                </a:solidFill>
              </a:rPr>
              <a:t>Beslutsorsak</a:t>
            </a:r>
            <a:endParaRPr lang="sv-SE" sz="1050" dirty="0" smtClean="0">
              <a:solidFill>
                <a:srgbClr val="000000"/>
              </a:solidFill>
            </a:endParaRPr>
          </a:p>
          <a:p>
            <a:r>
              <a:rPr lang="sv-SE" sz="1050" dirty="0">
                <a:solidFill>
                  <a:schemeClr val="bg1">
                    <a:lumMod val="65000"/>
                  </a:schemeClr>
                </a:solidFill>
              </a:rPr>
              <a:t>Utsättningstidpunkt</a:t>
            </a:r>
          </a:p>
          <a:p>
            <a:r>
              <a:rPr lang="sv-SE" sz="1050" dirty="0" smtClean="0">
                <a:solidFill>
                  <a:schemeClr val="bg1">
                    <a:lumMod val="65000"/>
                  </a:schemeClr>
                </a:solidFill>
              </a:rPr>
              <a:t>Utsättningsorsak</a:t>
            </a:r>
            <a:endParaRPr lang="sv-SE" sz="1050" dirty="0">
              <a:solidFill>
                <a:schemeClr val="bg1">
                  <a:lumMod val="65000"/>
                </a:schemeClr>
              </a:solidFill>
            </a:endParaRPr>
          </a:p>
        </p:txBody>
      </p:sp>
      <p:sp>
        <p:nvSpPr>
          <p:cNvPr id="30" name="TextBox 25"/>
          <p:cNvSpPr txBox="1"/>
          <p:nvPr/>
        </p:nvSpPr>
        <p:spPr>
          <a:xfrm>
            <a:off x="203998" y="1763192"/>
            <a:ext cx="1877323" cy="677108"/>
          </a:xfrm>
          <a:prstGeom prst="rect">
            <a:avLst/>
          </a:prstGeom>
          <a:noFill/>
          <a:ln>
            <a:solidFill>
              <a:schemeClr val="tx1"/>
            </a:solidFill>
          </a:ln>
        </p:spPr>
        <p:txBody>
          <a:bodyPr wrap="square" rtlCol="0" anchor="t">
            <a:spAutoFit/>
          </a:bodyPr>
          <a:lstStyle/>
          <a:p>
            <a:pPr algn="ctr"/>
            <a:r>
              <a:rPr lang="sv-SE" sz="1400" b="1" dirty="0" smtClean="0"/>
              <a:t>Ordinera insättning</a:t>
            </a:r>
          </a:p>
          <a:p>
            <a:pPr algn="ctr"/>
            <a:r>
              <a:rPr lang="sv-SE" sz="1200" dirty="0" err="1">
                <a:solidFill>
                  <a:prstClr val="black"/>
                </a:solidFill>
                <a:latin typeface="Courier New"/>
                <a:cs typeface="Courier New"/>
              </a:rPr>
              <a:t>RegisterMedicationPrescription</a:t>
            </a:r>
            <a:endParaRPr lang="sv-SE" sz="1200" i="1" dirty="0"/>
          </a:p>
        </p:txBody>
      </p:sp>
      <p:sp>
        <p:nvSpPr>
          <p:cNvPr id="31" name="TextBox 26"/>
          <p:cNvSpPr txBox="1"/>
          <p:nvPr/>
        </p:nvSpPr>
        <p:spPr>
          <a:xfrm>
            <a:off x="2663572" y="1763192"/>
            <a:ext cx="1941512" cy="677108"/>
          </a:xfrm>
          <a:prstGeom prst="rect">
            <a:avLst/>
          </a:prstGeom>
          <a:noFill/>
          <a:ln>
            <a:solidFill>
              <a:schemeClr val="tx1"/>
            </a:solidFill>
          </a:ln>
        </p:spPr>
        <p:txBody>
          <a:bodyPr wrap="square" rtlCol="0" anchor="t">
            <a:spAutoFit/>
          </a:bodyPr>
          <a:lstStyle/>
          <a:p>
            <a:pPr algn="ctr"/>
            <a:r>
              <a:rPr lang="sv-SE" sz="1400" b="1" dirty="0"/>
              <a:t>Ä</a:t>
            </a:r>
            <a:r>
              <a:rPr lang="sv-SE" sz="1400" b="1" dirty="0" smtClean="0"/>
              <a:t>ndring</a:t>
            </a:r>
          </a:p>
          <a:p>
            <a:pPr algn="ctr"/>
            <a:r>
              <a:rPr lang="sv-SE" sz="1200" dirty="0" err="1" smtClean="0">
                <a:solidFill>
                  <a:prstClr val="black"/>
                </a:solidFill>
                <a:latin typeface="Courier New"/>
                <a:cs typeface="Courier New"/>
              </a:rPr>
              <a:t>RegisterMedication</a:t>
            </a:r>
            <a:r>
              <a:rPr lang="sv-SE" sz="1200" dirty="0" smtClean="0">
                <a:solidFill>
                  <a:prstClr val="black"/>
                </a:solidFill>
                <a:latin typeface="Courier New"/>
                <a:cs typeface="Courier New"/>
              </a:rPr>
              <a:t/>
            </a:r>
            <a:br>
              <a:rPr lang="sv-SE" sz="1200" dirty="0" smtClean="0">
                <a:solidFill>
                  <a:prstClr val="black"/>
                </a:solidFill>
                <a:latin typeface="Courier New"/>
                <a:cs typeface="Courier New"/>
              </a:rPr>
            </a:br>
            <a:r>
              <a:rPr lang="sv-SE" sz="1200" dirty="0" err="1" smtClean="0">
                <a:solidFill>
                  <a:prstClr val="black"/>
                </a:solidFill>
                <a:latin typeface="Courier New"/>
                <a:cs typeface="Courier New"/>
              </a:rPr>
              <a:t>Prescription</a:t>
            </a:r>
            <a:endParaRPr lang="sv-SE" sz="1200" i="1" dirty="0"/>
          </a:p>
        </p:txBody>
      </p:sp>
      <p:sp>
        <p:nvSpPr>
          <p:cNvPr id="33" name="TextBox 54"/>
          <p:cNvSpPr txBox="1"/>
          <p:nvPr/>
        </p:nvSpPr>
        <p:spPr>
          <a:xfrm>
            <a:off x="4985570" y="1752928"/>
            <a:ext cx="1872429" cy="677108"/>
          </a:xfrm>
          <a:prstGeom prst="rect">
            <a:avLst/>
          </a:prstGeom>
          <a:noFill/>
          <a:ln>
            <a:solidFill>
              <a:schemeClr val="tx1"/>
            </a:solidFill>
          </a:ln>
        </p:spPr>
        <p:txBody>
          <a:bodyPr wrap="square" rtlCol="0" anchor="t">
            <a:spAutoFit/>
          </a:bodyPr>
          <a:lstStyle/>
          <a:p>
            <a:pPr algn="ctr"/>
            <a:r>
              <a:rPr lang="sv-SE" sz="1400" b="1" dirty="0" smtClean="0"/>
              <a:t>Ändring</a:t>
            </a:r>
          </a:p>
          <a:p>
            <a:pPr algn="ctr"/>
            <a:r>
              <a:rPr lang="sv-SE" sz="1200" dirty="0" err="1">
                <a:solidFill>
                  <a:prstClr val="black"/>
                </a:solidFill>
                <a:latin typeface="Courier New"/>
                <a:cs typeface="Courier New"/>
              </a:rPr>
              <a:t>RegisterMedicationPrescription</a:t>
            </a:r>
            <a:endParaRPr lang="sv-SE" sz="1200" i="1" dirty="0"/>
          </a:p>
        </p:txBody>
      </p:sp>
      <p:sp>
        <p:nvSpPr>
          <p:cNvPr id="34" name="TextBox 58"/>
          <p:cNvSpPr txBox="1"/>
          <p:nvPr/>
        </p:nvSpPr>
        <p:spPr>
          <a:xfrm>
            <a:off x="7172918" y="1763192"/>
            <a:ext cx="1859306" cy="677108"/>
          </a:xfrm>
          <a:prstGeom prst="rect">
            <a:avLst/>
          </a:prstGeom>
          <a:noFill/>
          <a:ln>
            <a:solidFill>
              <a:schemeClr val="tx1"/>
            </a:solidFill>
          </a:ln>
        </p:spPr>
        <p:txBody>
          <a:bodyPr wrap="square" rtlCol="0" anchor="t">
            <a:spAutoFit/>
          </a:bodyPr>
          <a:lstStyle/>
          <a:p>
            <a:pPr algn="ctr"/>
            <a:r>
              <a:rPr lang="sv-SE" sz="1400" b="1" dirty="0" smtClean="0"/>
              <a:t>Ordinera utsättning</a:t>
            </a:r>
          </a:p>
          <a:p>
            <a:pPr algn="ctr"/>
            <a:r>
              <a:rPr lang="sv-SE" sz="1200" dirty="0" err="1" smtClean="0">
                <a:solidFill>
                  <a:prstClr val="black"/>
                </a:solidFill>
                <a:latin typeface="Courier New"/>
                <a:cs typeface="Courier New"/>
              </a:rPr>
              <a:t>Discontinue</a:t>
            </a:r>
            <a:r>
              <a:rPr lang="sv-SE" sz="1200" dirty="0" smtClean="0">
                <a:solidFill>
                  <a:prstClr val="black"/>
                </a:solidFill>
                <a:latin typeface="Courier New"/>
                <a:cs typeface="Courier New"/>
              </a:rPr>
              <a:t/>
            </a:r>
            <a:br>
              <a:rPr lang="sv-SE" sz="1200" dirty="0" smtClean="0">
                <a:solidFill>
                  <a:prstClr val="black"/>
                </a:solidFill>
                <a:latin typeface="Courier New"/>
                <a:cs typeface="Courier New"/>
              </a:rPr>
            </a:br>
            <a:r>
              <a:rPr lang="sv-SE" sz="1200" dirty="0" err="1" smtClean="0">
                <a:solidFill>
                  <a:prstClr val="black"/>
                </a:solidFill>
                <a:latin typeface="Courier New"/>
                <a:cs typeface="Courier New"/>
              </a:rPr>
              <a:t>Medication</a:t>
            </a:r>
            <a:endParaRPr lang="sv-SE" sz="1200" i="1" dirty="0"/>
          </a:p>
        </p:txBody>
      </p:sp>
      <p:cxnSp>
        <p:nvCxnSpPr>
          <p:cNvPr id="35" name="Straight Arrow Connector 60"/>
          <p:cNvCxnSpPr>
            <a:stCxn id="30" idx="3"/>
            <a:endCxn id="31" idx="1"/>
          </p:cNvCxnSpPr>
          <p:nvPr/>
        </p:nvCxnSpPr>
        <p:spPr>
          <a:xfrm>
            <a:off x="2081321" y="2101746"/>
            <a:ext cx="582251" cy="0"/>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62"/>
          <p:cNvCxnSpPr>
            <a:stCxn id="31" idx="3"/>
            <a:endCxn id="33" idx="1"/>
          </p:cNvCxnSpPr>
          <p:nvPr/>
        </p:nvCxnSpPr>
        <p:spPr>
          <a:xfrm flipV="1">
            <a:off x="4605084" y="2091482"/>
            <a:ext cx="380486" cy="10264"/>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65"/>
          <p:cNvCxnSpPr>
            <a:stCxn id="33" idx="3"/>
            <a:endCxn id="34" idx="1"/>
          </p:cNvCxnSpPr>
          <p:nvPr/>
        </p:nvCxnSpPr>
        <p:spPr>
          <a:xfrm>
            <a:off x="6857999" y="2091482"/>
            <a:ext cx="314919" cy="10264"/>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83"/>
          <p:cNvCxnSpPr>
            <a:stCxn id="30" idx="2"/>
            <a:endCxn id="28" idx="0"/>
          </p:cNvCxnSpPr>
          <p:nvPr/>
        </p:nvCxnSpPr>
        <p:spPr>
          <a:xfrm>
            <a:off x="1142660" y="2440300"/>
            <a:ext cx="0" cy="362474"/>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1" name="Straight Arrow Connector 89"/>
          <p:cNvCxnSpPr>
            <a:stCxn id="52" idx="0"/>
            <a:endCxn id="31" idx="2"/>
          </p:cNvCxnSpPr>
          <p:nvPr/>
        </p:nvCxnSpPr>
        <p:spPr>
          <a:xfrm flipV="1">
            <a:off x="3634328" y="2440300"/>
            <a:ext cx="0" cy="377298"/>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44" name="Straight Arrow Connector 101"/>
          <p:cNvCxnSpPr>
            <a:stCxn id="34" idx="2"/>
            <a:endCxn id="63" idx="0"/>
          </p:cNvCxnSpPr>
          <p:nvPr/>
        </p:nvCxnSpPr>
        <p:spPr>
          <a:xfrm>
            <a:off x="8102571" y="2440300"/>
            <a:ext cx="0" cy="385826"/>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62" name="Straight Arrow Connector 79"/>
          <p:cNvCxnSpPr>
            <a:endCxn id="55" idx="3"/>
          </p:cNvCxnSpPr>
          <p:nvPr/>
        </p:nvCxnSpPr>
        <p:spPr>
          <a:xfrm flipH="1">
            <a:off x="6592099" y="4020619"/>
            <a:ext cx="854125" cy="0"/>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sp>
        <p:nvSpPr>
          <p:cNvPr id="51" name="Rektangel 50"/>
          <p:cNvSpPr/>
          <p:nvPr/>
        </p:nvSpPr>
        <p:spPr>
          <a:xfrm>
            <a:off x="771548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52" name="Rounded Rectangle 15"/>
          <p:cNvSpPr/>
          <p:nvPr/>
        </p:nvSpPr>
        <p:spPr>
          <a:xfrm>
            <a:off x="2950328" y="2817598"/>
            <a:ext cx="1368000" cy="238898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a:solidFill>
                  <a:srgbClr val="000000"/>
                </a:solidFill>
              </a:rPr>
              <a:t>Läkemedelsordination</a:t>
            </a:r>
            <a:endParaRPr lang="sv-SE" sz="1050" i="1" dirty="0">
              <a:solidFill>
                <a:srgbClr val="000000"/>
              </a:solidFill>
            </a:endParaRPr>
          </a:p>
          <a:p>
            <a:endParaRPr lang="sv-SE" sz="900" dirty="0" smtClean="0">
              <a:solidFill>
                <a:srgbClr val="000000"/>
              </a:solidFill>
            </a:endParaRPr>
          </a:p>
          <a:p>
            <a:r>
              <a:rPr lang="sv-SE" sz="1050" dirty="0" smtClean="0">
                <a:solidFill>
                  <a:srgbClr val="000000"/>
                </a:solidFill>
              </a:rPr>
              <a:t>HSA</a:t>
            </a:r>
            <a:r>
              <a:rPr lang="sv-SE" sz="1050" dirty="0">
                <a:solidFill>
                  <a:srgbClr val="000000"/>
                </a:solidFill>
              </a:rPr>
              <a:t>-</a:t>
            </a:r>
            <a:r>
              <a:rPr lang="sv-SE" sz="1050" dirty="0" smtClean="0">
                <a:solidFill>
                  <a:srgbClr val="000000"/>
                </a:solidFill>
              </a:rPr>
              <a:t>person B</a:t>
            </a:r>
            <a:endParaRPr lang="sv-SE" sz="1050" dirty="0">
              <a:solidFill>
                <a:srgbClr val="000000"/>
              </a:solidFill>
            </a:endParaRPr>
          </a:p>
          <a:p>
            <a:r>
              <a:rPr lang="sv-SE" sz="1050" dirty="0" smtClean="0">
                <a:solidFill>
                  <a:srgbClr val="000000"/>
                </a:solidFill>
              </a:rPr>
              <a:t>Vårdenhet 5</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000000"/>
                </a:solidFill>
              </a:rPr>
              <a:t>Insättningstidpunkt</a:t>
            </a:r>
          </a:p>
          <a:p>
            <a:r>
              <a:rPr lang="sv-SE" sz="1050" dirty="0">
                <a:solidFill>
                  <a:srgbClr val="000000"/>
                </a:solidFill>
              </a:rPr>
              <a:t>Beslutsorsak</a:t>
            </a:r>
            <a:endParaRPr lang="sv-SE" sz="1050" dirty="0" smtClean="0">
              <a:solidFill>
                <a:srgbClr val="000000"/>
              </a:solidFill>
            </a:endParaRPr>
          </a:p>
          <a:p>
            <a:r>
              <a:rPr lang="sv-SE" sz="1050" dirty="0">
                <a:solidFill>
                  <a:srgbClr val="A6A6A6"/>
                </a:solidFill>
              </a:rPr>
              <a:t>Utsättningstidpunkt</a:t>
            </a:r>
          </a:p>
          <a:p>
            <a:r>
              <a:rPr lang="sv-SE" sz="1050" dirty="0" smtClean="0">
                <a:solidFill>
                  <a:schemeClr val="bg1">
                    <a:lumMod val="65000"/>
                  </a:schemeClr>
                </a:solidFill>
              </a:rPr>
              <a:t>Utsättningsorsak</a:t>
            </a:r>
            <a:endParaRPr lang="sv-SE" sz="1050" dirty="0">
              <a:solidFill>
                <a:schemeClr val="bg1">
                  <a:lumMod val="65000"/>
                </a:schemeClr>
              </a:solidFill>
            </a:endParaRPr>
          </a:p>
        </p:txBody>
      </p:sp>
      <p:sp>
        <p:nvSpPr>
          <p:cNvPr id="55" name="Rounded Rectangle 15"/>
          <p:cNvSpPr/>
          <p:nvPr/>
        </p:nvSpPr>
        <p:spPr>
          <a:xfrm>
            <a:off x="5224099" y="2826126"/>
            <a:ext cx="1368000" cy="238898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a:solidFill>
                  <a:srgbClr val="000000"/>
                </a:solidFill>
              </a:rPr>
              <a:t>Läkemedelsordination</a:t>
            </a:r>
            <a:endParaRPr lang="sv-SE" sz="1050" i="1" dirty="0">
              <a:solidFill>
                <a:srgbClr val="000000"/>
              </a:solidFill>
            </a:endParaRPr>
          </a:p>
          <a:p>
            <a:endParaRPr lang="sv-SE" sz="900" dirty="0" smtClean="0">
              <a:solidFill>
                <a:srgbClr val="000000"/>
              </a:solidFill>
            </a:endParaRPr>
          </a:p>
          <a:p>
            <a:r>
              <a:rPr lang="sv-SE" sz="1050" dirty="0" smtClean="0">
                <a:solidFill>
                  <a:srgbClr val="000000"/>
                </a:solidFill>
              </a:rPr>
              <a:t>HSA</a:t>
            </a:r>
            <a:r>
              <a:rPr lang="sv-SE" sz="1050" dirty="0">
                <a:solidFill>
                  <a:srgbClr val="000000"/>
                </a:solidFill>
              </a:rPr>
              <a:t>-</a:t>
            </a:r>
            <a:r>
              <a:rPr lang="sv-SE" sz="1050" dirty="0" smtClean="0">
                <a:solidFill>
                  <a:srgbClr val="000000"/>
                </a:solidFill>
              </a:rPr>
              <a:t>person </a:t>
            </a:r>
            <a:r>
              <a:rPr lang="sv-SE" sz="1050" dirty="0">
                <a:solidFill>
                  <a:srgbClr val="000000"/>
                </a:solidFill>
              </a:rPr>
              <a:t>C</a:t>
            </a:r>
          </a:p>
          <a:p>
            <a:r>
              <a:rPr lang="sv-SE" sz="1050" dirty="0" smtClean="0">
                <a:solidFill>
                  <a:srgbClr val="000000"/>
                </a:solidFill>
              </a:rPr>
              <a:t>Vårdenhet </a:t>
            </a:r>
            <a:r>
              <a:rPr lang="sv-SE" sz="1050" dirty="0">
                <a:solidFill>
                  <a:srgbClr val="000000"/>
                </a:solidFill>
              </a:rPr>
              <a:t>4</a:t>
            </a:r>
            <a:endParaRPr lang="sv-SE" sz="1050" dirty="0" smtClean="0">
              <a:solidFill>
                <a:srgbClr val="000000"/>
              </a:solidFill>
            </a:endParaRPr>
          </a:p>
          <a:p>
            <a:r>
              <a:rPr lang="sv-SE" sz="1050" dirty="0" smtClean="0">
                <a:solidFill>
                  <a:srgbClr val="000000"/>
                </a:solidFill>
              </a:rPr>
              <a:t>Vårdgivare </a:t>
            </a:r>
            <a:r>
              <a:rPr lang="sv-SE" sz="1050" dirty="0">
                <a:solidFill>
                  <a:srgbClr val="000000"/>
                </a:solidFill>
              </a:rPr>
              <a:t>9</a:t>
            </a:r>
            <a:endParaRPr lang="sv-SE" sz="1050" dirty="0" smtClean="0">
              <a:solidFill>
                <a:srgbClr val="000000"/>
              </a:solidFill>
            </a:endParaRPr>
          </a:p>
          <a:p>
            <a:endParaRPr lang="sv-SE" sz="1050" dirty="0" smtClean="0">
              <a:solidFill>
                <a:srgbClr val="000000"/>
              </a:solidFill>
            </a:endParaRPr>
          </a:p>
          <a:p>
            <a:r>
              <a:rPr lang="sv-SE" sz="1050" dirty="0" smtClean="0">
                <a:solidFill>
                  <a:srgbClr val="000000"/>
                </a:solidFill>
              </a:rPr>
              <a:t>Insättningstidpunkt</a:t>
            </a:r>
          </a:p>
          <a:p>
            <a:r>
              <a:rPr lang="sv-SE" sz="1050" dirty="0">
                <a:solidFill>
                  <a:srgbClr val="000000"/>
                </a:solidFill>
              </a:rPr>
              <a:t>B</a:t>
            </a:r>
            <a:r>
              <a:rPr lang="sv-SE" sz="1050" dirty="0" smtClean="0">
                <a:solidFill>
                  <a:srgbClr val="000000"/>
                </a:solidFill>
              </a:rPr>
              <a:t>eslutsorsak</a:t>
            </a:r>
          </a:p>
          <a:p>
            <a:r>
              <a:rPr lang="sv-SE" sz="1050" dirty="0">
                <a:solidFill>
                  <a:srgbClr val="A6A6A6"/>
                </a:solidFill>
              </a:rPr>
              <a:t>Utsättningstidpunkt</a:t>
            </a:r>
          </a:p>
          <a:p>
            <a:r>
              <a:rPr lang="sv-SE" sz="1050" dirty="0" smtClean="0">
                <a:solidFill>
                  <a:schemeClr val="bg1">
                    <a:lumMod val="65000"/>
                  </a:schemeClr>
                </a:solidFill>
              </a:rPr>
              <a:t>Utsättningsorsak</a:t>
            </a:r>
            <a:endParaRPr lang="sv-SE" sz="1050" dirty="0">
              <a:solidFill>
                <a:schemeClr val="bg1">
                  <a:lumMod val="65000"/>
                </a:schemeClr>
              </a:solidFill>
            </a:endParaRPr>
          </a:p>
        </p:txBody>
      </p:sp>
      <p:cxnSp>
        <p:nvCxnSpPr>
          <p:cNvPr id="58" name="Straight Arrow Connector 89"/>
          <p:cNvCxnSpPr>
            <a:stCxn id="55" idx="0"/>
            <a:endCxn id="33" idx="2"/>
          </p:cNvCxnSpPr>
          <p:nvPr/>
        </p:nvCxnSpPr>
        <p:spPr>
          <a:xfrm flipV="1">
            <a:off x="5908099" y="2430036"/>
            <a:ext cx="13686" cy="396090"/>
          </a:xfrm>
          <a:prstGeom prst="straightConnector1">
            <a:avLst/>
          </a:prstGeom>
          <a:ln>
            <a:solidFill>
              <a:schemeClr val="bg1">
                <a:lumMod val="65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59" name="Straight Arrow Connector 79"/>
          <p:cNvCxnSpPr>
            <a:stCxn id="55" idx="1"/>
            <a:endCxn id="52" idx="3"/>
          </p:cNvCxnSpPr>
          <p:nvPr/>
        </p:nvCxnSpPr>
        <p:spPr>
          <a:xfrm flipH="1" flipV="1">
            <a:off x="4318328" y="4012091"/>
            <a:ext cx="905771" cy="8528"/>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61" name="Straight Arrow Connector 79"/>
          <p:cNvCxnSpPr>
            <a:stCxn id="52" idx="1"/>
            <a:endCxn id="28" idx="3"/>
          </p:cNvCxnSpPr>
          <p:nvPr/>
        </p:nvCxnSpPr>
        <p:spPr>
          <a:xfrm flipH="1" flipV="1">
            <a:off x="1826660" y="3997267"/>
            <a:ext cx="1123668" cy="14824"/>
          </a:xfrm>
          <a:prstGeom prst="straightConnector1">
            <a:avLst/>
          </a:prstGeom>
          <a:ln w="28575" cmpd="sng">
            <a:solidFill>
              <a:schemeClr val="bg1">
                <a:lumMod val="65000"/>
              </a:schemeClr>
            </a:solidFill>
            <a:tailEnd type="none"/>
          </a:ln>
        </p:spPr>
        <p:style>
          <a:lnRef idx="2">
            <a:schemeClr val="accent1"/>
          </a:lnRef>
          <a:fillRef idx="0">
            <a:schemeClr val="accent1"/>
          </a:fillRef>
          <a:effectRef idx="1">
            <a:schemeClr val="accent1"/>
          </a:effectRef>
          <a:fontRef idx="minor">
            <a:schemeClr val="tx1"/>
          </a:fontRef>
        </p:style>
      </p:cxnSp>
      <p:sp>
        <p:nvSpPr>
          <p:cNvPr id="63" name="Rounded Rectangle 15"/>
          <p:cNvSpPr/>
          <p:nvPr/>
        </p:nvSpPr>
        <p:spPr>
          <a:xfrm>
            <a:off x="7418571" y="2826126"/>
            <a:ext cx="1368000" cy="2388986"/>
          </a:xfrm>
          <a:prstGeom prst="roundRect">
            <a:avLst/>
          </a:prstGeom>
        </p:spPr>
        <p:style>
          <a:lnRef idx="1">
            <a:schemeClr val="accent1"/>
          </a:lnRef>
          <a:fillRef idx="3">
            <a:schemeClr val="accent1"/>
          </a:fillRef>
          <a:effectRef idx="2">
            <a:schemeClr val="accent1"/>
          </a:effectRef>
          <a:fontRef idx="minor">
            <a:schemeClr val="lt1"/>
          </a:fontRef>
        </p:style>
        <p:txBody>
          <a:bodyPr lIns="36000" rIns="36000" rtlCol="0" anchor="t"/>
          <a:lstStyle/>
          <a:p>
            <a:pPr algn="ctr"/>
            <a:r>
              <a:rPr lang="sv-SE" sz="1600" dirty="0">
                <a:solidFill>
                  <a:srgbClr val="000000"/>
                </a:solidFill>
              </a:rPr>
              <a:t>Läkemedelsordination</a:t>
            </a:r>
            <a:endParaRPr lang="sv-SE" sz="1050" i="1" dirty="0">
              <a:solidFill>
                <a:srgbClr val="000000"/>
              </a:solidFill>
            </a:endParaRPr>
          </a:p>
          <a:p>
            <a:endParaRPr lang="sv-SE" sz="900" dirty="0" smtClean="0">
              <a:solidFill>
                <a:srgbClr val="000000"/>
              </a:solidFill>
            </a:endParaRPr>
          </a:p>
          <a:p>
            <a:r>
              <a:rPr lang="sv-SE" sz="1050" dirty="0" smtClean="0">
                <a:solidFill>
                  <a:srgbClr val="000000"/>
                </a:solidFill>
              </a:rPr>
              <a:t>HSA</a:t>
            </a:r>
            <a:r>
              <a:rPr lang="sv-SE" sz="1050" dirty="0">
                <a:solidFill>
                  <a:srgbClr val="000000"/>
                </a:solidFill>
              </a:rPr>
              <a:t>-</a:t>
            </a:r>
            <a:r>
              <a:rPr lang="sv-SE" sz="1050" dirty="0" smtClean="0">
                <a:solidFill>
                  <a:srgbClr val="000000"/>
                </a:solidFill>
              </a:rPr>
              <a:t>person A</a:t>
            </a:r>
            <a:endParaRPr lang="sv-SE" sz="1050" dirty="0">
              <a:solidFill>
                <a:srgbClr val="000000"/>
              </a:solidFill>
            </a:endParaRPr>
          </a:p>
          <a:p>
            <a:r>
              <a:rPr lang="sv-SE" sz="1050" dirty="0" smtClean="0">
                <a:solidFill>
                  <a:srgbClr val="000000"/>
                </a:solidFill>
              </a:rPr>
              <a:t>Vårdenhet 1</a:t>
            </a:r>
          </a:p>
          <a:p>
            <a:r>
              <a:rPr lang="sv-SE" sz="1050" dirty="0" smtClean="0">
                <a:solidFill>
                  <a:srgbClr val="000000"/>
                </a:solidFill>
              </a:rPr>
              <a:t>Vårdgivare 7</a:t>
            </a:r>
          </a:p>
          <a:p>
            <a:endParaRPr lang="sv-SE" sz="1050" dirty="0" smtClean="0">
              <a:solidFill>
                <a:srgbClr val="000000"/>
              </a:solidFill>
            </a:endParaRPr>
          </a:p>
          <a:p>
            <a:r>
              <a:rPr lang="sv-SE" sz="1050" dirty="0" smtClean="0">
                <a:solidFill>
                  <a:srgbClr val="A6A6A6"/>
                </a:solidFill>
              </a:rPr>
              <a:t>Insättningstidpunkt</a:t>
            </a:r>
          </a:p>
          <a:p>
            <a:r>
              <a:rPr lang="sv-SE" sz="1050" dirty="0">
                <a:solidFill>
                  <a:srgbClr val="000000"/>
                </a:solidFill>
              </a:rPr>
              <a:t>Beslutsorsak</a:t>
            </a:r>
            <a:endParaRPr lang="sv-SE" sz="1050" dirty="0" smtClean="0">
              <a:solidFill>
                <a:srgbClr val="000000"/>
              </a:solidFill>
            </a:endParaRPr>
          </a:p>
          <a:p>
            <a:r>
              <a:rPr lang="sv-SE" sz="1050" dirty="0">
                <a:solidFill>
                  <a:srgbClr val="000000"/>
                </a:solidFill>
              </a:rPr>
              <a:t>Utsättningstidpunkt</a:t>
            </a:r>
          </a:p>
          <a:p>
            <a:r>
              <a:rPr lang="sv-SE" sz="1050" dirty="0" smtClean="0">
                <a:solidFill>
                  <a:schemeClr val="tx1"/>
                </a:solidFill>
              </a:rPr>
              <a:t>Utsättningsorsak</a:t>
            </a:r>
            <a:endParaRPr lang="sv-SE" sz="1050" dirty="0">
              <a:solidFill>
                <a:schemeClr val="tx1"/>
              </a:solidFill>
            </a:endParaRPr>
          </a:p>
        </p:txBody>
      </p:sp>
    </p:spTree>
    <p:extLst>
      <p:ext uri="{BB962C8B-B14F-4D97-AF65-F5344CB8AC3E}">
        <p14:creationId xmlns:p14="http://schemas.microsoft.com/office/powerpoint/2010/main" val="105795607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800" dirty="0" smtClean="0"/>
              <a:t>Reviderad modell – nyheter (1)</a:t>
            </a:r>
            <a:endParaRPr lang="sv-SE" sz="28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28</a:t>
            </a:fld>
            <a:endParaRPr lang="sv-SE"/>
          </a:p>
        </p:txBody>
      </p:sp>
      <p:sp>
        <p:nvSpPr>
          <p:cNvPr id="5" name="textruta 4"/>
          <p:cNvSpPr txBox="1"/>
          <p:nvPr/>
        </p:nvSpPr>
        <p:spPr>
          <a:xfrm>
            <a:off x="789578" y="1720209"/>
            <a:ext cx="1065691" cy="461665"/>
          </a:xfrm>
          <a:prstGeom prst="rect">
            <a:avLst/>
          </a:prstGeom>
          <a:ln/>
        </p:spPr>
        <p:style>
          <a:lnRef idx="2">
            <a:schemeClr val="accent2"/>
          </a:lnRef>
          <a:fillRef idx="1">
            <a:schemeClr val="lt1"/>
          </a:fillRef>
          <a:effectRef idx="0">
            <a:schemeClr val="accent2"/>
          </a:effectRef>
          <a:fontRef idx="minor">
            <a:schemeClr val="dk1"/>
          </a:fontRef>
        </p:style>
        <p:txBody>
          <a:bodyPr wrap="none" rtlCol="0">
            <a:spAutoFit/>
          </a:bodyPr>
          <a:lstStyle/>
          <a:p>
            <a:r>
              <a:rPr lang="sv-SE" sz="1200" dirty="0" smtClean="0"/>
              <a:t>Läkemedels-</a:t>
            </a:r>
            <a:br>
              <a:rPr lang="sv-SE" sz="1200" dirty="0" smtClean="0"/>
            </a:br>
            <a:r>
              <a:rPr lang="sv-SE" sz="1200" dirty="0" smtClean="0"/>
              <a:t>behandling</a:t>
            </a:r>
          </a:p>
        </p:txBody>
      </p:sp>
      <p:sp>
        <p:nvSpPr>
          <p:cNvPr id="59" name="textruta 58"/>
          <p:cNvSpPr txBox="1"/>
          <p:nvPr/>
        </p:nvSpPr>
        <p:spPr>
          <a:xfrm>
            <a:off x="2144112" y="1580626"/>
            <a:ext cx="1046539" cy="461665"/>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200" dirty="0" smtClean="0"/>
              <a:t>Läkemedels-ordination</a:t>
            </a:r>
          </a:p>
        </p:txBody>
      </p:sp>
      <p:cxnSp>
        <p:nvCxnSpPr>
          <p:cNvPr id="60" name="Rak 59"/>
          <p:cNvCxnSpPr>
            <a:stCxn id="5" idx="3"/>
            <a:endCxn id="68" idx="1"/>
          </p:cNvCxnSpPr>
          <p:nvPr/>
        </p:nvCxnSpPr>
        <p:spPr bwMode="auto">
          <a:xfrm>
            <a:off x="1855269" y="1951042"/>
            <a:ext cx="452535" cy="60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Kurva 65"/>
          <p:cNvCxnSpPr/>
          <p:nvPr/>
        </p:nvCxnSpPr>
        <p:spPr bwMode="auto">
          <a:xfrm flipH="1" flipV="1">
            <a:off x="3296208" y="1677277"/>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Rektangel 77"/>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80" name="textruta 79"/>
          <p:cNvSpPr txBox="1"/>
          <p:nvPr/>
        </p:nvSpPr>
        <p:spPr>
          <a:xfrm>
            <a:off x="4053840" y="1203639"/>
            <a:ext cx="4622800" cy="5349561"/>
          </a:xfrm>
          <a:prstGeom prst="rect">
            <a:avLst/>
          </a:prstGeom>
        </p:spPr>
        <p:txBody>
          <a:bodyPr>
            <a:noAutofit/>
          </a:bodyPr>
          <a:lstStyle>
            <a:defPPr>
              <a:defRPr lang="sv-SE"/>
            </a:defPPr>
            <a:lvl1pPr marL="187325" indent="-187325" defTabSz="957263" fontAlgn="base">
              <a:lnSpc>
                <a:spcPct val="120000"/>
              </a:lnSpc>
              <a:spcBef>
                <a:spcPct val="20000"/>
              </a:spcBef>
              <a:spcAft>
                <a:spcPct val="20000"/>
              </a:spcAft>
              <a:buClr>
                <a:srgbClr val="00A9A7"/>
              </a:buClr>
              <a:buSzPct val="110000"/>
              <a:buFont typeface="Arial" charset="0"/>
              <a:buChar char="•"/>
              <a:defRPr sz="1600"/>
            </a:lvl1pPr>
            <a:lvl2pPr marL="568325" lvl="1" indent="-192088" defTabSz="957263" fontAlgn="base">
              <a:lnSpc>
                <a:spcPct val="120000"/>
              </a:lnSpc>
              <a:spcBef>
                <a:spcPct val="20000"/>
              </a:spcBef>
              <a:spcAft>
                <a:spcPct val="20000"/>
              </a:spcAft>
              <a:buSzPct val="90000"/>
              <a:buBlip>
                <a:blip r:embed="rId3"/>
              </a:buBlip>
              <a:defRPr sz="1400" i="1"/>
            </a:lvl2pPr>
            <a:lvl3pPr marL="947738" lvl="2" indent="-198438" defTabSz="957263" fontAlgn="base">
              <a:lnSpc>
                <a:spcPct val="120000"/>
              </a:lnSpc>
              <a:spcBef>
                <a:spcPct val="20000"/>
              </a:spcBef>
              <a:spcAft>
                <a:spcPct val="20000"/>
              </a:spcAft>
              <a:buSzPct val="90000"/>
              <a:buBlip>
                <a:blip r:embed="rId3"/>
              </a:buBlip>
              <a:defRPr sz="1400" i="1"/>
            </a:lvl3pPr>
            <a:lvl4pPr marL="1319213" indent="-200025" defTabSz="957263" fontAlgn="base">
              <a:lnSpc>
                <a:spcPct val="120000"/>
              </a:lnSpc>
              <a:spcBef>
                <a:spcPct val="20000"/>
              </a:spcBef>
              <a:spcAft>
                <a:spcPct val="20000"/>
              </a:spcAft>
              <a:buSzPct val="90000"/>
              <a:buBlip>
                <a:blip r:embed="rId3"/>
              </a:buBlip>
            </a:lvl4pPr>
            <a:lvl5pPr marL="1695450" indent="-188913" defTabSz="957263" fontAlgn="base">
              <a:lnSpc>
                <a:spcPct val="120000"/>
              </a:lnSpc>
              <a:spcBef>
                <a:spcPct val="20000"/>
              </a:spcBef>
              <a:spcAft>
                <a:spcPct val="20000"/>
              </a:spcAft>
              <a:buSzPct val="90000"/>
              <a:buBlip>
                <a:blip r:embed="rId3"/>
              </a:buBlip>
            </a:lvl5pPr>
            <a:lvl6pPr marL="2152650" indent="-188913" defTabSz="957263" fontAlgn="base">
              <a:lnSpc>
                <a:spcPct val="120000"/>
              </a:lnSpc>
              <a:spcBef>
                <a:spcPct val="20000"/>
              </a:spcBef>
              <a:spcAft>
                <a:spcPct val="20000"/>
              </a:spcAft>
              <a:buSzPct val="90000"/>
              <a:buBlip>
                <a:blip r:embed="rId3"/>
              </a:buBlip>
            </a:lvl6pPr>
            <a:lvl7pPr marL="2609850" indent="-188913" defTabSz="957263" fontAlgn="base">
              <a:lnSpc>
                <a:spcPct val="120000"/>
              </a:lnSpc>
              <a:spcBef>
                <a:spcPct val="20000"/>
              </a:spcBef>
              <a:spcAft>
                <a:spcPct val="20000"/>
              </a:spcAft>
              <a:buSzPct val="90000"/>
              <a:buBlip>
                <a:blip r:embed="rId3"/>
              </a:buBlip>
            </a:lvl7pPr>
            <a:lvl8pPr marL="3067050" indent="-188913" defTabSz="957263" fontAlgn="base">
              <a:lnSpc>
                <a:spcPct val="120000"/>
              </a:lnSpc>
              <a:spcBef>
                <a:spcPct val="20000"/>
              </a:spcBef>
              <a:spcAft>
                <a:spcPct val="20000"/>
              </a:spcAft>
              <a:buSzPct val="90000"/>
              <a:buBlip>
                <a:blip r:embed="rId3"/>
              </a:buBlip>
            </a:lvl8pPr>
            <a:lvl9pPr marL="3524250" indent="-188913" defTabSz="957263" fontAlgn="base">
              <a:lnSpc>
                <a:spcPct val="120000"/>
              </a:lnSpc>
              <a:spcBef>
                <a:spcPct val="20000"/>
              </a:spcBef>
              <a:spcAft>
                <a:spcPct val="20000"/>
              </a:spcAft>
              <a:buSzPct val="90000"/>
              <a:buBlip>
                <a:blip r:embed="rId3"/>
              </a:buBlip>
            </a:lvl9pPr>
          </a:lstStyle>
          <a:p>
            <a:r>
              <a:rPr lang="sv-SE" b="1" i="1" dirty="0" smtClean="0"/>
              <a:t>Läkemedelsbehandling</a:t>
            </a:r>
            <a:r>
              <a:rPr lang="sv-SE" i="1" dirty="0" smtClean="0"/>
              <a:t> (tidigare ”kedjan”) </a:t>
            </a:r>
          </a:p>
          <a:p>
            <a:pPr lvl="1"/>
            <a:r>
              <a:rPr lang="sv-SE" dirty="0" smtClean="0"/>
              <a:t>är i fokus, dvs den resulterande behandlingen till följd av av besluten</a:t>
            </a:r>
          </a:p>
          <a:p>
            <a:pPr lvl="1"/>
            <a:r>
              <a:rPr lang="sv-SE" i="0" dirty="0"/>
              <a:t>b</a:t>
            </a:r>
            <a:r>
              <a:rPr lang="sv-SE" i="0" dirty="0" smtClean="0"/>
              <a:t>yggs upp av av en eller flera </a:t>
            </a:r>
            <a:r>
              <a:rPr lang="sv-SE" dirty="0" smtClean="0"/>
              <a:t>Läkemedelsordinationer</a:t>
            </a:r>
            <a:r>
              <a:rPr lang="sv-SE" i="0" dirty="0" smtClean="0"/>
              <a:t>, där varje nytt beslut </a:t>
            </a:r>
            <a:r>
              <a:rPr lang="sv-SE" i="0" u="sng" dirty="0" smtClean="0"/>
              <a:t>ersätter</a:t>
            </a:r>
            <a:r>
              <a:rPr lang="sv-SE" i="0" dirty="0" smtClean="0"/>
              <a:t> det tidigare för den nu aktuella läkemedelsbehandlingen </a:t>
            </a:r>
          </a:p>
          <a:p>
            <a:r>
              <a:rPr lang="sv-SE" b="1" i="1" dirty="0" smtClean="0"/>
              <a:t>Läkemedelsordination</a:t>
            </a:r>
            <a:r>
              <a:rPr lang="sv-SE" dirty="0" smtClean="0"/>
              <a:t> </a:t>
            </a:r>
            <a:r>
              <a:rPr lang="sv-SE" dirty="0"/>
              <a:t>(</a:t>
            </a:r>
            <a:r>
              <a:rPr lang="sv-SE" dirty="0" smtClean="0"/>
              <a:t>beslutet)</a:t>
            </a:r>
          </a:p>
          <a:p>
            <a:pPr lvl="1"/>
            <a:r>
              <a:rPr lang="sv-SE" i="1" dirty="0" smtClean="0"/>
              <a:t>Ordinationstyp</a:t>
            </a:r>
            <a:r>
              <a:rPr lang="sv-SE" dirty="0" smtClean="0"/>
              <a:t> </a:t>
            </a:r>
            <a:r>
              <a:rPr lang="sv-SE" u="sng" dirty="0" smtClean="0"/>
              <a:t>utgår</a:t>
            </a:r>
          </a:p>
          <a:p>
            <a:pPr lvl="2"/>
            <a:r>
              <a:rPr lang="sv-SE" dirty="0" smtClean="0"/>
              <a:t>Insättningar, bekräftande ordinationer och utsättningar blir alla instanser av Läkemedelsordination</a:t>
            </a:r>
          </a:p>
          <a:p>
            <a:pPr lvl="1"/>
            <a:r>
              <a:rPr lang="sv-SE" i="0" dirty="0" smtClean="0"/>
              <a:t>Beskriver helheten</a:t>
            </a:r>
            <a:r>
              <a:rPr lang="sv-SE" i="0" dirty="0"/>
              <a:t>, dvs hur </a:t>
            </a:r>
            <a:r>
              <a:rPr lang="sv-SE" i="0" u="sng" dirty="0"/>
              <a:t>hela</a:t>
            </a:r>
            <a:r>
              <a:rPr lang="sv-SE" i="0" dirty="0"/>
              <a:t> läkemedelsbehandlingen ska se ut </a:t>
            </a:r>
            <a:r>
              <a:rPr lang="sv-SE" i="0" dirty="0" smtClean="0"/>
              <a:t>fr.o.m. </a:t>
            </a:r>
            <a:r>
              <a:rPr lang="sv-SE" i="0" dirty="0"/>
              <a:t>att beslutet </a:t>
            </a:r>
            <a:r>
              <a:rPr lang="sv-SE" i="0" dirty="0" smtClean="0"/>
              <a:t>tas, inklusive </a:t>
            </a:r>
            <a:r>
              <a:rPr lang="sv-SE" i="0" dirty="0"/>
              <a:t>när läkemedlet ska sättas ut (om ej stående)</a:t>
            </a:r>
          </a:p>
          <a:p>
            <a:pPr lvl="1"/>
            <a:r>
              <a:rPr lang="sv-SE" i="0" dirty="0" smtClean="0"/>
              <a:t>Tidsperioder, doseringssteg etc. refererar till </a:t>
            </a:r>
            <a:r>
              <a:rPr lang="sv-SE" dirty="0" smtClean="0"/>
              <a:t>insättningstidpunkten</a:t>
            </a:r>
            <a:r>
              <a:rPr lang="sv-SE" i="0" dirty="0" smtClean="0"/>
              <a:t>.</a:t>
            </a:r>
            <a:endParaRPr lang="sv-SE" dirty="0" smtClean="0"/>
          </a:p>
        </p:txBody>
      </p:sp>
      <p:sp>
        <p:nvSpPr>
          <p:cNvPr id="64" name="textruta 63"/>
          <p:cNvSpPr txBox="1"/>
          <p:nvPr/>
        </p:nvSpPr>
        <p:spPr>
          <a:xfrm>
            <a:off x="1845521" y="1728327"/>
            <a:ext cx="415649" cy="276999"/>
          </a:xfrm>
          <a:prstGeom prst="rect">
            <a:avLst/>
          </a:prstGeom>
          <a:noFill/>
        </p:spPr>
        <p:txBody>
          <a:bodyPr wrap="none" rtlCol="0">
            <a:spAutoFit/>
          </a:bodyPr>
          <a:lstStyle/>
          <a:p>
            <a:r>
              <a:rPr lang="sv-SE" sz="1200" dirty="0"/>
              <a:t>1</a:t>
            </a:r>
            <a:r>
              <a:rPr lang="sv-SE" sz="1200" dirty="0" smtClean="0"/>
              <a:t>..*</a:t>
            </a:r>
            <a:endParaRPr lang="sv-SE" sz="1200" dirty="0"/>
          </a:p>
        </p:txBody>
      </p:sp>
      <p:sp>
        <p:nvSpPr>
          <p:cNvPr id="67" name="textruta 66"/>
          <p:cNvSpPr txBox="1"/>
          <p:nvPr/>
        </p:nvSpPr>
        <p:spPr>
          <a:xfrm>
            <a:off x="2225958" y="1650720"/>
            <a:ext cx="1046539" cy="461665"/>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200" dirty="0" smtClean="0"/>
              <a:t>Läkemedels-ordination</a:t>
            </a:r>
          </a:p>
        </p:txBody>
      </p:sp>
      <p:sp>
        <p:nvSpPr>
          <p:cNvPr id="68" name="textruta 67"/>
          <p:cNvSpPr txBox="1"/>
          <p:nvPr/>
        </p:nvSpPr>
        <p:spPr>
          <a:xfrm>
            <a:off x="2307804" y="1720814"/>
            <a:ext cx="1046539" cy="461665"/>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200" dirty="0" smtClean="0"/>
              <a:t>Läkemedels-ordination</a:t>
            </a:r>
          </a:p>
        </p:txBody>
      </p:sp>
      <p:sp>
        <p:nvSpPr>
          <p:cNvPr id="47" name="textruta 46"/>
          <p:cNvSpPr txBox="1"/>
          <p:nvPr/>
        </p:nvSpPr>
        <p:spPr>
          <a:xfrm>
            <a:off x="1538695" y="4688507"/>
            <a:ext cx="2179866" cy="1754327"/>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sv-SE" sz="1200" b="1" i="1" dirty="0" smtClean="0"/>
              <a:t>Läkemedelsordination</a:t>
            </a:r>
          </a:p>
          <a:p>
            <a:r>
              <a:rPr lang="sv-SE" sz="1200" i="1" dirty="0"/>
              <a:t> </a:t>
            </a:r>
            <a:r>
              <a:rPr lang="sv-SE" sz="1200" i="1" dirty="0" smtClean="0"/>
              <a:t>   Läkemedel</a:t>
            </a:r>
            <a:br>
              <a:rPr lang="sv-SE" sz="1200" i="1" dirty="0" smtClean="0"/>
            </a:br>
            <a:r>
              <a:rPr lang="sv-SE" sz="1200" i="1" dirty="0" smtClean="0"/>
              <a:t>    ….</a:t>
            </a:r>
          </a:p>
          <a:p>
            <a:r>
              <a:rPr lang="sv-SE" sz="1200" i="1" dirty="0"/>
              <a:t> </a:t>
            </a:r>
            <a:r>
              <a:rPr lang="sv-SE" sz="1200" i="1" dirty="0" smtClean="0"/>
              <a:t>   Beslutstidpunkt</a:t>
            </a:r>
          </a:p>
          <a:p>
            <a:r>
              <a:rPr lang="sv-SE" sz="1200" i="1" dirty="0" smtClean="0"/>
              <a:t>    Insättningstidpunkt</a:t>
            </a:r>
          </a:p>
          <a:p>
            <a:r>
              <a:rPr lang="sv-SE" sz="1200" i="1" dirty="0">
                <a:sym typeface="Wingdings"/>
              </a:rPr>
              <a:t> </a:t>
            </a:r>
            <a:r>
              <a:rPr lang="sv-SE" sz="1200" i="1" dirty="0" smtClean="0">
                <a:sym typeface="Wingdings"/>
              </a:rPr>
              <a:t>   </a:t>
            </a:r>
            <a:r>
              <a:rPr lang="sv-SE" sz="1200" i="1" dirty="0" smtClean="0"/>
              <a:t>Dosering</a:t>
            </a:r>
          </a:p>
          <a:p>
            <a:r>
              <a:rPr lang="sv-SE" sz="1200" i="1" dirty="0"/>
              <a:t>	</a:t>
            </a:r>
            <a:r>
              <a:rPr lang="sv-SE" sz="1200" i="1" dirty="0" smtClean="0"/>
              <a:t>Doseringssteg 1</a:t>
            </a:r>
          </a:p>
          <a:p>
            <a:r>
              <a:rPr lang="sv-SE" sz="1200" i="1" dirty="0"/>
              <a:t>	Doseringssteg </a:t>
            </a:r>
            <a:r>
              <a:rPr lang="sv-SE" sz="1200" i="1" dirty="0" smtClean="0"/>
              <a:t>2</a:t>
            </a:r>
            <a:endParaRPr lang="sv-SE" sz="1200" i="1" dirty="0"/>
          </a:p>
          <a:p>
            <a:endParaRPr lang="sv-SE" sz="1200" dirty="0" smtClean="0"/>
          </a:p>
        </p:txBody>
      </p:sp>
    </p:spTree>
    <p:extLst>
      <p:ext uri="{BB962C8B-B14F-4D97-AF65-F5344CB8AC3E}">
        <p14:creationId xmlns:p14="http://schemas.microsoft.com/office/powerpoint/2010/main" val="283781357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800" dirty="0" smtClean="0"/>
              <a:t>Reviderad modell – nyheter (2)</a:t>
            </a:r>
            <a:endParaRPr lang="sv-SE" sz="28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29</a:t>
            </a:fld>
            <a:endParaRPr lang="sv-SE"/>
          </a:p>
        </p:txBody>
      </p:sp>
      <p:sp>
        <p:nvSpPr>
          <p:cNvPr id="5" name="textruta 4"/>
          <p:cNvSpPr txBox="1"/>
          <p:nvPr/>
        </p:nvSpPr>
        <p:spPr>
          <a:xfrm>
            <a:off x="786196" y="1720209"/>
            <a:ext cx="1065691" cy="461665"/>
          </a:xfrm>
          <a:prstGeom prst="rect">
            <a:avLst/>
          </a:prstGeom>
          <a:ln/>
        </p:spPr>
        <p:style>
          <a:lnRef idx="2">
            <a:schemeClr val="accent2"/>
          </a:lnRef>
          <a:fillRef idx="1">
            <a:schemeClr val="lt1"/>
          </a:fillRef>
          <a:effectRef idx="0">
            <a:schemeClr val="accent2"/>
          </a:effectRef>
          <a:fontRef idx="minor">
            <a:schemeClr val="dk1"/>
          </a:fontRef>
        </p:style>
        <p:txBody>
          <a:bodyPr wrap="none" rtlCol="0">
            <a:spAutoFit/>
          </a:bodyPr>
          <a:lstStyle/>
          <a:p>
            <a:r>
              <a:rPr lang="sv-SE" sz="1200" dirty="0" smtClean="0"/>
              <a:t>Läkemedels-</a:t>
            </a:r>
            <a:br>
              <a:rPr lang="sv-SE" sz="1200" dirty="0" smtClean="0"/>
            </a:br>
            <a:r>
              <a:rPr lang="sv-SE" sz="1200" dirty="0" smtClean="0"/>
              <a:t>behandling</a:t>
            </a:r>
          </a:p>
        </p:txBody>
      </p:sp>
      <p:cxnSp>
        <p:nvCxnSpPr>
          <p:cNvPr id="10" name="Rak 9"/>
          <p:cNvCxnSpPr>
            <a:stCxn id="5" idx="2"/>
            <a:endCxn id="31" idx="0"/>
          </p:cNvCxnSpPr>
          <p:nvPr/>
        </p:nvCxnSpPr>
        <p:spPr bwMode="auto">
          <a:xfrm flipH="1">
            <a:off x="1307764" y="2181874"/>
            <a:ext cx="11278" cy="89613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ruta 19"/>
          <p:cNvSpPr txBox="1"/>
          <p:nvPr/>
        </p:nvSpPr>
        <p:spPr>
          <a:xfrm>
            <a:off x="1223138" y="2828465"/>
            <a:ext cx="415649" cy="276999"/>
          </a:xfrm>
          <a:prstGeom prst="rect">
            <a:avLst/>
          </a:prstGeom>
          <a:noFill/>
        </p:spPr>
        <p:txBody>
          <a:bodyPr wrap="none" rtlCol="0">
            <a:spAutoFit/>
          </a:bodyPr>
          <a:lstStyle/>
          <a:p>
            <a:r>
              <a:rPr lang="sv-SE" sz="1200" b="1" dirty="0" smtClean="0"/>
              <a:t>0..*</a:t>
            </a:r>
            <a:endParaRPr lang="sv-SE" sz="1200" b="1" dirty="0"/>
          </a:p>
        </p:txBody>
      </p:sp>
      <p:sp>
        <p:nvSpPr>
          <p:cNvPr id="31" name="textruta 30"/>
          <p:cNvSpPr txBox="1"/>
          <p:nvPr/>
        </p:nvSpPr>
        <p:spPr>
          <a:xfrm>
            <a:off x="744974" y="3078013"/>
            <a:ext cx="1125579" cy="461665"/>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200" dirty="0" smtClean="0"/>
              <a:t>Expedierings-</a:t>
            </a:r>
            <a:br>
              <a:rPr lang="sv-SE" sz="1200" dirty="0" smtClean="0"/>
            </a:br>
            <a:r>
              <a:rPr lang="sv-SE" sz="1200" dirty="0" smtClean="0"/>
              <a:t>underlag</a:t>
            </a:r>
          </a:p>
        </p:txBody>
      </p:sp>
      <p:grpSp>
        <p:nvGrpSpPr>
          <p:cNvPr id="18" name="Grupp 17"/>
          <p:cNvGrpSpPr/>
          <p:nvPr/>
        </p:nvGrpSpPr>
        <p:grpSpPr>
          <a:xfrm>
            <a:off x="2408998" y="3159497"/>
            <a:ext cx="1771250" cy="653282"/>
            <a:chOff x="3541520" y="3293849"/>
            <a:chExt cx="1771250" cy="653282"/>
          </a:xfrm>
        </p:grpSpPr>
        <p:sp>
          <p:nvSpPr>
            <p:cNvPr id="14" name="textruta 13"/>
            <p:cNvSpPr txBox="1"/>
            <p:nvPr/>
          </p:nvSpPr>
          <p:spPr>
            <a:xfrm>
              <a:off x="3888950" y="3293849"/>
              <a:ext cx="749199" cy="276999"/>
            </a:xfrm>
            <a:prstGeom prst="rect">
              <a:avLst/>
            </a:prstGeom>
            <a:ln>
              <a:solidFill>
                <a:srgbClr val="382819"/>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200" dirty="0"/>
                <a:t>e</a:t>
              </a:r>
              <a:r>
                <a:rPr lang="sv-SE" sz="1200" dirty="0" smtClean="0"/>
                <a:t>-recept</a:t>
              </a:r>
              <a:endParaRPr lang="sv-SE" sz="1200" dirty="0"/>
            </a:p>
          </p:txBody>
        </p:sp>
        <p:sp>
          <p:nvSpPr>
            <p:cNvPr id="16" name="textruta 15"/>
            <p:cNvSpPr txBox="1"/>
            <p:nvPr/>
          </p:nvSpPr>
          <p:spPr>
            <a:xfrm>
              <a:off x="3541520" y="3670132"/>
              <a:ext cx="1771250" cy="276999"/>
            </a:xfrm>
            <a:prstGeom prst="rect">
              <a:avLst/>
            </a:prstGeom>
            <a:noFill/>
          </p:spPr>
          <p:txBody>
            <a:bodyPr wrap="none" rtlCol="0">
              <a:spAutoFit/>
            </a:bodyPr>
            <a:lstStyle/>
            <a:p>
              <a:r>
                <a:rPr lang="sv-SE" sz="1200" i="1" dirty="0" err="1" smtClean="0"/>
                <a:t>expedieringssunderlag</a:t>
              </a:r>
              <a:endParaRPr lang="sv-SE" sz="1200" i="1" dirty="0"/>
            </a:p>
          </p:txBody>
        </p:sp>
      </p:grpSp>
      <p:sp>
        <p:nvSpPr>
          <p:cNvPr id="24" name="Vänster-höger 23"/>
          <p:cNvSpPr/>
          <p:nvPr/>
        </p:nvSpPr>
        <p:spPr bwMode="auto">
          <a:xfrm>
            <a:off x="2059006" y="3186677"/>
            <a:ext cx="507841" cy="241942"/>
          </a:xfrm>
          <a:prstGeom prst="leftRightArrow">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endParaRPr lang="sv-SE" sz="1900">
              <a:latin typeface="Arial" charset="0"/>
            </a:endParaRPr>
          </a:p>
        </p:txBody>
      </p:sp>
      <p:sp>
        <p:nvSpPr>
          <p:cNvPr id="26" name="Rundad rektangulär 25"/>
          <p:cNvSpPr/>
          <p:nvPr/>
        </p:nvSpPr>
        <p:spPr bwMode="auto">
          <a:xfrm>
            <a:off x="2033375" y="2694161"/>
            <a:ext cx="1268625" cy="308880"/>
          </a:xfrm>
          <a:prstGeom prst="wedgeRoundRectCallout">
            <a:avLst>
              <a:gd name="adj1" fmla="val -25134"/>
              <a:gd name="adj2" fmla="val 98458"/>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sv-SE" sz="1200" b="0" i="0" u="none" strike="noStrike" cap="none" normalizeH="0" baseline="0" dirty="0" smtClean="0">
                <a:ln>
                  <a:noFill/>
                </a:ln>
                <a:solidFill>
                  <a:schemeClr val="tx1"/>
                </a:solidFill>
                <a:effectLst/>
                <a:latin typeface="Arial" charset="0"/>
              </a:rPr>
              <a:t>”1-1” Mappning</a:t>
            </a:r>
          </a:p>
        </p:txBody>
      </p:sp>
      <p:sp>
        <p:nvSpPr>
          <p:cNvPr id="27" name="Vänster-höger 26"/>
          <p:cNvSpPr/>
          <p:nvPr/>
        </p:nvSpPr>
        <p:spPr bwMode="auto">
          <a:xfrm>
            <a:off x="3677442" y="3175862"/>
            <a:ext cx="507841" cy="241942"/>
          </a:xfrm>
          <a:prstGeom prst="leftRightArrow">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endParaRPr lang="sv-SE" sz="1900">
              <a:latin typeface="Arial" charset="0"/>
            </a:endParaRPr>
          </a:p>
        </p:txBody>
      </p:sp>
      <p:sp>
        <p:nvSpPr>
          <p:cNvPr id="53" name="textruta 52"/>
          <p:cNvSpPr txBox="1"/>
          <p:nvPr/>
        </p:nvSpPr>
        <p:spPr>
          <a:xfrm>
            <a:off x="3481372" y="2880994"/>
            <a:ext cx="1168700" cy="261610"/>
          </a:xfrm>
          <a:prstGeom prst="rect">
            <a:avLst/>
          </a:prstGeom>
          <a:noFill/>
        </p:spPr>
        <p:txBody>
          <a:bodyPr wrap="none" rtlCol="0">
            <a:spAutoFit/>
          </a:bodyPr>
          <a:lstStyle/>
          <a:p>
            <a:r>
              <a:rPr lang="sv-SE" sz="1050" i="1" dirty="0" smtClean="0"/>
              <a:t>kommunikation</a:t>
            </a:r>
            <a:endParaRPr lang="sv-SE" sz="1050" i="1" dirty="0"/>
          </a:p>
        </p:txBody>
      </p:sp>
      <p:sp>
        <p:nvSpPr>
          <p:cNvPr id="59" name="textruta 58"/>
          <p:cNvSpPr txBox="1"/>
          <p:nvPr/>
        </p:nvSpPr>
        <p:spPr>
          <a:xfrm>
            <a:off x="2144112" y="1580626"/>
            <a:ext cx="1046539" cy="461665"/>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200" dirty="0" smtClean="0"/>
              <a:t>Läkemedels-ordination</a:t>
            </a:r>
          </a:p>
        </p:txBody>
      </p:sp>
      <p:cxnSp>
        <p:nvCxnSpPr>
          <p:cNvPr id="60" name="Rak 59"/>
          <p:cNvCxnSpPr>
            <a:stCxn id="5" idx="3"/>
            <a:endCxn id="68" idx="1"/>
          </p:cNvCxnSpPr>
          <p:nvPr/>
        </p:nvCxnSpPr>
        <p:spPr bwMode="auto">
          <a:xfrm>
            <a:off x="1851887" y="1951042"/>
            <a:ext cx="455917" cy="60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Kurva 65"/>
          <p:cNvCxnSpPr/>
          <p:nvPr/>
        </p:nvCxnSpPr>
        <p:spPr bwMode="auto">
          <a:xfrm flipH="1" flipV="1">
            <a:off x="3296208" y="1677277"/>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Rektangel 77"/>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64" name="textruta 63"/>
          <p:cNvSpPr txBox="1"/>
          <p:nvPr/>
        </p:nvSpPr>
        <p:spPr>
          <a:xfrm>
            <a:off x="1845521" y="1728327"/>
            <a:ext cx="415649" cy="276999"/>
          </a:xfrm>
          <a:prstGeom prst="rect">
            <a:avLst/>
          </a:prstGeom>
          <a:noFill/>
        </p:spPr>
        <p:txBody>
          <a:bodyPr wrap="none" rtlCol="0">
            <a:spAutoFit/>
          </a:bodyPr>
          <a:lstStyle/>
          <a:p>
            <a:r>
              <a:rPr lang="sv-SE" sz="1200" dirty="0"/>
              <a:t>1</a:t>
            </a:r>
            <a:r>
              <a:rPr lang="sv-SE" sz="1200" dirty="0" smtClean="0"/>
              <a:t>..*</a:t>
            </a:r>
            <a:endParaRPr lang="sv-SE" sz="1200" dirty="0"/>
          </a:p>
        </p:txBody>
      </p:sp>
      <p:sp>
        <p:nvSpPr>
          <p:cNvPr id="67" name="textruta 66"/>
          <p:cNvSpPr txBox="1"/>
          <p:nvPr/>
        </p:nvSpPr>
        <p:spPr>
          <a:xfrm>
            <a:off x="2225958" y="1650720"/>
            <a:ext cx="1046539" cy="461665"/>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200" dirty="0" smtClean="0"/>
              <a:t>Läkemedels-ordination</a:t>
            </a:r>
          </a:p>
        </p:txBody>
      </p:sp>
      <p:sp>
        <p:nvSpPr>
          <p:cNvPr id="68" name="textruta 67"/>
          <p:cNvSpPr txBox="1"/>
          <p:nvPr/>
        </p:nvSpPr>
        <p:spPr>
          <a:xfrm>
            <a:off x="2307804" y="1720814"/>
            <a:ext cx="1046539" cy="461665"/>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200" dirty="0" smtClean="0"/>
              <a:t>Läkemedels-ordination</a:t>
            </a:r>
          </a:p>
        </p:txBody>
      </p:sp>
      <p:sp>
        <p:nvSpPr>
          <p:cNvPr id="40" name="textruta 39"/>
          <p:cNvSpPr txBox="1"/>
          <p:nvPr/>
        </p:nvSpPr>
        <p:spPr>
          <a:xfrm>
            <a:off x="1322861" y="4008818"/>
            <a:ext cx="1022093" cy="507831"/>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900" dirty="0"/>
              <a:t>Expedierings-</a:t>
            </a:r>
            <a:r>
              <a:rPr lang="sv-SE" sz="900" dirty="0" smtClean="0"/>
              <a:t/>
            </a:r>
            <a:br>
              <a:rPr lang="sv-SE" sz="900" dirty="0" smtClean="0"/>
            </a:br>
            <a:r>
              <a:rPr lang="sv-SE" sz="900" dirty="0" smtClean="0"/>
              <a:t>underlag för </a:t>
            </a:r>
          </a:p>
          <a:p>
            <a:r>
              <a:rPr lang="sv-SE" sz="900" dirty="0" smtClean="0"/>
              <a:t>helförpackning</a:t>
            </a:r>
          </a:p>
        </p:txBody>
      </p:sp>
      <p:sp>
        <p:nvSpPr>
          <p:cNvPr id="41" name="textruta 40"/>
          <p:cNvSpPr txBox="1"/>
          <p:nvPr/>
        </p:nvSpPr>
        <p:spPr>
          <a:xfrm>
            <a:off x="175368" y="4012126"/>
            <a:ext cx="1062828" cy="507831"/>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900" dirty="0" smtClean="0"/>
              <a:t>Expedierings-</a:t>
            </a:r>
            <a:br>
              <a:rPr lang="sv-SE" sz="900" dirty="0" smtClean="0"/>
            </a:br>
            <a:r>
              <a:rPr lang="sv-SE" sz="900" dirty="0" smtClean="0"/>
              <a:t>underlag för dosdispensering</a:t>
            </a:r>
          </a:p>
        </p:txBody>
      </p:sp>
      <p:cxnSp>
        <p:nvCxnSpPr>
          <p:cNvPr id="47" name="Rak 74"/>
          <p:cNvCxnSpPr>
            <a:stCxn id="41" idx="0"/>
            <a:endCxn id="31" idx="2"/>
          </p:cNvCxnSpPr>
          <p:nvPr/>
        </p:nvCxnSpPr>
        <p:spPr bwMode="auto">
          <a:xfrm rot="5400000" flipH="1" flipV="1">
            <a:off x="771049" y="3475411"/>
            <a:ext cx="472448" cy="600982"/>
          </a:xfrm>
          <a:prstGeom prst="bentConnector3">
            <a:avLst>
              <a:gd name="adj1" fmla="val 50000"/>
            </a:avLst>
          </a:prstGeom>
          <a:noFill/>
          <a:ln w="9525" cap="flat" cmpd="sng" algn="ctr">
            <a:solidFill>
              <a:schemeClr val="tx1"/>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Rak 74"/>
          <p:cNvCxnSpPr>
            <a:stCxn id="40" idx="0"/>
            <a:endCxn id="31" idx="2"/>
          </p:cNvCxnSpPr>
          <p:nvPr/>
        </p:nvCxnSpPr>
        <p:spPr bwMode="auto">
          <a:xfrm rot="16200000" flipV="1">
            <a:off x="1336266" y="3511176"/>
            <a:ext cx="469140" cy="526144"/>
          </a:xfrm>
          <a:prstGeom prst="bentConnector3">
            <a:avLst>
              <a:gd name="adj1" fmla="val 50000"/>
            </a:avLst>
          </a:prstGeom>
          <a:noFill/>
          <a:ln w="9525" cap="flat" cmpd="sng" algn="ctr">
            <a:solidFill>
              <a:schemeClr val="tx1"/>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Platshållare för innehåll 2"/>
          <p:cNvSpPr txBox="1">
            <a:spLocks/>
          </p:cNvSpPr>
          <p:nvPr/>
        </p:nvSpPr>
        <p:spPr>
          <a:xfrm>
            <a:off x="4277361" y="1493520"/>
            <a:ext cx="4480560" cy="4683760"/>
          </a:xfrm>
          <a:prstGeom prst="rect">
            <a:avLst/>
          </a:prstGeom>
        </p:spPr>
        <p:txBody>
          <a:bodyPr>
            <a:noAutofit/>
          </a:bodyPr>
          <a:lst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3"/>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3"/>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3"/>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3"/>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3"/>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3"/>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3"/>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3"/>
              </a:buBlip>
              <a:defRPr>
                <a:solidFill>
                  <a:schemeClr val="tx1"/>
                </a:solidFill>
                <a:latin typeface="+mn-lt"/>
              </a:defRPr>
            </a:lvl9pPr>
          </a:lstStyle>
          <a:p>
            <a:r>
              <a:rPr lang="sv-SE" sz="1600" i="1" dirty="0" err="1" smtClean="0"/>
              <a:t>Förskrivningsdel</a:t>
            </a:r>
            <a:r>
              <a:rPr lang="sv-SE" sz="1600" dirty="0" smtClean="0"/>
              <a:t> ersätts av </a:t>
            </a:r>
            <a:r>
              <a:rPr lang="sv-SE" sz="1600" b="1" i="1" dirty="0" smtClean="0"/>
              <a:t>Expedieringsunderlag</a:t>
            </a:r>
            <a:r>
              <a:rPr lang="sv-SE" sz="1600" b="1" dirty="0" smtClean="0"/>
              <a:t> </a:t>
            </a:r>
            <a:endParaRPr lang="sv-SE" sz="1600" b="1" dirty="0"/>
          </a:p>
          <a:p>
            <a:pPr lvl="1"/>
            <a:r>
              <a:rPr lang="sv-SE" sz="1400" i="1" dirty="0" smtClean="0"/>
              <a:t>Expedieringsunderlag </a:t>
            </a:r>
            <a:r>
              <a:rPr lang="sv-SE" sz="1400" dirty="0" smtClean="0"/>
              <a:t>är i sig komplett, dvs innehåller allt som behövs för att expediera läkemedlet</a:t>
            </a:r>
          </a:p>
          <a:p>
            <a:pPr lvl="2"/>
            <a:r>
              <a:rPr lang="sv-SE" sz="1400" i="1" dirty="0" smtClean="0"/>
              <a:t>Läkemedel, Förskrivarinfo, Patientinfo, Doseringsinfo, Dispenseringsregler…</a:t>
            </a:r>
            <a:endParaRPr lang="sv-SE" sz="1400" i="1" dirty="0"/>
          </a:p>
          <a:p>
            <a:pPr lvl="1"/>
            <a:r>
              <a:rPr lang="sv-SE" sz="1400" dirty="0" smtClean="0"/>
              <a:t>Flera (0..*) </a:t>
            </a:r>
            <a:r>
              <a:rPr lang="sv-SE" sz="1400" i="1" dirty="0" smtClean="0"/>
              <a:t>Expedieringsunderlag</a:t>
            </a:r>
            <a:r>
              <a:rPr lang="sv-SE" sz="1400" dirty="0" smtClean="0"/>
              <a:t> kan kopplas till  </a:t>
            </a:r>
            <a:r>
              <a:rPr lang="sv-SE" sz="1400" i="1" dirty="0" smtClean="0"/>
              <a:t>Läkemedelsbehandling</a:t>
            </a:r>
          </a:p>
        </p:txBody>
      </p:sp>
      <p:grpSp>
        <p:nvGrpSpPr>
          <p:cNvPr id="4" name="Grupp 3"/>
          <p:cNvGrpSpPr/>
          <p:nvPr/>
        </p:nvGrpSpPr>
        <p:grpSpPr>
          <a:xfrm>
            <a:off x="1501987" y="4971425"/>
            <a:ext cx="1941318" cy="1515991"/>
            <a:chOff x="1501987" y="4971425"/>
            <a:chExt cx="1941318" cy="1515991"/>
          </a:xfrm>
        </p:grpSpPr>
        <p:sp>
          <p:nvSpPr>
            <p:cNvPr id="30" name="textruta 29"/>
            <p:cNvSpPr txBox="1"/>
            <p:nvPr/>
          </p:nvSpPr>
          <p:spPr>
            <a:xfrm>
              <a:off x="2585446" y="5256986"/>
              <a:ext cx="857859" cy="65096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sv-SE" sz="1400" dirty="0" smtClean="0"/>
            </a:p>
          </p:txBody>
        </p:sp>
        <p:sp>
          <p:nvSpPr>
            <p:cNvPr id="32" name="textruta 31"/>
            <p:cNvSpPr txBox="1"/>
            <p:nvPr/>
          </p:nvSpPr>
          <p:spPr>
            <a:xfrm>
              <a:off x="2860951" y="6128081"/>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cxnSp>
          <p:nvCxnSpPr>
            <p:cNvPr id="33" name="Rak 32"/>
            <p:cNvCxnSpPr>
              <a:stCxn id="30" idx="2"/>
              <a:endCxn id="32" idx="0"/>
            </p:cNvCxnSpPr>
            <p:nvPr/>
          </p:nvCxnSpPr>
          <p:spPr bwMode="auto">
            <a:xfrm flipH="1">
              <a:off x="3013159" y="5907946"/>
              <a:ext cx="1217" cy="22013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ruta 33"/>
            <p:cNvSpPr txBox="1"/>
            <p:nvPr/>
          </p:nvSpPr>
          <p:spPr>
            <a:xfrm>
              <a:off x="2928637" y="6179639"/>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35" name="textruta 34"/>
            <p:cNvSpPr txBox="1"/>
            <p:nvPr/>
          </p:nvSpPr>
          <p:spPr>
            <a:xfrm>
              <a:off x="2692030" y="5329179"/>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36" name="textruta 35"/>
            <p:cNvSpPr txBox="1"/>
            <p:nvPr/>
          </p:nvSpPr>
          <p:spPr>
            <a:xfrm>
              <a:off x="2752288" y="5391476"/>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37" name="textruta 36"/>
            <p:cNvSpPr txBox="1"/>
            <p:nvPr/>
          </p:nvSpPr>
          <p:spPr>
            <a:xfrm>
              <a:off x="2812546" y="5453773"/>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38" name="textruta 37"/>
            <p:cNvSpPr txBox="1"/>
            <p:nvPr/>
          </p:nvSpPr>
          <p:spPr>
            <a:xfrm>
              <a:off x="2872804" y="5516070"/>
              <a:ext cx="3243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dirty="0"/>
                <a:t>O</a:t>
              </a:r>
            </a:p>
          </p:txBody>
        </p:sp>
        <p:cxnSp>
          <p:nvCxnSpPr>
            <p:cNvPr id="39" name="Kurva 38"/>
            <p:cNvCxnSpPr>
              <a:stCxn id="38" idx="3"/>
            </p:cNvCxnSpPr>
            <p:nvPr/>
          </p:nvCxnSpPr>
          <p:spPr bwMode="auto">
            <a:xfrm flipH="1" flipV="1">
              <a:off x="3136863" y="5453773"/>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textruta 41"/>
            <p:cNvSpPr txBox="1"/>
            <p:nvPr/>
          </p:nvSpPr>
          <p:spPr>
            <a:xfrm>
              <a:off x="2549095" y="4971425"/>
              <a:ext cx="372894" cy="276999"/>
            </a:xfrm>
            <a:prstGeom prst="rect">
              <a:avLst/>
            </a:prstGeom>
            <a:noFill/>
          </p:spPr>
          <p:txBody>
            <a:bodyPr wrap="none" rtlCol="0">
              <a:spAutoFit/>
            </a:bodyPr>
            <a:lstStyle/>
            <a:p>
              <a:r>
                <a:rPr lang="sv-SE" sz="1200" dirty="0" smtClean="0"/>
                <a:t>LB</a:t>
              </a:r>
              <a:endParaRPr lang="sv-SE" sz="1200" dirty="0"/>
            </a:p>
          </p:txBody>
        </p:sp>
        <p:cxnSp>
          <p:nvCxnSpPr>
            <p:cNvPr id="43" name="Rak 42"/>
            <p:cNvCxnSpPr>
              <a:stCxn id="30" idx="2"/>
              <a:endCxn id="34" idx="0"/>
            </p:cNvCxnSpPr>
            <p:nvPr/>
          </p:nvCxnSpPr>
          <p:spPr bwMode="auto">
            <a:xfrm>
              <a:off x="3014376" y="5907946"/>
              <a:ext cx="66469" cy="27169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1501987" y="5113631"/>
              <a:ext cx="916094" cy="577081"/>
            </a:xfrm>
            <a:prstGeom prst="rect">
              <a:avLst/>
            </a:prstGeom>
            <a:noFill/>
          </p:spPr>
          <p:txBody>
            <a:bodyPr wrap="square" rtlCol="0">
              <a:spAutoFit/>
            </a:bodyPr>
            <a:lstStyle/>
            <a:p>
              <a:r>
                <a:rPr lang="sv-SE" sz="1050" dirty="0" smtClean="0"/>
                <a:t>…eller med förenklad beskrivning</a:t>
              </a:r>
              <a:endParaRPr lang="sv-SE" sz="1050" dirty="0"/>
            </a:p>
          </p:txBody>
        </p:sp>
      </p:grpSp>
    </p:spTree>
    <p:extLst>
      <p:ext uri="{BB962C8B-B14F-4D97-AF65-F5344CB8AC3E}">
        <p14:creationId xmlns:p14="http://schemas.microsoft.com/office/powerpoint/2010/main" val="379562948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32" presetClass="emph" presetSubtype="0" fill="hold" nodeType="withEffect">
                                  <p:stCondLst>
                                    <p:cond delay="0"/>
                                  </p:stCondLst>
                                  <p:childTnLst>
                                    <p:animRot by="120000">
                                      <p:cBhvr>
                                        <p:cTn id="8" dur="100" fill="hold">
                                          <p:stCondLst>
                                            <p:cond delay="0"/>
                                          </p:stCondLst>
                                        </p:cTn>
                                        <p:tgtEl>
                                          <p:spTgt spid="4"/>
                                        </p:tgtEl>
                                        <p:attrNameLst>
                                          <p:attrName>r</p:attrName>
                                        </p:attrNameLst>
                                      </p:cBhvr>
                                    </p:animRot>
                                    <p:animRot by="-240000">
                                      <p:cBhvr>
                                        <p:cTn id="9" dur="200" fill="hold">
                                          <p:stCondLst>
                                            <p:cond delay="200"/>
                                          </p:stCondLst>
                                        </p:cTn>
                                        <p:tgtEl>
                                          <p:spTgt spid="4"/>
                                        </p:tgtEl>
                                        <p:attrNameLst>
                                          <p:attrName>r</p:attrName>
                                        </p:attrNameLst>
                                      </p:cBhvr>
                                    </p:animRot>
                                    <p:animRot by="240000">
                                      <p:cBhvr>
                                        <p:cTn id="10" dur="200" fill="hold">
                                          <p:stCondLst>
                                            <p:cond delay="400"/>
                                          </p:stCondLst>
                                        </p:cTn>
                                        <p:tgtEl>
                                          <p:spTgt spid="4"/>
                                        </p:tgtEl>
                                        <p:attrNameLst>
                                          <p:attrName>r</p:attrName>
                                        </p:attrNameLst>
                                      </p:cBhvr>
                                    </p:animRot>
                                    <p:animRot by="-240000">
                                      <p:cBhvr>
                                        <p:cTn id="11" dur="200" fill="hold">
                                          <p:stCondLst>
                                            <p:cond delay="600"/>
                                          </p:stCondLst>
                                        </p:cTn>
                                        <p:tgtEl>
                                          <p:spTgt spid="4"/>
                                        </p:tgtEl>
                                        <p:attrNameLst>
                                          <p:attrName>r</p:attrName>
                                        </p:attrNameLst>
                                      </p:cBhvr>
                                    </p:animRot>
                                    <p:animRot by="120000">
                                      <p:cBhvr>
                                        <p:cTn id="12" dur="200" fill="hold">
                                          <p:stCondLst>
                                            <p:cond delay="8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400" dirty="0" smtClean="0"/>
              <a:t>Patientens samlade läkemedelslista</a:t>
            </a:r>
            <a:endParaRPr lang="sv-SE" sz="2400" dirty="0"/>
          </a:p>
        </p:txBody>
      </p:sp>
      <p:sp>
        <p:nvSpPr>
          <p:cNvPr id="3" name="Platshållare för bildnummer 2"/>
          <p:cNvSpPr>
            <a:spLocks noGrp="1"/>
          </p:cNvSpPr>
          <p:nvPr>
            <p:ph type="sldNum" sz="quarter" idx="10"/>
          </p:nvPr>
        </p:nvSpPr>
        <p:spPr>
          <a:xfrm>
            <a:off x="8369935" y="6356350"/>
            <a:ext cx="622300" cy="215900"/>
          </a:xfrm>
        </p:spPr>
        <p:txBody>
          <a:bodyPr/>
          <a:lstStyle/>
          <a:p>
            <a:fld id="{6EE46765-18A6-4212-A407-C65E2DCE0A05}" type="slidenum">
              <a:rPr lang="sv-SE" smtClean="0"/>
              <a:pPr/>
              <a:t>30</a:t>
            </a:fld>
            <a:endParaRPr lang="sv-SE"/>
          </a:p>
        </p:txBody>
      </p:sp>
      <p:sp>
        <p:nvSpPr>
          <p:cNvPr id="78" name="Rektangel 77"/>
          <p:cNvSpPr/>
          <p:nvPr/>
        </p:nvSpPr>
        <p:spPr>
          <a:xfrm>
            <a:off x="771548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grpSp>
        <p:nvGrpSpPr>
          <p:cNvPr id="42" name="Grupp 41"/>
          <p:cNvGrpSpPr/>
          <p:nvPr/>
        </p:nvGrpSpPr>
        <p:grpSpPr>
          <a:xfrm>
            <a:off x="5874543" y="1396666"/>
            <a:ext cx="3113393" cy="1666118"/>
            <a:chOff x="4551782" y="4566586"/>
            <a:chExt cx="3297503" cy="1666118"/>
          </a:xfrm>
        </p:grpSpPr>
        <p:sp>
          <p:nvSpPr>
            <p:cNvPr id="48" name="textruta 47"/>
            <p:cNvSpPr txBox="1"/>
            <p:nvPr/>
          </p:nvSpPr>
          <p:spPr>
            <a:xfrm>
              <a:off x="4570909" y="4566586"/>
              <a:ext cx="2124531" cy="276999"/>
            </a:xfrm>
            <a:prstGeom prst="rect">
              <a:avLst/>
            </a:prstGeom>
            <a:noFill/>
          </p:spPr>
          <p:txBody>
            <a:bodyPr wrap="square" rtlCol="0">
              <a:spAutoFit/>
            </a:bodyPr>
            <a:lstStyle/>
            <a:p>
              <a:r>
                <a:rPr lang="sv-SE" sz="1200" i="1" dirty="0" smtClean="0"/>
                <a:t>Läkemedelslista</a:t>
              </a:r>
              <a:endParaRPr lang="sv-SE" sz="1200" i="1" dirty="0"/>
            </a:p>
          </p:txBody>
        </p:sp>
        <p:sp>
          <p:nvSpPr>
            <p:cNvPr id="53" name="textruta 52"/>
            <p:cNvSpPr txBox="1"/>
            <p:nvPr/>
          </p:nvSpPr>
          <p:spPr>
            <a:xfrm>
              <a:off x="4551782" y="4840907"/>
              <a:ext cx="3297466" cy="1015663"/>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sv-SE" sz="1200" i="1" dirty="0" smtClean="0"/>
                <a:t>0..* Läkemedelsbehandling</a:t>
              </a:r>
            </a:p>
            <a:p>
              <a:r>
                <a:rPr lang="sv-SE" sz="1200" i="1" dirty="0"/>
                <a:t>	</a:t>
              </a:r>
              <a:r>
                <a:rPr lang="sv-SE" sz="1200" dirty="0" smtClean="0"/>
                <a:t>består av </a:t>
              </a:r>
              <a:r>
                <a:rPr lang="sv-SE" sz="1200" i="1" dirty="0" smtClean="0"/>
                <a:t>1..* Läkemedelsordination</a:t>
              </a:r>
            </a:p>
            <a:p>
              <a:r>
                <a:rPr lang="sv-SE" sz="1200" i="1" dirty="0"/>
                <a:t>	</a:t>
              </a:r>
              <a:r>
                <a:rPr lang="sv-SE" sz="1200" i="1" dirty="0" smtClean="0">
                  <a:sym typeface="Wingdings"/>
                </a:rPr>
                <a:t> </a:t>
              </a:r>
              <a:r>
                <a:rPr lang="sv-SE" sz="1200" i="1" dirty="0" smtClean="0"/>
                <a:t>0..* Expedieringsunderlag</a:t>
              </a:r>
              <a:endParaRPr lang="sv-SE" sz="1200" i="1" dirty="0"/>
            </a:p>
            <a:p>
              <a:r>
                <a:rPr lang="sv-SE" sz="1200" i="1" dirty="0" smtClean="0"/>
                <a:t>		</a:t>
              </a:r>
              <a:r>
                <a:rPr lang="sv-SE" sz="1200" i="1" dirty="0" smtClean="0">
                  <a:sym typeface="Wingdings"/>
                </a:rPr>
                <a:t> </a:t>
              </a:r>
              <a:r>
                <a:rPr lang="sv-SE" sz="1200" i="1" dirty="0" smtClean="0"/>
                <a:t>0..* Expediering (uttag)</a:t>
              </a:r>
              <a:endParaRPr lang="sv-SE" sz="1200" dirty="0"/>
            </a:p>
            <a:p>
              <a:endParaRPr lang="sv-SE" sz="1200" dirty="0"/>
            </a:p>
          </p:txBody>
        </p:sp>
        <p:sp>
          <p:nvSpPr>
            <p:cNvPr id="59" name="textruta 58"/>
            <p:cNvSpPr txBox="1"/>
            <p:nvPr/>
          </p:nvSpPr>
          <p:spPr>
            <a:xfrm>
              <a:off x="4551819" y="5955705"/>
              <a:ext cx="3297466" cy="276999"/>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sv-SE" sz="1200" i="1" dirty="0" smtClean="0">
                  <a:sym typeface="Wingdings"/>
                </a:rPr>
                <a:t> </a:t>
              </a:r>
              <a:r>
                <a:rPr lang="sv-SE" sz="1200" i="1" dirty="0" smtClean="0"/>
                <a:t>0..* Expedieringsunderlag</a:t>
              </a:r>
              <a:endParaRPr lang="sv-SE" sz="1200" i="1" dirty="0"/>
            </a:p>
          </p:txBody>
        </p:sp>
      </p:grpSp>
      <p:grpSp>
        <p:nvGrpSpPr>
          <p:cNvPr id="16" name="Grupp 15"/>
          <p:cNvGrpSpPr/>
          <p:nvPr/>
        </p:nvGrpSpPr>
        <p:grpSpPr>
          <a:xfrm>
            <a:off x="603974" y="1447466"/>
            <a:ext cx="2332266" cy="4759608"/>
            <a:chOff x="603974" y="1447466"/>
            <a:chExt cx="2332266" cy="4759608"/>
          </a:xfrm>
        </p:grpSpPr>
        <p:sp>
          <p:nvSpPr>
            <p:cNvPr id="87" name="textruta 86"/>
            <p:cNvSpPr txBox="1"/>
            <p:nvPr/>
          </p:nvSpPr>
          <p:spPr>
            <a:xfrm>
              <a:off x="622307" y="1708784"/>
              <a:ext cx="2313933" cy="3828416"/>
            </a:xfrm>
            <a:prstGeom prst="rect">
              <a:avLst/>
            </a:prstGeom>
            <a:noFill/>
            <a:ln/>
          </p:spPr>
          <p:style>
            <a:lnRef idx="2">
              <a:schemeClr val="dk1"/>
            </a:lnRef>
            <a:fillRef idx="1">
              <a:schemeClr val="lt1"/>
            </a:fillRef>
            <a:effectRef idx="0">
              <a:schemeClr val="dk1"/>
            </a:effectRef>
            <a:fontRef idx="minor">
              <a:schemeClr val="dk1"/>
            </a:fontRef>
          </p:style>
          <p:txBody>
            <a:bodyPr wrap="square" rtlCol="0">
              <a:noAutofit/>
            </a:bodyPr>
            <a:lstStyle/>
            <a:p>
              <a:endParaRPr lang="sv-SE" sz="1400" dirty="0" smtClean="0"/>
            </a:p>
          </p:txBody>
        </p:sp>
        <p:sp>
          <p:nvSpPr>
            <p:cNvPr id="37" name="textruta 36"/>
            <p:cNvSpPr txBox="1"/>
            <p:nvPr/>
          </p:nvSpPr>
          <p:spPr>
            <a:xfrm>
              <a:off x="764548" y="1901824"/>
              <a:ext cx="1120696" cy="65096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sv-SE" sz="1400" dirty="0" smtClean="0"/>
            </a:p>
          </p:txBody>
        </p:sp>
        <p:sp>
          <p:nvSpPr>
            <p:cNvPr id="43" name="textruta 42"/>
            <p:cNvSpPr txBox="1"/>
            <p:nvPr/>
          </p:nvSpPr>
          <p:spPr>
            <a:xfrm>
              <a:off x="1170575" y="2661159"/>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cxnSp>
          <p:nvCxnSpPr>
            <p:cNvPr id="44" name="Rak 43"/>
            <p:cNvCxnSpPr>
              <a:stCxn id="37" idx="2"/>
              <a:endCxn id="43" idx="0"/>
            </p:cNvCxnSpPr>
            <p:nvPr/>
          </p:nvCxnSpPr>
          <p:spPr bwMode="auto">
            <a:xfrm flipH="1">
              <a:off x="1322783" y="2552784"/>
              <a:ext cx="2113" cy="10837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textruta 44"/>
            <p:cNvSpPr txBox="1"/>
            <p:nvPr/>
          </p:nvSpPr>
          <p:spPr>
            <a:xfrm>
              <a:off x="1238261" y="301751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46" name="textruta 45"/>
            <p:cNvSpPr txBox="1"/>
            <p:nvPr/>
          </p:nvSpPr>
          <p:spPr>
            <a:xfrm>
              <a:off x="1001654" y="1974017"/>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49" name="textruta 48"/>
            <p:cNvSpPr txBox="1"/>
            <p:nvPr/>
          </p:nvSpPr>
          <p:spPr>
            <a:xfrm>
              <a:off x="1061912" y="2036314"/>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50" name="textruta 49"/>
            <p:cNvSpPr txBox="1"/>
            <p:nvPr/>
          </p:nvSpPr>
          <p:spPr>
            <a:xfrm>
              <a:off x="1122170" y="2098611"/>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51" name="textruta 50"/>
            <p:cNvSpPr txBox="1"/>
            <p:nvPr/>
          </p:nvSpPr>
          <p:spPr>
            <a:xfrm>
              <a:off x="1182428" y="2160908"/>
              <a:ext cx="3243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dirty="0"/>
                <a:t>O</a:t>
              </a:r>
            </a:p>
          </p:txBody>
        </p:sp>
        <p:cxnSp>
          <p:nvCxnSpPr>
            <p:cNvPr id="56" name="Kurva 55"/>
            <p:cNvCxnSpPr>
              <a:stCxn id="51" idx="3"/>
            </p:cNvCxnSpPr>
            <p:nvPr/>
          </p:nvCxnSpPr>
          <p:spPr bwMode="auto">
            <a:xfrm flipH="1" flipV="1">
              <a:off x="1446487" y="2098611"/>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ruta 39"/>
            <p:cNvSpPr txBox="1"/>
            <p:nvPr/>
          </p:nvSpPr>
          <p:spPr>
            <a:xfrm>
              <a:off x="997364" y="559449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41" name="textruta 40"/>
            <p:cNvSpPr txBox="1"/>
            <p:nvPr/>
          </p:nvSpPr>
          <p:spPr>
            <a:xfrm>
              <a:off x="764548" y="3019424"/>
              <a:ext cx="1120696" cy="65096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sv-SE" sz="1400" dirty="0" smtClean="0"/>
            </a:p>
          </p:txBody>
        </p:sp>
        <p:sp>
          <p:nvSpPr>
            <p:cNvPr id="47" name="textruta 46"/>
            <p:cNvSpPr txBox="1"/>
            <p:nvPr/>
          </p:nvSpPr>
          <p:spPr>
            <a:xfrm>
              <a:off x="1170575" y="3799079"/>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cxnSp>
          <p:nvCxnSpPr>
            <p:cNvPr id="54" name="Rak 53"/>
            <p:cNvCxnSpPr>
              <a:stCxn id="41" idx="2"/>
              <a:endCxn id="47" idx="0"/>
            </p:cNvCxnSpPr>
            <p:nvPr/>
          </p:nvCxnSpPr>
          <p:spPr bwMode="auto">
            <a:xfrm flipH="1">
              <a:off x="1322783" y="3670384"/>
              <a:ext cx="2113" cy="12869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ruta 56"/>
            <p:cNvSpPr txBox="1"/>
            <p:nvPr/>
          </p:nvSpPr>
          <p:spPr>
            <a:xfrm>
              <a:off x="1238261" y="420623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64" name="textruta 63"/>
            <p:cNvSpPr txBox="1"/>
            <p:nvPr/>
          </p:nvSpPr>
          <p:spPr>
            <a:xfrm>
              <a:off x="1001654" y="3091617"/>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65" name="textruta 64"/>
            <p:cNvSpPr txBox="1"/>
            <p:nvPr/>
          </p:nvSpPr>
          <p:spPr>
            <a:xfrm>
              <a:off x="1061912" y="3153914"/>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67" name="textruta 66"/>
            <p:cNvSpPr txBox="1"/>
            <p:nvPr/>
          </p:nvSpPr>
          <p:spPr>
            <a:xfrm>
              <a:off x="1122170" y="3216211"/>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68" name="textruta 67"/>
            <p:cNvSpPr txBox="1"/>
            <p:nvPr/>
          </p:nvSpPr>
          <p:spPr>
            <a:xfrm>
              <a:off x="1182428" y="3278508"/>
              <a:ext cx="3243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dirty="0"/>
                <a:t>O</a:t>
              </a:r>
            </a:p>
          </p:txBody>
        </p:sp>
        <p:cxnSp>
          <p:nvCxnSpPr>
            <p:cNvPr id="70" name="Kurva 69"/>
            <p:cNvCxnSpPr>
              <a:stCxn id="68" idx="3"/>
            </p:cNvCxnSpPr>
            <p:nvPr/>
          </p:nvCxnSpPr>
          <p:spPr bwMode="auto">
            <a:xfrm flipH="1" flipV="1">
              <a:off x="1446487" y="3216211"/>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textruta 70"/>
            <p:cNvSpPr txBox="1"/>
            <p:nvPr/>
          </p:nvSpPr>
          <p:spPr>
            <a:xfrm>
              <a:off x="764548" y="4208144"/>
              <a:ext cx="1120696" cy="65096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sv-SE" sz="1400" dirty="0" smtClean="0"/>
            </a:p>
          </p:txBody>
        </p:sp>
        <p:sp>
          <p:nvSpPr>
            <p:cNvPr id="72" name="textruta 71"/>
            <p:cNvSpPr txBox="1"/>
            <p:nvPr/>
          </p:nvSpPr>
          <p:spPr>
            <a:xfrm>
              <a:off x="1170575" y="5008119"/>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cxnSp>
          <p:nvCxnSpPr>
            <p:cNvPr id="73" name="Rak 72"/>
            <p:cNvCxnSpPr>
              <a:stCxn id="71" idx="2"/>
              <a:endCxn id="72" idx="0"/>
            </p:cNvCxnSpPr>
            <p:nvPr/>
          </p:nvCxnSpPr>
          <p:spPr bwMode="auto">
            <a:xfrm flipH="1">
              <a:off x="1322783" y="4859104"/>
              <a:ext cx="2113" cy="14901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ruta 73"/>
            <p:cNvSpPr txBox="1"/>
            <p:nvPr/>
          </p:nvSpPr>
          <p:spPr>
            <a:xfrm>
              <a:off x="1238261" y="505967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75" name="textruta 74"/>
            <p:cNvSpPr txBox="1"/>
            <p:nvPr/>
          </p:nvSpPr>
          <p:spPr>
            <a:xfrm>
              <a:off x="1001654" y="4280337"/>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76" name="textruta 75"/>
            <p:cNvSpPr txBox="1"/>
            <p:nvPr/>
          </p:nvSpPr>
          <p:spPr>
            <a:xfrm>
              <a:off x="1061912" y="4342634"/>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77" name="textruta 76"/>
            <p:cNvSpPr txBox="1"/>
            <p:nvPr/>
          </p:nvSpPr>
          <p:spPr>
            <a:xfrm>
              <a:off x="1122170" y="4404931"/>
              <a:ext cx="324315" cy="307777"/>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400" dirty="0" smtClean="0"/>
                <a:t>O</a:t>
              </a:r>
            </a:p>
          </p:txBody>
        </p:sp>
        <p:sp>
          <p:nvSpPr>
            <p:cNvPr id="79" name="textruta 78"/>
            <p:cNvSpPr txBox="1"/>
            <p:nvPr/>
          </p:nvSpPr>
          <p:spPr>
            <a:xfrm>
              <a:off x="1182428" y="4467228"/>
              <a:ext cx="3243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dirty="0"/>
                <a:t>O</a:t>
              </a:r>
            </a:p>
          </p:txBody>
        </p:sp>
        <p:cxnSp>
          <p:nvCxnSpPr>
            <p:cNvPr id="83" name="Kurva 82"/>
            <p:cNvCxnSpPr>
              <a:stCxn id="79" idx="3"/>
            </p:cNvCxnSpPr>
            <p:nvPr/>
          </p:nvCxnSpPr>
          <p:spPr bwMode="auto">
            <a:xfrm flipH="1" flipV="1">
              <a:off x="1446487" y="4404931"/>
              <a:ext cx="60256" cy="216186"/>
            </a:xfrm>
            <a:prstGeom prst="curvedConnector4">
              <a:avLst>
                <a:gd name="adj1" fmla="val -242383"/>
                <a:gd name="adj2" fmla="val 97341"/>
              </a:avLst>
            </a:prstGeom>
            <a:noFill/>
            <a:ln w="9525" cap="flat" cmpd="sng" algn="ctr">
              <a:solidFill>
                <a:srgbClr val="382819"/>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textruta 83"/>
            <p:cNvSpPr txBox="1"/>
            <p:nvPr/>
          </p:nvSpPr>
          <p:spPr>
            <a:xfrm>
              <a:off x="1159924" y="574689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85" name="textruta 84"/>
            <p:cNvSpPr txBox="1"/>
            <p:nvPr/>
          </p:nvSpPr>
          <p:spPr>
            <a:xfrm>
              <a:off x="1312324" y="589929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88" name="textruta 87"/>
            <p:cNvSpPr txBox="1"/>
            <p:nvPr/>
          </p:nvSpPr>
          <p:spPr>
            <a:xfrm>
              <a:off x="2229919" y="4786969"/>
              <a:ext cx="693090" cy="261610"/>
            </a:xfrm>
            <a:prstGeom prst="rect">
              <a:avLst/>
            </a:prstGeom>
            <a:noFill/>
          </p:spPr>
          <p:txBody>
            <a:bodyPr wrap="none" rtlCol="0">
              <a:spAutoFit/>
            </a:bodyPr>
            <a:lstStyle/>
            <a:p>
              <a:r>
                <a:rPr lang="sv-SE" sz="1050" i="1" dirty="0" smtClean="0"/>
                <a:t>Version</a:t>
              </a:r>
              <a:endParaRPr lang="sv-SE" sz="1050" i="1" dirty="0"/>
            </a:p>
          </p:txBody>
        </p:sp>
        <p:sp>
          <p:nvSpPr>
            <p:cNvPr id="55" name="textruta 54"/>
            <p:cNvSpPr txBox="1"/>
            <p:nvPr/>
          </p:nvSpPr>
          <p:spPr>
            <a:xfrm>
              <a:off x="603974" y="1447466"/>
              <a:ext cx="2124531" cy="276999"/>
            </a:xfrm>
            <a:prstGeom prst="rect">
              <a:avLst/>
            </a:prstGeom>
            <a:noFill/>
          </p:spPr>
          <p:txBody>
            <a:bodyPr wrap="square" rtlCol="0">
              <a:spAutoFit/>
            </a:bodyPr>
            <a:lstStyle/>
            <a:p>
              <a:r>
                <a:rPr lang="sv-SE" sz="1200" i="1" dirty="0" smtClean="0"/>
                <a:t>Läkemedelslista NOD</a:t>
              </a:r>
              <a:endParaRPr lang="sv-SE" sz="1200" i="1" dirty="0"/>
            </a:p>
          </p:txBody>
        </p:sp>
        <p:sp>
          <p:nvSpPr>
            <p:cNvPr id="58" name="textruta 57"/>
            <p:cNvSpPr txBox="1"/>
            <p:nvPr/>
          </p:nvSpPr>
          <p:spPr>
            <a:xfrm>
              <a:off x="1894639" y="3161369"/>
              <a:ext cx="632204" cy="276999"/>
            </a:xfrm>
            <a:prstGeom prst="rect">
              <a:avLst/>
            </a:prstGeom>
            <a:noFill/>
          </p:spPr>
          <p:txBody>
            <a:bodyPr wrap="none" rtlCol="0">
              <a:spAutoFit/>
            </a:bodyPr>
            <a:lstStyle/>
            <a:p>
              <a:r>
                <a:rPr lang="sv-SE" sz="1200" dirty="0" smtClean="0"/>
                <a:t>Waran</a:t>
              </a:r>
              <a:endParaRPr lang="sv-SE" sz="1200" dirty="0"/>
            </a:p>
          </p:txBody>
        </p:sp>
        <p:sp>
          <p:nvSpPr>
            <p:cNvPr id="61" name="textruta 60"/>
            <p:cNvSpPr txBox="1"/>
            <p:nvPr/>
          </p:nvSpPr>
          <p:spPr>
            <a:xfrm>
              <a:off x="1894639" y="2257129"/>
              <a:ext cx="753607" cy="276999"/>
            </a:xfrm>
            <a:prstGeom prst="rect">
              <a:avLst/>
            </a:prstGeom>
            <a:noFill/>
          </p:spPr>
          <p:txBody>
            <a:bodyPr wrap="none" rtlCol="0">
              <a:spAutoFit/>
            </a:bodyPr>
            <a:lstStyle/>
            <a:p>
              <a:r>
                <a:rPr lang="sv-SE" sz="1200" dirty="0" smtClean="0"/>
                <a:t>Alvedon</a:t>
              </a:r>
              <a:endParaRPr lang="sv-SE" sz="1200" dirty="0"/>
            </a:p>
          </p:txBody>
        </p:sp>
        <p:sp>
          <p:nvSpPr>
            <p:cNvPr id="89" name="textruta 88"/>
            <p:cNvSpPr txBox="1"/>
            <p:nvPr/>
          </p:nvSpPr>
          <p:spPr>
            <a:xfrm>
              <a:off x="1977250" y="5263870"/>
              <a:ext cx="938669" cy="253916"/>
            </a:xfrm>
            <a:prstGeom prst="rect">
              <a:avLst/>
            </a:prstGeom>
            <a:solidFill>
              <a:schemeClr val="bg1"/>
            </a:solidFill>
          </p:spPr>
          <p:txBody>
            <a:bodyPr wrap="square" rtlCol="0">
              <a:spAutoFit/>
            </a:bodyPr>
            <a:lstStyle/>
            <a:p>
              <a:r>
                <a:rPr lang="sv-SE" sz="1050" i="1" dirty="0" smtClean="0"/>
                <a:t>Avstämd av</a:t>
              </a:r>
            </a:p>
          </p:txBody>
        </p:sp>
        <p:sp>
          <p:nvSpPr>
            <p:cNvPr id="60" name="textruta 59"/>
            <p:cNvSpPr txBox="1"/>
            <p:nvPr/>
          </p:nvSpPr>
          <p:spPr>
            <a:xfrm>
              <a:off x="1904799" y="4268809"/>
              <a:ext cx="877539" cy="276999"/>
            </a:xfrm>
            <a:prstGeom prst="rect">
              <a:avLst/>
            </a:prstGeom>
            <a:noFill/>
          </p:spPr>
          <p:txBody>
            <a:bodyPr wrap="none" rtlCol="0">
              <a:spAutoFit/>
            </a:bodyPr>
            <a:lstStyle/>
            <a:p>
              <a:r>
                <a:rPr lang="sv-SE" sz="1200" dirty="0" smtClean="0"/>
                <a:t>Oxascand</a:t>
              </a:r>
              <a:endParaRPr lang="sv-SE" sz="1200" dirty="0"/>
            </a:p>
          </p:txBody>
        </p:sp>
        <p:sp>
          <p:nvSpPr>
            <p:cNvPr id="52" name="textruta 51"/>
            <p:cNvSpPr txBox="1"/>
            <p:nvPr/>
          </p:nvSpPr>
          <p:spPr>
            <a:xfrm>
              <a:off x="1662291" y="5020031"/>
              <a:ext cx="1223150" cy="261610"/>
            </a:xfrm>
            <a:prstGeom prst="rect">
              <a:avLst/>
            </a:prstGeom>
            <a:solidFill>
              <a:schemeClr val="bg1"/>
            </a:solidFill>
          </p:spPr>
          <p:txBody>
            <a:bodyPr wrap="square" rtlCol="0">
              <a:spAutoFit/>
            </a:bodyPr>
            <a:lstStyle/>
            <a:p>
              <a:r>
                <a:rPr lang="sv-SE" sz="1050" i="1" dirty="0" smtClean="0"/>
                <a:t>Senast ändrad av</a:t>
              </a:r>
            </a:p>
          </p:txBody>
        </p:sp>
      </p:grpSp>
      <p:sp>
        <p:nvSpPr>
          <p:cNvPr id="81" name="textruta 80"/>
          <p:cNvSpPr txBox="1"/>
          <p:nvPr/>
        </p:nvSpPr>
        <p:spPr>
          <a:xfrm>
            <a:off x="1744012" y="6122034"/>
            <a:ext cx="757765" cy="276999"/>
          </a:xfrm>
          <a:prstGeom prst="rect">
            <a:avLst/>
          </a:prstGeom>
          <a:noFill/>
        </p:spPr>
        <p:txBody>
          <a:bodyPr wrap="none" rtlCol="0">
            <a:spAutoFit/>
          </a:bodyPr>
          <a:lstStyle/>
          <a:p>
            <a:r>
              <a:rPr lang="sv-SE" sz="1200" dirty="0" smtClean="0"/>
              <a:t>Entocort</a:t>
            </a:r>
            <a:endParaRPr lang="sv-SE" sz="1200" dirty="0"/>
          </a:p>
        </p:txBody>
      </p:sp>
      <p:sp>
        <p:nvSpPr>
          <p:cNvPr id="86" name="textruta 85"/>
          <p:cNvSpPr txBox="1"/>
          <p:nvPr/>
        </p:nvSpPr>
        <p:spPr>
          <a:xfrm>
            <a:off x="1485044" y="6061857"/>
            <a:ext cx="304415" cy="307777"/>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400" dirty="0"/>
              <a:t>E</a:t>
            </a:r>
            <a:endParaRPr lang="sv-SE" sz="1400" dirty="0" smtClean="0"/>
          </a:p>
        </p:txBody>
      </p:sp>
      <p:sp>
        <p:nvSpPr>
          <p:cNvPr id="62" name="Höger klammerparentes 61"/>
          <p:cNvSpPr/>
          <p:nvPr/>
        </p:nvSpPr>
        <p:spPr bwMode="auto">
          <a:xfrm rot="10800000">
            <a:off x="467236" y="5572190"/>
            <a:ext cx="273474" cy="807971"/>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63" name="textruta 62"/>
          <p:cNvSpPr txBox="1"/>
          <p:nvPr/>
        </p:nvSpPr>
        <p:spPr>
          <a:xfrm rot="16200000">
            <a:off x="-696438" y="5397872"/>
            <a:ext cx="2044716" cy="276999"/>
          </a:xfrm>
          <a:prstGeom prst="rect">
            <a:avLst/>
          </a:prstGeom>
          <a:noFill/>
        </p:spPr>
        <p:txBody>
          <a:bodyPr wrap="square" rtlCol="0">
            <a:spAutoFit/>
          </a:bodyPr>
          <a:lstStyle/>
          <a:p>
            <a:r>
              <a:rPr lang="sv-SE" sz="1200" dirty="0" smtClean="0"/>
              <a:t>Lösa </a:t>
            </a:r>
            <a:r>
              <a:rPr lang="sv-SE" sz="1200" dirty="0" err="1" smtClean="0"/>
              <a:t>exp.underlag</a:t>
            </a:r>
            <a:endParaRPr lang="sv-SE" sz="1200" dirty="0"/>
          </a:p>
        </p:txBody>
      </p:sp>
      <p:grpSp>
        <p:nvGrpSpPr>
          <p:cNvPr id="5" name="Grupp 4"/>
          <p:cNvGrpSpPr/>
          <p:nvPr/>
        </p:nvGrpSpPr>
        <p:grpSpPr>
          <a:xfrm>
            <a:off x="3116524" y="1534833"/>
            <a:ext cx="2542596" cy="4845329"/>
            <a:chOff x="3116524" y="1534833"/>
            <a:chExt cx="2542596" cy="4845329"/>
          </a:xfrm>
        </p:grpSpPr>
        <p:pic>
          <p:nvPicPr>
            <p:cNvPr id="4" name="Bildobjekt 3"/>
            <p:cNvPicPr>
              <a:picLocks noChangeAspect="1"/>
            </p:cNvPicPr>
            <p:nvPr/>
          </p:nvPicPr>
          <p:blipFill rotWithShape="1">
            <a:blip r:embed="rId3"/>
            <a:srcRect b="50287"/>
            <a:stretch/>
          </p:blipFill>
          <p:spPr>
            <a:xfrm>
              <a:off x="3116524" y="1534833"/>
              <a:ext cx="2542596" cy="2252651"/>
            </a:xfrm>
            <a:prstGeom prst="rect">
              <a:avLst/>
            </a:prstGeom>
          </p:spPr>
        </p:pic>
        <p:pic>
          <p:nvPicPr>
            <p:cNvPr id="66" name="Bildobjekt 65"/>
            <p:cNvPicPr>
              <a:picLocks noChangeAspect="1"/>
            </p:cNvPicPr>
            <p:nvPr/>
          </p:nvPicPr>
          <p:blipFill rotWithShape="1">
            <a:blip r:embed="rId3"/>
            <a:srcRect t="84972"/>
            <a:stretch/>
          </p:blipFill>
          <p:spPr>
            <a:xfrm>
              <a:off x="3116524" y="4093578"/>
              <a:ext cx="2542596" cy="680959"/>
            </a:xfrm>
            <a:prstGeom prst="rect">
              <a:avLst/>
            </a:prstGeom>
          </p:spPr>
        </p:pic>
        <p:pic>
          <p:nvPicPr>
            <p:cNvPr id="69" name="Bildobjekt 68"/>
            <p:cNvPicPr>
              <a:picLocks noChangeAspect="1"/>
            </p:cNvPicPr>
            <p:nvPr/>
          </p:nvPicPr>
          <p:blipFill rotWithShape="1">
            <a:blip r:embed="rId3"/>
            <a:srcRect t="53795" b="15475"/>
            <a:stretch/>
          </p:blipFill>
          <p:spPr>
            <a:xfrm>
              <a:off x="3116524" y="4987648"/>
              <a:ext cx="2542596" cy="1392514"/>
            </a:xfrm>
            <a:prstGeom prst="rect">
              <a:avLst/>
            </a:prstGeom>
          </p:spPr>
        </p:pic>
      </p:grpSp>
    </p:spTree>
    <p:extLst>
      <p:ext uri="{BB962C8B-B14F-4D97-AF65-F5344CB8AC3E}">
        <p14:creationId xmlns:p14="http://schemas.microsoft.com/office/powerpoint/2010/main" val="337345153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ruta 61"/>
          <p:cNvSpPr txBox="1"/>
          <p:nvPr/>
        </p:nvSpPr>
        <p:spPr>
          <a:xfrm>
            <a:off x="1750106" y="5021383"/>
            <a:ext cx="2006518" cy="1649852"/>
          </a:xfrm>
          <a:prstGeom prst="rect">
            <a:avLst/>
          </a:prstGeom>
          <a:noFill/>
          <a:ln w="6350" cmpd="sng">
            <a:prstDash val="dash"/>
          </a:ln>
        </p:spPr>
        <p:style>
          <a:lnRef idx="2">
            <a:schemeClr val="dk1"/>
          </a:lnRef>
          <a:fillRef idx="1">
            <a:schemeClr val="lt1"/>
          </a:fillRef>
          <a:effectRef idx="0">
            <a:schemeClr val="dk1"/>
          </a:effectRef>
          <a:fontRef idx="minor">
            <a:schemeClr val="dk1"/>
          </a:fontRef>
        </p:style>
        <p:txBody>
          <a:bodyPr wrap="square" rtlCol="0">
            <a:noAutofit/>
          </a:bodyPr>
          <a:lstStyle/>
          <a:p>
            <a:endParaRPr lang="sv-SE" sz="1400" dirty="0" smtClean="0"/>
          </a:p>
        </p:txBody>
      </p:sp>
      <p:sp>
        <p:nvSpPr>
          <p:cNvPr id="97" name="textruta 96"/>
          <p:cNvSpPr txBox="1"/>
          <p:nvPr/>
        </p:nvSpPr>
        <p:spPr>
          <a:xfrm>
            <a:off x="1757482" y="967375"/>
            <a:ext cx="2006518" cy="4054007"/>
          </a:xfrm>
          <a:prstGeom prst="rect">
            <a:avLst/>
          </a:prstGeom>
          <a:noFill/>
          <a:ln w="12700" cmpd="sng"/>
        </p:spPr>
        <p:style>
          <a:lnRef idx="2">
            <a:schemeClr val="dk1"/>
          </a:lnRef>
          <a:fillRef idx="1">
            <a:schemeClr val="lt1"/>
          </a:fillRef>
          <a:effectRef idx="0">
            <a:schemeClr val="dk1"/>
          </a:effectRef>
          <a:fontRef idx="minor">
            <a:schemeClr val="dk1"/>
          </a:fontRef>
        </p:style>
        <p:txBody>
          <a:bodyPr wrap="square" rtlCol="0">
            <a:noAutofit/>
          </a:bodyPr>
          <a:lstStyle/>
          <a:p>
            <a:endParaRPr lang="sv-SE" sz="1400" dirty="0" smtClean="0"/>
          </a:p>
        </p:txBody>
      </p:sp>
      <p:sp>
        <p:nvSpPr>
          <p:cNvPr id="2" name="Rubrik 1"/>
          <p:cNvSpPr>
            <a:spLocks noGrp="1"/>
          </p:cNvSpPr>
          <p:nvPr>
            <p:ph type="title"/>
          </p:nvPr>
        </p:nvSpPr>
        <p:spPr>
          <a:xfrm>
            <a:off x="1432305" y="29787"/>
            <a:ext cx="7110295" cy="561121"/>
          </a:xfrm>
        </p:spPr>
        <p:txBody>
          <a:bodyPr/>
          <a:lstStyle/>
          <a:p>
            <a:r>
              <a:rPr lang="sv-SE" sz="2000" dirty="0" smtClean="0"/>
              <a:t>Exempel: En genomgång av Kalles läkemedelslista…</a:t>
            </a:r>
            <a:endParaRPr lang="sv-SE" sz="1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31</a:t>
            </a:fld>
            <a:endParaRPr lang="sv-SE" dirty="0"/>
          </a:p>
        </p:txBody>
      </p:sp>
      <p:sp>
        <p:nvSpPr>
          <p:cNvPr id="48" name="textruta 47"/>
          <p:cNvSpPr txBox="1"/>
          <p:nvPr/>
        </p:nvSpPr>
        <p:spPr>
          <a:xfrm>
            <a:off x="2172682" y="5125235"/>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smtClean="0"/>
              <a:t>3</a:t>
            </a:r>
          </a:p>
        </p:txBody>
      </p:sp>
      <p:sp>
        <p:nvSpPr>
          <p:cNvPr id="56" name="textruta 55"/>
          <p:cNvSpPr txBox="1"/>
          <p:nvPr/>
        </p:nvSpPr>
        <p:spPr>
          <a:xfrm>
            <a:off x="2546060" y="5897667"/>
            <a:ext cx="659155" cy="276999"/>
          </a:xfrm>
          <a:prstGeom prst="rect">
            <a:avLst/>
          </a:prstGeom>
          <a:noFill/>
        </p:spPr>
        <p:txBody>
          <a:bodyPr wrap="none" rtlCol="0">
            <a:spAutoFit/>
          </a:bodyPr>
          <a:lstStyle/>
          <a:p>
            <a:r>
              <a:rPr lang="sv-SE" sz="1200" dirty="0" smtClean="0"/>
              <a:t>Valium</a:t>
            </a:r>
            <a:endParaRPr lang="sv-SE" sz="1200" dirty="0"/>
          </a:p>
        </p:txBody>
      </p:sp>
      <p:sp>
        <p:nvSpPr>
          <p:cNvPr id="57" name="textruta 56"/>
          <p:cNvSpPr txBox="1"/>
          <p:nvPr/>
        </p:nvSpPr>
        <p:spPr>
          <a:xfrm>
            <a:off x="2184123" y="5889787"/>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a:t>5</a:t>
            </a:r>
            <a:endParaRPr lang="sv-SE" sz="1100" baseline="-25000" dirty="0" smtClean="0"/>
          </a:p>
        </p:txBody>
      </p:sp>
      <p:sp>
        <p:nvSpPr>
          <p:cNvPr id="58" name="Höger klammerparentes 57"/>
          <p:cNvSpPr/>
          <p:nvPr/>
        </p:nvSpPr>
        <p:spPr bwMode="auto">
          <a:xfrm rot="10800000">
            <a:off x="1349661" y="5103408"/>
            <a:ext cx="265779" cy="1236097"/>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dirty="0" smtClean="0">
              <a:ln>
                <a:noFill/>
              </a:ln>
              <a:solidFill>
                <a:schemeClr val="tx1"/>
              </a:solidFill>
              <a:effectLst/>
              <a:latin typeface="Arial" charset="0"/>
            </a:endParaRPr>
          </a:p>
        </p:txBody>
      </p:sp>
      <p:sp>
        <p:nvSpPr>
          <p:cNvPr id="59" name="textruta 58"/>
          <p:cNvSpPr txBox="1"/>
          <p:nvPr/>
        </p:nvSpPr>
        <p:spPr>
          <a:xfrm>
            <a:off x="2550837" y="5104819"/>
            <a:ext cx="578103" cy="276999"/>
          </a:xfrm>
          <a:prstGeom prst="rect">
            <a:avLst/>
          </a:prstGeom>
          <a:noFill/>
        </p:spPr>
        <p:txBody>
          <a:bodyPr wrap="none" rtlCol="0">
            <a:spAutoFit/>
          </a:bodyPr>
          <a:lstStyle/>
          <a:p>
            <a:r>
              <a:rPr lang="sv-SE" sz="1200" dirty="0" err="1" smtClean="0"/>
              <a:t>Sobril</a:t>
            </a:r>
            <a:endParaRPr lang="sv-SE" sz="1200" dirty="0"/>
          </a:p>
        </p:txBody>
      </p:sp>
      <p:sp>
        <p:nvSpPr>
          <p:cNvPr id="60" name="textruta 59"/>
          <p:cNvSpPr txBox="1"/>
          <p:nvPr/>
        </p:nvSpPr>
        <p:spPr>
          <a:xfrm>
            <a:off x="2545888" y="5517721"/>
            <a:ext cx="757765" cy="276999"/>
          </a:xfrm>
          <a:prstGeom prst="rect">
            <a:avLst/>
          </a:prstGeom>
          <a:noFill/>
        </p:spPr>
        <p:txBody>
          <a:bodyPr wrap="none" rtlCol="0">
            <a:spAutoFit/>
          </a:bodyPr>
          <a:lstStyle/>
          <a:p>
            <a:r>
              <a:rPr lang="sv-SE" sz="1200" dirty="0" smtClean="0"/>
              <a:t>Entocort</a:t>
            </a:r>
            <a:endParaRPr lang="sv-SE" sz="1200" dirty="0"/>
          </a:p>
        </p:txBody>
      </p:sp>
      <p:sp>
        <p:nvSpPr>
          <p:cNvPr id="61" name="textruta 60"/>
          <p:cNvSpPr txBox="1"/>
          <p:nvPr/>
        </p:nvSpPr>
        <p:spPr>
          <a:xfrm>
            <a:off x="2183951" y="5509841"/>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a:t>4</a:t>
            </a:r>
            <a:endParaRPr lang="sv-SE" sz="1100" baseline="-25000" dirty="0" smtClean="0"/>
          </a:p>
        </p:txBody>
      </p:sp>
      <p:sp>
        <p:nvSpPr>
          <p:cNvPr id="71" name="textruta 70"/>
          <p:cNvSpPr txBox="1"/>
          <p:nvPr/>
        </p:nvSpPr>
        <p:spPr>
          <a:xfrm>
            <a:off x="2065434" y="1613029"/>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smtClean="0"/>
              <a:t>1</a:t>
            </a:r>
          </a:p>
        </p:txBody>
      </p:sp>
      <p:cxnSp>
        <p:nvCxnSpPr>
          <p:cNvPr id="72" name="Rak 71"/>
          <p:cNvCxnSpPr>
            <a:endCxn id="71" idx="0"/>
          </p:cNvCxnSpPr>
          <p:nvPr/>
        </p:nvCxnSpPr>
        <p:spPr bwMode="auto">
          <a:xfrm>
            <a:off x="2218859" y="1524974"/>
            <a:ext cx="32066" cy="8805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textruta 89"/>
          <p:cNvSpPr txBox="1"/>
          <p:nvPr/>
        </p:nvSpPr>
        <p:spPr>
          <a:xfrm>
            <a:off x="2082466" y="2550945"/>
            <a:ext cx="350844"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100" dirty="0" smtClean="0"/>
              <a:t>E</a:t>
            </a:r>
            <a:r>
              <a:rPr lang="sv-SE" sz="1100" baseline="-25000" dirty="0" smtClean="0"/>
              <a:t>2</a:t>
            </a:r>
          </a:p>
        </p:txBody>
      </p:sp>
      <p:cxnSp>
        <p:nvCxnSpPr>
          <p:cNvPr id="91" name="Rak 90"/>
          <p:cNvCxnSpPr>
            <a:endCxn id="90" idx="0"/>
          </p:cNvCxnSpPr>
          <p:nvPr/>
        </p:nvCxnSpPr>
        <p:spPr bwMode="auto">
          <a:xfrm>
            <a:off x="2235891" y="2462890"/>
            <a:ext cx="21997" cy="8805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ruta 91"/>
          <p:cNvSpPr txBox="1"/>
          <p:nvPr/>
        </p:nvSpPr>
        <p:spPr>
          <a:xfrm>
            <a:off x="230526" y="5336737"/>
            <a:ext cx="1300117" cy="461665"/>
          </a:xfrm>
          <a:prstGeom prst="rect">
            <a:avLst/>
          </a:prstGeom>
          <a:noFill/>
        </p:spPr>
        <p:txBody>
          <a:bodyPr wrap="none" rtlCol="0">
            <a:spAutoFit/>
          </a:bodyPr>
          <a:lstStyle/>
          <a:p>
            <a:r>
              <a:rPr lang="sv-SE" sz="1200" i="1" dirty="0" smtClean="0"/>
              <a:t>Övrigt förskrivet</a:t>
            </a:r>
            <a:br>
              <a:rPr lang="sv-SE" sz="1200" i="1" dirty="0" smtClean="0"/>
            </a:br>
            <a:r>
              <a:rPr lang="sv-SE" sz="1200" i="1" dirty="0" smtClean="0"/>
              <a:t>”Obekräftat”</a:t>
            </a:r>
            <a:endParaRPr lang="sv-SE" sz="1200" i="1" dirty="0"/>
          </a:p>
        </p:txBody>
      </p:sp>
      <p:sp>
        <p:nvSpPr>
          <p:cNvPr id="93" name="textruta 92"/>
          <p:cNvSpPr txBox="1"/>
          <p:nvPr/>
        </p:nvSpPr>
        <p:spPr>
          <a:xfrm>
            <a:off x="2472968" y="2091759"/>
            <a:ext cx="578103" cy="276999"/>
          </a:xfrm>
          <a:prstGeom prst="rect">
            <a:avLst/>
          </a:prstGeom>
          <a:noFill/>
        </p:spPr>
        <p:txBody>
          <a:bodyPr wrap="none" rtlCol="0">
            <a:spAutoFit/>
          </a:bodyPr>
          <a:lstStyle/>
          <a:p>
            <a:r>
              <a:rPr lang="sv-SE" sz="1200" dirty="0" err="1" smtClean="0"/>
              <a:t>Sobril</a:t>
            </a:r>
            <a:endParaRPr lang="sv-SE" sz="1200" dirty="0"/>
          </a:p>
        </p:txBody>
      </p:sp>
      <p:sp>
        <p:nvSpPr>
          <p:cNvPr id="94" name="textruta 93"/>
          <p:cNvSpPr txBox="1"/>
          <p:nvPr/>
        </p:nvSpPr>
        <p:spPr>
          <a:xfrm>
            <a:off x="2469244" y="1168134"/>
            <a:ext cx="753607" cy="276999"/>
          </a:xfrm>
          <a:prstGeom prst="rect">
            <a:avLst/>
          </a:prstGeom>
          <a:noFill/>
        </p:spPr>
        <p:txBody>
          <a:bodyPr wrap="none" rtlCol="0">
            <a:spAutoFit/>
          </a:bodyPr>
          <a:lstStyle/>
          <a:p>
            <a:r>
              <a:rPr lang="sv-SE" sz="1200" dirty="0" smtClean="0"/>
              <a:t>Alvedon</a:t>
            </a:r>
            <a:endParaRPr lang="sv-SE" sz="1200" dirty="0"/>
          </a:p>
        </p:txBody>
      </p:sp>
      <p:sp>
        <p:nvSpPr>
          <p:cNvPr id="95" name="Höger klammerparentes 94"/>
          <p:cNvSpPr/>
          <p:nvPr/>
        </p:nvSpPr>
        <p:spPr bwMode="auto">
          <a:xfrm rot="10800000">
            <a:off x="1316694" y="1119235"/>
            <a:ext cx="298746" cy="2695140"/>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96" name="textruta 95"/>
          <p:cNvSpPr txBox="1"/>
          <p:nvPr/>
        </p:nvSpPr>
        <p:spPr>
          <a:xfrm>
            <a:off x="436033" y="1997513"/>
            <a:ext cx="1179407" cy="461665"/>
          </a:xfrm>
          <a:prstGeom prst="rect">
            <a:avLst/>
          </a:prstGeom>
          <a:noFill/>
        </p:spPr>
        <p:txBody>
          <a:bodyPr wrap="square" rtlCol="0">
            <a:spAutoFit/>
          </a:bodyPr>
          <a:lstStyle/>
          <a:p>
            <a:r>
              <a:rPr lang="sv-SE" sz="1200" i="1" dirty="0" smtClean="0"/>
              <a:t>Aktuella</a:t>
            </a:r>
            <a:br>
              <a:rPr lang="sv-SE" sz="1200" i="1" dirty="0" smtClean="0"/>
            </a:br>
            <a:endParaRPr lang="sv-SE" sz="1200" i="1" dirty="0"/>
          </a:p>
        </p:txBody>
      </p:sp>
      <p:sp>
        <p:nvSpPr>
          <p:cNvPr id="140" name="textruta 139"/>
          <p:cNvSpPr txBox="1"/>
          <p:nvPr/>
        </p:nvSpPr>
        <p:spPr>
          <a:xfrm>
            <a:off x="3742798" y="5138264"/>
            <a:ext cx="4603769" cy="276999"/>
          </a:xfrm>
          <a:prstGeom prst="rect">
            <a:avLst/>
          </a:prstGeom>
          <a:noFill/>
        </p:spPr>
        <p:txBody>
          <a:bodyPr wrap="none" rtlCol="0">
            <a:spAutoFit/>
          </a:bodyPr>
          <a:lstStyle/>
          <a:p>
            <a:r>
              <a:rPr lang="sv-SE" sz="1200" dirty="0" smtClean="0">
                <a:sym typeface="Wingdings"/>
              </a:rPr>
              <a:t></a:t>
            </a:r>
            <a:r>
              <a:rPr lang="sv-SE" sz="1200" dirty="0" smtClean="0"/>
              <a:t> Aktuell, kopplas till existerande läkemedelsbehandling i NOD</a:t>
            </a:r>
            <a:r>
              <a:rPr lang="sv-SE" sz="1200" dirty="0" smtClean="0">
                <a:sym typeface="Wingdings"/>
              </a:rPr>
              <a:t> </a:t>
            </a:r>
            <a:endParaRPr lang="sv-SE" sz="1200" dirty="0"/>
          </a:p>
        </p:txBody>
      </p:sp>
      <p:sp>
        <p:nvSpPr>
          <p:cNvPr id="142" name="textruta 141"/>
          <p:cNvSpPr txBox="1"/>
          <p:nvPr/>
        </p:nvSpPr>
        <p:spPr>
          <a:xfrm>
            <a:off x="3767660" y="5921854"/>
            <a:ext cx="4920337" cy="276999"/>
          </a:xfrm>
          <a:prstGeom prst="rect">
            <a:avLst/>
          </a:prstGeom>
          <a:noFill/>
        </p:spPr>
        <p:txBody>
          <a:bodyPr wrap="none" rtlCol="0">
            <a:spAutoFit/>
          </a:bodyPr>
          <a:lstStyle/>
          <a:p>
            <a:r>
              <a:rPr lang="sv-SE" sz="1200" dirty="0" smtClean="0">
                <a:sym typeface="Wingdings"/>
              </a:rPr>
              <a:t> Patienten ska inte längre ta denna, sätts ut och makuleras via NOD </a:t>
            </a:r>
            <a:endParaRPr lang="sv-SE" sz="1200" dirty="0"/>
          </a:p>
        </p:txBody>
      </p:sp>
      <p:sp>
        <p:nvSpPr>
          <p:cNvPr id="143" name="textruta 142"/>
          <p:cNvSpPr txBox="1"/>
          <p:nvPr/>
        </p:nvSpPr>
        <p:spPr>
          <a:xfrm>
            <a:off x="3764029" y="5516475"/>
            <a:ext cx="3902405" cy="276999"/>
          </a:xfrm>
          <a:prstGeom prst="rect">
            <a:avLst/>
          </a:prstGeom>
          <a:noFill/>
        </p:spPr>
        <p:txBody>
          <a:bodyPr wrap="none" rtlCol="0">
            <a:spAutoFit/>
          </a:bodyPr>
          <a:lstStyle/>
          <a:p>
            <a:r>
              <a:rPr lang="sv-SE" sz="1200" dirty="0" smtClean="0">
                <a:sym typeface="Wingdings"/>
              </a:rPr>
              <a:t></a:t>
            </a:r>
            <a:r>
              <a:rPr lang="sv-SE" sz="1200" dirty="0" smtClean="0"/>
              <a:t> Aktuell, kopplas till ny läkemedelsbehandling i NOD</a:t>
            </a:r>
            <a:endParaRPr lang="sv-SE" sz="1200" dirty="0"/>
          </a:p>
        </p:txBody>
      </p:sp>
      <p:grpSp>
        <p:nvGrpSpPr>
          <p:cNvPr id="150" name="Grupp 149"/>
          <p:cNvGrpSpPr/>
          <p:nvPr/>
        </p:nvGrpSpPr>
        <p:grpSpPr>
          <a:xfrm>
            <a:off x="1976705" y="1027702"/>
            <a:ext cx="492711" cy="479931"/>
            <a:chOff x="8068439" y="1723198"/>
            <a:chExt cx="492711" cy="479931"/>
          </a:xfrm>
        </p:grpSpPr>
        <p:sp>
          <p:nvSpPr>
            <p:cNvPr id="145" name="textruta 144"/>
            <p:cNvSpPr txBox="1"/>
            <p:nvPr/>
          </p:nvSpPr>
          <p:spPr>
            <a:xfrm>
              <a:off x="8068439" y="1723198"/>
              <a:ext cx="492711" cy="479931"/>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sv-SE" sz="1200" dirty="0" smtClean="0"/>
            </a:p>
          </p:txBody>
        </p:sp>
        <p:sp>
          <p:nvSpPr>
            <p:cNvPr id="147" name="textruta 146"/>
            <p:cNvSpPr txBox="1"/>
            <p:nvPr/>
          </p:nvSpPr>
          <p:spPr>
            <a:xfrm>
              <a:off x="8114203" y="1779678"/>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148" name="textruta 147"/>
            <p:cNvSpPr txBox="1"/>
            <p:nvPr/>
          </p:nvSpPr>
          <p:spPr>
            <a:xfrm>
              <a:off x="8157168" y="1827965"/>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149" name="textruta 148"/>
            <p:cNvSpPr txBox="1"/>
            <p:nvPr/>
          </p:nvSpPr>
          <p:spPr>
            <a:xfrm>
              <a:off x="8200134" y="1876252"/>
              <a:ext cx="304365" cy="276999"/>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sz="1200" dirty="0"/>
                <a:t>O</a:t>
              </a:r>
            </a:p>
          </p:txBody>
        </p:sp>
      </p:grpSp>
      <p:sp>
        <p:nvSpPr>
          <p:cNvPr id="152" name="textruta 151"/>
          <p:cNvSpPr txBox="1"/>
          <p:nvPr/>
        </p:nvSpPr>
        <p:spPr>
          <a:xfrm>
            <a:off x="388512" y="4202466"/>
            <a:ext cx="961149" cy="461665"/>
          </a:xfrm>
          <a:prstGeom prst="rect">
            <a:avLst/>
          </a:prstGeom>
          <a:noFill/>
        </p:spPr>
        <p:txBody>
          <a:bodyPr wrap="square" rtlCol="0">
            <a:spAutoFit/>
          </a:bodyPr>
          <a:lstStyle/>
          <a:p>
            <a:r>
              <a:rPr lang="sv-SE" sz="1200" i="1" dirty="0" smtClean="0"/>
              <a:t>Historiska/Utsatta </a:t>
            </a:r>
            <a:endParaRPr lang="sv-SE" sz="1200" i="1" dirty="0"/>
          </a:p>
        </p:txBody>
      </p:sp>
      <p:sp>
        <p:nvSpPr>
          <p:cNvPr id="153" name="Höger klammerparentes 152"/>
          <p:cNvSpPr/>
          <p:nvPr/>
        </p:nvSpPr>
        <p:spPr bwMode="auto">
          <a:xfrm rot="10800000">
            <a:off x="1314601" y="3999264"/>
            <a:ext cx="300839" cy="999235"/>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154" name="Grupp 153"/>
          <p:cNvGrpSpPr/>
          <p:nvPr/>
        </p:nvGrpSpPr>
        <p:grpSpPr>
          <a:xfrm>
            <a:off x="1991698" y="1982959"/>
            <a:ext cx="492711" cy="479931"/>
            <a:chOff x="8068439" y="1723198"/>
            <a:chExt cx="492711" cy="479931"/>
          </a:xfrm>
        </p:grpSpPr>
        <p:sp>
          <p:nvSpPr>
            <p:cNvPr id="155" name="textruta 154"/>
            <p:cNvSpPr txBox="1"/>
            <p:nvPr/>
          </p:nvSpPr>
          <p:spPr>
            <a:xfrm>
              <a:off x="8068439" y="1723198"/>
              <a:ext cx="492711" cy="479931"/>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sv-SE" sz="1200" dirty="0" smtClean="0"/>
            </a:p>
          </p:txBody>
        </p:sp>
        <p:sp>
          <p:nvSpPr>
            <p:cNvPr id="156" name="textruta 155"/>
            <p:cNvSpPr txBox="1"/>
            <p:nvPr/>
          </p:nvSpPr>
          <p:spPr>
            <a:xfrm>
              <a:off x="8114203" y="1779678"/>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157" name="textruta 156"/>
            <p:cNvSpPr txBox="1"/>
            <p:nvPr/>
          </p:nvSpPr>
          <p:spPr>
            <a:xfrm>
              <a:off x="8157168" y="1827965"/>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158" name="textruta 157"/>
            <p:cNvSpPr txBox="1"/>
            <p:nvPr/>
          </p:nvSpPr>
          <p:spPr>
            <a:xfrm>
              <a:off x="8200134" y="1876252"/>
              <a:ext cx="304365" cy="276999"/>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sz="1200" dirty="0"/>
                <a:t>O</a:t>
              </a:r>
            </a:p>
          </p:txBody>
        </p:sp>
      </p:grpSp>
      <p:cxnSp>
        <p:nvCxnSpPr>
          <p:cNvPr id="5" name="Rak 4"/>
          <p:cNvCxnSpPr/>
          <p:nvPr/>
        </p:nvCxnSpPr>
        <p:spPr bwMode="auto">
          <a:xfrm>
            <a:off x="1820145" y="3918508"/>
            <a:ext cx="1932414" cy="0"/>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textruta 62"/>
          <p:cNvSpPr txBox="1"/>
          <p:nvPr/>
        </p:nvSpPr>
        <p:spPr>
          <a:xfrm>
            <a:off x="1707950" y="670930"/>
            <a:ext cx="2181894" cy="276999"/>
          </a:xfrm>
          <a:prstGeom prst="rect">
            <a:avLst/>
          </a:prstGeom>
          <a:noFill/>
        </p:spPr>
        <p:txBody>
          <a:bodyPr wrap="square" rtlCol="0">
            <a:spAutoFit/>
          </a:bodyPr>
          <a:lstStyle/>
          <a:p>
            <a:r>
              <a:rPr lang="sv-SE" sz="1200" i="1" dirty="0" smtClean="0"/>
              <a:t>Patientens läkemedelslista</a:t>
            </a:r>
            <a:endParaRPr lang="sv-SE" sz="1200" i="1" dirty="0"/>
          </a:p>
        </p:txBody>
      </p:sp>
      <p:grpSp>
        <p:nvGrpSpPr>
          <p:cNvPr id="13" name="Grupp 12"/>
          <p:cNvGrpSpPr/>
          <p:nvPr/>
        </p:nvGrpSpPr>
        <p:grpSpPr>
          <a:xfrm>
            <a:off x="4140434" y="670930"/>
            <a:ext cx="3305410" cy="4350452"/>
            <a:chOff x="4140434" y="670930"/>
            <a:chExt cx="3305410" cy="4350452"/>
          </a:xfrm>
        </p:grpSpPr>
        <p:cxnSp>
          <p:nvCxnSpPr>
            <p:cNvPr id="99" name="Rak 98"/>
            <p:cNvCxnSpPr/>
            <p:nvPr/>
          </p:nvCxnSpPr>
          <p:spPr bwMode="auto">
            <a:xfrm>
              <a:off x="5376145" y="3918508"/>
              <a:ext cx="1932414" cy="0"/>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Grupp 5"/>
            <p:cNvGrpSpPr/>
            <p:nvPr/>
          </p:nvGrpSpPr>
          <p:grpSpPr>
            <a:xfrm>
              <a:off x="4140434" y="670930"/>
              <a:ext cx="3305410" cy="4350452"/>
              <a:chOff x="4140434" y="670930"/>
              <a:chExt cx="3305410" cy="4350452"/>
            </a:xfrm>
          </p:grpSpPr>
          <p:sp>
            <p:nvSpPr>
              <p:cNvPr id="138" name="Höger 137"/>
              <p:cNvSpPr/>
              <p:nvPr/>
            </p:nvSpPr>
            <p:spPr bwMode="auto">
              <a:xfrm>
                <a:off x="4140434" y="2646876"/>
                <a:ext cx="549155" cy="411909"/>
              </a:xfrm>
              <a:prstGeom prst="right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4" name="Grupp 3"/>
              <p:cNvGrpSpPr/>
              <p:nvPr/>
            </p:nvGrpSpPr>
            <p:grpSpPr>
              <a:xfrm>
                <a:off x="5263950" y="670930"/>
                <a:ext cx="2181894" cy="4350452"/>
                <a:chOff x="5263950" y="670930"/>
                <a:chExt cx="2181894" cy="4350452"/>
              </a:xfrm>
            </p:grpSpPr>
            <p:sp>
              <p:nvSpPr>
                <p:cNvPr id="65" name="textruta 64"/>
                <p:cNvSpPr txBox="1"/>
                <p:nvPr/>
              </p:nvSpPr>
              <p:spPr>
                <a:xfrm>
                  <a:off x="5313482" y="967375"/>
                  <a:ext cx="2006518" cy="4054007"/>
                </a:xfrm>
                <a:prstGeom prst="rect">
                  <a:avLst/>
                </a:prstGeom>
                <a:noFill/>
                <a:ln w="12700" cmpd="sng"/>
              </p:spPr>
              <p:style>
                <a:lnRef idx="2">
                  <a:schemeClr val="dk1"/>
                </a:lnRef>
                <a:fillRef idx="1">
                  <a:schemeClr val="lt1"/>
                </a:fillRef>
                <a:effectRef idx="0">
                  <a:schemeClr val="dk1"/>
                </a:effectRef>
                <a:fontRef idx="minor">
                  <a:schemeClr val="dk1"/>
                </a:fontRef>
              </p:style>
              <p:txBody>
                <a:bodyPr wrap="square" rtlCol="0">
                  <a:noAutofit/>
                </a:bodyPr>
                <a:lstStyle/>
                <a:p>
                  <a:endParaRPr lang="sv-SE" sz="1400" dirty="0" smtClean="0"/>
                </a:p>
              </p:txBody>
            </p:sp>
            <p:cxnSp>
              <p:nvCxnSpPr>
                <p:cNvPr id="125" name="Rak 124"/>
                <p:cNvCxnSpPr/>
                <p:nvPr/>
              </p:nvCxnSpPr>
              <p:spPr bwMode="auto">
                <a:xfrm>
                  <a:off x="5807517" y="2462890"/>
                  <a:ext cx="255586" cy="9821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textruta 65"/>
                <p:cNvSpPr txBox="1"/>
                <p:nvPr/>
              </p:nvSpPr>
              <p:spPr>
                <a:xfrm>
                  <a:off x="5621434" y="1613029"/>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smtClean="0"/>
                    <a:t>1</a:t>
                  </a:r>
                </a:p>
              </p:txBody>
            </p:sp>
            <p:cxnSp>
              <p:nvCxnSpPr>
                <p:cNvPr id="67" name="Rak 66"/>
                <p:cNvCxnSpPr>
                  <a:endCxn id="66" idx="0"/>
                </p:cNvCxnSpPr>
                <p:nvPr/>
              </p:nvCxnSpPr>
              <p:spPr bwMode="auto">
                <a:xfrm>
                  <a:off x="5774859" y="1524974"/>
                  <a:ext cx="32066" cy="8805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textruta 69"/>
                <p:cNvSpPr txBox="1"/>
                <p:nvPr/>
              </p:nvSpPr>
              <p:spPr>
                <a:xfrm>
                  <a:off x="6028968" y="2091759"/>
                  <a:ext cx="578103" cy="276999"/>
                </a:xfrm>
                <a:prstGeom prst="rect">
                  <a:avLst/>
                </a:prstGeom>
                <a:noFill/>
              </p:spPr>
              <p:txBody>
                <a:bodyPr wrap="none" rtlCol="0">
                  <a:spAutoFit/>
                </a:bodyPr>
                <a:lstStyle/>
                <a:p>
                  <a:r>
                    <a:rPr lang="sv-SE" sz="1200" dirty="0" err="1" smtClean="0"/>
                    <a:t>Sobril</a:t>
                  </a:r>
                  <a:endParaRPr lang="sv-SE" sz="1200" dirty="0"/>
                </a:p>
              </p:txBody>
            </p:sp>
            <p:sp>
              <p:nvSpPr>
                <p:cNvPr id="73" name="textruta 72"/>
                <p:cNvSpPr txBox="1"/>
                <p:nvPr/>
              </p:nvSpPr>
              <p:spPr>
                <a:xfrm>
                  <a:off x="6025244" y="1168134"/>
                  <a:ext cx="753607" cy="276999"/>
                </a:xfrm>
                <a:prstGeom prst="rect">
                  <a:avLst/>
                </a:prstGeom>
                <a:noFill/>
              </p:spPr>
              <p:txBody>
                <a:bodyPr wrap="none" rtlCol="0">
                  <a:spAutoFit/>
                </a:bodyPr>
                <a:lstStyle/>
                <a:p>
                  <a:r>
                    <a:rPr lang="sv-SE" sz="1200" dirty="0" smtClean="0"/>
                    <a:t>Alvedon</a:t>
                  </a:r>
                  <a:endParaRPr lang="sv-SE" sz="1200" dirty="0"/>
                </a:p>
              </p:txBody>
            </p:sp>
            <p:grpSp>
              <p:nvGrpSpPr>
                <p:cNvPr id="75" name="Grupp 74"/>
                <p:cNvGrpSpPr/>
                <p:nvPr/>
              </p:nvGrpSpPr>
              <p:grpSpPr>
                <a:xfrm>
                  <a:off x="5532705" y="1027702"/>
                  <a:ext cx="492711" cy="479931"/>
                  <a:chOff x="8068439" y="1723198"/>
                  <a:chExt cx="492711" cy="479931"/>
                </a:xfrm>
              </p:grpSpPr>
              <p:sp>
                <p:nvSpPr>
                  <p:cNvPr id="76" name="textruta 75"/>
                  <p:cNvSpPr txBox="1"/>
                  <p:nvPr/>
                </p:nvSpPr>
                <p:spPr>
                  <a:xfrm>
                    <a:off x="8068439" y="1723198"/>
                    <a:ext cx="492711" cy="479931"/>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sv-SE" sz="1200" dirty="0" smtClean="0"/>
                  </a:p>
                </p:txBody>
              </p:sp>
              <p:sp>
                <p:nvSpPr>
                  <p:cNvPr id="77" name="textruta 76"/>
                  <p:cNvSpPr txBox="1"/>
                  <p:nvPr/>
                </p:nvSpPr>
                <p:spPr>
                  <a:xfrm>
                    <a:off x="8114203" y="1779678"/>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78" name="textruta 77"/>
                  <p:cNvSpPr txBox="1"/>
                  <p:nvPr/>
                </p:nvSpPr>
                <p:spPr>
                  <a:xfrm>
                    <a:off x="8157168" y="1827965"/>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79" name="textruta 78"/>
                  <p:cNvSpPr txBox="1"/>
                  <p:nvPr/>
                </p:nvSpPr>
                <p:spPr>
                  <a:xfrm>
                    <a:off x="8200134" y="1876252"/>
                    <a:ext cx="304365" cy="276999"/>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sz="1200" dirty="0"/>
                      <a:t>O</a:t>
                    </a:r>
                  </a:p>
                </p:txBody>
              </p:sp>
            </p:grpSp>
            <p:grpSp>
              <p:nvGrpSpPr>
                <p:cNvPr id="81" name="Grupp 80"/>
                <p:cNvGrpSpPr/>
                <p:nvPr/>
              </p:nvGrpSpPr>
              <p:grpSpPr>
                <a:xfrm>
                  <a:off x="5547698" y="1982959"/>
                  <a:ext cx="492711" cy="479931"/>
                  <a:chOff x="8068439" y="1723198"/>
                  <a:chExt cx="492711" cy="479931"/>
                </a:xfrm>
              </p:grpSpPr>
              <p:sp>
                <p:nvSpPr>
                  <p:cNvPr id="82" name="textruta 81"/>
                  <p:cNvSpPr txBox="1"/>
                  <p:nvPr/>
                </p:nvSpPr>
                <p:spPr>
                  <a:xfrm>
                    <a:off x="8068439" y="1723198"/>
                    <a:ext cx="492711" cy="479931"/>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sv-SE" sz="1200" dirty="0" smtClean="0"/>
                  </a:p>
                </p:txBody>
              </p:sp>
              <p:sp>
                <p:nvSpPr>
                  <p:cNvPr id="83" name="textruta 82"/>
                  <p:cNvSpPr txBox="1"/>
                  <p:nvPr/>
                </p:nvSpPr>
                <p:spPr>
                  <a:xfrm>
                    <a:off x="8114203" y="1779678"/>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84" name="textruta 83"/>
                  <p:cNvSpPr txBox="1"/>
                  <p:nvPr/>
                </p:nvSpPr>
                <p:spPr>
                  <a:xfrm>
                    <a:off x="8157168" y="1827965"/>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85" name="textruta 84"/>
                  <p:cNvSpPr txBox="1"/>
                  <p:nvPr/>
                </p:nvSpPr>
                <p:spPr>
                  <a:xfrm>
                    <a:off x="8200134" y="1876252"/>
                    <a:ext cx="304365" cy="276999"/>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sz="1200" dirty="0"/>
                      <a:t>O</a:t>
                    </a:r>
                  </a:p>
                </p:txBody>
              </p:sp>
            </p:grpSp>
            <p:sp>
              <p:nvSpPr>
                <p:cNvPr id="100" name="textruta 99"/>
                <p:cNvSpPr txBox="1"/>
                <p:nvPr/>
              </p:nvSpPr>
              <p:spPr>
                <a:xfrm>
                  <a:off x="5263950" y="670930"/>
                  <a:ext cx="2181894" cy="276999"/>
                </a:xfrm>
                <a:prstGeom prst="rect">
                  <a:avLst/>
                </a:prstGeom>
                <a:noFill/>
              </p:spPr>
              <p:txBody>
                <a:bodyPr wrap="square" rtlCol="0">
                  <a:spAutoFit/>
                </a:bodyPr>
                <a:lstStyle/>
                <a:p>
                  <a:r>
                    <a:rPr lang="sv-SE" sz="1200" i="1" dirty="0" smtClean="0"/>
                    <a:t>Patientens läkemedelslista</a:t>
                  </a:r>
                  <a:endParaRPr lang="sv-SE" sz="1200" i="1" dirty="0"/>
                </a:p>
              </p:txBody>
            </p:sp>
            <p:sp>
              <p:nvSpPr>
                <p:cNvPr id="108" name="textruta 107"/>
                <p:cNvSpPr txBox="1"/>
                <p:nvPr/>
              </p:nvSpPr>
              <p:spPr>
                <a:xfrm>
                  <a:off x="5956311" y="2550945"/>
                  <a:ext cx="350844"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100" dirty="0" smtClean="0"/>
                    <a:t>E</a:t>
                  </a:r>
                  <a:r>
                    <a:rPr lang="sv-SE" sz="1100" baseline="-25000" dirty="0" smtClean="0"/>
                    <a:t>2</a:t>
                  </a:r>
                </a:p>
              </p:txBody>
            </p:sp>
          </p:grpSp>
        </p:grpSp>
      </p:grpSp>
      <p:grpSp>
        <p:nvGrpSpPr>
          <p:cNvPr id="7" name="Grupp 6"/>
          <p:cNvGrpSpPr/>
          <p:nvPr/>
        </p:nvGrpSpPr>
        <p:grpSpPr>
          <a:xfrm>
            <a:off x="2504848" y="2462890"/>
            <a:ext cx="3388237" cy="2787334"/>
            <a:chOff x="2504848" y="2462890"/>
            <a:chExt cx="3388237" cy="2787334"/>
          </a:xfrm>
        </p:grpSpPr>
        <p:cxnSp>
          <p:nvCxnSpPr>
            <p:cNvPr id="120" name="Rak 119"/>
            <p:cNvCxnSpPr/>
            <p:nvPr/>
          </p:nvCxnSpPr>
          <p:spPr bwMode="auto">
            <a:xfrm flipH="1">
              <a:off x="5697343" y="2462890"/>
              <a:ext cx="110174" cy="9821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textruta 106"/>
            <p:cNvSpPr txBox="1"/>
            <p:nvPr/>
          </p:nvSpPr>
          <p:spPr>
            <a:xfrm>
              <a:off x="5542241" y="2550945"/>
              <a:ext cx="350844"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100" dirty="0" smtClean="0"/>
                <a:t>E</a:t>
              </a:r>
              <a:r>
                <a:rPr lang="sv-SE" sz="1100" baseline="-25000" dirty="0"/>
                <a:t>3</a:t>
              </a:r>
              <a:endParaRPr lang="sv-SE" sz="1100" baseline="-25000" dirty="0" smtClean="0"/>
            </a:p>
          </p:txBody>
        </p:sp>
        <p:cxnSp>
          <p:nvCxnSpPr>
            <p:cNvPr id="9" name="Kurva 8"/>
            <p:cNvCxnSpPr>
              <a:endCxn id="107" idx="1"/>
            </p:cNvCxnSpPr>
            <p:nvPr/>
          </p:nvCxnSpPr>
          <p:spPr bwMode="auto">
            <a:xfrm flipV="1">
              <a:off x="2504848" y="2681750"/>
              <a:ext cx="3037393" cy="2568474"/>
            </a:xfrm>
            <a:prstGeom prst="curvedConnector3">
              <a:avLst>
                <a:gd name="adj1" fmla="val 50000"/>
              </a:avLst>
            </a:prstGeom>
            <a:noFill/>
            <a:ln w="19050" cap="flat" cmpd="sng" algn="ctr">
              <a:solidFill>
                <a:srgbClr val="3366FF"/>
              </a:solidFill>
              <a:prstDash val="dash"/>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 name="Grupp 9"/>
          <p:cNvGrpSpPr/>
          <p:nvPr/>
        </p:nvGrpSpPr>
        <p:grpSpPr>
          <a:xfrm>
            <a:off x="2515008" y="2954018"/>
            <a:ext cx="4255060" cy="2686628"/>
            <a:chOff x="2515008" y="2954018"/>
            <a:chExt cx="4255060" cy="2686628"/>
          </a:xfrm>
        </p:grpSpPr>
        <p:sp>
          <p:nvSpPr>
            <p:cNvPr id="134" name="textruta 133"/>
            <p:cNvSpPr txBox="1"/>
            <p:nvPr/>
          </p:nvSpPr>
          <p:spPr>
            <a:xfrm>
              <a:off x="6012303" y="3051138"/>
              <a:ext cx="757765" cy="276999"/>
            </a:xfrm>
            <a:prstGeom prst="rect">
              <a:avLst/>
            </a:prstGeom>
            <a:noFill/>
          </p:spPr>
          <p:txBody>
            <a:bodyPr wrap="none" rtlCol="0">
              <a:spAutoFit/>
            </a:bodyPr>
            <a:lstStyle/>
            <a:p>
              <a:r>
                <a:rPr lang="sv-SE" sz="1200" dirty="0" smtClean="0"/>
                <a:t>Entocort</a:t>
              </a:r>
              <a:endParaRPr lang="sv-SE" sz="1200" dirty="0"/>
            </a:p>
          </p:txBody>
        </p:sp>
        <p:grpSp>
          <p:nvGrpSpPr>
            <p:cNvPr id="102" name="Grupp 101"/>
            <p:cNvGrpSpPr/>
            <p:nvPr/>
          </p:nvGrpSpPr>
          <p:grpSpPr>
            <a:xfrm>
              <a:off x="5552822" y="2954018"/>
              <a:ext cx="492711" cy="479931"/>
              <a:chOff x="8068439" y="1723198"/>
              <a:chExt cx="492711" cy="479931"/>
            </a:xfrm>
          </p:grpSpPr>
          <p:sp>
            <p:nvSpPr>
              <p:cNvPr id="103" name="textruta 102"/>
              <p:cNvSpPr txBox="1"/>
              <p:nvPr/>
            </p:nvSpPr>
            <p:spPr>
              <a:xfrm>
                <a:off x="8068439" y="1723198"/>
                <a:ext cx="492711" cy="479931"/>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sv-SE" sz="1200" dirty="0" smtClean="0"/>
              </a:p>
            </p:txBody>
          </p:sp>
          <p:sp>
            <p:nvSpPr>
              <p:cNvPr id="104" name="textruta 103"/>
              <p:cNvSpPr txBox="1"/>
              <p:nvPr/>
            </p:nvSpPr>
            <p:spPr>
              <a:xfrm>
                <a:off x="8114203" y="1779678"/>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105" name="textruta 104"/>
              <p:cNvSpPr txBox="1"/>
              <p:nvPr/>
            </p:nvSpPr>
            <p:spPr>
              <a:xfrm>
                <a:off x="8157168" y="1827965"/>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106" name="textruta 105"/>
              <p:cNvSpPr txBox="1"/>
              <p:nvPr/>
            </p:nvSpPr>
            <p:spPr>
              <a:xfrm>
                <a:off x="8200134" y="1876252"/>
                <a:ext cx="304365" cy="276999"/>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sz="1200" dirty="0"/>
                  <a:t>O</a:t>
                </a:r>
              </a:p>
            </p:txBody>
          </p:sp>
        </p:grpSp>
        <p:grpSp>
          <p:nvGrpSpPr>
            <p:cNvPr id="8" name="Grupp 7"/>
            <p:cNvGrpSpPr/>
            <p:nvPr/>
          </p:nvGrpSpPr>
          <p:grpSpPr>
            <a:xfrm>
              <a:off x="2515008" y="3440660"/>
              <a:ext cx="3462636" cy="2199986"/>
              <a:chOff x="2515008" y="3440660"/>
              <a:chExt cx="3462636" cy="2199986"/>
            </a:xfrm>
          </p:grpSpPr>
          <p:sp>
            <p:nvSpPr>
              <p:cNvPr id="135" name="textruta 134"/>
              <p:cNvSpPr txBox="1"/>
              <p:nvPr/>
            </p:nvSpPr>
            <p:spPr>
              <a:xfrm>
                <a:off x="5646587" y="3528715"/>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a:t>4</a:t>
                </a:r>
              </a:p>
            </p:txBody>
          </p:sp>
          <p:cxnSp>
            <p:nvCxnSpPr>
              <p:cNvPr id="136" name="Rak 135"/>
              <p:cNvCxnSpPr>
                <a:endCxn id="135" idx="0"/>
              </p:cNvCxnSpPr>
              <p:nvPr/>
            </p:nvCxnSpPr>
            <p:spPr bwMode="auto">
              <a:xfrm>
                <a:off x="5800015" y="3440660"/>
                <a:ext cx="12101" cy="8805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Kurva 108"/>
              <p:cNvCxnSpPr>
                <a:stCxn id="61" idx="3"/>
                <a:endCxn id="135" idx="1"/>
              </p:cNvCxnSpPr>
              <p:nvPr/>
            </p:nvCxnSpPr>
            <p:spPr bwMode="auto">
              <a:xfrm flipV="1">
                <a:off x="2515008" y="3659520"/>
                <a:ext cx="3131579" cy="1981126"/>
              </a:xfrm>
              <a:prstGeom prst="curvedConnector3">
                <a:avLst>
                  <a:gd name="adj1" fmla="val 50000"/>
                </a:avLst>
              </a:prstGeom>
              <a:noFill/>
              <a:ln w="19050" cap="flat" cmpd="sng" algn="ctr">
                <a:solidFill>
                  <a:srgbClr val="3366FF"/>
                </a:solidFill>
                <a:prstDash val="dash"/>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1" name="Grupp 10"/>
          <p:cNvGrpSpPr/>
          <p:nvPr/>
        </p:nvGrpSpPr>
        <p:grpSpPr>
          <a:xfrm>
            <a:off x="2515180" y="4016235"/>
            <a:ext cx="4754397" cy="2004357"/>
            <a:chOff x="2515180" y="4016235"/>
            <a:chExt cx="4754397" cy="2004357"/>
          </a:xfrm>
        </p:grpSpPr>
        <p:grpSp>
          <p:nvGrpSpPr>
            <p:cNvPr id="86" name="Grupp 85"/>
            <p:cNvGrpSpPr/>
            <p:nvPr/>
          </p:nvGrpSpPr>
          <p:grpSpPr>
            <a:xfrm>
              <a:off x="5583537" y="4016235"/>
              <a:ext cx="492711" cy="479931"/>
              <a:chOff x="8068439" y="1723198"/>
              <a:chExt cx="492711" cy="479931"/>
            </a:xfrm>
          </p:grpSpPr>
          <p:sp>
            <p:nvSpPr>
              <p:cNvPr id="87" name="textruta 86"/>
              <p:cNvSpPr txBox="1"/>
              <p:nvPr/>
            </p:nvSpPr>
            <p:spPr>
              <a:xfrm>
                <a:off x="8068439" y="1723198"/>
                <a:ext cx="492711" cy="479931"/>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sv-SE" sz="1200" dirty="0" smtClean="0"/>
              </a:p>
            </p:txBody>
          </p:sp>
          <p:sp>
            <p:nvSpPr>
              <p:cNvPr id="88" name="textruta 87"/>
              <p:cNvSpPr txBox="1"/>
              <p:nvPr/>
            </p:nvSpPr>
            <p:spPr>
              <a:xfrm>
                <a:off x="8114203" y="1779678"/>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89" name="textruta 88"/>
              <p:cNvSpPr txBox="1"/>
              <p:nvPr/>
            </p:nvSpPr>
            <p:spPr>
              <a:xfrm>
                <a:off x="8157168" y="1827965"/>
                <a:ext cx="304365" cy="276999"/>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sv-SE" sz="1200" dirty="0" smtClean="0"/>
                  <a:t>O</a:t>
                </a:r>
              </a:p>
            </p:txBody>
          </p:sp>
          <p:sp>
            <p:nvSpPr>
              <p:cNvPr id="98" name="textruta 97"/>
              <p:cNvSpPr txBox="1"/>
              <p:nvPr/>
            </p:nvSpPr>
            <p:spPr>
              <a:xfrm>
                <a:off x="8200134" y="1876252"/>
                <a:ext cx="304365" cy="276999"/>
              </a:xfrm>
              <a:prstGeom prst="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sv-SE"/>
                </a:defPPr>
                <a:lvl1pPr>
                  <a:defRPr sz="1400"/>
                </a:lvl1pPr>
              </a:lstStyle>
              <a:p>
                <a:r>
                  <a:rPr lang="sv-SE" sz="1200" dirty="0"/>
                  <a:t>O</a:t>
                </a:r>
              </a:p>
            </p:txBody>
          </p:sp>
        </p:grpSp>
        <p:sp>
          <p:nvSpPr>
            <p:cNvPr id="101" name="textruta 100"/>
            <p:cNvSpPr txBox="1"/>
            <p:nvPr/>
          </p:nvSpPr>
          <p:spPr>
            <a:xfrm>
              <a:off x="6091500" y="4121002"/>
              <a:ext cx="1178077" cy="276999"/>
            </a:xfrm>
            <a:prstGeom prst="rect">
              <a:avLst/>
            </a:prstGeom>
            <a:noFill/>
          </p:spPr>
          <p:txBody>
            <a:bodyPr wrap="none" rtlCol="0">
              <a:spAutoFit/>
            </a:bodyPr>
            <a:lstStyle/>
            <a:p>
              <a:r>
                <a:rPr lang="sv-SE" sz="1200" dirty="0" smtClean="0"/>
                <a:t>Valium (utsatt)</a:t>
              </a:r>
              <a:endParaRPr lang="sv-SE" sz="1200" dirty="0"/>
            </a:p>
          </p:txBody>
        </p:sp>
        <p:cxnSp>
          <p:nvCxnSpPr>
            <p:cNvPr id="110" name="Kurva 109"/>
            <p:cNvCxnSpPr>
              <a:stCxn id="57" idx="3"/>
              <a:endCxn id="87" idx="1"/>
            </p:cNvCxnSpPr>
            <p:nvPr/>
          </p:nvCxnSpPr>
          <p:spPr bwMode="auto">
            <a:xfrm flipV="1">
              <a:off x="2515180" y="4256201"/>
              <a:ext cx="3068357" cy="1764391"/>
            </a:xfrm>
            <a:prstGeom prst="curvedConnector3">
              <a:avLst>
                <a:gd name="adj1" fmla="val 50000"/>
              </a:avLst>
            </a:prstGeom>
            <a:noFill/>
            <a:ln w="19050" cap="flat" cmpd="sng" algn="ctr">
              <a:solidFill>
                <a:srgbClr val="3366FF"/>
              </a:solidFill>
              <a:prstDash val="dash"/>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textruta 112"/>
            <p:cNvSpPr txBox="1"/>
            <p:nvPr/>
          </p:nvSpPr>
          <p:spPr>
            <a:xfrm>
              <a:off x="5688540" y="4587187"/>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a:t>5</a:t>
              </a:r>
              <a:endParaRPr lang="sv-SE" sz="1100" baseline="-25000" dirty="0" smtClean="0"/>
            </a:p>
          </p:txBody>
        </p:sp>
        <p:cxnSp>
          <p:nvCxnSpPr>
            <p:cNvPr id="114" name="Rak 113"/>
            <p:cNvCxnSpPr>
              <a:stCxn id="87" idx="2"/>
              <a:endCxn id="113" idx="0"/>
            </p:cNvCxnSpPr>
            <p:nvPr/>
          </p:nvCxnSpPr>
          <p:spPr bwMode="auto">
            <a:xfrm>
              <a:off x="5829893" y="4496166"/>
              <a:ext cx="24176" cy="9102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5" name="textruta 114"/>
          <p:cNvSpPr txBox="1"/>
          <p:nvPr/>
        </p:nvSpPr>
        <p:spPr>
          <a:xfrm>
            <a:off x="2184123" y="6287337"/>
            <a:ext cx="331057"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sv-SE" sz="1100" dirty="0" smtClean="0"/>
              <a:t>E</a:t>
            </a:r>
            <a:r>
              <a:rPr lang="sv-SE" sz="1100" baseline="-25000" dirty="0" smtClean="0"/>
              <a:t>6</a:t>
            </a:r>
          </a:p>
        </p:txBody>
      </p:sp>
      <p:sp>
        <p:nvSpPr>
          <p:cNvPr id="116" name="textruta 115"/>
          <p:cNvSpPr txBox="1"/>
          <p:nvPr/>
        </p:nvSpPr>
        <p:spPr>
          <a:xfrm>
            <a:off x="2534145" y="6271948"/>
            <a:ext cx="698028" cy="276999"/>
          </a:xfrm>
          <a:prstGeom prst="rect">
            <a:avLst/>
          </a:prstGeom>
          <a:noFill/>
        </p:spPr>
        <p:txBody>
          <a:bodyPr wrap="none" rtlCol="0">
            <a:spAutoFit/>
          </a:bodyPr>
          <a:lstStyle/>
          <a:p>
            <a:r>
              <a:rPr lang="sv-SE" sz="1200" dirty="0" err="1" smtClean="0"/>
              <a:t>Panodil</a:t>
            </a:r>
            <a:endParaRPr lang="sv-SE" sz="1200" dirty="0"/>
          </a:p>
        </p:txBody>
      </p:sp>
      <p:sp>
        <p:nvSpPr>
          <p:cNvPr id="117" name="textruta 116"/>
          <p:cNvSpPr txBox="1"/>
          <p:nvPr/>
        </p:nvSpPr>
        <p:spPr>
          <a:xfrm>
            <a:off x="3780660" y="6288445"/>
            <a:ext cx="3012213" cy="276999"/>
          </a:xfrm>
          <a:prstGeom prst="rect">
            <a:avLst/>
          </a:prstGeom>
          <a:noFill/>
        </p:spPr>
        <p:txBody>
          <a:bodyPr wrap="none" rtlCol="0">
            <a:spAutoFit/>
          </a:bodyPr>
          <a:lstStyle/>
          <a:p>
            <a:r>
              <a:rPr lang="sv-SE" sz="1200" dirty="0" smtClean="0">
                <a:sym typeface="Wingdings"/>
              </a:rPr>
              <a:t> Skrevs ut felaktigt, makuleras via NOD </a:t>
            </a:r>
            <a:endParaRPr lang="sv-SE" sz="1200" dirty="0"/>
          </a:p>
        </p:txBody>
      </p:sp>
      <p:sp>
        <p:nvSpPr>
          <p:cNvPr id="12" name="textruta 11"/>
          <p:cNvSpPr txBox="1"/>
          <p:nvPr/>
        </p:nvSpPr>
        <p:spPr>
          <a:xfrm>
            <a:off x="2303754" y="6294280"/>
            <a:ext cx="466888" cy="400110"/>
          </a:xfrm>
          <a:prstGeom prst="rect">
            <a:avLst/>
          </a:prstGeom>
          <a:noFill/>
        </p:spPr>
        <p:txBody>
          <a:bodyPr wrap="square" rtlCol="0">
            <a:spAutoFit/>
          </a:bodyPr>
          <a:lstStyle/>
          <a:p>
            <a:r>
              <a:rPr lang="sv-SE" sz="2000" dirty="0" smtClean="0">
                <a:solidFill>
                  <a:schemeClr val="bg1">
                    <a:lumMod val="50000"/>
                  </a:schemeClr>
                </a:solidFill>
              </a:rPr>
              <a:t>X</a:t>
            </a:r>
            <a:endParaRPr lang="sv-SE" sz="2000" dirty="0">
              <a:solidFill>
                <a:schemeClr val="bg1">
                  <a:lumMod val="50000"/>
                </a:schemeClr>
              </a:solidFill>
            </a:endParaRPr>
          </a:p>
        </p:txBody>
      </p:sp>
      <p:sp>
        <p:nvSpPr>
          <p:cNvPr id="111" name="textruta 110"/>
          <p:cNvSpPr txBox="1"/>
          <p:nvPr/>
        </p:nvSpPr>
        <p:spPr>
          <a:xfrm>
            <a:off x="7386577" y="2497084"/>
            <a:ext cx="1422400" cy="307777"/>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sv-SE" sz="1400" b="1" i="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sym typeface="Wingdings"/>
              </a:rPr>
              <a:t> </a:t>
            </a:r>
            <a:r>
              <a:rPr lang="sv-SE" sz="1400" b="1" i="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Nytt i v2</a:t>
            </a:r>
            <a:endParaRPr lang="sv-SE" sz="1400" b="1" i="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112" name="textruta 111"/>
          <p:cNvSpPr txBox="1"/>
          <p:nvPr/>
        </p:nvSpPr>
        <p:spPr>
          <a:xfrm>
            <a:off x="436033" y="6262621"/>
            <a:ext cx="1422400" cy="307777"/>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sv-SE" sz="1400" b="1" i="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Nytt i v2 </a:t>
            </a:r>
            <a:r>
              <a:rPr lang="sv-SE" sz="1400" b="1" i="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sym typeface="Wingdings"/>
              </a:rPr>
              <a:t></a:t>
            </a:r>
            <a:endParaRPr lang="sv-SE" sz="1400" b="1" i="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118" name="textruta 117"/>
          <p:cNvSpPr txBox="1"/>
          <p:nvPr/>
        </p:nvSpPr>
        <p:spPr>
          <a:xfrm>
            <a:off x="5797300" y="4602052"/>
            <a:ext cx="466888" cy="400110"/>
          </a:xfrm>
          <a:prstGeom prst="rect">
            <a:avLst/>
          </a:prstGeom>
          <a:noFill/>
        </p:spPr>
        <p:txBody>
          <a:bodyPr wrap="square" rtlCol="0">
            <a:spAutoFit/>
          </a:bodyPr>
          <a:lstStyle/>
          <a:p>
            <a:r>
              <a:rPr lang="sv-SE" sz="2000" dirty="0" smtClean="0">
                <a:solidFill>
                  <a:schemeClr val="bg1">
                    <a:lumMod val="50000"/>
                  </a:schemeClr>
                </a:solidFill>
              </a:rPr>
              <a:t>X</a:t>
            </a:r>
            <a:endParaRPr lang="sv-SE" sz="2000" dirty="0">
              <a:solidFill>
                <a:schemeClr val="bg1">
                  <a:lumMod val="50000"/>
                </a:schemeClr>
              </a:solidFill>
            </a:endParaRPr>
          </a:p>
        </p:txBody>
      </p:sp>
    </p:spTree>
    <p:extLst>
      <p:ext uri="{BB962C8B-B14F-4D97-AF65-F5344CB8AC3E}">
        <p14:creationId xmlns:p14="http://schemas.microsoft.com/office/powerpoint/2010/main" val="313469111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40"/>
                                        </p:tgtEl>
                                        <p:attrNameLst>
                                          <p:attrName>style.visibility</p:attrName>
                                        </p:attrNameLst>
                                      </p:cBhvr>
                                      <p:to>
                                        <p:strVal val="visible"/>
                                      </p:to>
                                    </p:set>
                                    <p:anim calcmode="lin" valueType="num">
                                      <p:cBhvr additive="base">
                                        <p:cTn id="11" dur="500" fill="hold"/>
                                        <p:tgtEl>
                                          <p:spTgt spid="140"/>
                                        </p:tgtEl>
                                        <p:attrNameLst>
                                          <p:attrName>ppt_x</p:attrName>
                                        </p:attrNameLst>
                                      </p:cBhvr>
                                      <p:tavLst>
                                        <p:tav tm="0">
                                          <p:val>
                                            <p:strVal val="1+#ppt_w/2"/>
                                          </p:val>
                                        </p:tav>
                                        <p:tav tm="100000">
                                          <p:val>
                                            <p:strVal val="#ppt_x"/>
                                          </p:val>
                                        </p:tav>
                                      </p:tavLst>
                                    </p:anim>
                                    <p:anim calcmode="lin" valueType="num">
                                      <p:cBhvr additive="base">
                                        <p:cTn id="12" dur="500" fill="hold"/>
                                        <p:tgtEl>
                                          <p:spTgt spid="14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par>
                          <p:cTn id="18" fill="hold">
                            <p:stCondLst>
                              <p:cond delay="500"/>
                            </p:stCondLst>
                            <p:childTnLst>
                              <p:par>
                                <p:cTn id="19" presetID="3" presetClass="entr" presetSubtype="10" fill="hold" grpId="1" nodeType="afterEffect">
                                  <p:stCondLst>
                                    <p:cond delay="0"/>
                                  </p:stCondLst>
                                  <p:childTnLst>
                                    <p:set>
                                      <p:cBhvr>
                                        <p:cTn id="20" dur="1" fill="hold">
                                          <p:stCondLst>
                                            <p:cond delay="0"/>
                                          </p:stCondLst>
                                        </p:cTn>
                                        <p:tgtEl>
                                          <p:spTgt spid="111"/>
                                        </p:tgtEl>
                                        <p:attrNameLst>
                                          <p:attrName>style.visibility</p:attrName>
                                        </p:attrNameLst>
                                      </p:cBhvr>
                                      <p:to>
                                        <p:strVal val="visible"/>
                                      </p:to>
                                    </p:set>
                                    <p:animEffect transition="in" filter="blinds(horizontal)">
                                      <p:cBhvr>
                                        <p:cTn id="21" dur="500"/>
                                        <p:tgtEl>
                                          <p:spTgt spid="111"/>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43"/>
                                        </p:tgtEl>
                                        <p:attrNameLst>
                                          <p:attrName>style.visibility</p:attrName>
                                        </p:attrNameLst>
                                      </p:cBhvr>
                                      <p:to>
                                        <p:strVal val="visible"/>
                                      </p:to>
                                    </p:set>
                                    <p:anim calcmode="lin" valueType="num">
                                      <p:cBhvr additive="base">
                                        <p:cTn id="26" dur="500" fill="hold"/>
                                        <p:tgtEl>
                                          <p:spTgt spid="143"/>
                                        </p:tgtEl>
                                        <p:attrNameLst>
                                          <p:attrName>ppt_x</p:attrName>
                                        </p:attrNameLst>
                                      </p:cBhvr>
                                      <p:tavLst>
                                        <p:tav tm="0">
                                          <p:val>
                                            <p:strVal val="1+#ppt_w/2"/>
                                          </p:val>
                                        </p:tav>
                                        <p:tav tm="100000">
                                          <p:val>
                                            <p:strVal val="#ppt_x"/>
                                          </p:val>
                                        </p:tav>
                                      </p:tavLst>
                                    </p:anim>
                                    <p:anim calcmode="lin" valueType="num">
                                      <p:cBhvr additive="base">
                                        <p:cTn id="27" dur="500" fill="hold"/>
                                        <p:tgtEl>
                                          <p:spTgt spid="14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42"/>
                                        </p:tgtEl>
                                        <p:attrNameLst>
                                          <p:attrName>style.visibility</p:attrName>
                                        </p:attrNameLst>
                                      </p:cBhvr>
                                      <p:to>
                                        <p:strVal val="visible"/>
                                      </p:to>
                                    </p:set>
                                    <p:anim calcmode="lin" valueType="num">
                                      <p:cBhvr additive="base">
                                        <p:cTn id="37" dur="500" fill="hold"/>
                                        <p:tgtEl>
                                          <p:spTgt spid="142"/>
                                        </p:tgtEl>
                                        <p:attrNameLst>
                                          <p:attrName>ppt_x</p:attrName>
                                        </p:attrNameLst>
                                      </p:cBhvr>
                                      <p:tavLst>
                                        <p:tav tm="0">
                                          <p:val>
                                            <p:strVal val="1+#ppt_w/2"/>
                                          </p:val>
                                        </p:tav>
                                        <p:tav tm="100000">
                                          <p:val>
                                            <p:strVal val="#ppt_x"/>
                                          </p:val>
                                        </p:tav>
                                      </p:tavLst>
                                    </p:anim>
                                    <p:anim calcmode="lin" valueType="num">
                                      <p:cBhvr additive="base">
                                        <p:cTn id="38" dur="500" fill="hold"/>
                                        <p:tgtEl>
                                          <p:spTgt spid="14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500"/>
                                        <p:tgtEl>
                                          <p:spTgt spid="11"/>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animEffect transition="in" filter="dissolve">
                                      <p:cBhvr>
                                        <p:cTn id="46" dur="500"/>
                                        <p:tgtEl>
                                          <p:spTgt spid="118"/>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117"/>
                                        </p:tgtEl>
                                        <p:attrNameLst>
                                          <p:attrName>style.visibility</p:attrName>
                                        </p:attrNameLst>
                                      </p:cBhvr>
                                      <p:to>
                                        <p:strVal val="visible"/>
                                      </p:to>
                                    </p:set>
                                    <p:anim calcmode="lin" valueType="num">
                                      <p:cBhvr additive="base">
                                        <p:cTn id="51" dur="500" fill="hold"/>
                                        <p:tgtEl>
                                          <p:spTgt spid="117"/>
                                        </p:tgtEl>
                                        <p:attrNameLst>
                                          <p:attrName>ppt_x</p:attrName>
                                        </p:attrNameLst>
                                      </p:cBhvr>
                                      <p:tavLst>
                                        <p:tav tm="0">
                                          <p:val>
                                            <p:strVal val="1+#ppt_w/2"/>
                                          </p:val>
                                        </p:tav>
                                        <p:tav tm="100000">
                                          <p:val>
                                            <p:strVal val="#ppt_x"/>
                                          </p:val>
                                        </p:tav>
                                      </p:tavLst>
                                    </p:anim>
                                    <p:anim calcmode="lin" valueType="num">
                                      <p:cBhvr additive="base">
                                        <p:cTn id="52" dur="500" fill="hold"/>
                                        <p:tgtEl>
                                          <p:spTgt spid="117"/>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dissolve">
                                      <p:cBhvr>
                                        <p:cTn id="57" dur="500"/>
                                        <p:tgtEl>
                                          <p:spTgt spid="12"/>
                                        </p:tgtEl>
                                      </p:cBhvr>
                                    </p:animEffect>
                                  </p:childTnLst>
                                </p:cTn>
                              </p:par>
                            </p:childTnLst>
                          </p:cTn>
                        </p:par>
                        <p:par>
                          <p:cTn id="58" fill="hold">
                            <p:stCondLst>
                              <p:cond delay="500"/>
                            </p:stCondLst>
                            <p:childTnLst>
                              <p:par>
                                <p:cTn id="59" presetID="3" presetClass="entr" presetSubtype="10" fill="hold" grpId="1" nodeType="afterEffect">
                                  <p:stCondLst>
                                    <p:cond delay="0"/>
                                  </p:stCondLst>
                                  <p:childTnLst>
                                    <p:set>
                                      <p:cBhvr>
                                        <p:cTn id="60" dur="1" fill="hold">
                                          <p:stCondLst>
                                            <p:cond delay="0"/>
                                          </p:stCondLst>
                                        </p:cTn>
                                        <p:tgtEl>
                                          <p:spTgt spid="112"/>
                                        </p:tgtEl>
                                        <p:attrNameLst>
                                          <p:attrName>style.visibility</p:attrName>
                                        </p:attrNameLst>
                                      </p:cBhvr>
                                      <p:to>
                                        <p:strVal val="visible"/>
                                      </p:to>
                                    </p:set>
                                    <p:animEffect transition="in" filter="blinds(horizontal)">
                                      <p:cBhvr>
                                        <p:cTn id="6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P spid="142" grpId="0"/>
      <p:bldP spid="143" grpId="0"/>
      <p:bldP spid="117" grpId="0"/>
      <p:bldP spid="12" grpId="0"/>
      <p:bldP spid="111" grpId="1"/>
      <p:bldP spid="112" grpId="1"/>
      <p:bldP spid="1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46475" y="340273"/>
            <a:ext cx="4766457" cy="692150"/>
          </a:xfrm>
        </p:spPr>
        <p:txBody>
          <a:bodyPr/>
          <a:lstStyle/>
          <a:p>
            <a:r>
              <a:rPr lang="sv-SE" sz="1600" i="1" dirty="0"/>
              <a:t>Stödtjänster </a:t>
            </a:r>
            <a:br>
              <a:rPr lang="sv-SE" sz="1600" i="1" dirty="0"/>
            </a:br>
            <a:r>
              <a:rPr lang="sv-SE" sz="1600" i="1" dirty="0"/>
              <a:t>för att signalera </a:t>
            </a:r>
            <a:r>
              <a:rPr lang="sv-SE" sz="1600" i="1" dirty="0" smtClean="0"/>
              <a:t>status </a:t>
            </a:r>
            <a:r>
              <a:rPr lang="sv-SE" sz="1600" i="1" dirty="0"/>
              <a:t>för patientens läkemedelslista i NOD</a:t>
            </a:r>
            <a:endParaRPr lang="sv-SE" sz="1600" dirty="0"/>
          </a:p>
        </p:txBody>
      </p:sp>
      <p:graphicFrame>
        <p:nvGraphicFramePr>
          <p:cNvPr id="5" name="Platshållare för innehåll 4"/>
          <p:cNvGraphicFramePr>
            <a:graphicFrameLocks noGrp="1"/>
          </p:cNvGraphicFramePr>
          <p:nvPr>
            <p:ph idx="1"/>
            <p:extLst>
              <p:ext uri="{D42A27DB-BD31-4B8C-83A1-F6EECF244321}">
                <p14:modId xmlns:p14="http://schemas.microsoft.com/office/powerpoint/2010/main" val="2985782239"/>
              </p:ext>
            </p:extLst>
          </p:nvPr>
        </p:nvGraphicFramePr>
        <p:xfrm>
          <a:off x="796142" y="1608664"/>
          <a:ext cx="6309894" cy="1126412"/>
        </p:xfrm>
        <a:graphic>
          <a:graphicData uri="http://schemas.openxmlformats.org/drawingml/2006/table">
            <a:tbl>
              <a:tblPr firstRow="1" bandRow="1">
                <a:tableStyleId>{BDBED569-4797-4DF1-A0F4-6AAB3CD982D8}</a:tableStyleId>
              </a:tblPr>
              <a:tblGrid>
                <a:gridCol w="2934368"/>
                <a:gridCol w="3375526"/>
              </a:tblGrid>
              <a:tr h="3346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sv-SE" sz="1200" b="1"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sv-SE" sz="1200" kern="1200" dirty="0">
                        <a:solidFill>
                          <a:schemeClr val="tx1"/>
                        </a:solidFill>
                        <a:latin typeface="Cambria"/>
                        <a:ea typeface="+mn-ea"/>
                        <a:cs typeface="Cambria"/>
                      </a:endParaRPr>
                    </a:p>
                  </a:txBody>
                  <a:tcPr/>
                </a:tc>
              </a:tr>
              <a:tr h="3686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kern="1200" dirty="0" smtClean="0">
                          <a:solidFill>
                            <a:schemeClr val="tx1"/>
                          </a:solidFill>
                          <a:latin typeface="Courier New"/>
                          <a:ea typeface="+mn-ea"/>
                          <a:cs typeface="Courier New"/>
                        </a:rPr>
                        <a:t>SetMedicationListReviewNeeded</a:t>
                      </a:r>
                      <a:endParaRPr lang="sv-SE" sz="1200" b="1"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ambria"/>
                          <a:ea typeface="+mn-ea"/>
                          <a:cs typeface="Cambria"/>
                        </a:rPr>
                        <a:t>Markerar</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att</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läkemedelslistan</a:t>
                      </a:r>
                      <a:r>
                        <a:rPr lang="sv-SE" sz="1200" dirty="0" smtClean="0">
                          <a:solidFill>
                            <a:prstClr val="black"/>
                          </a:solidFill>
                          <a:latin typeface="Cambria"/>
                          <a:cs typeface="Cambria"/>
                        </a:rPr>
                        <a:t> i </a:t>
                      </a:r>
                      <a:r>
                        <a:rPr lang="sv-SE" sz="1200" kern="1200" dirty="0" smtClean="0">
                          <a:solidFill>
                            <a:schemeClr val="tx1"/>
                          </a:solidFill>
                          <a:latin typeface="Cambria"/>
                          <a:ea typeface="+mn-ea"/>
                          <a:cs typeface="Cambria"/>
                        </a:rPr>
                        <a:t>NOD</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inte</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kan</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betraktas</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som</a:t>
                      </a:r>
                      <a:r>
                        <a:rPr lang="sv-SE" sz="1200" dirty="0" smtClean="0">
                          <a:solidFill>
                            <a:prstClr val="black"/>
                          </a:solidFill>
                          <a:latin typeface="Cambria"/>
                          <a:cs typeface="Cambria"/>
                        </a:rPr>
                        <a:t> </a:t>
                      </a:r>
                      <a:r>
                        <a:rPr lang="sv-SE" sz="1200" kern="1200" dirty="0" smtClean="0">
                          <a:solidFill>
                            <a:schemeClr val="tx1"/>
                          </a:solidFill>
                          <a:latin typeface="Cambria"/>
                          <a:ea typeface="+mn-ea"/>
                          <a:cs typeface="Cambria"/>
                        </a:rPr>
                        <a:t>avstämd</a:t>
                      </a:r>
                      <a:r>
                        <a:rPr lang="sv-SE" sz="1200" dirty="0" smtClean="0">
                          <a:solidFill>
                            <a:prstClr val="black"/>
                          </a:solidFill>
                          <a:latin typeface="Cambria"/>
                          <a:cs typeface="Cambria"/>
                        </a:rPr>
                        <a:t>.</a:t>
                      </a:r>
                      <a:endParaRPr lang="sv-SE" sz="1200" kern="1200" dirty="0">
                        <a:solidFill>
                          <a:schemeClr val="tx1"/>
                        </a:solidFill>
                        <a:latin typeface="Cambria"/>
                        <a:ea typeface="+mn-ea"/>
                        <a:cs typeface="Cambria"/>
                      </a:endParaRPr>
                    </a:p>
                  </a:txBody>
                  <a:tcPr/>
                </a:tc>
              </a:tr>
              <a:tr h="3346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b="1" kern="1200" dirty="0" smtClean="0">
                          <a:solidFill>
                            <a:schemeClr val="tx1"/>
                          </a:solidFill>
                          <a:latin typeface="Courier New"/>
                          <a:ea typeface="+mn-ea"/>
                          <a:cs typeface="Courier New"/>
                        </a:rPr>
                        <a:t>SetMedicationListReviewed</a:t>
                      </a:r>
                      <a:endParaRPr lang="sv-SE" sz="1200" b="1" kern="1200" dirty="0">
                        <a:solidFill>
                          <a:schemeClr val="tx1"/>
                        </a:solidFill>
                        <a:latin typeface="Courier New"/>
                        <a:ea typeface="+mn-ea"/>
                        <a:cs typeface="Courier New"/>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ambria"/>
                          <a:ea typeface="+mn-ea"/>
                          <a:cs typeface="Cambria"/>
                        </a:rPr>
                        <a:t>Markerar läkemedelslistan i NOD som avstämd</a:t>
                      </a:r>
                      <a:endParaRPr lang="sv-SE" sz="1200" kern="1200" dirty="0">
                        <a:solidFill>
                          <a:schemeClr val="tx1"/>
                        </a:solidFill>
                        <a:latin typeface="Cambria"/>
                        <a:ea typeface="+mn-ea"/>
                        <a:cs typeface="Cambria"/>
                      </a:endParaRPr>
                    </a:p>
                  </a:txBody>
                  <a:tcPr/>
                </a:tc>
              </a:tr>
            </a:tbl>
          </a:graphicData>
        </a:graphic>
      </p:graphicFrame>
      <p:sp>
        <p:nvSpPr>
          <p:cNvPr id="4" name="Platshållare för bildnummer 3"/>
          <p:cNvSpPr>
            <a:spLocks noGrp="1"/>
          </p:cNvSpPr>
          <p:nvPr>
            <p:ph type="sldNum" sz="quarter" idx="10"/>
          </p:nvPr>
        </p:nvSpPr>
        <p:spPr/>
        <p:txBody>
          <a:bodyPr/>
          <a:lstStyle/>
          <a:p>
            <a:fld id="{4F4A6512-6F32-47C0-A1DC-EECCB630EF99}" type="slidenum">
              <a:rPr lang="sv-SE" smtClean="0">
                <a:latin typeface="Arial"/>
              </a:rPr>
              <a:pPr/>
              <a:t>32</a:t>
            </a:fld>
            <a:endParaRPr lang="sv-SE">
              <a:latin typeface="Arial"/>
            </a:endParaRPr>
          </a:p>
        </p:txBody>
      </p:sp>
      <p:sp>
        <p:nvSpPr>
          <p:cNvPr id="7" name="textruta 6"/>
          <p:cNvSpPr txBox="1"/>
          <p:nvPr/>
        </p:nvSpPr>
        <p:spPr>
          <a:xfrm>
            <a:off x="796142" y="2971800"/>
            <a:ext cx="6984725" cy="3231653"/>
          </a:xfrm>
          <a:prstGeom prst="rect">
            <a:avLst/>
          </a:prstGeom>
          <a:noFill/>
        </p:spPr>
        <p:txBody>
          <a:bodyPr wrap="square" rtlCol="0">
            <a:spAutoFit/>
          </a:bodyPr>
          <a:lstStyle/>
          <a:p>
            <a:r>
              <a:rPr lang="sv-SE" sz="1200" dirty="0" smtClean="0"/>
              <a:t>Grundregler</a:t>
            </a:r>
            <a:br>
              <a:rPr lang="sv-SE" sz="1200" dirty="0" smtClean="0"/>
            </a:br>
            <a:endParaRPr lang="sv-SE" sz="1200" dirty="0" smtClean="0"/>
          </a:p>
          <a:p>
            <a:pPr marL="171450" indent="-171450">
              <a:buFont typeface="Arial"/>
              <a:buChar char="•"/>
            </a:pPr>
            <a:r>
              <a:rPr lang="sv-SE" sz="1200" dirty="0" smtClean="0"/>
              <a:t>Läkemedelslistan i NOD är </a:t>
            </a:r>
            <a:r>
              <a:rPr lang="sv-SE" sz="1200" b="1" u="sng" dirty="0" smtClean="0"/>
              <a:t>inte</a:t>
            </a:r>
            <a:r>
              <a:rPr lang="sv-SE" sz="1200" dirty="0" smtClean="0"/>
              <a:t> låst för uppdateringar om den är markerad </a:t>
            </a:r>
            <a:r>
              <a:rPr lang="sv-SE" sz="1200" dirty="0" smtClean="0">
                <a:latin typeface="Courier New"/>
                <a:cs typeface="Courier New"/>
              </a:rPr>
              <a:t>ReviewNeeded</a:t>
            </a:r>
            <a:r>
              <a:rPr lang="sv-SE" sz="1200" dirty="0" smtClean="0"/>
              <a:t/>
            </a:r>
            <a:br>
              <a:rPr lang="sv-SE" sz="1200" dirty="0" smtClean="0"/>
            </a:br>
            <a:r>
              <a:rPr lang="sv-SE" sz="1200" dirty="0" smtClean="0"/>
              <a:t>Alla som uppdaterar NOD får dock tillgång till information om någon vårdenhet har signalerat detta, t.ex. för att patienten är inlagd och dennes medicinering hanteras av vårdenheten som nu ansvarar för patienten.</a:t>
            </a:r>
          </a:p>
          <a:p>
            <a:pPr marL="171450" indent="-171450">
              <a:buFont typeface="Arial"/>
              <a:buChar char="•"/>
            </a:pPr>
            <a:endParaRPr lang="sv-SE" sz="1200" dirty="0" smtClean="0"/>
          </a:p>
          <a:p>
            <a:pPr marL="171450" indent="-171450">
              <a:buFont typeface="Arial"/>
              <a:buChar char="•"/>
            </a:pPr>
            <a:r>
              <a:rPr lang="sv-SE" sz="1200" dirty="0" smtClean="0"/>
              <a:t>Det måste </a:t>
            </a:r>
            <a:r>
              <a:rPr lang="sv-SE" sz="1200" b="1" u="sng" dirty="0" smtClean="0"/>
              <a:t>inte</a:t>
            </a:r>
            <a:r>
              <a:rPr lang="sv-SE" sz="1200" dirty="0" smtClean="0"/>
              <a:t> vara samma person/organisation som markerar listan </a:t>
            </a:r>
            <a:r>
              <a:rPr lang="sv-SE" sz="1200" dirty="0" smtClean="0">
                <a:latin typeface="Courier New"/>
                <a:cs typeface="Courier New"/>
              </a:rPr>
              <a:t>Reviewed</a:t>
            </a:r>
            <a:r>
              <a:rPr lang="sv-SE" sz="1200" dirty="0" smtClean="0"/>
              <a:t> som markerade </a:t>
            </a:r>
            <a:r>
              <a:rPr lang="sv-SE" sz="1200" dirty="0" smtClean="0">
                <a:latin typeface="Courier New"/>
                <a:cs typeface="Courier New"/>
              </a:rPr>
              <a:t>ReviewNeeded</a:t>
            </a:r>
            <a:r>
              <a:rPr lang="sv-SE" sz="1200" dirty="0" smtClean="0"/>
              <a:t/>
            </a:r>
            <a:br>
              <a:rPr lang="sv-SE" sz="1200" dirty="0" smtClean="0"/>
            </a:br>
            <a:endParaRPr lang="sv-SE" sz="1200" dirty="0" smtClean="0"/>
          </a:p>
          <a:p>
            <a:pPr marL="171450" indent="-171450">
              <a:buFont typeface="Arial"/>
              <a:buChar char="•"/>
            </a:pPr>
            <a:r>
              <a:rPr lang="sv-SE" sz="1200" dirty="0"/>
              <a:t>Listan kan markeras med </a:t>
            </a:r>
            <a:r>
              <a:rPr lang="sv-SE" sz="1200" dirty="0">
                <a:latin typeface="Courier New"/>
                <a:cs typeface="Courier New"/>
              </a:rPr>
              <a:t>Reviewed</a:t>
            </a:r>
            <a:r>
              <a:rPr lang="sv-SE" sz="1200" dirty="0"/>
              <a:t> även om ingen ändring i ordinationerna </a:t>
            </a:r>
            <a:r>
              <a:rPr lang="sv-SE" sz="1200" dirty="0" smtClean="0"/>
              <a:t>gjordes</a:t>
            </a:r>
            <a:br>
              <a:rPr lang="sv-SE" sz="1200" dirty="0" smtClean="0"/>
            </a:br>
            <a:endParaRPr lang="sv-SE" sz="1200" dirty="0"/>
          </a:p>
          <a:p>
            <a:pPr marL="171450" indent="-171450">
              <a:buFont typeface="Arial"/>
              <a:buChar char="•"/>
            </a:pPr>
            <a:r>
              <a:rPr lang="sv-SE" sz="1200" dirty="0" smtClean="0">
                <a:latin typeface="Courier New"/>
                <a:cs typeface="Courier New"/>
              </a:rPr>
              <a:t>Reviewed </a:t>
            </a:r>
            <a:r>
              <a:rPr lang="sv-SE" sz="1200" dirty="0" smtClean="0"/>
              <a:t>resp. </a:t>
            </a:r>
            <a:r>
              <a:rPr lang="sv-SE" sz="1200" dirty="0" smtClean="0">
                <a:latin typeface="Courier New"/>
                <a:cs typeface="Courier New"/>
              </a:rPr>
              <a:t>ReviewNeeded </a:t>
            </a:r>
            <a:r>
              <a:rPr lang="sv-SE" sz="1200" dirty="0" smtClean="0"/>
              <a:t>kan vid behov markeras upprepade gånger</a:t>
            </a:r>
          </a:p>
          <a:p>
            <a:endParaRPr lang="sv-SE" sz="1200" dirty="0"/>
          </a:p>
          <a:p>
            <a:r>
              <a:rPr lang="sv-SE" sz="1200" i="1" dirty="0" smtClean="0">
                <a:solidFill>
                  <a:srgbClr val="0000FF"/>
                </a:solidFill>
              </a:rPr>
              <a:t>Ytterligare gemensamma verksamhetsregler kring användande av markeringarna bör utarbetas. Ex. vid läkemedelsgenomgångar, in/utskrivning.</a:t>
            </a:r>
          </a:p>
          <a:p>
            <a:pPr marL="171450" indent="-171450">
              <a:buFont typeface="Arial"/>
              <a:buChar char="•"/>
            </a:pPr>
            <a:endParaRPr lang="sv-SE" sz="1200" dirty="0"/>
          </a:p>
        </p:txBody>
      </p:sp>
    </p:spTree>
    <p:extLst>
      <p:ext uri="{BB962C8B-B14F-4D97-AF65-F5344CB8AC3E}">
        <p14:creationId xmlns:p14="http://schemas.microsoft.com/office/powerpoint/2010/main" val="83413547"/>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40090" y="246966"/>
            <a:ext cx="5240075" cy="780381"/>
          </a:xfrm>
        </p:spPr>
        <p:txBody>
          <a:bodyPr/>
          <a:lstStyle/>
          <a:p>
            <a:r>
              <a:rPr lang="sv-SE" sz="1600" i="1" dirty="0" smtClean="0"/>
              <a:t>Stödtjänster </a:t>
            </a:r>
            <a:br>
              <a:rPr lang="sv-SE" sz="1600" i="1" dirty="0" smtClean="0"/>
            </a:br>
            <a:r>
              <a:rPr lang="sv-SE" sz="1600" i="1" dirty="0" smtClean="0"/>
              <a:t>för att signalera status för patientens läkemedelslista i NOD</a:t>
            </a:r>
            <a:endParaRPr lang="sv-SE" sz="1600" b="0" i="1" dirty="0"/>
          </a:p>
        </p:txBody>
      </p:sp>
      <p:sp>
        <p:nvSpPr>
          <p:cNvPr id="5" name="Rektangel med rundade hörn 4"/>
          <p:cNvSpPr/>
          <p:nvPr/>
        </p:nvSpPr>
        <p:spPr>
          <a:xfrm>
            <a:off x="4155183" y="3308433"/>
            <a:ext cx="848908" cy="798124"/>
          </a:xfrm>
          <a:prstGeom prst="roundRect">
            <a:avLst>
              <a:gd name="adj" fmla="val 8787"/>
            </a:avLst>
          </a:prstGeom>
          <a:ln>
            <a:tailEnd type="triangle" w="lg" len="lg"/>
          </a:ln>
        </p:spPr>
        <p:style>
          <a:lnRef idx="2">
            <a:schemeClr val="dk1"/>
          </a:lnRef>
          <a:fillRef idx="1">
            <a:schemeClr val="lt1"/>
          </a:fillRef>
          <a:effectRef idx="0">
            <a:schemeClr val="dk1"/>
          </a:effectRef>
          <a:fontRef idx="minor">
            <a:schemeClr val="dk1"/>
          </a:fontRef>
        </p:style>
        <p:txBody>
          <a:bodyPr lIns="36000" rIns="36000" anchor="ctr"/>
          <a:lstStyle/>
          <a:p>
            <a:pPr algn="ctr" defTabSz="914400" fontAlgn="base">
              <a:spcBef>
                <a:spcPct val="0"/>
              </a:spcBef>
              <a:spcAft>
                <a:spcPct val="0"/>
              </a:spcAft>
            </a:pPr>
            <a:r>
              <a:rPr lang="sv-SE" sz="1100" dirty="0" smtClean="0">
                <a:solidFill>
                  <a:srgbClr val="382819"/>
                </a:solidFill>
                <a:latin typeface="Arial"/>
                <a:ea typeface="ＭＳ Ｐゴシック" pitchFamily="-112" charset="-128"/>
                <a:cs typeface="ＭＳ Ｐゴシック" pitchFamily="-112" charset="-128"/>
              </a:rPr>
              <a:t>NOD</a:t>
            </a:r>
            <a:endParaRPr lang="sv-SE" sz="1100" dirty="0">
              <a:solidFill>
                <a:srgbClr val="382819"/>
              </a:solidFill>
              <a:latin typeface="Arial"/>
              <a:ea typeface="ＭＳ Ｐゴシック" pitchFamily="-112" charset="-128"/>
              <a:cs typeface="ＭＳ Ｐゴシック" pitchFamily="-112" charset="-128"/>
            </a:endParaRPr>
          </a:p>
        </p:txBody>
      </p:sp>
      <p:grpSp>
        <p:nvGrpSpPr>
          <p:cNvPr id="28" name="Grupp 27"/>
          <p:cNvGrpSpPr/>
          <p:nvPr/>
        </p:nvGrpSpPr>
        <p:grpSpPr>
          <a:xfrm rot="11398078">
            <a:off x="4675570" y="2938858"/>
            <a:ext cx="167139" cy="334568"/>
            <a:chOff x="6321274" y="3150312"/>
            <a:chExt cx="167139" cy="334568"/>
          </a:xfrm>
        </p:grpSpPr>
        <p:cxnSp>
          <p:nvCxnSpPr>
            <p:cNvPr id="29"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30"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grpSp>
        <p:nvGrpSpPr>
          <p:cNvPr id="57" name="Grupp 56"/>
          <p:cNvGrpSpPr/>
          <p:nvPr/>
        </p:nvGrpSpPr>
        <p:grpSpPr>
          <a:xfrm rot="17134972">
            <a:off x="3700155" y="3310264"/>
            <a:ext cx="241649" cy="334568"/>
            <a:chOff x="6321274" y="3150312"/>
            <a:chExt cx="167139" cy="334568"/>
          </a:xfrm>
        </p:grpSpPr>
        <p:cxnSp>
          <p:nvCxnSpPr>
            <p:cNvPr id="58" name="Rak pil 59"/>
            <p:cNvCxnSpPr/>
            <p:nvPr/>
          </p:nvCxnSpPr>
          <p:spPr>
            <a:xfrm flipV="1">
              <a:off x="6321274" y="3160472"/>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59" name="Rak pil 59"/>
            <p:cNvCxnSpPr/>
            <p:nvPr/>
          </p:nvCxnSpPr>
          <p:spPr>
            <a:xfrm flipH="1">
              <a:off x="6488386" y="3150312"/>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grpSp>
      <p:sp>
        <p:nvSpPr>
          <p:cNvPr id="73" name="Rektangel med rundade hörn 72"/>
          <p:cNvSpPr/>
          <p:nvPr/>
        </p:nvSpPr>
        <p:spPr>
          <a:xfrm>
            <a:off x="3361593" y="1090577"/>
            <a:ext cx="3865831" cy="1709288"/>
          </a:xfrm>
          <a:prstGeom prst="roundRect">
            <a:avLst>
              <a:gd name="adj" fmla="val 8787"/>
            </a:avLst>
          </a:prstGeom>
          <a:noFill/>
          <a:ln>
            <a:solidFill>
              <a:schemeClr val="bg1">
                <a:lumMod val="65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1100" i="1" dirty="0" smtClean="0">
                <a:solidFill>
                  <a:srgbClr val="382819"/>
                </a:solidFill>
                <a:latin typeface="Arial"/>
                <a:ea typeface="ＭＳ Ｐゴシック" pitchFamily="-112" charset="-128"/>
                <a:cs typeface="ＭＳ Ｐゴシック" pitchFamily="-112" charset="-128"/>
              </a:rPr>
              <a:t>Regionsjukhuset</a:t>
            </a:r>
            <a:endParaRPr lang="sv-SE" sz="1100" dirty="0">
              <a:solidFill>
                <a:srgbClr val="382819"/>
              </a:solidFill>
              <a:latin typeface="Arial"/>
              <a:ea typeface="ＭＳ Ｐゴシック" pitchFamily="-112" charset="-128"/>
              <a:cs typeface="ＭＳ Ｐゴシック" pitchFamily="-112" charset="-128"/>
            </a:endParaRPr>
          </a:p>
        </p:txBody>
      </p:sp>
      <p:grpSp>
        <p:nvGrpSpPr>
          <p:cNvPr id="12" name="Grupp 11"/>
          <p:cNvGrpSpPr/>
          <p:nvPr/>
        </p:nvGrpSpPr>
        <p:grpSpPr>
          <a:xfrm>
            <a:off x="5560893" y="1366377"/>
            <a:ext cx="905054" cy="568327"/>
            <a:chOff x="5337345" y="1816787"/>
            <a:chExt cx="905054" cy="568327"/>
          </a:xfrm>
        </p:grpSpPr>
        <p:pic>
          <p:nvPicPr>
            <p:cNvPr id="26" name="Picture 2" descr="C:\Users\svrlwi\AppData\Local\Microsoft\Windows\Temporary Internet Files\Content.IE5\51G1LSV1\MC9004339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9617" y="2019484"/>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75" name="Rektangel med rundade hörn 74"/>
            <p:cNvSpPr/>
            <p:nvPr/>
          </p:nvSpPr>
          <p:spPr>
            <a:xfrm>
              <a:off x="5337345" y="1816787"/>
              <a:ext cx="905054" cy="568327"/>
            </a:xfrm>
            <a:prstGeom prst="roundRect">
              <a:avLst>
                <a:gd name="adj" fmla="val 8787"/>
              </a:avLst>
            </a:prstGeom>
            <a:noFill/>
            <a:ln>
              <a:solidFill>
                <a:schemeClr val="bg1">
                  <a:lumMod val="65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1100" dirty="0" err="1" smtClean="0">
                  <a:solidFill>
                    <a:srgbClr val="382819"/>
                  </a:solidFill>
                  <a:latin typeface="Arial"/>
                  <a:ea typeface="ＭＳ Ｐゴシック" pitchFamily="-112" charset="-128"/>
                  <a:cs typeface="ＭＳ Ｐゴシック" pitchFamily="-112" charset="-128"/>
                </a:rPr>
                <a:t>Vårdavd</a:t>
              </a:r>
              <a:endParaRPr lang="sv-SE" sz="1100" dirty="0">
                <a:solidFill>
                  <a:srgbClr val="382819"/>
                </a:solidFill>
                <a:latin typeface="Arial"/>
                <a:ea typeface="ＭＳ Ｐゴシック" pitchFamily="-112" charset="-128"/>
                <a:cs typeface="ＭＳ Ｐゴシック" pitchFamily="-112" charset="-128"/>
              </a:endParaRPr>
            </a:p>
          </p:txBody>
        </p:sp>
      </p:grpSp>
      <p:sp>
        <p:nvSpPr>
          <p:cNvPr id="77" name="Rektangel med rundade hörn 22"/>
          <p:cNvSpPr/>
          <p:nvPr/>
        </p:nvSpPr>
        <p:spPr>
          <a:xfrm>
            <a:off x="4478680" y="2356128"/>
            <a:ext cx="78791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r>
              <a:rPr lang="sv-SE" sz="900" dirty="0">
                <a:solidFill>
                  <a:srgbClr val="382819"/>
                </a:solidFill>
                <a:latin typeface="Arial" charset="0"/>
                <a:ea typeface="ＭＳ Ｐゴシック" charset="0"/>
                <a:cs typeface="ＭＳ Ｐゴシック" charset="0"/>
              </a:rPr>
              <a:t/>
            </a:r>
            <a:br>
              <a:rPr lang="sv-SE" sz="900" dirty="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A</a:t>
            </a:r>
            <a:endParaRPr lang="sv-SE" sz="900" dirty="0">
              <a:solidFill>
                <a:srgbClr val="382819"/>
              </a:solidFill>
              <a:latin typeface="Arial" charset="0"/>
              <a:ea typeface="ＭＳ Ｐゴシック" charset="0"/>
              <a:cs typeface="ＭＳ Ｐゴシック" charset="0"/>
            </a:endParaRPr>
          </a:p>
        </p:txBody>
      </p:sp>
      <p:sp>
        <p:nvSpPr>
          <p:cNvPr id="76" name="Rektangel med rundade hörn 75"/>
          <p:cNvSpPr/>
          <p:nvPr/>
        </p:nvSpPr>
        <p:spPr>
          <a:xfrm>
            <a:off x="5565302" y="2030522"/>
            <a:ext cx="1532723" cy="568327"/>
          </a:xfrm>
          <a:prstGeom prst="roundRect">
            <a:avLst>
              <a:gd name="adj" fmla="val 8787"/>
            </a:avLst>
          </a:prstGeom>
          <a:noFill/>
          <a:ln>
            <a:solidFill>
              <a:schemeClr val="bg1">
                <a:lumMod val="65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1100" dirty="0" smtClean="0">
                <a:solidFill>
                  <a:srgbClr val="382819"/>
                </a:solidFill>
                <a:latin typeface="Arial"/>
                <a:ea typeface="ＭＳ Ｐゴシック" pitchFamily="-112" charset="-128"/>
                <a:cs typeface="ＭＳ Ｐゴシック" pitchFamily="-112" charset="-128"/>
              </a:rPr>
              <a:t>Medicinklin</a:t>
            </a:r>
            <a:endParaRPr lang="sv-SE" sz="1100" dirty="0">
              <a:solidFill>
                <a:srgbClr val="382819"/>
              </a:solidFill>
              <a:latin typeface="Arial"/>
              <a:ea typeface="ＭＳ Ｐゴシック" pitchFamily="-112" charset="-128"/>
              <a:cs typeface="ＭＳ Ｐゴシック" pitchFamily="-112" charset="-128"/>
            </a:endParaRPr>
          </a:p>
        </p:txBody>
      </p:sp>
      <p:pic>
        <p:nvPicPr>
          <p:cNvPr id="78" name="Picture 2" descr="C:\Users\svrlwi\AppData\Local\Microsoft\Windows\Temporary Internet Files\Content.IE5\51G1LSV1\MC9004339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210" y="2248486"/>
            <a:ext cx="364283" cy="365630"/>
          </a:xfrm>
          <a:prstGeom prst="rect">
            <a:avLst/>
          </a:prstGeom>
          <a:noFill/>
          <a:extLst>
            <a:ext uri="{909E8E84-426E-40dd-AFC4-6F175D3DCCD1}">
              <a14:hiddenFill xmlns:a14="http://schemas.microsoft.com/office/drawing/2010/main">
                <a:solidFill>
                  <a:srgbClr val="FFFFFF"/>
                </a:solidFill>
              </a14:hiddenFill>
            </a:ext>
          </a:extLst>
        </p:spPr>
      </p:pic>
      <p:grpSp>
        <p:nvGrpSpPr>
          <p:cNvPr id="46" name="Grupp 45"/>
          <p:cNvGrpSpPr/>
          <p:nvPr/>
        </p:nvGrpSpPr>
        <p:grpSpPr>
          <a:xfrm>
            <a:off x="3578421" y="1801569"/>
            <a:ext cx="875968" cy="591060"/>
            <a:chOff x="4403961" y="1540208"/>
            <a:chExt cx="875968" cy="591060"/>
          </a:xfrm>
        </p:grpSpPr>
        <p:sp>
          <p:nvSpPr>
            <p:cNvPr id="74" name="Rektangel med rundade hörn 73"/>
            <p:cNvSpPr/>
            <p:nvPr/>
          </p:nvSpPr>
          <p:spPr>
            <a:xfrm>
              <a:off x="4403961" y="1540208"/>
              <a:ext cx="875968" cy="568327"/>
            </a:xfrm>
            <a:prstGeom prst="roundRect">
              <a:avLst>
                <a:gd name="adj" fmla="val 8787"/>
              </a:avLst>
            </a:prstGeom>
            <a:noFill/>
            <a:ln>
              <a:solidFill>
                <a:schemeClr val="bg1">
                  <a:lumMod val="65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1100" dirty="0" smtClean="0">
                  <a:solidFill>
                    <a:srgbClr val="382819"/>
                  </a:solidFill>
                  <a:latin typeface="Arial"/>
                  <a:ea typeface="ＭＳ Ｐゴシック" pitchFamily="-112" charset="-128"/>
                  <a:cs typeface="ＭＳ Ｐゴシック" pitchFamily="-112" charset="-128"/>
                </a:rPr>
                <a:t>Akut</a:t>
              </a:r>
              <a:endParaRPr lang="sv-SE" sz="1100" dirty="0">
                <a:solidFill>
                  <a:srgbClr val="382819"/>
                </a:solidFill>
                <a:latin typeface="Arial"/>
                <a:ea typeface="ＭＳ Ｐゴシック" pitchFamily="-112" charset="-128"/>
                <a:cs typeface="ＭＳ Ｐゴシック" pitchFamily="-112" charset="-128"/>
              </a:endParaRPr>
            </a:p>
          </p:txBody>
        </p:sp>
        <p:pic>
          <p:nvPicPr>
            <p:cNvPr id="80" name="Picture 2" descr="C:\Users\svrlwi\AppData\Local\Microsoft\Windows\Temporary Internet Files\Content.IE5\51G1LSV1\MC9004339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6172" y="1765638"/>
              <a:ext cx="364283" cy="365630"/>
            </a:xfrm>
            <a:prstGeom prst="rect">
              <a:avLst/>
            </a:prstGeom>
            <a:noFill/>
            <a:extLst>
              <a:ext uri="{909E8E84-426E-40dd-AFC4-6F175D3DCCD1}">
                <a14:hiddenFill xmlns:a14="http://schemas.microsoft.com/office/drawing/2010/main">
                  <a:solidFill>
                    <a:srgbClr val="FFFFFF"/>
                  </a:solidFill>
                </a14:hiddenFill>
              </a:ext>
            </a:extLst>
          </p:spPr>
        </p:pic>
      </p:grpSp>
      <p:pic>
        <p:nvPicPr>
          <p:cNvPr id="81" name="Picture 2" descr="C:\Users\svrlwi\AppData\Local\Microsoft\Windows\Temporary Internet Files\Content.IE5\51G1LSV1\MC9004339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905" y="2270409"/>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85" name="Rektangel med rundade hörn 84"/>
          <p:cNvSpPr/>
          <p:nvPr/>
        </p:nvSpPr>
        <p:spPr>
          <a:xfrm>
            <a:off x="1488161" y="2114755"/>
            <a:ext cx="1508063" cy="1141685"/>
          </a:xfrm>
          <a:prstGeom prst="roundRect">
            <a:avLst>
              <a:gd name="adj" fmla="val 8787"/>
            </a:avLst>
          </a:prstGeom>
          <a:noFill/>
          <a:ln>
            <a:solidFill>
              <a:schemeClr val="bg1">
                <a:lumMod val="65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defTabSz="914400" fontAlgn="base">
              <a:spcBef>
                <a:spcPct val="0"/>
              </a:spcBef>
              <a:spcAft>
                <a:spcPct val="0"/>
              </a:spcAft>
            </a:pPr>
            <a:r>
              <a:rPr lang="sv-SE" sz="1100" i="1" dirty="0" smtClean="0">
                <a:solidFill>
                  <a:srgbClr val="382819"/>
                </a:solidFill>
                <a:latin typeface="Arial"/>
                <a:ea typeface="ＭＳ Ｐゴシック" pitchFamily="-112" charset="-128"/>
                <a:cs typeface="ＭＳ Ｐゴシック" pitchFamily="-112" charset="-128"/>
              </a:rPr>
              <a:t>Vårdcentralen</a:t>
            </a:r>
            <a:endParaRPr lang="sv-SE" sz="1100" i="1" dirty="0">
              <a:solidFill>
                <a:srgbClr val="382819"/>
              </a:solidFill>
              <a:latin typeface="Arial"/>
              <a:ea typeface="ＭＳ Ｐゴシック" pitchFamily="-112" charset="-128"/>
              <a:cs typeface="ＭＳ Ｐゴシック" pitchFamily="-112" charset="-128"/>
            </a:endParaRPr>
          </a:p>
        </p:txBody>
      </p:sp>
      <p:sp>
        <p:nvSpPr>
          <p:cNvPr id="86" name="Rektangel med rundade hörn 22"/>
          <p:cNvSpPr/>
          <p:nvPr/>
        </p:nvSpPr>
        <p:spPr>
          <a:xfrm>
            <a:off x="2516767" y="2769105"/>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B</a:t>
            </a:r>
            <a:endParaRPr lang="sv-SE" sz="900" dirty="0">
              <a:solidFill>
                <a:srgbClr val="382819"/>
              </a:solidFill>
              <a:latin typeface="Arial" charset="0"/>
              <a:ea typeface="ＭＳ Ｐゴシック" charset="0"/>
              <a:cs typeface="ＭＳ Ｐゴシック" charset="0"/>
            </a:endParaRPr>
          </a:p>
        </p:txBody>
      </p:sp>
      <p:sp>
        <p:nvSpPr>
          <p:cNvPr id="88" name="textruta 87"/>
          <p:cNvSpPr txBox="1"/>
          <p:nvPr/>
        </p:nvSpPr>
        <p:spPr>
          <a:xfrm>
            <a:off x="5538462" y="2813813"/>
            <a:ext cx="467360" cy="246221"/>
          </a:xfrm>
          <a:prstGeom prst="rect">
            <a:avLst/>
          </a:prstGeom>
          <a:noFill/>
        </p:spPr>
        <p:txBody>
          <a:bodyPr wrap="square" rtlCol="0">
            <a:spAutoFit/>
          </a:bodyPr>
          <a:lstStyle/>
          <a:p>
            <a:r>
              <a:rPr lang="sv-SE" sz="1000" i="1" dirty="0" smtClean="0">
                <a:solidFill>
                  <a:prstClr val="black"/>
                </a:solidFill>
                <a:latin typeface="Calibri"/>
                <a:cs typeface="Arial" pitchFamily="34" charset="0"/>
              </a:rPr>
              <a:t>Pelle</a:t>
            </a:r>
            <a:endParaRPr lang="sv-SE" sz="1000" i="1" dirty="0">
              <a:solidFill>
                <a:prstClr val="black"/>
              </a:solidFill>
              <a:latin typeface="Calibri"/>
              <a:cs typeface="Arial" pitchFamily="34" charset="0"/>
            </a:endParaRPr>
          </a:p>
        </p:txBody>
      </p:sp>
      <p:pic>
        <p:nvPicPr>
          <p:cNvPr id="89"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78173" y="2476589"/>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0" name="Rak 89"/>
          <p:cNvCxnSpPr/>
          <p:nvPr/>
        </p:nvCxnSpPr>
        <p:spPr bwMode="auto">
          <a:xfrm>
            <a:off x="457550" y="5592999"/>
            <a:ext cx="8091797"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textruta 90"/>
          <p:cNvSpPr txBox="1"/>
          <p:nvPr/>
        </p:nvSpPr>
        <p:spPr>
          <a:xfrm>
            <a:off x="8574537" y="5442268"/>
            <a:ext cx="282997" cy="253916"/>
          </a:xfrm>
          <a:prstGeom prst="rect">
            <a:avLst/>
          </a:prstGeom>
          <a:noFill/>
        </p:spPr>
        <p:txBody>
          <a:bodyPr wrap="square" rtlCol="0">
            <a:spAutoFit/>
          </a:bodyPr>
          <a:lstStyle/>
          <a:p>
            <a:r>
              <a:rPr lang="sv-SE" sz="1050" i="1" dirty="0">
                <a:solidFill>
                  <a:srgbClr val="382819"/>
                </a:solidFill>
                <a:latin typeface="Arial"/>
              </a:rPr>
              <a:t>t</a:t>
            </a:r>
          </a:p>
        </p:txBody>
      </p:sp>
      <p:grpSp>
        <p:nvGrpSpPr>
          <p:cNvPr id="45" name="Grupp 44"/>
          <p:cNvGrpSpPr/>
          <p:nvPr/>
        </p:nvGrpSpPr>
        <p:grpSpPr>
          <a:xfrm>
            <a:off x="3776931" y="1137508"/>
            <a:ext cx="875968" cy="568327"/>
            <a:chOff x="3527993" y="1235661"/>
            <a:chExt cx="875968" cy="568327"/>
          </a:xfrm>
        </p:grpSpPr>
        <p:sp>
          <p:nvSpPr>
            <p:cNvPr id="98" name="Rektangel med rundade hörn 97"/>
            <p:cNvSpPr/>
            <p:nvPr/>
          </p:nvSpPr>
          <p:spPr>
            <a:xfrm>
              <a:off x="3527993" y="1235661"/>
              <a:ext cx="875968" cy="568327"/>
            </a:xfrm>
            <a:prstGeom prst="roundRect">
              <a:avLst>
                <a:gd name="adj" fmla="val 8787"/>
              </a:avLst>
            </a:prstGeom>
            <a:noFill/>
            <a:ln>
              <a:solidFill>
                <a:schemeClr val="bg1">
                  <a:lumMod val="65000"/>
                </a:schemeClr>
              </a:solidFill>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1100" dirty="0" smtClean="0">
                  <a:solidFill>
                    <a:srgbClr val="382819"/>
                  </a:solidFill>
                  <a:latin typeface="Arial"/>
                  <a:ea typeface="ＭＳ Ｐゴシック" pitchFamily="-112" charset="-128"/>
                  <a:cs typeface="ＭＳ Ｐゴシック" pitchFamily="-112" charset="-128"/>
                </a:rPr>
                <a:t>Specialist</a:t>
              </a:r>
              <a:endParaRPr lang="sv-SE" sz="1100" dirty="0">
                <a:solidFill>
                  <a:srgbClr val="382819"/>
                </a:solidFill>
                <a:latin typeface="Arial"/>
                <a:ea typeface="ＭＳ Ｐゴシック" pitchFamily="-112" charset="-128"/>
                <a:cs typeface="ＭＳ Ｐゴシック" pitchFamily="-112" charset="-128"/>
              </a:endParaRPr>
            </a:p>
          </p:txBody>
        </p:sp>
        <p:pic>
          <p:nvPicPr>
            <p:cNvPr id="99" name="Picture 2" descr="C:\Users\svrlwi\AppData\Local\Microsoft\Windows\Temporary Internet Files\Content.IE5\51G1LSV1\MC9004339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3630" y="1438358"/>
              <a:ext cx="364283" cy="36563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92" name="Rak 91"/>
          <p:cNvCxnSpPr/>
          <p:nvPr/>
        </p:nvCxnSpPr>
        <p:spPr bwMode="auto">
          <a:xfrm>
            <a:off x="1832415" y="5414187"/>
            <a:ext cx="0" cy="369355"/>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textruta 109"/>
          <p:cNvSpPr txBox="1"/>
          <p:nvPr/>
        </p:nvSpPr>
        <p:spPr>
          <a:xfrm>
            <a:off x="5565302" y="2304658"/>
            <a:ext cx="467360" cy="246221"/>
          </a:xfrm>
          <a:prstGeom prst="rect">
            <a:avLst/>
          </a:prstGeom>
          <a:noFill/>
        </p:spPr>
        <p:txBody>
          <a:bodyPr wrap="square" rtlCol="0">
            <a:spAutoFit/>
          </a:bodyPr>
          <a:lstStyle/>
          <a:p>
            <a:r>
              <a:rPr lang="sv-SE" sz="1000" i="1" dirty="0" smtClean="0">
                <a:solidFill>
                  <a:prstClr val="black"/>
                </a:solidFill>
                <a:latin typeface="Calibri"/>
                <a:cs typeface="Arial" pitchFamily="34" charset="0"/>
              </a:rPr>
              <a:t>Lars</a:t>
            </a:r>
            <a:endParaRPr lang="sv-SE" sz="1000" i="1" dirty="0">
              <a:solidFill>
                <a:prstClr val="black"/>
              </a:solidFill>
              <a:latin typeface="Calibri"/>
              <a:cs typeface="Arial" pitchFamily="34" charset="0"/>
            </a:endParaRPr>
          </a:p>
        </p:txBody>
      </p:sp>
      <p:pic>
        <p:nvPicPr>
          <p:cNvPr id="116" name="Picture 2" descr="C:\Users\svrlwi\AppData\Local\Microsoft\Windows\Temporary Internet Files\Content.IE5\51G1LSV1\MC9004339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6496" y="2239104"/>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117" name="textruta 116"/>
          <p:cNvSpPr txBox="1"/>
          <p:nvPr/>
        </p:nvSpPr>
        <p:spPr>
          <a:xfrm>
            <a:off x="6459247" y="2303131"/>
            <a:ext cx="467360" cy="246221"/>
          </a:xfrm>
          <a:prstGeom prst="rect">
            <a:avLst/>
          </a:prstGeom>
          <a:noFill/>
        </p:spPr>
        <p:txBody>
          <a:bodyPr wrap="square" rtlCol="0">
            <a:spAutoFit/>
          </a:bodyPr>
          <a:lstStyle/>
          <a:p>
            <a:r>
              <a:rPr lang="sv-SE" sz="1000" i="1" dirty="0" smtClean="0">
                <a:solidFill>
                  <a:prstClr val="black"/>
                </a:solidFill>
                <a:latin typeface="Calibri"/>
                <a:cs typeface="Arial" pitchFamily="34" charset="0"/>
              </a:rPr>
              <a:t>Lisa</a:t>
            </a:r>
            <a:endParaRPr lang="sv-SE" sz="1000" i="1" dirty="0">
              <a:solidFill>
                <a:prstClr val="black"/>
              </a:solidFill>
              <a:latin typeface="Calibri"/>
              <a:cs typeface="Arial" pitchFamily="34" charset="0"/>
            </a:endParaRPr>
          </a:p>
        </p:txBody>
      </p:sp>
      <p:grpSp>
        <p:nvGrpSpPr>
          <p:cNvPr id="11" name="Grupp 10"/>
          <p:cNvGrpSpPr/>
          <p:nvPr/>
        </p:nvGrpSpPr>
        <p:grpSpPr>
          <a:xfrm>
            <a:off x="1650444" y="3499308"/>
            <a:ext cx="1785136" cy="1656363"/>
            <a:chOff x="1650444" y="3499308"/>
            <a:chExt cx="1785136" cy="1656363"/>
          </a:xfrm>
        </p:grpSpPr>
        <p:sp>
          <p:nvSpPr>
            <p:cNvPr id="109" name="Rundad rektangulär 108"/>
            <p:cNvSpPr/>
            <p:nvPr/>
          </p:nvSpPr>
          <p:spPr bwMode="auto">
            <a:xfrm>
              <a:off x="1801520" y="4336013"/>
              <a:ext cx="1525600" cy="819658"/>
            </a:xfrm>
            <a:prstGeom prst="wedgeRoundRectCallout">
              <a:avLst>
                <a:gd name="adj1" fmla="val -38521"/>
                <a:gd name="adj2" fmla="val 94630"/>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50" i="1" dirty="0" smtClean="0">
                  <a:solidFill>
                    <a:srgbClr val="382819"/>
                  </a:solidFill>
                  <a:latin typeface="Arial"/>
                </a:rPr>
                <a:t>Det skrivs en markering till </a:t>
              </a:r>
              <a:r>
                <a:rPr lang="sv-SE" sz="1050" i="1" dirty="0" smtClean="0">
                  <a:solidFill>
                    <a:srgbClr val="382819"/>
                  </a:solidFill>
                </a:rPr>
                <a:t>NOD </a:t>
              </a:r>
              <a:r>
                <a:rPr lang="sv-SE" sz="1050" i="1" dirty="0" smtClean="0">
                  <a:solidFill>
                    <a:srgbClr val="0000FF"/>
                  </a:solidFill>
                  <a:latin typeface="Arial"/>
                </a:rPr>
                <a:t>”avstämning kommer att behövas” </a:t>
              </a:r>
              <a:endParaRPr lang="sv-SE" sz="1050" i="1" dirty="0">
                <a:solidFill>
                  <a:srgbClr val="0000FF"/>
                </a:solidFill>
                <a:latin typeface="Arial"/>
              </a:endParaRPr>
            </a:p>
          </p:txBody>
        </p:sp>
        <p:grpSp>
          <p:nvGrpSpPr>
            <p:cNvPr id="48" name="Grupp 47"/>
            <p:cNvGrpSpPr/>
            <p:nvPr/>
          </p:nvGrpSpPr>
          <p:grpSpPr>
            <a:xfrm>
              <a:off x="1650444" y="3499308"/>
              <a:ext cx="1785136" cy="788514"/>
              <a:chOff x="9261500" y="3072067"/>
              <a:chExt cx="1785136" cy="681293"/>
            </a:xfrm>
          </p:grpSpPr>
          <p:sp>
            <p:nvSpPr>
              <p:cNvPr id="122" name="Rektangel 121"/>
              <p:cNvSpPr/>
              <p:nvPr/>
            </p:nvSpPr>
            <p:spPr bwMode="auto">
              <a:xfrm>
                <a:off x="9261500" y="3074215"/>
                <a:ext cx="1641861" cy="679145"/>
              </a:xfrm>
              <a:prstGeom prst="rect">
                <a:avLst/>
              </a:prstGeom>
              <a:ln>
                <a:headEnd type="none" w="med" len="med"/>
                <a:tailEnd type="none" w="med" len="med"/>
              </a:ln>
              <a:ex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0000" tIns="46800" rIns="90000" bIns="46800" numCol="1" spcCol="0" rtlCol="0" fromWordArt="0" anchor="t" anchorCtr="0" forceAA="0" compatLnSpc="1">
                <a:prstTxWarp prst="textNoShape">
                  <a:avLst/>
                </a:prstTxWarp>
                <a:spAutoFit/>
              </a:bodyPr>
              <a:lstStyle/>
              <a:p>
                <a:pPr defTabSz="957263" fontAlgn="base">
                  <a:spcBef>
                    <a:spcPct val="0"/>
                  </a:spcBef>
                  <a:spcAft>
                    <a:spcPct val="0"/>
                  </a:spcAft>
                </a:pPr>
                <a:endParaRPr lang="sv-SE" sz="1900" smtClean="0">
                  <a:solidFill>
                    <a:srgbClr val="382819"/>
                  </a:solidFill>
                  <a:latin typeface="Arial" charset="0"/>
                </a:endParaRPr>
              </a:p>
            </p:txBody>
          </p:sp>
          <p:sp>
            <p:nvSpPr>
              <p:cNvPr id="123" name="textruta 122"/>
              <p:cNvSpPr txBox="1"/>
              <p:nvPr/>
            </p:nvSpPr>
            <p:spPr>
              <a:xfrm>
                <a:off x="9304115" y="3072067"/>
                <a:ext cx="1742521" cy="678110"/>
              </a:xfrm>
              <a:prstGeom prst="rect">
                <a:avLst/>
              </a:prstGeom>
              <a:noFill/>
            </p:spPr>
            <p:txBody>
              <a:bodyPr wrap="square" rtlCol="0">
                <a:spAutoFit/>
              </a:bodyPr>
              <a:lstStyle/>
              <a:p>
                <a:r>
                  <a:rPr lang="sv-SE" sz="900" b="1" dirty="0" smtClean="0">
                    <a:solidFill>
                      <a:srgbClr val="382819"/>
                    </a:solidFill>
                    <a:latin typeface="Chalkboard"/>
                    <a:cs typeface="Chalkboard"/>
                  </a:rPr>
                  <a:t>”</a:t>
                </a:r>
                <a:r>
                  <a:rPr lang="sv-SE" sz="900" b="1" i="1" dirty="0" smtClean="0">
                    <a:solidFill>
                      <a:srgbClr val="382819"/>
                    </a:solidFill>
                    <a:latin typeface="Chalkboard"/>
                    <a:cs typeface="Chalkboard"/>
                  </a:rPr>
                  <a:t>Avstämning kommer att behövas</a:t>
                </a:r>
                <a:r>
                  <a:rPr lang="sv-SE" sz="900" dirty="0" smtClean="0">
                    <a:solidFill>
                      <a:srgbClr val="382819"/>
                    </a:solidFill>
                    <a:latin typeface="Chalkboard"/>
                    <a:cs typeface="Chalkboard"/>
                  </a:rPr>
                  <a:t>”</a:t>
                </a:r>
                <a:br>
                  <a:rPr lang="sv-SE" sz="900" dirty="0" smtClean="0">
                    <a:solidFill>
                      <a:srgbClr val="382819"/>
                    </a:solidFill>
                    <a:latin typeface="Chalkboard"/>
                    <a:cs typeface="Chalkboard"/>
                  </a:rPr>
                </a:br>
                <a:r>
                  <a:rPr lang="sv-SE" sz="900" dirty="0" smtClean="0">
                    <a:solidFill>
                      <a:srgbClr val="382819"/>
                    </a:solidFill>
                    <a:latin typeface="Chalkboard"/>
                    <a:cs typeface="Chalkboard"/>
                  </a:rPr>
                  <a:t>150513 11:05</a:t>
                </a:r>
              </a:p>
              <a:p>
                <a:r>
                  <a:rPr lang="sv-SE" sz="900" dirty="0" smtClean="0">
                    <a:solidFill>
                      <a:srgbClr val="382819"/>
                    </a:solidFill>
                    <a:latin typeface="Chalkboard"/>
                    <a:cs typeface="Chalkboard"/>
                  </a:rPr>
                  <a:t>Lars Moen, leg läk</a:t>
                </a:r>
                <a:br>
                  <a:rPr lang="sv-SE" sz="900" dirty="0" smtClean="0">
                    <a:solidFill>
                      <a:srgbClr val="382819"/>
                    </a:solidFill>
                    <a:latin typeface="Chalkboard"/>
                    <a:cs typeface="Chalkboard"/>
                  </a:rPr>
                </a:br>
                <a:r>
                  <a:rPr lang="sv-SE" sz="900" dirty="0" smtClean="0">
                    <a:solidFill>
                      <a:srgbClr val="382819"/>
                    </a:solidFill>
                    <a:latin typeface="Chalkboard"/>
                    <a:cs typeface="Chalkboard"/>
                  </a:rPr>
                  <a:t>Medicinklin, Regionsjukhuset</a:t>
                </a:r>
              </a:p>
            </p:txBody>
          </p:sp>
        </p:grpSp>
      </p:grpSp>
      <p:sp>
        <p:nvSpPr>
          <p:cNvPr id="55" name="Rundad rektangulär 54"/>
          <p:cNvSpPr/>
          <p:nvPr/>
        </p:nvSpPr>
        <p:spPr bwMode="auto">
          <a:xfrm>
            <a:off x="7080779" y="1280530"/>
            <a:ext cx="1495214" cy="1040995"/>
          </a:xfrm>
          <a:prstGeom prst="wedgeRoundRectCallout">
            <a:avLst>
              <a:gd name="adj1" fmla="val -58444"/>
              <a:gd name="adj2" fmla="val 2736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a:solidFill>
                  <a:srgbClr val="0000FF"/>
                </a:solidFill>
              </a:rPr>
              <a:t>I</a:t>
            </a:r>
            <a:r>
              <a:rPr lang="sv-SE" sz="1100" i="1" dirty="0" smtClean="0">
                <a:solidFill>
                  <a:srgbClr val="0000FF"/>
                </a:solidFill>
              </a:rPr>
              <a:t>ntern läkemedels-behandling förekommer som inte dokumenteras i NOD</a:t>
            </a:r>
            <a:endParaRPr lang="sv-SE" sz="1100" i="1" dirty="0">
              <a:solidFill>
                <a:srgbClr val="0000FF"/>
              </a:solidFill>
            </a:endParaRPr>
          </a:p>
        </p:txBody>
      </p:sp>
      <p:sp>
        <p:nvSpPr>
          <p:cNvPr id="56" name="Dokument 55"/>
          <p:cNvSpPr/>
          <p:nvPr/>
        </p:nvSpPr>
        <p:spPr bwMode="auto">
          <a:xfrm>
            <a:off x="4841918" y="3700957"/>
            <a:ext cx="827364"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Samlad</a:t>
            </a:r>
            <a:br>
              <a:rPr lang="sv-SE" sz="900" dirty="0" smtClean="0">
                <a:solidFill>
                  <a:srgbClr val="382819"/>
                </a:solidFill>
                <a:latin typeface="Arial Narrow"/>
                <a:cs typeface="Arial Narrow"/>
              </a:rPr>
            </a:br>
            <a:r>
              <a:rPr lang="sv-SE" sz="900" dirty="0" smtClean="0">
                <a:solidFill>
                  <a:srgbClr val="382819"/>
                </a:solidFill>
                <a:latin typeface="Arial Narrow"/>
                <a:cs typeface="Arial Narrow"/>
              </a:rPr>
              <a:t>läkemedelslista</a:t>
            </a:r>
            <a:endParaRPr lang="sv-SE" sz="900" dirty="0">
              <a:solidFill>
                <a:srgbClr val="382819"/>
              </a:solidFill>
              <a:latin typeface="Arial Narrow"/>
              <a:cs typeface="Arial Narrow"/>
            </a:endParaRPr>
          </a:p>
        </p:txBody>
      </p:sp>
      <p:sp>
        <p:nvSpPr>
          <p:cNvPr id="51" name="textruta 50"/>
          <p:cNvSpPr txBox="1"/>
          <p:nvPr/>
        </p:nvSpPr>
        <p:spPr>
          <a:xfrm>
            <a:off x="2232599" y="2319668"/>
            <a:ext cx="467360" cy="246221"/>
          </a:xfrm>
          <a:prstGeom prst="rect">
            <a:avLst/>
          </a:prstGeom>
          <a:noFill/>
        </p:spPr>
        <p:txBody>
          <a:bodyPr wrap="square" rtlCol="0">
            <a:spAutoFit/>
          </a:bodyPr>
          <a:lstStyle/>
          <a:p>
            <a:r>
              <a:rPr lang="sv-SE" sz="1000" i="1" dirty="0" smtClean="0">
                <a:solidFill>
                  <a:prstClr val="black"/>
                </a:solidFill>
                <a:latin typeface="Calibri"/>
                <a:cs typeface="Arial" pitchFamily="34" charset="0"/>
              </a:rPr>
              <a:t>Karin</a:t>
            </a:r>
            <a:endParaRPr lang="sv-SE" sz="1000" i="1" dirty="0">
              <a:solidFill>
                <a:prstClr val="black"/>
              </a:solidFill>
              <a:latin typeface="Calibri"/>
              <a:cs typeface="Arial" pitchFamily="34" charset="0"/>
            </a:endParaRPr>
          </a:p>
        </p:txBody>
      </p:sp>
      <p:grpSp>
        <p:nvGrpSpPr>
          <p:cNvPr id="10" name="Grupp 9"/>
          <p:cNvGrpSpPr/>
          <p:nvPr/>
        </p:nvGrpSpPr>
        <p:grpSpPr>
          <a:xfrm>
            <a:off x="629096" y="4874016"/>
            <a:ext cx="2281529" cy="1730666"/>
            <a:chOff x="629096" y="4874016"/>
            <a:chExt cx="2281529" cy="1730666"/>
          </a:xfrm>
        </p:grpSpPr>
        <p:sp>
          <p:nvSpPr>
            <p:cNvPr id="94" name="Rundad rektangulär 93"/>
            <p:cNvSpPr/>
            <p:nvPr/>
          </p:nvSpPr>
          <p:spPr bwMode="auto">
            <a:xfrm>
              <a:off x="867507" y="5750972"/>
              <a:ext cx="2043118" cy="853710"/>
            </a:xfrm>
            <a:prstGeom prst="wedgeRoundRectCallout">
              <a:avLst>
                <a:gd name="adj1" fmla="val 5080"/>
                <a:gd name="adj2" fmla="val -6701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chemeClr val="tx1"/>
                  </a:solidFill>
                  <a:latin typeface="Arial"/>
                </a:rPr>
                <a:t>Lars på Medicin går igenom läkemedelslistan från NOD. Bedömer att olika insatser behöver göras</a:t>
              </a:r>
              <a:endParaRPr lang="sv-SE" sz="1100" i="1" dirty="0">
                <a:solidFill>
                  <a:schemeClr val="tx1"/>
                </a:solidFill>
                <a:latin typeface="Arial"/>
              </a:endParaRPr>
            </a:p>
          </p:txBody>
        </p:sp>
        <p:sp>
          <p:nvSpPr>
            <p:cNvPr id="61" name="Rundad rektangulär 60"/>
            <p:cNvSpPr/>
            <p:nvPr/>
          </p:nvSpPr>
          <p:spPr bwMode="auto">
            <a:xfrm>
              <a:off x="629096" y="4874016"/>
              <a:ext cx="1255127" cy="479139"/>
            </a:xfrm>
            <a:prstGeom prst="wedgeRoundRectCallout">
              <a:avLst>
                <a:gd name="adj1" fmla="val 41952"/>
                <a:gd name="adj2" fmla="val 90106"/>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b="1" i="1" dirty="0" smtClean="0">
                  <a:solidFill>
                    <a:srgbClr val="382819"/>
                  </a:solidFill>
                  <a:latin typeface="Arial"/>
                </a:rPr>
                <a:t>Inskrivning</a:t>
              </a:r>
              <a:br>
                <a:rPr lang="sv-SE" sz="1100" b="1" i="1" dirty="0" smtClean="0">
                  <a:solidFill>
                    <a:srgbClr val="382819"/>
                  </a:solidFill>
                  <a:latin typeface="Arial"/>
                </a:rPr>
              </a:br>
              <a:r>
                <a:rPr lang="sv-SE" sz="1100" i="1" dirty="0" smtClean="0">
                  <a:solidFill>
                    <a:srgbClr val="382819"/>
                  </a:solidFill>
                  <a:latin typeface="Arial"/>
                </a:rPr>
                <a:t>på</a:t>
              </a:r>
              <a:r>
                <a:rPr lang="sv-SE" sz="1100" b="1" i="1" dirty="0" smtClean="0">
                  <a:solidFill>
                    <a:srgbClr val="382819"/>
                  </a:solidFill>
                  <a:latin typeface="Arial"/>
                </a:rPr>
                <a:t> </a:t>
              </a:r>
              <a:r>
                <a:rPr lang="sv-SE" sz="1100" i="1" dirty="0" smtClean="0">
                  <a:solidFill>
                    <a:schemeClr val="tx1"/>
                  </a:solidFill>
                </a:rPr>
                <a:t>Med.kliniken</a:t>
              </a:r>
              <a:endParaRPr lang="sv-SE" sz="1100" b="1" i="1" dirty="0">
                <a:solidFill>
                  <a:srgbClr val="382819"/>
                </a:solidFill>
                <a:latin typeface="Arial"/>
              </a:endParaRPr>
            </a:p>
          </p:txBody>
        </p:sp>
      </p:grpSp>
      <p:grpSp>
        <p:nvGrpSpPr>
          <p:cNvPr id="14" name="Grupp 13"/>
          <p:cNvGrpSpPr/>
          <p:nvPr/>
        </p:nvGrpSpPr>
        <p:grpSpPr>
          <a:xfrm>
            <a:off x="5578173" y="3525732"/>
            <a:ext cx="3063342" cy="2677835"/>
            <a:chOff x="5578173" y="3525732"/>
            <a:chExt cx="3063342" cy="2677835"/>
          </a:xfrm>
        </p:grpSpPr>
        <p:grpSp>
          <p:nvGrpSpPr>
            <p:cNvPr id="4" name="Grupp 3"/>
            <p:cNvGrpSpPr/>
            <p:nvPr/>
          </p:nvGrpSpPr>
          <p:grpSpPr>
            <a:xfrm>
              <a:off x="5578173" y="4313901"/>
              <a:ext cx="3063342" cy="1889666"/>
              <a:chOff x="4788970" y="4313901"/>
              <a:chExt cx="3063342" cy="1889666"/>
            </a:xfrm>
          </p:grpSpPr>
          <p:sp>
            <p:nvSpPr>
              <p:cNvPr id="96" name="Rundad rektangulär 95"/>
              <p:cNvSpPr/>
              <p:nvPr/>
            </p:nvSpPr>
            <p:spPr bwMode="auto">
              <a:xfrm>
                <a:off x="6573480" y="5911713"/>
                <a:ext cx="1069320" cy="291854"/>
              </a:xfrm>
              <a:prstGeom prst="wedgeRoundRectCallout">
                <a:avLst>
                  <a:gd name="adj1" fmla="val -21932"/>
                  <a:gd name="adj2" fmla="val -117593"/>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b="1" i="1" dirty="0" smtClean="0">
                    <a:solidFill>
                      <a:srgbClr val="382819"/>
                    </a:solidFill>
                    <a:latin typeface="Arial"/>
                  </a:rPr>
                  <a:t>Utskrivning</a:t>
                </a:r>
                <a:endParaRPr lang="sv-SE" sz="1100" b="1" i="1" dirty="0">
                  <a:solidFill>
                    <a:srgbClr val="382819"/>
                  </a:solidFill>
                  <a:latin typeface="Arial"/>
                </a:endParaRPr>
              </a:p>
            </p:txBody>
          </p:sp>
          <p:sp>
            <p:nvSpPr>
              <p:cNvPr id="120" name="Rundad rektangulär 119"/>
              <p:cNvSpPr/>
              <p:nvPr/>
            </p:nvSpPr>
            <p:spPr bwMode="auto">
              <a:xfrm>
                <a:off x="4788970" y="4313901"/>
                <a:ext cx="3063342" cy="1040995"/>
              </a:xfrm>
              <a:prstGeom prst="wedgeRoundRectCallout">
                <a:avLst>
                  <a:gd name="adj1" fmla="val 10154"/>
                  <a:gd name="adj2" fmla="val 71778"/>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82819"/>
                    </a:solidFill>
                    <a:latin typeface="Arial"/>
                  </a:rPr>
                  <a:t>Lisa går igenom patientens läkemedel inför utskrivning. Listan och NOD uppdateras </a:t>
                </a:r>
                <a:r>
                  <a:rPr lang="sv-SE" sz="1100" i="1" u="sng" dirty="0" smtClean="0">
                    <a:solidFill>
                      <a:srgbClr val="382819"/>
                    </a:solidFill>
                    <a:latin typeface="Arial"/>
                  </a:rPr>
                  <a:t>vid behov </a:t>
                </a:r>
                <a:r>
                  <a:rPr lang="sv-SE" sz="1100" i="1" dirty="0" smtClean="0">
                    <a:solidFill>
                      <a:srgbClr val="382819"/>
                    </a:solidFill>
                    <a:latin typeface="Arial"/>
                  </a:rPr>
                  <a:t>med det Pelle nu ska fortsätta ta.</a:t>
                </a:r>
              </a:p>
              <a:p>
                <a:r>
                  <a:rPr lang="sv-SE" sz="1050" i="1" dirty="0">
                    <a:solidFill>
                      <a:srgbClr val="0000FF"/>
                    </a:solidFill>
                    <a:latin typeface="Arial"/>
                  </a:rPr>
                  <a:t>L</a:t>
                </a:r>
                <a:r>
                  <a:rPr lang="sv-SE" sz="1050" i="1" dirty="0" smtClean="0">
                    <a:solidFill>
                      <a:srgbClr val="0000FF"/>
                    </a:solidFill>
                    <a:latin typeface="Arial"/>
                  </a:rPr>
                  <a:t>äkemedelslistan</a:t>
                </a:r>
                <a:r>
                  <a:rPr lang="sv-SE" sz="1100" i="1" dirty="0" smtClean="0">
                    <a:solidFill>
                      <a:srgbClr val="0000FF"/>
                    </a:solidFill>
                    <a:latin typeface="Arial"/>
                  </a:rPr>
                  <a:t> i NOD markeras som ”avstämd”</a:t>
                </a:r>
                <a:endParaRPr lang="sv-SE" sz="1100" i="1" dirty="0">
                  <a:solidFill>
                    <a:srgbClr val="0000FF"/>
                  </a:solidFill>
                  <a:latin typeface="Arial"/>
                </a:endParaRPr>
              </a:p>
            </p:txBody>
          </p:sp>
          <p:cxnSp>
            <p:nvCxnSpPr>
              <p:cNvPr id="50" name="Rak 49"/>
              <p:cNvCxnSpPr/>
              <p:nvPr/>
            </p:nvCxnSpPr>
            <p:spPr bwMode="auto">
              <a:xfrm>
                <a:off x="6903670" y="5381617"/>
                <a:ext cx="0" cy="369355"/>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2" name="Grupp 61"/>
            <p:cNvGrpSpPr/>
            <p:nvPr/>
          </p:nvGrpSpPr>
          <p:grpSpPr>
            <a:xfrm>
              <a:off x="5855584" y="3525732"/>
              <a:ext cx="1785136" cy="681293"/>
              <a:chOff x="6518126" y="3050698"/>
              <a:chExt cx="1785136" cy="681293"/>
            </a:xfrm>
          </p:grpSpPr>
          <p:sp>
            <p:nvSpPr>
              <p:cNvPr id="63" name="Rektangel 62"/>
              <p:cNvSpPr/>
              <p:nvPr/>
            </p:nvSpPr>
            <p:spPr bwMode="auto">
              <a:xfrm>
                <a:off x="6518126" y="3052846"/>
                <a:ext cx="1641861" cy="679145"/>
              </a:xfrm>
              <a:prstGeom prst="rect">
                <a:avLst/>
              </a:prstGeom>
              <a:ln>
                <a:headEnd type="none" w="med" len="med"/>
                <a:tailEnd type="none" w="med" len="med"/>
              </a:ln>
              <a:ex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0000" tIns="46800" rIns="90000" bIns="46800" numCol="1" spcCol="0" rtlCol="0" fromWordArt="0" anchor="t" anchorCtr="0" forceAA="0" compatLnSpc="1">
                <a:prstTxWarp prst="textNoShape">
                  <a:avLst/>
                </a:prstTxWarp>
                <a:spAutoFit/>
              </a:bodyPr>
              <a:lstStyle/>
              <a:p>
                <a:pPr defTabSz="957263" fontAlgn="base">
                  <a:spcBef>
                    <a:spcPct val="0"/>
                  </a:spcBef>
                  <a:spcAft>
                    <a:spcPct val="0"/>
                  </a:spcAft>
                </a:pPr>
                <a:endParaRPr lang="sv-SE" sz="1900" smtClean="0">
                  <a:solidFill>
                    <a:srgbClr val="382819"/>
                  </a:solidFill>
                  <a:latin typeface="Arial" charset="0"/>
                </a:endParaRPr>
              </a:p>
            </p:txBody>
          </p:sp>
          <p:sp>
            <p:nvSpPr>
              <p:cNvPr id="64" name="textruta 63"/>
              <p:cNvSpPr txBox="1"/>
              <p:nvPr/>
            </p:nvSpPr>
            <p:spPr>
              <a:xfrm>
                <a:off x="6560741" y="3050698"/>
                <a:ext cx="1742521" cy="646331"/>
              </a:xfrm>
              <a:prstGeom prst="rect">
                <a:avLst/>
              </a:prstGeom>
              <a:noFill/>
            </p:spPr>
            <p:txBody>
              <a:bodyPr wrap="square" rtlCol="0">
                <a:spAutoFit/>
              </a:bodyPr>
              <a:lstStyle/>
              <a:p>
                <a:r>
                  <a:rPr lang="sv-SE" sz="900" b="1" dirty="0" smtClean="0">
                    <a:solidFill>
                      <a:srgbClr val="382819"/>
                    </a:solidFill>
                    <a:latin typeface="Chalkboard"/>
                    <a:cs typeface="Chalkboard"/>
                  </a:rPr>
                  <a:t>”</a:t>
                </a:r>
                <a:r>
                  <a:rPr lang="sv-SE" sz="900" b="1" i="1" dirty="0" smtClean="0">
                    <a:solidFill>
                      <a:srgbClr val="382819"/>
                    </a:solidFill>
                    <a:latin typeface="Chalkboard"/>
                    <a:cs typeface="Chalkboard"/>
                  </a:rPr>
                  <a:t>Avstämning utförd</a:t>
                </a:r>
                <a:r>
                  <a:rPr lang="sv-SE" sz="900" b="1" dirty="0" smtClean="0">
                    <a:solidFill>
                      <a:srgbClr val="382819"/>
                    </a:solidFill>
                    <a:latin typeface="Chalkboard"/>
                    <a:cs typeface="Chalkboard"/>
                  </a:rPr>
                  <a:t>”</a:t>
                </a:r>
                <a:r>
                  <a:rPr lang="sv-SE" sz="900" dirty="0">
                    <a:solidFill>
                      <a:srgbClr val="382819"/>
                    </a:solidFill>
                    <a:latin typeface="Chalkboard"/>
                    <a:cs typeface="Chalkboard"/>
                  </a:rPr>
                  <a:t/>
                </a:r>
                <a:br>
                  <a:rPr lang="sv-SE" sz="900" dirty="0">
                    <a:solidFill>
                      <a:srgbClr val="382819"/>
                    </a:solidFill>
                    <a:latin typeface="Chalkboard"/>
                    <a:cs typeface="Chalkboard"/>
                  </a:rPr>
                </a:br>
                <a:r>
                  <a:rPr lang="sv-SE" sz="900" dirty="0" smtClean="0">
                    <a:solidFill>
                      <a:srgbClr val="382819"/>
                    </a:solidFill>
                    <a:latin typeface="Chalkboard"/>
                    <a:cs typeface="Chalkboard"/>
                  </a:rPr>
                  <a:t>150524 13:00</a:t>
                </a:r>
              </a:p>
              <a:p>
                <a:r>
                  <a:rPr lang="sv-SE" sz="900" dirty="0" smtClean="0">
                    <a:solidFill>
                      <a:srgbClr val="382819"/>
                    </a:solidFill>
                    <a:latin typeface="Chalkboard"/>
                    <a:cs typeface="Chalkboard"/>
                  </a:rPr>
                  <a:t>Lisa Yttergård, leg läk.</a:t>
                </a:r>
                <a:br>
                  <a:rPr lang="sv-SE" sz="900" dirty="0" smtClean="0">
                    <a:solidFill>
                      <a:srgbClr val="382819"/>
                    </a:solidFill>
                    <a:latin typeface="Chalkboard"/>
                    <a:cs typeface="Chalkboard"/>
                  </a:rPr>
                </a:br>
                <a:r>
                  <a:rPr lang="sv-SE" sz="900" dirty="0" smtClean="0">
                    <a:solidFill>
                      <a:srgbClr val="382819"/>
                    </a:solidFill>
                    <a:latin typeface="Chalkboard"/>
                    <a:cs typeface="Chalkboard"/>
                  </a:rPr>
                  <a:t>Medicinklin, Regionsjukhuset</a:t>
                </a:r>
              </a:p>
            </p:txBody>
          </p:sp>
        </p:grpSp>
      </p:grpSp>
      <p:graphicFrame>
        <p:nvGraphicFramePr>
          <p:cNvPr id="8" name="Tabell 7"/>
          <p:cNvGraphicFramePr>
            <a:graphicFrameLocks noGrp="1"/>
          </p:cNvGraphicFramePr>
          <p:nvPr>
            <p:extLst>
              <p:ext uri="{D42A27DB-BD31-4B8C-83A1-F6EECF244321}">
                <p14:modId xmlns:p14="http://schemas.microsoft.com/office/powerpoint/2010/main" val="853486184"/>
              </p:ext>
            </p:extLst>
          </p:nvPr>
        </p:nvGraphicFramePr>
        <p:xfrm>
          <a:off x="5898199" y="-152401"/>
          <a:ext cx="2934368" cy="1037880"/>
        </p:xfrm>
        <a:graphic>
          <a:graphicData uri="http://schemas.openxmlformats.org/drawingml/2006/table">
            <a:tbl>
              <a:tblPr firstRow="1" bandRow="1">
                <a:tableStyleId>{BDBED569-4797-4DF1-A0F4-6AAB3CD982D8}</a:tableStyleId>
              </a:tblPr>
              <a:tblGrid>
                <a:gridCol w="2934368"/>
              </a:tblGrid>
              <a:tr h="3346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sv-SE" sz="1200" kern="1200" dirty="0">
                        <a:solidFill>
                          <a:schemeClr val="tx1"/>
                        </a:solidFill>
                        <a:latin typeface="Courier New"/>
                        <a:ea typeface="+mn-ea"/>
                        <a:cs typeface="Courier New"/>
                      </a:endParaRPr>
                    </a:p>
                  </a:txBody>
                  <a:tcPr/>
                </a:tc>
              </a:tr>
              <a:tr h="3686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SetMedicationListReviewNeeded</a:t>
                      </a:r>
                      <a:endParaRPr lang="sv-SE" sz="1200" kern="1200" dirty="0">
                        <a:solidFill>
                          <a:schemeClr val="tx1"/>
                        </a:solidFill>
                        <a:latin typeface="Courier New"/>
                        <a:ea typeface="+mn-ea"/>
                        <a:cs typeface="Courier New"/>
                      </a:endParaRPr>
                    </a:p>
                  </a:txBody>
                  <a:tcPr/>
                </a:tc>
              </a:tr>
              <a:tr h="3346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v-SE" sz="1200" kern="1200" dirty="0" smtClean="0">
                          <a:solidFill>
                            <a:schemeClr val="tx1"/>
                          </a:solidFill>
                          <a:latin typeface="Courier New"/>
                          <a:ea typeface="+mn-ea"/>
                          <a:cs typeface="Courier New"/>
                        </a:rPr>
                        <a:t>SetMedicationListReviewed</a:t>
                      </a:r>
                      <a:endParaRPr lang="sv-SE" sz="1200" kern="1200" dirty="0">
                        <a:solidFill>
                          <a:schemeClr val="tx1"/>
                        </a:solidFill>
                        <a:latin typeface="Courier New"/>
                        <a:ea typeface="+mn-ea"/>
                        <a:cs typeface="Courier New"/>
                      </a:endParaRPr>
                    </a:p>
                  </a:txBody>
                  <a:tcPr/>
                </a:tc>
              </a:tr>
            </a:tbl>
          </a:graphicData>
        </a:graphic>
      </p:graphicFrame>
      <p:grpSp>
        <p:nvGrpSpPr>
          <p:cNvPr id="13" name="Grupp 12"/>
          <p:cNvGrpSpPr/>
          <p:nvPr/>
        </p:nvGrpSpPr>
        <p:grpSpPr>
          <a:xfrm>
            <a:off x="3043777" y="4340622"/>
            <a:ext cx="2534396" cy="2187538"/>
            <a:chOff x="3043777" y="4340622"/>
            <a:chExt cx="2534396" cy="2187538"/>
          </a:xfrm>
        </p:grpSpPr>
        <p:sp>
          <p:nvSpPr>
            <p:cNvPr id="118" name="Rundad rektangulär 117"/>
            <p:cNvSpPr/>
            <p:nvPr/>
          </p:nvSpPr>
          <p:spPr bwMode="auto">
            <a:xfrm>
              <a:off x="3043777" y="5861735"/>
              <a:ext cx="2534396" cy="666425"/>
            </a:xfrm>
            <a:prstGeom prst="wedgeRoundRectCallout">
              <a:avLst>
                <a:gd name="adj1" fmla="val -30482"/>
                <a:gd name="adj2" fmla="val -8200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82819"/>
                  </a:solidFill>
                  <a:latin typeface="Arial"/>
                </a:rPr>
                <a:t>Lars sätter in läkemedelsbehandling och </a:t>
              </a:r>
              <a:r>
                <a:rPr lang="sv-SE" sz="1100" i="1" dirty="0" smtClean="0">
                  <a:solidFill>
                    <a:srgbClr val="0000FF"/>
                  </a:solidFill>
                  <a:latin typeface="Arial"/>
                </a:rPr>
                <a:t>dokumenterar i slutenvårdens läkemedelsmodul</a:t>
              </a:r>
              <a:endParaRPr lang="sv-SE" sz="1100" i="1" dirty="0">
                <a:solidFill>
                  <a:srgbClr val="0000FF"/>
                </a:solidFill>
                <a:latin typeface="Arial"/>
              </a:endParaRPr>
            </a:p>
          </p:txBody>
        </p:sp>
        <p:sp>
          <p:nvSpPr>
            <p:cNvPr id="65" name="Rundad rektangulär 64"/>
            <p:cNvSpPr/>
            <p:nvPr/>
          </p:nvSpPr>
          <p:spPr bwMode="auto">
            <a:xfrm>
              <a:off x="3578421" y="4340622"/>
              <a:ext cx="1960740" cy="1040995"/>
            </a:xfrm>
            <a:prstGeom prst="wedgeRoundRectCallout">
              <a:avLst>
                <a:gd name="adj1" fmla="val -13931"/>
                <a:gd name="adj2" fmla="val 6869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82819"/>
                  </a:solidFill>
                  <a:latin typeface="Arial"/>
                </a:rPr>
                <a:t>Karin på Vårdcentralen öppnar Pelles läkemedelslista och kan se markeringen från sjukhuset.</a:t>
              </a:r>
              <a:endParaRPr lang="sv-SE" sz="1100" i="1" dirty="0">
                <a:solidFill>
                  <a:srgbClr val="0000FF"/>
                </a:solidFill>
                <a:latin typeface="Arial"/>
              </a:endParaRPr>
            </a:p>
          </p:txBody>
        </p:sp>
      </p:grpSp>
    </p:spTree>
    <p:extLst>
      <p:ext uri="{BB962C8B-B14F-4D97-AF65-F5344CB8AC3E}">
        <p14:creationId xmlns:p14="http://schemas.microsoft.com/office/powerpoint/2010/main" val="384517067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ctrTitle"/>
          </p:nvPr>
        </p:nvSpPr>
        <p:spPr>
          <a:xfrm>
            <a:off x="829732" y="1532466"/>
            <a:ext cx="7296573" cy="2997200"/>
          </a:xfrm>
        </p:spPr>
        <p:txBody>
          <a:bodyPr/>
          <a:lstStyle/>
          <a:p>
            <a:r>
              <a:rPr lang="sv-SE" sz="2800" dirty="0" smtClean="0"/>
              <a:t>Samlad läkemedelslista / NOD </a:t>
            </a:r>
            <a:r>
              <a:rPr lang="sv-SE" sz="2400" dirty="0" smtClean="0"/>
              <a:t/>
            </a:r>
            <a:br>
              <a:rPr lang="sv-SE" sz="2400" dirty="0" smtClean="0"/>
            </a:br>
            <a:r>
              <a:rPr lang="sv-SE" sz="2400" dirty="0" smtClean="0"/>
              <a:t/>
            </a:r>
            <a:br>
              <a:rPr lang="sv-SE" sz="2400" dirty="0" smtClean="0"/>
            </a:br>
            <a:r>
              <a:rPr lang="sv-SE" sz="2000" i="1" dirty="0" smtClean="0"/>
              <a:t>Regelverk &amp; säkerhetskrav </a:t>
            </a:r>
            <a:r>
              <a:rPr lang="sv-SE" sz="2000" i="1" dirty="0"/>
              <a:t/>
            </a:r>
            <a:br>
              <a:rPr lang="sv-SE" sz="2000" i="1" dirty="0"/>
            </a:br>
            <a:r>
              <a:rPr lang="sv-SE" sz="2000" i="1" dirty="0" smtClean="0"/>
              <a:t/>
            </a:r>
            <a:br>
              <a:rPr lang="sv-SE" sz="2000" i="1" dirty="0" smtClean="0"/>
            </a:br>
            <a:r>
              <a:rPr lang="sv-SE" sz="1800" b="0" i="1" dirty="0" smtClean="0"/>
              <a:t>Behörighetsstyrning</a:t>
            </a:r>
            <a:r>
              <a:rPr lang="sv-SE" sz="1800" b="0" i="1" dirty="0"/>
              <a:t> </a:t>
            </a:r>
            <a:r>
              <a:rPr lang="sv-SE" sz="1800" b="0" i="1" dirty="0" smtClean="0"/>
              <a:t>- roller</a:t>
            </a:r>
            <a:br>
              <a:rPr lang="sv-SE" sz="1800" b="0" i="1" dirty="0" smtClean="0"/>
            </a:br>
            <a:r>
              <a:rPr lang="sv-SE" sz="1800" b="0" i="1" dirty="0" smtClean="0"/>
              <a:t>Inloggning &amp; Kommunikationssäkerhet</a:t>
            </a:r>
            <a:br>
              <a:rPr lang="sv-SE" sz="1800" b="0" i="1" dirty="0" smtClean="0"/>
            </a:br>
            <a:r>
              <a:rPr lang="sv-SE" sz="1800" b="0" i="1" dirty="0" smtClean="0"/>
              <a:t>Spärr &amp; Samtycke</a:t>
            </a:r>
            <a:r>
              <a:rPr lang="sv-SE" sz="1800" b="0" i="1" dirty="0"/>
              <a:t/>
            </a:r>
            <a:br>
              <a:rPr lang="sv-SE" sz="1800" b="0" i="1" dirty="0"/>
            </a:br>
            <a:r>
              <a:rPr lang="sv-SE" sz="1800" b="0" i="1" dirty="0"/>
              <a:t/>
            </a:r>
            <a:br>
              <a:rPr lang="sv-SE" sz="1800" b="0" i="1" dirty="0"/>
            </a:br>
            <a:endParaRPr lang="sv-SE" sz="1800" b="0" i="1" dirty="0"/>
          </a:p>
        </p:txBody>
      </p:sp>
      <p:sp>
        <p:nvSpPr>
          <p:cNvPr id="5" name="Underrubrik 4"/>
          <p:cNvSpPr>
            <a:spLocks noGrp="1"/>
          </p:cNvSpPr>
          <p:nvPr>
            <p:ph type="subTitle" idx="1"/>
          </p:nvPr>
        </p:nvSpPr>
        <p:spPr>
          <a:xfrm>
            <a:off x="1371600" y="5080000"/>
            <a:ext cx="6400800" cy="558800"/>
          </a:xfrm>
        </p:spPr>
        <p:txBody>
          <a:bodyPr/>
          <a:lstStyle/>
          <a:p>
            <a:endParaRPr lang="sv-SE"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34</a:t>
            </a:fld>
            <a:endParaRPr lang="sv-SE">
              <a:latin typeface="Arial"/>
            </a:endParaRPr>
          </a:p>
        </p:txBody>
      </p:sp>
      <p:pic>
        <p:nvPicPr>
          <p:cNvPr id="6" name="Bildobjekt 5"/>
          <p:cNvPicPr>
            <a:picLocks noChangeAspect="1"/>
          </p:cNvPicPr>
          <p:nvPr/>
        </p:nvPicPr>
        <p:blipFill>
          <a:blip r:embed="rId3"/>
          <a:stretch>
            <a:fillRect/>
          </a:stretch>
        </p:blipFill>
        <p:spPr>
          <a:xfrm>
            <a:off x="7668139" y="18852"/>
            <a:ext cx="1384717" cy="1037201"/>
          </a:xfrm>
          <a:prstGeom prst="rect">
            <a:avLst/>
          </a:prstGeom>
        </p:spPr>
      </p:pic>
    </p:spTree>
    <p:extLst>
      <p:ext uri="{BB962C8B-B14F-4D97-AF65-F5344CB8AC3E}">
        <p14:creationId xmlns:p14="http://schemas.microsoft.com/office/powerpoint/2010/main" val="3844873219"/>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221823"/>
            <a:ext cx="6847564" cy="811107"/>
          </a:xfrm>
        </p:spPr>
        <p:txBody>
          <a:bodyPr/>
          <a:lstStyle/>
          <a:p>
            <a:r>
              <a:rPr lang="sv-SE" sz="2400" dirty="0" smtClean="0"/>
              <a:t>Ansvarsroller &amp; behörighet vs den samlade läkemedelslistan</a:t>
            </a:r>
            <a:endParaRPr lang="sv-SE" sz="2400" dirty="0"/>
          </a:p>
        </p:txBody>
      </p:sp>
      <p:sp>
        <p:nvSpPr>
          <p:cNvPr id="4" name="Platshållare för innehåll 3"/>
          <p:cNvSpPr>
            <a:spLocks noGrp="1"/>
          </p:cNvSpPr>
          <p:nvPr>
            <p:ph idx="1"/>
          </p:nvPr>
        </p:nvSpPr>
        <p:spPr>
          <a:xfrm>
            <a:off x="851638" y="4921752"/>
            <a:ext cx="5706002" cy="1341465"/>
          </a:xfrm>
        </p:spPr>
        <p:txBody>
          <a:bodyPr/>
          <a:lstStyle/>
          <a:p>
            <a:r>
              <a:rPr lang="sv-SE" sz="1200" dirty="0" smtClean="0"/>
              <a:t>”</a:t>
            </a:r>
            <a:r>
              <a:rPr lang="sv-SE" sz="1200" b="1" dirty="0" smtClean="0"/>
              <a:t>Ansvarig ordinatör</a:t>
            </a:r>
            <a:r>
              <a:rPr lang="sv-SE" sz="1200" dirty="0" smtClean="0"/>
              <a:t>” - ny roll för att stödja spårbarhet vid delegation</a:t>
            </a:r>
          </a:p>
          <a:p>
            <a:pPr lvl="1"/>
            <a:r>
              <a:rPr lang="sv-SE" sz="1200" dirty="0"/>
              <a:t>O</a:t>
            </a:r>
            <a:r>
              <a:rPr lang="sv-SE" sz="1200" dirty="0" smtClean="0"/>
              <a:t>rdination enligt generellt direktiv (”</a:t>
            </a:r>
            <a:r>
              <a:rPr lang="sv-SE" sz="1200" dirty="0" err="1" smtClean="0"/>
              <a:t>ramordination</a:t>
            </a:r>
            <a:r>
              <a:rPr lang="sv-SE" sz="1200" dirty="0" smtClean="0"/>
              <a:t>”)</a:t>
            </a:r>
          </a:p>
          <a:p>
            <a:pPr lvl="1"/>
            <a:r>
              <a:rPr lang="sv-SE" sz="1200" dirty="0" smtClean="0"/>
              <a:t>Sjuksköterska ändrar medicinering, </a:t>
            </a:r>
            <a:r>
              <a:rPr lang="sv-SE" sz="1200" dirty="0" err="1" smtClean="0"/>
              <a:t>dosjusterar</a:t>
            </a:r>
            <a:r>
              <a:rPr lang="sv-SE" sz="1200" dirty="0" smtClean="0"/>
              <a:t> etc. på sjuksköterskeledd mottagning (t ex. astma- eller diabetesmottagning)</a:t>
            </a:r>
          </a:p>
        </p:txBody>
      </p:sp>
      <p:sp>
        <p:nvSpPr>
          <p:cNvPr id="3" name="Platshållare för bildnummer 2"/>
          <p:cNvSpPr>
            <a:spLocks noGrp="1"/>
          </p:cNvSpPr>
          <p:nvPr>
            <p:ph type="sldNum" sz="quarter" idx="10"/>
          </p:nvPr>
        </p:nvSpPr>
        <p:spPr/>
        <p:txBody>
          <a:bodyPr/>
          <a:lstStyle/>
          <a:p>
            <a:fld id="{6EE46765-18A6-4212-A407-C65E2DCE0A05}" type="slidenum">
              <a:rPr lang="sv-SE" smtClean="0"/>
              <a:pPr/>
              <a:t>35</a:t>
            </a:fld>
            <a:endParaRPr lang="sv-SE"/>
          </a:p>
        </p:txBody>
      </p:sp>
      <p:sp>
        <p:nvSpPr>
          <p:cNvPr id="8" name="textruta 7"/>
          <p:cNvSpPr txBox="1"/>
          <p:nvPr/>
        </p:nvSpPr>
        <p:spPr>
          <a:xfrm>
            <a:off x="2317028" y="3111141"/>
            <a:ext cx="1087121" cy="276999"/>
          </a:xfrm>
          <a:prstGeom prst="rect">
            <a:avLst/>
          </a:prstGeom>
          <a:noFill/>
        </p:spPr>
        <p:txBody>
          <a:bodyPr wrap="square" rtlCol="0">
            <a:spAutoFit/>
          </a:bodyPr>
          <a:lstStyle/>
          <a:p>
            <a:pPr defTabSz="457200" fontAlgn="auto">
              <a:spcBef>
                <a:spcPts val="0"/>
              </a:spcBef>
              <a:spcAft>
                <a:spcPts val="0"/>
              </a:spcAft>
            </a:pPr>
            <a:r>
              <a:rPr lang="sv-SE" sz="1200" b="1" i="1" dirty="0" smtClean="0">
                <a:solidFill>
                  <a:srgbClr val="0000FF"/>
                </a:solidFill>
                <a:latin typeface="Calibri"/>
                <a:cs typeface="Arial" pitchFamily="34" charset="0"/>
              </a:rPr>
              <a:t>Registrerande</a:t>
            </a:r>
            <a:endParaRPr lang="sv-SE" sz="1200" b="1" i="1" dirty="0">
              <a:solidFill>
                <a:srgbClr val="0000FF"/>
              </a:solidFill>
              <a:latin typeface="Calibri"/>
              <a:cs typeface="Arial" pitchFamily="34" charset="0"/>
            </a:endParaRPr>
          </a:p>
        </p:txBody>
      </p:sp>
      <p:pic>
        <p:nvPicPr>
          <p:cNvPr id="9"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5401" y="2738511"/>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ktangel med rundade hörn 9"/>
          <p:cNvSpPr/>
          <p:nvPr/>
        </p:nvSpPr>
        <p:spPr bwMode="auto">
          <a:xfrm>
            <a:off x="3344335" y="2414617"/>
            <a:ext cx="1473200" cy="1025940"/>
          </a:xfrm>
          <a:prstGeom prst="roundRect">
            <a:avLst/>
          </a:prstGeom>
          <a:solidFill>
            <a:srgbClr val="FFFFFF"/>
          </a:solidFill>
          <a:ln/>
          <a:extLst/>
        </p:spPr>
        <p:style>
          <a:lnRef idx="1">
            <a:schemeClr val="accent6"/>
          </a:lnRef>
          <a:fillRef idx="2">
            <a:schemeClr val="accent6"/>
          </a:fillRef>
          <a:effectRef idx="1">
            <a:schemeClr val="accent6"/>
          </a:effectRef>
          <a:fontRef idx="minor">
            <a:schemeClr val="dk1"/>
          </a:fontRef>
        </p:style>
        <p:txBody>
          <a:bodyPr anchor="ctr"/>
          <a:lstStyle/>
          <a:p>
            <a:pPr defTabSz="914400" fontAlgn="base">
              <a:spcBef>
                <a:spcPct val="0"/>
              </a:spcBef>
              <a:spcAft>
                <a:spcPct val="0"/>
              </a:spcAft>
            </a:pPr>
            <a:r>
              <a:rPr lang="sv-SE" sz="1100" b="1" dirty="0" smtClean="0">
                <a:solidFill>
                  <a:srgbClr val="382819"/>
                </a:solidFill>
                <a:latin typeface="Calibri"/>
                <a:cs typeface="Calibri"/>
              </a:rPr>
              <a:t>Tjänstekonsument</a:t>
            </a:r>
            <a:br>
              <a:rPr lang="sv-SE" sz="1100" b="1" dirty="0" smtClean="0">
                <a:solidFill>
                  <a:srgbClr val="382819"/>
                </a:solidFill>
                <a:latin typeface="Calibri"/>
                <a:cs typeface="Calibri"/>
              </a:rPr>
            </a:br>
            <a:r>
              <a:rPr lang="sv-SE" sz="1100" b="1" dirty="0" smtClean="0">
                <a:solidFill>
                  <a:srgbClr val="382819"/>
                </a:solidFill>
                <a:latin typeface="Calibri"/>
                <a:cs typeface="Calibri"/>
              </a:rPr>
              <a:t>(Vårdsystem)</a:t>
            </a:r>
            <a:endParaRPr lang="sv-SE" sz="1200" b="1" dirty="0" smtClean="0">
              <a:solidFill>
                <a:srgbClr val="382819"/>
              </a:solidFill>
              <a:latin typeface="Calibri"/>
              <a:cs typeface="Calibri"/>
            </a:endParaRPr>
          </a:p>
          <a:p>
            <a:pPr defTabSz="914400" fontAlgn="base">
              <a:spcBef>
                <a:spcPct val="0"/>
              </a:spcBef>
              <a:spcAft>
                <a:spcPct val="0"/>
              </a:spcAft>
            </a:pPr>
            <a:endParaRPr lang="sv-SE" sz="1200" b="1" dirty="0">
              <a:solidFill>
                <a:srgbClr val="382819"/>
              </a:solidFill>
              <a:latin typeface="Calibri"/>
              <a:cs typeface="Calibri"/>
            </a:endParaRPr>
          </a:p>
          <a:p>
            <a:pPr defTabSz="914400" fontAlgn="base">
              <a:spcBef>
                <a:spcPct val="0"/>
              </a:spcBef>
              <a:spcAft>
                <a:spcPct val="0"/>
              </a:spcAft>
            </a:pPr>
            <a:endParaRPr lang="sv-SE" sz="1200" b="1" dirty="0" smtClean="0">
              <a:solidFill>
                <a:srgbClr val="382819"/>
              </a:solidFill>
              <a:latin typeface="Calibri"/>
              <a:cs typeface="Calibri"/>
            </a:endParaRPr>
          </a:p>
          <a:p>
            <a:pPr defTabSz="914400" fontAlgn="base">
              <a:spcBef>
                <a:spcPct val="0"/>
              </a:spcBef>
              <a:spcAft>
                <a:spcPct val="0"/>
              </a:spcAft>
            </a:pPr>
            <a:endParaRPr lang="sv-SE" sz="1100" dirty="0" smtClean="0">
              <a:solidFill>
                <a:srgbClr val="382819"/>
              </a:solidFill>
              <a:latin typeface="Calibri"/>
              <a:cs typeface="Calibri"/>
            </a:endParaRPr>
          </a:p>
          <a:p>
            <a:pPr defTabSz="914400" fontAlgn="base">
              <a:spcBef>
                <a:spcPct val="0"/>
              </a:spcBef>
              <a:spcAft>
                <a:spcPct val="0"/>
              </a:spcAft>
            </a:pPr>
            <a:endParaRPr lang="sv-SE" sz="1100" dirty="0">
              <a:solidFill>
                <a:srgbClr val="382819"/>
              </a:solidFill>
              <a:latin typeface="Calibri"/>
              <a:cs typeface="Calibri"/>
            </a:endParaRPr>
          </a:p>
        </p:txBody>
      </p:sp>
      <p:grpSp>
        <p:nvGrpSpPr>
          <p:cNvPr id="5" name="Grupp 4"/>
          <p:cNvGrpSpPr/>
          <p:nvPr/>
        </p:nvGrpSpPr>
        <p:grpSpPr>
          <a:xfrm>
            <a:off x="4936066" y="1974135"/>
            <a:ext cx="1728252" cy="1828503"/>
            <a:chOff x="4936066" y="1974135"/>
            <a:chExt cx="1728252" cy="1828503"/>
          </a:xfrm>
        </p:grpSpPr>
        <p:sp>
          <p:nvSpPr>
            <p:cNvPr id="11" name="Cylinder 10"/>
            <p:cNvSpPr/>
            <p:nvPr/>
          </p:nvSpPr>
          <p:spPr>
            <a:xfrm>
              <a:off x="5645484" y="3148034"/>
              <a:ext cx="1018834" cy="654604"/>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defTabSz="914400" fontAlgn="base">
                <a:spcBef>
                  <a:spcPct val="0"/>
                </a:spcBef>
                <a:spcAft>
                  <a:spcPct val="0"/>
                </a:spcAft>
              </a:pPr>
              <a:r>
                <a:rPr lang="sv-SE" sz="1000" dirty="0" smtClean="0">
                  <a:solidFill>
                    <a:srgbClr val="382819"/>
                  </a:solidFill>
                  <a:latin typeface="Arial"/>
                  <a:ea typeface="ＭＳ Ｐゴシック" pitchFamily="-112" charset="-128"/>
                  <a:cs typeface="ＭＳ Ｐゴシック" pitchFamily="-112" charset="-128"/>
                </a:rPr>
                <a:t>NOD</a:t>
              </a:r>
              <a:endParaRPr lang="sv-SE" sz="1000" dirty="0">
                <a:solidFill>
                  <a:srgbClr val="382819"/>
                </a:solidFill>
                <a:latin typeface="Arial"/>
                <a:ea typeface="ＭＳ Ｐゴシック" pitchFamily="-112" charset="-128"/>
                <a:cs typeface="ＭＳ Ｐゴシック" pitchFamily="-112" charset="-128"/>
              </a:endParaRPr>
            </a:p>
          </p:txBody>
        </p:sp>
        <p:sp>
          <p:nvSpPr>
            <p:cNvPr id="12" name="Rektangel med rundade hörn 11"/>
            <p:cNvSpPr/>
            <p:nvPr/>
          </p:nvSpPr>
          <p:spPr>
            <a:xfrm rot="16200000">
              <a:off x="5050231" y="2212136"/>
              <a:ext cx="1394965" cy="1433578"/>
            </a:xfrm>
            <a:prstGeom prst="roundRect">
              <a:avLst>
                <a:gd name="adj" fmla="val 8787"/>
              </a:avLst>
            </a:prstGeom>
            <a:ln>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Läkemedelslista</a:t>
              </a:r>
              <a:br>
                <a:rPr lang="sv-SE" sz="900" dirty="0">
                  <a:solidFill>
                    <a:srgbClr val="382819"/>
                  </a:solidFill>
                  <a:latin typeface="Arial"/>
                  <a:ea typeface="ＭＳ Ｐゴシック" pitchFamily="-112" charset="-128"/>
                  <a:cs typeface="ＭＳ Ｐゴシック" pitchFamily="-112" charset="-128"/>
                </a:rPr>
              </a:br>
              <a:endParaRPr lang="sv-SE" sz="900" dirty="0">
                <a:solidFill>
                  <a:srgbClr val="382819"/>
                </a:solidFill>
                <a:latin typeface="Arial"/>
                <a:ea typeface="ＭＳ Ｐゴシック" pitchFamily="-112" charset="-128"/>
                <a:cs typeface="ＭＳ Ｐゴシック" pitchFamily="-112" charset="-128"/>
              </a:endParaRPr>
            </a:p>
          </p:txBody>
        </p:sp>
        <p:sp>
          <p:nvSpPr>
            <p:cNvPr id="13" name="Rektangel med rundade hörn 12"/>
            <p:cNvSpPr/>
            <p:nvPr/>
          </p:nvSpPr>
          <p:spPr>
            <a:xfrm>
              <a:off x="5289591" y="2508982"/>
              <a:ext cx="987231" cy="314554"/>
            </a:xfrm>
            <a:prstGeom prst="roundRect">
              <a:avLst/>
            </a:prstGeom>
            <a:solidFill>
              <a:schemeClr val="bg1"/>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tx1"/>
                  </a:solidFill>
                  <a:latin typeface="Arial"/>
                  <a:ea typeface="ＭＳ Ｐゴシック" pitchFamily="-112" charset="-128"/>
                  <a:cs typeface="ＭＳ Ｐゴシック" pitchFamily="-112" charset="-128"/>
                </a:rPr>
                <a:t>Läkemedels-</a:t>
              </a:r>
              <a:r>
                <a:rPr lang="sv-SE" sz="900" dirty="0" smtClean="0">
                  <a:solidFill>
                    <a:schemeClr val="tx1"/>
                  </a:solidFill>
                  <a:latin typeface="Arial"/>
                  <a:ea typeface="ＭＳ Ｐゴシック" pitchFamily="-112" charset="-128"/>
                  <a:cs typeface="ＭＳ Ｐゴシック" pitchFamily="-112" charset="-128"/>
                </a:rPr>
                <a:t>ordination</a:t>
              </a:r>
              <a:endParaRPr lang="sv-SE" sz="900" dirty="0">
                <a:solidFill>
                  <a:schemeClr val="tx1"/>
                </a:solidFill>
                <a:latin typeface="Arial"/>
                <a:ea typeface="ＭＳ Ｐゴシック" pitchFamily="-112" charset="-128"/>
                <a:cs typeface="ＭＳ Ｐゴシック" pitchFamily="-112" charset="-128"/>
              </a:endParaRPr>
            </a:p>
          </p:txBody>
        </p:sp>
        <p:sp>
          <p:nvSpPr>
            <p:cNvPr id="14" name="Rektangel med rundade hörn 13"/>
            <p:cNvSpPr/>
            <p:nvPr/>
          </p:nvSpPr>
          <p:spPr>
            <a:xfrm>
              <a:off x="5289592" y="2823536"/>
              <a:ext cx="987230" cy="324497"/>
            </a:xfrm>
            <a:prstGeom prst="roundRect">
              <a:avLst/>
            </a:prstGeom>
            <a:solidFill>
              <a:schemeClr val="bg1"/>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tx1"/>
                  </a:solidFill>
                  <a:latin typeface="Arial"/>
                  <a:ea typeface="ＭＳ Ｐゴシック" pitchFamily="-112" charset="-128"/>
                  <a:cs typeface="ＭＳ Ｐゴシック" pitchFamily="-112" charset="-128"/>
                </a:rPr>
                <a:t>Läkemedels-</a:t>
              </a:r>
              <a:r>
                <a:rPr lang="sv-SE" sz="900" dirty="0">
                  <a:solidFill>
                    <a:schemeClr val="tx1"/>
                  </a:solidFill>
                  <a:latin typeface="Arial" charset="0"/>
                </a:rPr>
                <a:t>förskrivning</a:t>
              </a:r>
              <a:endParaRPr lang="sv-SE" sz="900" dirty="0">
                <a:solidFill>
                  <a:schemeClr val="tx1"/>
                </a:solidFill>
                <a:latin typeface="Arial"/>
                <a:ea typeface="ＭＳ Ｐゴシック" pitchFamily="-112" charset="-128"/>
                <a:cs typeface="ＭＳ Ｐゴシック" pitchFamily="-112" charset="-128"/>
              </a:endParaRPr>
            </a:p>
          </p:txBody>
        </p:sp>
        <p:sp>
          <p:nvSpPr>
            <p:cNvPr id="16" name="Rektangel med rundade hörn 15"/>
            <p:cNvSpPr/>
            <p:nvPr/>
          </p:nvSpPr>
          <p:spPr>
            <a:xfrm>
              <a:off x="5289591" y="3148033"/>
              <a:ext cx="987230" cy="226533"/>
            </a:xfrm>
            <a:prstGeom prst="roundRect">
              <a:avLst/>
            </a:prstGeom>
            <a:solidFill>
              <a:schemeClr val="bg1"/>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chemeClr val="tx1"/>
                  </a:solidFill>
                  <a:latin typeface="Arial"/>
                  <a:ea typeface="ＭＳ Ｐゴシック" pitchFamily="-112" charset="-128"/>
                  <a:cs typeface="ＭＳ Ｐゴシック" pitchFamily="-112" charset="-128"/>
                </a:rPr>
                <a:t>Expediering</a:t>
              </a:r>
              <a:endParaRPr lang="sv-SE" sz="900" dirty="0">
                <a:solidFill>
                  <a:schemeClr val="tx1"/>
                </a:solidFill>
                <a:latin typeface="Arial"/>
                <a:ea typeface="ＭＳ Ｐゴシック" pitchFamily="-112" charset="-128"/>
                <a:cs typeface="ＭＳ Ｐゴシック" pitchFamily="-112" charset="-128"/>
              </a:endParaRPr>
            </a:p>
          </p:txBody>
        </p:sp>
        <p:sp>
          <p:nvSpPr>
            <p:cNvPr id="17" name="textruta 16"/>
            <p:cNvSpPr txBox="1"/>
            <p:nvPr/>
          </p:nvSpPr>
          <p:spPr>
            <a:xfrm>
              <a:off x="4936066" y="1974135"/>
              <a:ext cx="1728251" cy="253916"/>
            </a:xfrm>
            <a:prstGeom prst="rect">
              <a:avLst/>
            </a:prstGeom>
            <a:noFill/>
          </p:spPr>
          <p:txBody>
            <a:bodyPr wrap="square" rtlCol="0">
              <a:spAutoFit/>
            </a:bodyPr>
            <a:lstStyle/>
            <a:p>
              <a:r>
                <a:rPr lang="sv-SE" sz="1000" b="1" dirty="0" smtClean="0">
                  <a:solidFill>
                    <a:prstClr val="black"/>
                  </a:solidFill>
                  <a:latin typeface="Arial"/>
                  <a:cs typeface="Arial"/>
                </a:rPr>
                <a:t>Tjänsteproducent (NOD</a:t>
              </a:r>
              <a:r>
                <a:rPr lang="sv-SE" sz="1000" dirty="0" smtClean="0">
                  <a:solidFill>
                    <a:prstClr val="black"/>
                  </a:solidFill>
                  <a:latin typeface="Arial"/>
                  <a:cs typeface="Arial"/>
                </a:rPr>
                <a:t>)</a:t>
              </a:r>
              <a:endParaRPr lang="sv-SE" sz="1000" dirty="0">
                <a:solidFill>
                  <a:prstClr val="black"/>
                </a:solidFill>
                <a:latin typeface="Arial"/>
                <a:cs typeface="Arial"/>
              </a:endParaRPr>
            </a:p>
          </p:txBody>
        </p:sp>
      </p:grpSp>
      <p:pic>
        <p:nvPicPr>
          <p:cNvPr id="20" name="Picture 159" descr="Dator med kortläsare"/>
          <p:cNvPicPr>
            <a:picLocks noChangeAspect="1" noChangeArrowheads="1"/>
          </p:cNvPicPr>
          <p:nvPr/>
        </p:nvPicPr>
        <p:blipFill>
          <a:blip r:embed="rId3" cstate="email">
            <a:extLst>
              <a:ext uri="{28A0092B-C50C-407E-A947-70E740481C1C}">
                <a14:useLocalDpi xmlns:a14="http://schemas.microsoft.com/office/drawing/2010/main"/>
              </a:ext>
            </a:extLst>
          </a:blip>
          <a:srcRect t="23662"/>
          <a:stretch>
            <a:fillRect/>
          </a:stretch>
        </p:blipFill>
        <p:spPr bwMode="auto">
          <a:xfrm>
            <a:off x="2918752" y="2512328"/>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17081" y="2179711"/>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Rak 23"/>
          <p:cNvCxnSpPr>
            <a:stCxn id="10" idx="3"/>
            <a:endCxn id="12" idx="0"/>
          </p:cNvCxnSpPr>
          <p:nvPr/>
        </p:nvCxnSpPr>
        <p:spPr bwMode="auto">
          <a:xfrm>
            <a:off x="4817535" y="2927587"/>
            <a:ext cx="213390" cy="1338"/>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516086" y="2194877"/>
            <a:ext cx="883920" cy="276999"/>
          </a:xfrm>
          <a:prstGeom prst="rect">
            <a:avLst/>
          </a:prstGeom>
          <a:noFill/>
        </p:spPr>
        <p:txBody>
          <a:bodyPr wrap="square" rtlCol="0">
            <a:spAutoFit/>
          </a:bodyPr>
          <a:lstStyle/>
          <a:p>
            <a:pPr defTabSz="457200" fontAlgn="auto">
              <a:spcBef>
                <a:spcPts val="0"/>
              </a:spcBef>
              <a:spcAft>
                <a:spcPts val="0"/>
              </a:spcAft>
            </a:pPr>
            <a:r>
              <a:rPr lang="sv-SE" sz="1200" b="1" i="1" dirty="0" smtClean="0">
                <a:solidFill>
                  <a:srgbClr val="0000FF"/>
                </a:solidFill>
                <a:latin typeface="Calibri"/>
                <a:cs typeface="Arial" pitchFamily="34" charset="0"/>
              </a:rPr>
              <a:t>Ordinatör</a:t>
            </a:r>
            <a:endParaRPr lang="sv-SE" sz="1200" b="1" i="1" dirty="0">
              <a:solidFill>
                <a:srgbClr val="0000FF"/>
              </a:solidFill>
              <a:latin typeface="Calibri"/>
              <a:cs typeface="Arial" pitchFamily="34" charset="0"/>
            </a:endParaRPr>
          </a:p>
        </p:txBody>
      </p:sp>
      <p:pic>
        <p:nvPicPr>
          <p:cNvPr id="32"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27241" y="2697871"/>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ruta 32"/>
          <p:cNvSpPr txBox="1"/>
          <p:nvPr/>
        </p:nvSpPr>
        <p:spPr>
          <a:xfrm>
            <a:off x="1546566" y="2958741"/>
            <a:ext cx="894080" cy="276999"/>
          </a:xfrm>
          <a:prstGeom prst="rect">
            <a:avLst/>
          </a:prstGeom>
          <a:noFill/>
        </p:spPr>
        <p:txBody>
          <a:bodyPr wrap="square" rtlCol="0">
            <a:spAutoFit/>
          </a:bodyPr>
          <a:lstStyle/>
          <a:p>
            <a:pPr defTabSz="457200" fontAlgn="auto">
              <a:spcBef>
                <a:spcPts val="0"/>
              </a:spcBef>
              <a:spcAft>
                <a:spcPts val="0"/>
              </a:spcAft>
            </a:pPr>
            <a:r>
              <a:rPr lang="sv-SE" sz="1200" b="1" i="1" dirty="0" smtClean="0">
                <a:solidFill>
                  <a:srgbClr val="0000FF"/>
                </a:solidFill>
                <a:latin typeface="Calibri"/>
                <a:cs typeface="Arial" pitchFamily="34" charset="0"/>
              </a:rPr>
              <a:t>Förskrivare</a:t>
            </a:r>
            <a:endParaRPr lang="sv-SE" sz="1200" b="1" i="1" dirty="0">
              <a:solidFill>
                <a:srgbClr val="0000FF"/>
              </a:solidFill>
              <a:latin typeface="Calibri"/>
              <a:cs typeface="Arial" pitchFamily="34" charset="0"/>
            </a:endParaRPr>
          </a:p>
        </p:txBody>
      </p:sp>
      <p:cxnSp>
        <p:nvCxnSpPr>
          <p:cNvPr id="37" name="Rak 36"/>
          <p:cNvCxnSpPr>
            <a:stCxn id="23" idx="2"/>
            <a:endCxn id="9" idx="1"/>
          </p:cNvCxnSpPr>
          <p:nvPr/>
        </p:nvCxnSpPr>
        <p:spPr bwMode="auto">
          <a:xfrm>
            <a:off x="2414066" y="2557862"/>
            <a:ext cx="431335" cy="36972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Rak 39"/>
          <p:cNvCxnSpPr>
            <a:stCxn id="10" idx="1"/>
            <a:endCxn id="9" idx="3"/>
          </p:cNvCxnSpPr>
          <p:nvPr/>
        </p:nvCxnSpPr>
        <p:spPr bwMode="auto">
          <a:xfrm flipH="1">
            <a:off x="3039370" y="2927587"/>
            <a:ext cx="304965"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Rak 44"/>
          <p:cNvCxnSpPr>
            <a:stCxn id="32" idx="3"/>
            <a:endCxn id="9" idx="1"/>
          </p:cNvCxnSpPr>
          <p:nvPr/>
        </p:nvCxnSpPr>
        <p:spPr bwMode="auto">
          <a:xfrm>
            <a:off x="2521210" y="2886947"/>
            <a:ext cx="324191" cy="4064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 name="Grupp 20"/>
          <p:cNvGrpSpPr/>
          <p:nvPr/>
        </p:nvGrpSpPr>
        <p:grpSpPr>
          <a:xfrm>
            <a:off x="1363685" y="1351597"/>
            <a:ext cx="1116885" cy="828114"/>
            <a:chOff x="1950720" y="3271520"/>
            <a:chExt cx="1116885" cy="828114"/>
          </a:xfrm>
        </p:grpSpPr>
        <p:sp>
          <p:nvSpPr>
            <p:cNvPr id="30" name="textruta 29"/>
            <p:cNvSpPr txBox="1"/>
            <p:nvPr/>
          </p:nvSpPr>
          <p:spPr>
            <a:xfrm>
              <a:off x="1950720" y="3271520"/>
              <a:ext cx="975361" cy="461665"/>
            </a:xfrm>
            <a:prstGeom prst="rect">
              <a:avLst/>
            </a:prstGeom>
            <a:noFill/>
          </p:spPr>
          <p:txBody>
            <a:bodyPr wrap="square" rtlCol="0">
              <a:spAutoFit/>
            </a:bodyPr>
            <a:lstStyle/>
            <a:p>
              <a:pPr defTabSz="457200" fontAlgn="auto">
                <a:spcBef>
                  <a:spcPts val="0"/>
                </a:spcBef>
                <a:spcAft>
                  <a:spcPts val="0"/>
                </a:spcAft>
              </a:pPr>
              <a:r>
                <a:rPr lang="sv-SE" sz="1200" b="1" i="1" dirty="0" smtClean="0">
                  <a:solidFill>
                    <a:srgbClr val="0000FF"/>
                  </a:solidFill>
                  <a:latin typeface="Calibri"/>
                  <a:cs typeface="Arial" pitchFamily="34" charset="0"/>
                </a:rPr>
                <a:t>Ansvarig Ordinatör</a:t>
              </a:r>
              <a:endParaRPr lang="sv-SE" sz="1200" b="1" i="1" dirty="0">
                <a:solidFill>
                  <a:srgbClr val="0000FF"/>
                </a:solidFill>
                <a:latin typeface="Calibri"/>
                <a:cs typeface="Arial" pitchFamily="34" charset="0"/>
              </a:endParaRPr>
            </a:p>
          </p:txBody>
        </p:sp>
        <p:pic>
          <p:nvPicPr>
            <p:cNvPr id="31"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73636" y="328683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Rak 33"/>
            <p:cNvCxnSpPr>
              <a:stCxn id="31" idx="2"/>
              <a:endCxn id="23" idx="0"/>
            </p:cNvCxnSpPr>
            <p:nvPr/>
          </p:nvCxnSpPr>
          <p:spPr bwMode="auto">
            <a:xfrm>
              <a:off x="2970621" y="3664985"/>
              <a:ext cx="22013" cy="434649"/>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50" name="Bildobjekt 49"/>
          <p:cNvPicPr>
            <a:picLocks noChangeAspect="1"/>
          </p:cNvPicPr>
          <p:nvPr/>
        </p:nvPicPr>
        <p:blipFill>
          <a:blip r:embed="rId4"/>
          <a:stretch>
            <a:fillRect/>
          </a:stretch>
        </p:blipFill>
        <p:spPr>
          <a:xfrm flipH="1">
            <a:off x="1251925" y="2474599"/>
            <a:ext cx="269240" cy="337498"/>
          </a:xfrm>
          <a:prstGeom prst="rect">
            <a:avLst/>
          </a:prstGeom>
        </p:spPr>
      </p:pic>
      <p:sp>
        <p:nvSpPr>
          <p:cNvPr id="51" name="textruta 50"/>
          <p:cNvSpPr txBox="1"/>
          <p:nvPr/>
        </p:nvSpPr>
        <p:spPr>
          <a:xfrm>
            <a:off x="916646" y="2227221"/>
            <a:ext cx="772159" cy="276999"/>
          </a:xfrm>
          <a:prstGeom prst="rect">
            <a:avLst/>
          </a:prstGeom>
          <a:noFill/>
        </p:spPr>
        <p:txBody>
          <a:bodyPr wrap="square" rtlCol="0">
            <a:spAutoFit/>
          </a:bodyPr>
          <a:lstStyle/>
          <a:p>
            <a:pPr defTabSz="457200" fontAlgn="auto">
              <a:spcBef>
                <a:spcPts val="0"/>
              </a:spcBef>
              <a:spcAft>
                <a:spcPts val="0"/>
              </a:spcAft>
            </a:pPr>
            <a:r>
              <a:rPr lang="sv-SE" sz="1200" i="1" dirty="0">
                <a:solidFill>
                  <a:prstClr val="black"/>
                </a:solidFill>
                <a:latin typeface="Calibri"/>
                <a:cs typeface="Arial" pitchFamily="34" charset="0"/>
              </a:rPr>
              <a:t>P</a:t>
            </a:r>
            <a:r>
              <a:rPr lang="sv-SE" sz="1200" i="1" dirty="0" smtClean="0">
                <a:solidFill>
                  <a:prstClr val="black"/>
                </a:solidFill>
                <a:latin typeface="Calibri"/>
                <a:cs typeface="Arial" pitchFamily="34" charset="0"/>
              </a:rPr>
              <a:t>atient</a:t>
            </a:r>
            <a:endParaRPr lang="sv-SE" sz="1200" i="1" dirty="0">
              <a:solidFill>
                <a:prstClr val="black"/>
              </a:solidFill>
              <a:latin typeface="Calibri"/>
              <a:cs typeface="Arial" pitchFamily="34" charset="0"/>
            </a:endParaRPr>
          </a:p>
        </p:txBody>
      </p:sp>
      <p:cxnSp>
        <p:nvCxnSpPr>
          <p:cNvPr id="52" name="Rak 51"/>
          <p:cNvCxnSpPr>
            <a:stCxn id="23" idx="2"/>
            <a:endCxn id="50" idx="1"/>
          </p:cNvCxnSpPr>
          <p:nvPr/>
        </p:nvCxnSpPr>
        <p:spPr bwMode="auto">
          <a:xfrm flipH="1">
            <a:off x="1521165" y="2557862"/>
            <a:ext cx="892901" cy="8548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Rak 56"/>
          <p:cNvCxnSpPr>
            <a:stCxn id="32" idx="1"/>
            <a:endCxn id="50" idx="1"/>
          </p:cNvCxnSpPr>
          <p:nvPr/>
        </p:nvCxnSpPr>
        <p:spPr bwMode="auto">
          <a:xfrm flipH="1" flipV="1">
            <a:off x="1521165" y="2643348"/>
            <a:ext cx="806076" cy="24359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undad rektangulär 37"/>
          <p:cNvSpPr/>
          <p:nvPr/>
        </p:nvSpPr>
        <p:spPr bwMode="auto">
          <a:xfrm>
            <a:off x="406951" y="3661302"/>
            <a:ext cx="1820334" cy="615347"/>
          </a:xfrm>
          <a:prstGeom prst="wedgeRoundRectCallout">
            <a:avLst>
              <a:gd name="adj1" fmla="val -16264"/>
              <a:gd name="adj2" fmla="val -2167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Ekonomiskt ansvar</a:t>
            </a:r>
          </a:p>
          <a:p>
            <a:r>
              <a:rPr lang="sv-SE" sz="1000" i="1" dirty="0" smtClean="0">
                <a:solidFill>
                  <a:srgbClr val="3366FF"/>
                </a:solidFill>
              </a:rPr>
              <a:t>för förskrivet läkemedel utanför förmån</a:t>
            </a:r>
            <a:endParaRPr lang="sv-SE" sz="1000" i="1" dirty="0">
              <a:solidFill>
                <a:srgbClr val="3366FF"/>
              </a:solidFill>
            </a:endParaRPr>
          </a:p>
        </p:txBody>
      </p:sp>
      <p:sp>
        <p:nvSpPr>
          <p:cNvPr id="41" name="textruta 40"/>
          <p:cNvSpPr txBox="1"/>
          <p:nvPr/>
        </p:nvSpPr>
        <p:spPr>
          <a:xfrm>
            <a:off x="1302726" y="3344821"/>
            <a:ext cx="894080" cy="276999"/>
          </a:xfrm>
          <a:prstGeom prst="rect">
            <a:avLst/>
          </a:prstGeom>
          <a:noFill/>
        </p:spPr>
        <p:txBody>
          <a:bodyPr wrap="square" rtlCol="0">
            <a:spAutoFit/>
          </a:bodyPr>
          <a:lstStyle/>
          <a:p>
            <a:pPr defTabSz="457200" fontAlgn="auto">
              <a:spcBef>
                <a:spcPts val="0"/>
              </a:spcBef>
              <a:spcAft>
                <a:spcPts val="0"/>
              </a:spcAft>
            </a:pPr>
            <a:r>
              <a:rPr lang="sv-SE" sz="1200" i="1" dirty="0" smtClean="0">
                <a:solidFill>
                  <a:prstClr val="black"/>
                </a:solidFill>
                <a:latin typeface="Calibri"/>
                <a:cs typeface="Arial" pitchFamily="34" charset="0"/>
              </a:rPr>
              <a:t>Arbetsplats</a:t>
            </a:r>
            <a:endParaRPr lang="sv-SE" sz="1200" i="1" dirty="0">
              <a:solidFill>
                <a:prstClr val="black"/>
              </a:solidFill>
              <a:latin typeface="Calibri"/>
              <a:cs typeface="Arial" pitchFamily="34" charset="0"/>
            </a:endParaRPr>
          </a:p>
        </p:txBody>
      </p:sp>
      <p:sp>
        <p:nvSpPr>
          <p:cNvPr id="36" name="Rundad rektangulär 35"/>
          <p:cNvSpPr/>
          <p:nvPr/>
        </p:nvSpPr>
        <p:spPr bwMode="auto">
          <a:xfrm>
            <a:off x="2703111" y="1771542"/>
            <a:ext cx="1627294" cy="445088"/>
          </a:xfrm>
          <a:prstGeom prst="wedgeRoundRectCallout">
            <a:avLst>
              <a:gd name="adj1" fmla="val -16264"/>
              <a:gd name="adj2" fmla="val -2167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Ansvar för behandling och uppföljning</a:t>
            </a:r>
            <a:endParaRPr lang="sv-SE" sz="1000" i="1" dirty="0">
              <a:solidFill>
                <a:srgbClr val="3366FF"/>
              </a:solidFill>
            </a:endParaRPr>
          </a:p>
        </p:txBody>
      </p:sp>
      <p:cxnSp>
        <p:nvCxnSpPr>
          <p:cNvPr id="43" name="Rak 42"/>
          <p:cNvCxnSpPr>
            <a:stCxn id="33" idx="2"/>
            <a:endCxn id="41" idx="0"/>
          </p:cNvCxnSpPr>
          <p:nvPr/>
        </p:nvCxnSpPr>
        <p:spPr bwMode="auto">
          <a:xfrm flipH="1">
            <a:off x="1749766" y="3235740"/>
            <a:ext cx="243840" cy="10908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Rundad rektangulär 43"/>
          <p:cNvSpPr/>
          <p:nvPr/>
        </p:nvSpPr>
        <p:spPr bwMode="auto">
          <a:xfrm>
            <a:off x="2550711" y="3508902"/>
            <a:ext cx="2023534" cy="615347"/>
          </a:xfrm>
          <a:prstGeom prst="wedgeRoundRectCallout">
            <a:avLst>
              <a:gd name="adj1" fmla="val -16264"/>
              <a:gd name="adj2" fmla="val -2167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Vem dokumenterade vad?</a:t>
            </a:r>
            <a:br>
              <a:rPr lang="sv-SE" sz="1000" i="1" dirty="0" smtClean="0">
                <a:solidFill>
                  <a:srgbClr val="3366FF"/>
                </a:solidFill>
              </a:rPr>
            </a:br>
            <a:r>
              <a:rPr lang="sv-SE" sz="1000" i="1" dirty="0" smtClean="0">
                <a:solidFill>
                  <a:srgbClr val="3366FF"/>
                </a:solidFill>
              </a:rPr>
              <a:t>Vems journaluppgifter?</a:t>
            </a:r>
          </a:p>
          <a:p>
            <a:r>
              <a:rPr lang="sv-SE" sz="1000" i="1" dirty="0" smtClean="0">
                <a:solidFill>
                  <a:srgbClr val="3366FF"/>
                </a:solidFill>
              </a:rPr>
              <a:t>Loggar</a:t>
            </a:r>
            <a:endParaRPr lang="sv-SE" sz="1000" i="1" dirty="0">
              <a:solidFill>
                <a:srgbClr val="3366FF"/>
              </a:solidFill>
            </a:endParaRPr>
          </a:p>
        </p:txBody>
      </p:sp>
      <p:sp>
        <p:nvSpPr>
          <p:cNvPr id="49" name="Rundad rektangulär 48"/>
          <p:cNvSpPr/>
          <p:nvPr/>
        </p:nvSpPr>
        <p:spPr bwMode="auto">
          <a:xfrm>
            <a:off x="222378" y="2886947"/>
            <a:ext cx="1388535" cy="445088"/>
          </a:xfrm>
          <a:prstGeom prst="wedgeRoundRectCallout">
            <a:avLst>
              <a:gd name="adj1" fmla="val -16264"/>
              <a:gd name="adj2" fmla="val -2167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a:solidFill>
                  <a:srgbClr val="3366FF"/>
                </a:solidFill>
              </a:rPr>
              <a:t>A</a:t>
            </a:r>
            <a:r>
              <a:rPr lang="sv-SE" sz="1000" i="1" dirty="0" smtClean="0">
                <a:solidFill>
                  <a:srgbClr val="3366FF"/>
                </a:solidFill>
              </a:rPr>
              <a:t>nsvar</a:t>
            </a:r>
          </a:p>
          <a:p>
            <a:r>
              <a:rPr lang="sv-SE" sz="1000" i="1" dirty="0" smtClean="0">
                <a:solidFill>
                  <a:srgbClr val="3366FF"/>
                </a:solidFill>
              </a:rPr>
              <a:t>för förskrivningen</a:t>
            </a:r>
            <a:endParaRPr lang="sv-SE" sz="1000" i="1" dirty="0">
              <a:solidFill>
                <a:srgbClr val="3366FF"/>
              </a:solidFill>
            </a:endParaRPr>
          </a:p>
        </p:txBody>
      </p:sp>
      <p:sp>
        <p:nvSpPr>
          <p:cNvPr id="39" name="Platshållare för innehåll 3"/>
          <p:cNvSpPr txBox="1">
            <a:spLocks/>
          </p:cNvSpPr>
          <p:nvPr/>
        </p:nvSpPr>
        <p:spPr bwMode="auto">
          <a:xfrm>
            <a:off x="6696075" y="1250161"/>
            <a:ext cx="2286000" cy="4896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67" tIns="47883" rIns="95767" bIns="47883" numCol="1" anchor="t" anchorCtr="0" compatLnSpc="1">
            <a:prstTxWarp prst="textNoShape">
              <a:avLst/>
            </a:prstTxWarp>
          </a:bodyPr>
          <a:lstStyle>
            <a:lvl1pPr marL="187325" indent="-187325" algn="l" defTabSz="957263" rtl="0" fontAlgn="base">
              <a:lnSpc>
                <a:spcPct val="120000"/>
              </a:lnSpc>
              <a:spcBef>
                <a:spcPct val="20000"/>
              </a:spcBef>
              <a:spcAft>
                <a:spcPct val="20000"/>
              </a:spcAft>
              <a:buClr>
                <a:srgbClr val="00A9A7"/>
              </a:buClr>
              <a:buSzPct val="110000"/>
              <a:buFont typeface="Arial" charset="0"/>
              <a:buChar char="•"/>
              <a:defRPr sz="2100">
                <a:solidFill>
                  <a:schemeClr val="tx1"/>
                </a:solidFill>
                <a:latin typeface="+mn-lt"/>
                <a:ea typeface="+mn-ea"/>
                <a:cs typeface="+mn-cs"/>
              </a:defRPr>
            </a:lvl1pPr>
            <a:lvl2pPr marL="568325" indent="-192088" algn="l" defTabSz="957263" rtl="0" fontAlgn="base">
              <a:lnSpc>
                <a:spcPct val="120000"/>
              </a:lnSpc>
              <a:spcBef>
                <a:spcPct val="20000"/>
              </a:spcBef>
              <a:spcAft>
                <a:spcPct val="20000"/>
              </a:spcAft>
              <a:buSzPct val="90000"/>
              <a:buBlip>
                <a:blip r:embed="rId5"/>
              </a:buBlip>
              <a:defRPr>
                <a:solidFill>
                  <a:schemeClr val="tx1"/>
                </a:solidFill>
                <a:latin typeface="+mn-lt"/>
              </a:defRPr>
            </a:lvl2pPr>
            <a:lvl3pPr marL="947738" indent="-198438" algn="l" defTabSz="957263" rtl="0" fontAlgn="base">
              <a:lnSpc>
                <a:spcPct val="120000"/>
              </a:lnSpc>
              <a:spcBef>
                <a:spcPct val="20000"/>
              </a:spcBef>
              <a:spcAft>
                <a:spcPct val="20000"/>
              </a:spcAft>
              <a:buSzPct val="90000"/>
              <a:buBlip>
                <a:blip r:embed="rId5"/>
              </a:buBlip>
              <a:defRPr>
                <a:solidFill>
                  <a:schemeClr val="tx1"/>
                </a:solidFill>
                <a:latin typeface="+mn-lt"/>
              </a:defRPr>
            </a:lvl3pPr>
            <a:lvl4pPr marL="1319213" indent="-200025" algn="l" defTabSz="957263" rtl="0" fontAlgn="base">
              <a:lnSpc>
                <a:spcPct val="120000"/>
              </a:lnSpc>
              <a:spcBef>
                <a:spcPct val="20000"/>
              </a:spcBef>
              <a:spcAft>
                <a:spcPct val="20000"/>
              </a:spcAft>
              <a:buSzPct val="90000"/>
              <a:buBlip>
                <a:blip r:embed="rId5"/>
              </a:buBlip>
              <a:defRPr>
                <a:solidFill>
                  <a:schemeClr val="tx1"/>
                </a:solidFill>
                <a:latin typeface="+mn-lt"/>
              </a:defRPr>
            </a:lvl4pPr>
            <a:lvl5pPr marL="1695450" indent="-188913" algn="l" defTabSz="957263" rtl="0" fontAlgn="base">
              <a:lnSpc>
                <a:spcPct val="120000"/>
              </a:lnSpc>
              <a:spcBef>
                <a:spcPct val="20000"/>
              </a:spcBef>
              <a:spcAft>
                <a:spcPct val="20000"/>
              </a:spcAft>
              <a:buSzPct val="90000"/>
              <a:buBlip>
                <a:blip r:embed="rId5"/>
              </a:buBlip>
              <a:defRPr>
                <a:solidFill>
                  <a:schemeClr val="tx1"/>
                </a:solidFill>
                <a:latin typeface="+mn-lt"/>
              </a:defRPr>
            </a:lvl5pPr>
            <a:lvl6pPr marL="2152650" indent="-188913" algn="l" defTabSz="957263" rtl="0" fontAlgn="base">
              <a:lnSpc>
                <a:spcPct val="120000"/>
              </a:lnSpc>
              <a:spcBef>
                <a:spcPct val="20000"/>
              </a:spcBef>
              <a:spcAft>
                <a:spcPct val="20000"/>
              </a:spcAft>
              <a:buSzPct val="90000"/>
              <a:buBlip>
                <a:blip r:embed="rId5"/>
              </a:buBlip>
              <a:defRPr>
                <a:solidFill>
                  <a:schemeClr val="tx1"/>
                </a:solidFill>
                <a:latin typeface="+mn-lt"/>
              </a:defRPr>
            </a:lvl6pPr>
            <a:lvl7pPr marL="2609850" indent="-188913" algn="l" defTabSz="957263" rtl="0" fontAlgn="base">
              <a:lnSpc>
                <a:spcPct val="120000"/>
              </a:lnSpc>
              <a:spcBef>
                <a:spcPct val="20000"/>
              </a:spcBef>
              <a:spcAft>
                <a:spcPct val="20000"/>
              </a:spcAft>
              <a:buSzPct val="90000"/>
              <a:buBlip>
                <a:blip r:embed="rId5"/>
              </a:buBlip>
              <a:defRPr>
                <a:solidFill>
                  <a:schemeClr val="tx1"/>
                </a:solidFill>
                <a:latin typeface="+mn-lt"/>
              </a:defRPr>
            </a:lvl7pPr>
            <a:lvl8pPr marL="3067050" indent="-188913" algn="l" defTabSz="957263" rtl="0" fontAlgn="base">
              <a:lnSpc>
                <a:spcPct val="120000"/>
              </a:lnSpc>
              <a:spcBef>
                <a:spcPct val="20000"/>
              </a:spcBef>
              <a:spcAft>
                <a:spcPct val="20000"/>
              </a:spcAft>
              <a:buSzPct val="90000"/>
              <a:buBlip>
                <a:blip r:embed="rId5"/>
              </a:buBlip>
              <a:defRPr>
                <a:solidFill>
                  <a:schemeClr val="tx1"/>
                </a:solidFill>
                <a:latin typeface="+mn-lt"/>
              </a:defRPr>
            </a:lvl8pPr>
            <a:lvl9pPr marL="3524250" indent="-188913" algn="l" defTabSz="957263" rtl="0" fontAlgn="base">
              <a:lnSpc>
                <a:spcPct val="120000"/>
              </a:lnSpc>
              <a:spcBef>
                <a:spcPct val="20000"/>
              </a:spcBef>
              <a:spcAft>
                <a:spcPct val="20000"/>
              </a:spcAft>
              <a:buSzPct val="90000"/>
              <a:buBlip>
                <a:blip r:embed="rId5"/>
              </a:buBlip>
              <a:defRPr>
                <a:solidFill>
                  <a:schemeClr val="tx1"/>
                </a:solidFill>
                <a:latin typeface="+mn-lt"/>
              </a:defRPr>
            </a:lvl9pPr>
          </a:lstStyle>
          <a:p>
            <a:r>
              <a:rPr lang="sv-SE" sz="1200" dirty="0" smtClean="0"/>
              <a:t>Behörighet att </a:t>
            </a:r>
            <a:r>
              <a:rPr lang="sv-SE" sz="1200" b="1" dirty="0" smtClean="0"/>
              <a:t>ordinera/läsa/registrera</a:t>
            </a:r>
            <a:r>
              <a:rPr lang="sv-SE" sz="1200" dirty="0" smtClean="0"/>
              <a:t> i journalen utgår ifrån </a:t>
            </a:r>
            <a:r>
              <a:rPr lang="sv-SE" sz="1200" b="1" dirty="0" smtClean="0"/>
              <a:t>verksamhetens regelverk</a:t>
            </a:r>
            <a:r>
              <a:rPr lang="sv-SE" sz="1200" dirty="0" smtClean="0"/>
              <a:t> och behörighetssystemet i Vårdsystemet</a:t>
            </a:r>
          </a:p>
          <a:p>
            <a:r>
              <a:rPr lang="sv-SE" sz="1200" b="1" dirty="0" smtClean="0"/>
              <a:t>Läsa</a:t>
            </a:r>
            <a:r>
              <a:rPr lang="sv-SE" sz="1200" dirty="0" smtClean="0"/>
              <a:t> </a:t>
            </a:r>
            <a:r>
              <a:rPr lang="sv-SE" sz="1200" b="1" dirty="0" smtClean="0"/>
              <a:t>samlade</a:t>
            </a:r>
            <a:r>
              <a:rPr lang="sv-SE" sz="1200" dirty="0" smtClean="0"/>
              <a:t> </a:t>
            </a:r>
            <a:r>
              <a:rPr lang="sv-SE" sz="1200" b="1" dirty="0" smtClean="0"/>
              <a:t>läkemedelslistan</a:t>
            </a:r>
            <a:r>
              <a:rPr lang="sv-SE" sz="1200" dirty="0" smtClean="0"/>
              <a:t> kräver samtycke till direktåtkomst (PDL) </a:t>
            </a:r>
          </a:p>
          <a:p>
            <a:r>
              <a:rPr lang="sv-SE" sz="1200" b="1" dirty="0" smtClean="0"/>
              <a:t>Förskrivningsrätt</a:t>
            </a:r>
            <a:r>
              <a:rPr lang="sv-SE" sz="1200" dirty="0" smtClean="0"/>
              <a:t> (förskrivarkod) krävs för all förskrivning. Måste vara samma som Registrerar.</a:t>
            </a:r>
          </a:p>
          <a:p>
            <a:r>
              <a:rPr lang="sv-SE" sz="1200" dirty="0" smtClean="0"/>
              <a:t>Förskrivare &amp; leg </a:t>
            </a:r>
            <a:r>
              <a:rPr lang="sv-SE" sz="1200" dirty="0" err="1" smtClean="0"/>
              <a:t>ssk</a:t>
            </a:r>
            <a:r>
              <a:rPr lang="sv-SE" sz="1200" dirty="0" smtClean="0"/>
              <a:t> </a:t>
            </a:r>
            <a:r>
              <a:rPr lang="sv-SE" sz="1200" dirty="0"/>
              <a:t>med </a:t>
            </a:r>
            <a:r>
              <a:rPr lang="sv-SE" sz="1200" dirty="0" smtClean="0"/>
              <a:t>samtycke får läsa </a:t>
            </a:r>
            <a:r>
              <a:rPr lang="sv-SE" sz="1200" b="1" dirty="0" smtClean="0"/>
              <a:t>expedieringar</a:t>
            </a:r>
            <a:r>
              <a:rPr lang="sv-SE" sz="1200" dirty="0" smtClean="0"/>
              <a:t> på apotek</a:t>
            </a:r>
          </a:p>
          <a:p>
            <a:r>
              <a:rPr lang="sv-SE" sz="1200" dirty="0" smtClean="0"/>
              <a:t>Förskrivare och leg. </a:t>
            </a:r>
            <a:r>
              <a:rPr lang="sv-SE" sz="1200" dirty="0"/>
              <a:t>p</a:t>
            </a:r>
            <a:r>
              <a:rPr lang="sv-SE" sz="1200" dirty="0" smtClean="0"/>
              <a:t>ersonal har direktåtkomst till </a:t>
            </a:r>
            <a:r>
              <a:rPr lang="sv-SE" sz="1200" b="1" dirty="0" smtClean="0"/>
              <a:t>dospatientens</a:t>
            </a:r>
            <a:r>
              <a:rPr lang="sv-SE" sz="1200" dirty="0" smtClean="0"/>
              <a:t> </a:t>
            </a:r>
            <a:r>
              <a:rPr lang="sv-SE" sz="1200" b="1" dirty="0" smtClean="0"/>
              <a:t>recept</a:t>
            </a:r>
            <a:endParaRPr lang="sv-SE" sz="1200" dirty="0" smtClean="0"/>
          </a:p>
        </p:txBody>
      </p:sp>
      <p:sp>
        <p:nvSpPr>
          <p:cNvPr id="42" name="Rektangel med rundade hörn 41"/>
          <p:cNvSpPr/>
          <p:nvPr/>
        </p:nvSpPr>
        <p:spPr bwMode="auto">
          <a:xfrm>
            <a:off x="3454951" y="2823536"/>
            <a:ext cx="1272147" cy="564604"/>
          </a:xfrm>
          <a:prstGeom prst="roundRect">
            <a:avLst/>
          </a:prstGeom>
          <a:ln/>
          <a:extLst/>
        </p:spPr>
        <p:style>
          <a:lnRef idx="1">
            <a:schemeClr val="accent2"/>
          </a:lnRef>
          <a:fillRef idx="2">
            <a:schemeClr val="accent2"/>
          </a:fillRef>
          <a:effectRef idx="1">
            <a:schemeClr val="accent2"/>
          </a:effectRef>
          <a:fontRef idx="minor">
            <a:schemeClr val="dk1"/>
          </a:fontRef>
        </p:style>
        <p:txBody>
          <a:bodyPr anchor="ctr"/>
          <a:lstStyle/>
          <a:p>
            <a:pPr defTabSz="914400" fontAlgn="base">
              <a:spcBef>
                <a:spcPct val="0"/>
              </a:spcBef>
              <a:spcAft>
                <a:spcPct val="0"/>
              </a:spcAft>
            </a:pPr>
            <a:r>
              <a:rPr lang="sv-SE" sz="1050" i="1" dirty="0" smtClean="0">
                <a:solidFill>
                  <a:srgbClr val="382819"/>
                </a:solidFill>
                <a:latin typeface="Calibri"/>
                <a:cs typeface="Calibri"/>
              </a:rPr>
              <a:t>Behörighets-styrning </a:t>
            </a:r>
            <a:r>
              <a:rPr lang="sv-SE" sz="1100" i="1" dirty="0" smtClean="0">
                <a:solidFill>
                  <a:srgbClr val="382819"/>
                </a:solidFill>
                <a:latin typeface="Calibri"/>
                <a:cs typeface="Calibri"/>
              </a:rPr>
              <a:t>läkemedelsjournal</a:t>
            </a:r>
            <a:endParaRPr lang="sv-SE" sz="1100" b="1" i="1" dirty="0">
              <a:solidFill>
                <a:srgbClr val="382819"/>
              </a:solidFill>
            </a:endParaRPr>
          </a:p>
        </p:txBody>
      </p:sp>
      <p:sp>
        <p:nvSpPr>
          <p:cNvPr id="53" name="Rektangel med rundade hörn 52"/>
          <p:cNvSpPr/>
          <p:nvPr/>
        </p:nvSpPr>
        <p:spPr bwMode="auto">
          <a:xfrm>
            <a:off x="5208592" y="3492830"/>
            <a:ext cx="1361409" cy="564604"/>
          </a:xfrm>
          <a:prstGeom prst="roundRect">
            <a:avLst/>
          </a:prstGeom>
          <a:ln/>
          <a:extLst/>
        </p:spPr>
        <p:style>
          <a:lnRef idx="1">
            <a:schemeClr val="accent2"/>
          </a:lnRef>
          <a:fillRef idx="2">
            <a:schemeClr val="accent2"/>
          </a:fillRef>
          <a:effectRef idx="1">
            <a:schemeClr val="accent2"/>
          </a:effectRef>
          <a:fontRef idx="minor">
            <a:schemeClr val="dk1"/>
          </a:fontRef>
        </p:style>
        <p:txBody>
          <a:bodyPr anchor="ctr"/>
          <a:lstStyle/>
          <a:p>
            <a:pPr defTabSz="914400" fontAlgn="base">
              <a:spcBef>
                <a:spcPct val="0"/>
              </a:spcBef>
              <a:spcAft>
                <a:spcPct val="0"/>
              </a:spcAft>
            </a:pPr>
            <a:r>
              <a:rPr lang="sv-SE" sz="1050" i="1" dirty="0" smtClean="0">
                <a:solidFill>
                  <a:srgbClr val="382819"/>
                </a:solidFill>
                <a:latin typeface="Calibri"/>
                <a:cs typeface="Calibri"/>
              </a:rPr>
              <a:t>Behörighetsstyrning förskrivning &amp; läsa expedieringar</a:t>
            </a:r>
            <a:endParaRPr lang="sv-SE" sz="1100" b="1" i="1" dirty="0">
              <a:solidFill>
                <a:srgbClr val="382819"/>
              </a:solidFill>
            </a:endParaRPr>
          </a:p>
        </p:txBody>
      </p:sp>
    </p:spTree>
    <p:extLst>
      <p:ext uri="{BB962C8B-B14F-4D97-AF65-F5344CB8AC3E}">
        <p14:creationId xmlns:p14="http://schemas.microsoft.com/office/powerpoint/2010/main" val="847427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1" end="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8" grpId="0" animBg="1"/>
      <p:bldP spid="36" grpId="0" animBg="1"/>
      <p:bldP spid="44" grpId="0" animBg="1"/>
      <p:bldP spid="49" grpId="0" animBg="1"/>
      <p:bldP spid="3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85471" y="389748"/>
            <a:ext cx="7197724" cy="692150"/>
          </a:xfrm>
        </p:spPr>
        <p:txBody>
          <a:bodyPr/>
          <a:lstStyle/>
          <a:p>
            <a:r>
              <a:rPr lang="sv-SE" sz="2400" dirty="0" smtClean="0"/>
              <a:t>Regelverk för Spärr &amp; Samtycke</a:t>
            </a:r>
            <a:endParaRPr lang="sv-SE" sz="2400" dirty="0"/>
          </a:p>
        </p:txBody>
      </p:sp>
      <p:sp>
        <p:nvSpPr>
          <p:cNvPr id="3" name="Platshållare för innehåll 2"/>
          <p:cNvSpPr>
            <a:spLocks noGrp="1"/>
          </p:cNvSpPr>
          <p:nvPr>
            <p:ph idx="13"/>
          </p:nvPr>
        </p:nvSpPr>
        <p:spPr>
          <a:xfrm>
            <a:off x="1405543" y="1410046"/>
            <a:ext cx="6604003" cy="4792051"/>
          </a:xfrm>
        </p:spPr>
        <p:txBody>
          <a:bodyPr>
            <a:normAutofit fontScale="92500" lnSpcReduction="20000"/>
          </a:bodyPr>
          <a:lstStyle/>
          <a:p>
            <a:r>
              <a:rPr lang="sv-SE" sz="2000" dirty="0" smtClean="0">
                <a:solidFill>
                  <a:schemeClr val="tx1"/>
                </a:solidFill>
              </a:rPr>
              <a:t>Samtycke till sammanhållen journalföring</a:t>
            </a:r>
          </a:p>
          <a:p>
            <a:pPr lvl="1"/>
            <a:r>
              <a:rPr lang="sv-SE" sz="1700" dirty="0" smtClean="0">
                <a:solidFill>
                  <a:schemeClr val="tx1"/>
                </a:solidFill>
              </a:rPr>
              <a:t>Med patientens PDL-samtycke kan </a:t>
            </a:r>
            <a:r>
              <a:rPr lang="sv-SE" sz="1700" b="1" dirty="0" smtClean="0">
                <a:solidFill>
                  <a:schemeClr val="tx1"/>
                </a:solidFill>
              </a:rPr>
              <a:t>hela läkemedelslistan </a:t>
            </a:r>
            <a:r>
              <a:rPr lang="sv-SE" sz="1700" dirty="0" smtClean="0">
                <a:solidFill>
                  <a:schemeClr val="tx1"/>
                </a:solidFill>
              </a:rPr>
              <a:t>från alla bidragande vårdgivare visas</a:t>
            </a:r>
            <a:r>
              <a:rPr lang="sv-SE" sz="1700" dirty="0"/>
              <a:t> </a:t>
            </a:r>
            <a:r>
              <a:rPr lang="sv-SE" sz="1700" dirty="0" smtClean="0"/>
              <a:t>(</a:t>
            </a:r>
            <a:r>
              <a:rPr lang="sv-SE" sz="1700" dirty="0" smtClean="0">
                <a:solidFill>
                  <a:schemeClr val="tx1"/>
                </a:solidFill>
              </a:rPr>
              <a:t>såvida det inte finns spärr)</a:t>
            </a:r>
          </a:p>
          <a:p>
            <a:pPr lvl="1"/>
            <a:r>
              <a:rPr lang="sv-SE" sz="1700" dirty="0" smtClean="0"/>
              <a:t>Alternativt vid nödsituation </a:t>
            </a:r>
            <a:endParaRPr lang="sv-SE" sz="1700" dirty="0" smtClean="0">
              <a:solidFill>
                <a:schemeClr val="tx1"/>
              </a:solidFill>
            </a:endParaRPr>
          </a:p>
          <a:p>
            <a:r>
              <a:rPr lang="sv-SE" sz="2000" dirty="0" smtClean="0">
                <a:solidFill>
                  <a:schemeClr val="tx1"/>
                </a:solidFill>
              </a:rPr>
              <a:t>Spärr</a:t>
            </a:r>
          </a:p>
          <a:p>
            <a:pPr lvl="1"/>
            <a:r>
              <a:rPr lang="sv-SE" sz="1700" dirty="0" smtClean="0">
                <a:solidFill>
                  <a:schemeClr val="tx1"/>
                </a:solidFill>
              </a:rPr>
              <a:t>Spärrade ordinationer/förskrivningar får inte visas (filtreras bort).</a:t>
            </a:r>
            <a:br>
              <a:rPr lang="sv-SE" sz="1700" dirty="0" smtClean="0">
                <a:solidFill>
                  <a:schemeClr val="tx1"/>
                </a:solidFill>
              </a:rPr>
            </a:br>
            <a:r>
              <a:rPr lang="sv-SE" sz="1700" dirty="0" smtClean="0">
                <a:solidFill>
                  <a:srgbClr val="382819"/>
                </a:solidFill>
              </a:rPr>
              <a:t>”</a:t>
            </a:r>
            <a:r>
              <a:rPr lang="sv-SE" sz="1700" dirty="0">
                <a:solidFill>
                  <a:srgbClr val="382819"/>
                </a:solidFill>
              </a:rPr>
              <a:t>Luckor” i historiken </a:t>
            </a:r>
            <a:r>
              <a:rPr lang="sv-SE" sz="1700" dirty="0" smtClean="0">
                <a:solidFill>
                  <a:srgbClr val="382819"/>
                </a:solidFill>
              </a:rPr>
              <a:t>kan därmed uppstå.</a:t>
            </a:r>
            <a:endParaRPr lang="sv-SE" sz="1700" dirty="0" smtClean="0">
              <a:solidFill>
                <a:schemeClr val="tx1"/>
              </a:solidFill>
            </a:endParaRPr>
          </a:p>
          <a:p>
            <a:pPr lvl="1"/>
            <a:r>
              <a:rPr lang="sv-SE" sz="1700" dirty="0" smtClean="0">
                <a:solidFill>
                  <a:schemeClr val="tx1"/>
                </a:solidFill>
              </a:rPr>
              <a:t>Om </a:t>
            </a:r>
            <a:r>
              <a:rPr lang="sv-SE" sz="1700" dirty="0">
                <a:solidFill>
                  <a:schemeClr val="tx1"/>
                </a:solidFill>
              </a:rPr>
              <a:t>patienten gjort </a:t>
            </a:r>
            <a:r>
              <a:rPr lang="sv-SE" sz="1700" b="1" dirty="0">
                <a:solidFill>
                  <a:schemeClr val="tx1"/>
                </a:solidFill>
              </a:rPr>
              <a:t>undantag i spärren för läkemedel </a:t>
            </a:r>
            <a:r>
              <a:rPr lang="sv-SE" sz="1700" dirty="0">
                <a:solidFill>
                  <a:schemeClr val="tx1"/>
                </a:solidFill>
              </a:rPr>
              <a:t>visas</a:t>
            </a:r>
            <a:r>
              <a:rPr lang="sv-SE" sz="1700" b="1" dirty="0">
                <a:solidFill>
                  <a:schemeClr val="tx1"/>
                </a:solidFill>
              </a:rPr>
              <a:t> hela </a:t>
            </a:r>
            <a:r>
              <a:rPr lang="sv-SE" sz="1700" dirty="0">
                <a:solidFill>
                  <a:schemeClr val="tx1"/>
                </a:solidFill>
              </a:rPr>
              <a:t>läkemedelslistan</a:t>
            </a:r>
          </a:p>
          <a:p>
            <a:pPr lvl="1"/>
            <a:r>
              <a:rPr lang="sv-SE" sz="1700" dirty="0">
                <a:solidFill>
                  <a:schemeClr val="tx1"/>
                </a:solidFill>
              </a:rPr>
              <a:t>Om </a:t>
            </a:r>
            <a:r>
              <a:rPr lang="sv-SE" sz="1700" dirty="0" smtClean="0">
                <a:solidFill>
                  <a:schemeClr val="tx1"/>
                </a:solidFill>
              </a:rPr>
              <a:t>spärr endast </a:t>
            </a:r>
            <a:r>
              <a:rPr lang="sv-SE" sz="1700" dirty="0">
                <a:solidFill>
                  <a:schemeClr val="tx1"/>
                </a:solidFill>
              </a:rPr>
              <a:t>ligger på </a:t>
            </a:r>
            <a:r>
              <a:rPr lang="sv-SE" sz="1700" dirty="0" smtClean="0">
                <a:solidFill>
                  <a:schemeClr val="tx1"/>
                </a:solidFill>
              </a:rPr>
              <a:t>ordinatörens </a:t>
            </a:r>
            <a:r>
              <a:rPr lang="sv-SE" sz="1700" b="1" dirty="0" smtClean="0">
                <a:solidFill>
                  <a:schemeClr val="tx1"/>
                </a:solidFill>
              </a:rPr>
              <a:t>egen</a:t>
            </a:r>
            <a:r>
              <a:rPr lang="sv-SE" sz="1700" dirty="0" smtClean="0">
                <a:solidFill>
                  <a:schemeClr val="tx1"/>
                </a:solidFill>
              </a:rPr>
              <a:t> </a:t>
            </a:r>
            <a:r>
              <a:rPr lang="sv-SE" sz="1700" b="1" dirty="0">
                <a:solidFill>
                  <a:schemeClr val="tx1"/>
                </a:solidFill>
              </a:rPr>
              <a:t>vårdenhet</a:t>
            </a:r>
            <a:r>
              <a:rPr lang="sv-SE" sz="1700" dirty="0">
                <a:solidFill>
                  <a:schemeClr val="tx1"/>
                </a:solidFill>
              </a:rPr>
              <a:t> </a:t>
            </a:r>
            <a:r>
              <a:rPr lang="sv-SE" sz="1700" b="1" dirty="0" smtClean="0">
                <a:solidFill>
                  <a:schemeClr val="tx1"/>
                </a:solidFill>
              </a:rPr>
              <a:t>eller</a:t>
            </a:r>
            <a:r>
              <a:rPr lang="sv-SE" sz="1700" dirty="0" smtClean="0">
                <a:solidFill>
                  <a:schemeClr val="tx1"/>
                </a:solidFill>
              </a:rPr>
              <a:t> </a:t>
            </a:r>
            <a:r>
              <a:rPr lang="sv-SE" sz="1700" b="1" dirty="0" smtClean="0">
                <a:solidFill>
                  <a:schemeClr val="tx1"/>
                </a:solidFill>
              </a:rPr>
              <a:t>egen vårdgivare</a:t>
            </a:r>
            <a:r>
              <a:rPr lang="sv-SE" sz="1700" dirty="0" smtClean="0">
                <a:solidFill>
                  <a:schemeClr val="tx1"/>
                </a:solidFill>
              </a:rPr>
              <a:t> kan </a:t>
            </a:r>
            <a:r>
              <a:rPr lang="sv-SE" sz="1700" b="1" dirty="0" smtClean="0">
                <a:solidFill>
                  <a:schemeClr val="tx1"/>
                </a:solidFill>
              </a:rPr>
              <a:t>hela</a:t>
            </a:r>
            <a:r>
              <a:rPr lang="sv-SE" sz="1700" dirty="0" smtClean="0">
                <a:solidFill>
                  <a:schemeClr val="tx1"/>
                </a:solidFill>
              </a:rPr>
              <a:t> läkemedelslistan visas</a:t>
            </a:r>
          </a:p>
          <a:p>
            <a:pPr lvl="1"/>
            <a:r>
              <a:rPr lang="sv-SE" sz="1700" b="1" dirty="0" smtClean="0">
                <a:solidFill>
                  <a:schemeClr val="tx1"/>
                </a:solidFill>
              </a:rPr>
              <a:t>Interaktionskontroll</a:t>
            </a:r>
            <a:r>
              <a:rPr lang="sv-SE" sz="1700" dirty="0" smtClean="0">
                <a:solidFill>
                  <a:schemeClr val="tx1"/>
                </a:solidFill>
              </a:rPr>
              <a:t> görs på, och endast på, </a:t>
            </a:r>
            <a:r>
              <a:rPr lang="sv-SE" sz="1700" i="1" dirty="0" smtClean="0">
                <a:solidFill>
                  <a:schemeClr val="tx1"/>
                </a:solidFill>
              </a:rPr>
              <a:t>ordinationer som användaren har rätt att läsa</a:t>
            </a:r>
            <a:r>
              <a:rPr lang="sv-SE" sz="1700" dirty="0" smtClean="0">
                <a:solidFill>
                  <a:schemeClr val="tx1"/>
                </a:solidFill>
              </a:rPr>
              <a:t>.</a:t>
            </a:r>
          </a:p>
          <a:p>
            <a:pPr lvl="1"/>
            <a:r>
              <a:rPr lang="sv-SE" sz="1600" b="1" dirty="0"/>
              <a:t>Inre </a:t>
            </a:r>
            <a:r>
              <a:rPr lang="sv-SE" sz="1600" b="1" dirty="0" smtClean="0"/>
              <a:t>spärrar får hävas tillfälligt </a:t>
            </a:r>
            <a:r>
              <a:rPr lang="sv-SE" sz="1600" dirty="0" smtClean="0"/>
              <a:t>med </a:t>
            </a:r>
            <a:r>
              <a:rPr lang="sv-SE" sz="1600" dirty="0"/>
              <a:t>patientens medgivande eller i en </a:t>
            </a:r>
            <a:r>
              <a:rPr lang="sv-SE" sz="1600" dirty="0" smtClean="0"/>
              <a:t>nödsituation</a:t>
            </a:r>
            <a:endParaRPr lang="sv-SE" sz="1700" dirty="0" smtClean="0">
              <a:solidFill>
                <a:schemeClr val="tx1"/>
              </a:solidFill>
            </a:endParaRPr>
          </a:p>
        </p:txBody>
      </p:sp>
    </p:spTree>
    <p:extLst>
      <p:ext uri="{BB962C8B-B14F-4D97-AF65-F5344CB8AC3E}">
        <p14:creationId xmlns:p14="http://schemas.microsoft.com/office/powerpoint/2010/main" val="1315814264"/>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85471" y="389748"/>
            <a:ext cx="7197724" cy="692150"/>
          </a:xfrm>
        </p:spPr>
        <p:txBody>
          <a:bodyPr/>
          <a:lstStyle/>
          <a:p>
            <a:r>
              <a:rPr lang="sv-SE" sz="2400" dirty="0" smtClean="0"/>
              <a:t>Regelverk för Spärr &amp; Samtycke</a:t>
            </a:r>
            <a:endParaRPr lang="sv-SE" sz="2400" dirty="0"/>
          </a:p>
        </p:txBody>
      </p:sp>
      <p:sp>
        <p:nvSpPr>
          <p:cNvPr id="3" name="Platshållare för innehåll 2"/>
          <p:cNvSpPr>
            <a:spLocks noGrp="1"/>
          </p:cNvSpPr>
          <p:nvPr>
            <p:ph idx="13"/>
          </p:nvPr>
        </p:nvSpPr>
        <p:spPr>
          <a:xfrm>
            <a:off x="1390236" y="1375062"/>
            <a:ext cx="6248498" cy="4966096"/>
          </a:xfrm>
        </p:spPr>
        <p:txBody>
          <a:bodyPr>
            <a:normAutofit lnSpcReduction="10000"/>
          </a:bodyPr>
          <a:lstStyle/>
          <a:p>
            <a:r>
              <a:rPr lang="sv-SE" sz="2000" b="1" dirty="0" smtClean="0">
                <a:solidFill>
                  <a:srgbClr val="382819"/>
                </a:solidFill>
              </a:rPr>
              <a:t> </a:t>
            </a:r>
            <a:r>
              <a:rPr lang="sv-SE" sz="2000" dirty="0" smtClean="0">
                <a:solidFill>
                  <a:srgbClr val="382819"/>
                </a:solidFill>
              </a:rPr>
              <a:t>Expedieringsunderlag (förskrivning/recept)</a:t>
            </a:r>
            <a:endParaRPr lang="sv-SE" sz="1700" dirty="0" smtClean="0">
              <a:solidFill>
                <a:srgbClr val="382819"/>
              </a:solidFill>
            </a:endParaRPr>
          </a:p>
          <a:p>
            <a:pPr lvl="1"/>
            <a:r>
              <a:rPr lang="sv-SE" sz="1700" dirty="0" smtClean="0">
                <a:solidFill>
                  <a:srgbClr val="382819"/>
                </a:solidFill>
              </a:rPr>
              <a:t>Förskrivning </a:t>
            </a:r>
            <a:r>
              <a:rPr lang="sv-SE" sz="1700" i="1" dirty="0" smtClean="0">
                <a:solidFill>
                  <a:srgbClr val="382819"/>
                </a:solidFill>
              </a:rPr>
              <a:t>från vården </a:t>
            </a:r>
            <a:r>
              <a:rPr lang="sv-SE" sz="1700" dirty="0" smtClean="0">
                <a:solidFill>
                  <a:srgbClr val="382819"/>
                </a:solidFill>
              </a:rPr>
              <a:t>följer samma regelverk för samtycke/spärr (Patientdatalagen, vårdgivare är </a:t>
            </a:r>
            <a:r>
              <a:rPr lang="sv-SE" sz="1700" dirty="0" err="1" smtClean="0">
                <a:solidFill>
                  <a:srgbClr val="382819"/>
                </a:solidFill>
              </a:rPr>
              <a:t>PuA</a:t>
            </a:r>
            <a:r>
              <a:rPr lang="sv-SE" sz="1700" dirty="0" smtClean="0">
                <a:solidFill>
                  <a:srgbClr val="382819"/>
                </a:solidFill>
              </a:rPr>
              <a:t>)</a:t>
            </a:r>
          </a:p>
          <a:p>
            <a:pPr lvl="1"/>
            <a:r>
              <a:rPr lang="sv-SE" sz="1700" dirty="0" smtClean="0">
                <a:solidFill>
                  <a:srgbClr val="382819"/>
                </a:solidFill>
              </a:rPr>
              <a:t>För dospatienter får legitimerad personal även direktåtkomst till recepten i Receptregistret (direktåtkomst). </a:t>
            </a:r>
            <a:br>
              <a:rPr lang="sv-SE" sz="1700" dirty="0" smtClean="0">
                <a:solidFill>
                  <a:srgbClr val="382819"/>
                </a:solidFill>
              </a:rPr>
            </a:br>
            <a:r>
              <a:rPr lang="sv-SE" sz="1700" dirty="0" smtClean="0">
                <a:solidFill>
                  <a:srgbClr val="382819"/>
                </a:solidFill>
              </a:rPr>
              <a:t>Idag ej tillåtet för övriga patienter.</a:t>
            </a:r>
          </a:p>
          <a:p>
            <a:r>
              <a:rPr lang="sv-SE" sz="2000" dirty="0" smtClean="0">
                <a:solidFill>
                  <a:srgbClr val="382819"/>
                </a:solidFill>
              </a:rPr>
              <a:t>Expedieringar </a:t>
            </a:r>
            <a:br>
              <a:rPr lang="sv-SE" sz="2000" dirty="0" smtClean="0">
                <a:solidFill>
                  <a:srgbClr val="382819"/>
                </a:solidFill>
              </a:rPr>
            </a:br>
            <a:r>
              <a:rPr lang="sv-SE" sz="1800" dirty="0" smtClean="0">
                <a:solidFill>
                  <a:srgbClr val="382819"/>
                </a:solidFill>
              </a:rPr>
              <a:t>(utlämnade läkemedel, generikabyten)</a:t>
            </a:r>
          </a:p>
          <a:p>
            <a:pPr lvl="1"/>
            <a:r>
              <a:rPr lang="sv-SE" sz="1700" dirty="0" smtClean="0">
                <a:solidFill>
                  <a:srgbClr val="382819"/>
                </a:solidFill>
              </a:rPr>
              <a:t>Samtycke enligt Lag om LF</a:t>
            </a:r>
          </a:p>
          <a:p>
            <a:pPr lvl="2"/>
            <a:r>
              <a:rPr lang="sv-SE" sz="1700" dirty="0" smtClean="0">
                <a:solidFill>
                  <a:srgbClr val="382819"/>
                </a:solidFill>
              </a:rPr>
              <a:t>Engångssamtycke, </a:t>
            </a:r>
            <a:r>
              <a:rPr lang="sv-SE" sz="1700" dirty="0" err="1" smtClean="0">
                <a:solidFill>
                  <a:srgbClr val="382819"/>
                </a:solidFill>
              </a:rPr>
              <a:t>nödåtkomst</a:t>
            </a:r>
            <a:r>
              <a:rPr lang="sv-SE" sz="1700" dirty="0" smtClean="0">
                <a:solidFill>
                  <a:srgbClr val="382819"/>
                </a:solidFill>
              </a:rPr>
              <a:t> (leg. sjuksköterska)</a:t>
            </a:r>
            <a:endParaRPr lang="sv-SE" sz="1700" dirty="0">
              <a:solidFill>
                <a:srgbClr val="382819"/>
              </a:solidFill>
            </a:endParaRPr>
          </a:p>
          <a:p>
            <a:pPr lvl="2"/>
            <a:r>
              <a:rPr lang="sv-SE" sz="1700" dirty="0" smtClean="0">
                <a:solidFill>
                  <a:srgbClr val="382819"/>
                </a:solidFill>
              </a:rPr>
              <a:t>Tillsvidaresamtycke (förskrivare, idag krävs förskrivarkod)</a:t>
            </a:r>
            <a:endParaRPr lang="sv-SE" sz="2000" dirty="0" smtClean="0">
              <a:solidFill>
                <a:srgbClr val="382819"/>
              </a:solidFill>
            </a:endParaRPr>
          </a:p>
          <a:p>
            <a:pPr marL="0" indent="0">
              <a:buNone/>
            </a:pPr>
            <a:endParaRPr lang="sv-SE" sz="2000" dirty="0">
              <a:solidFill>
                <a:srgbClr val="382819"/>
              </a:solidFill>
            </a:endParaRPr>
          </a:p>
        </p:txBody>
      </p:sp>
    </p:spTree>
    <p:extLst>
      <p:ext uri="{BB962C8B-B14F-4D97-AF65-F5344CB8AC3E}">
        <p14:creationId xmlns:p14="http://schemas.microsoft.com/office/powerpoint/2010/main" val="2617226369"/>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Cylinder 176"/>
          <p:cNvSpPr/>
          <p:nvPr/>
        </p:nvSpPr>
        <p:spPr>
          <a:xfrm>
            <a:off x="5908823" y="2790992"/>
            <a:ext cx="603737" cy="277328"/>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endParaRPr lang="sv-SE" sz="1000" dirty="0">
              <a:solidFill>
                <a:srgbClr val="382819"/>
              </a:solidFill>
              <a:latin typeface="Arial"/>
              <a:ea typeface="ＭＳ Ｐゴシック" pitchFamily="-112" charset="-128"/>
              <a:cs typeface="ＭＳ Ｐゴシック" pitchFamily="-112" charset="-128"/>
            </a:endParaRPr>
          </a:p>
        </p:txBody>
      </p:sp>
      <p:sp>
        <p:nvSpPr>
          <p:cNvPr id="179" name="Dokument 178"/>
          <p:cNvSpPr/>
          <p:nvPr/>
        </p:nvSpPr>
        <p:spPr bwMode="auto">
          <a:xfrm>
            <a:off x="3568778" y="1704877"/>
            <a:ext cx="818799" cy="399703"/>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noAutofit/>
          </a:bodyPr>
          <a:lstStyle/>
          <a:p>
            <a:pPr defTabSz="957263" fontAlgn="base">
              <a:spcBef>
                <a:spcPct val="0"/>
              </a:spcBef>
              <a:spcAft>
                <a:spcPct val="0"/>
              </a:spcAft>
            </a:pPr>
            <a:endParaRPr lang="sv-SE" sz="900" dirty="0">
              <a:solidFill>
                <a:srgbClr val="382819"/>
              </a:solidFill>
              <a:latin typeface="Arial Narrow"/>
              <a:cs typeface="Arial Narrow"/>
            </a:endParaRPr>
          </a:p>
        </p:txBody>
      </p:sp>
      <p:sp>
        <p:nvSpPr>
          <p:cNvPr id="56" name="Dokument 55"/>
          <p:cNvSpPr/>
          <p:nvPr/>
        </p:nvSpPr>
        <p:spPr bwMode="auto">
          <a:xfrm>
            <a:off x="3761818" y="1806477"/>
            <a:ext cx="818799" cy="399703"/>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noAutofit/>
          </a:bodyPr>
          <a:lstStyle/>
          <a:p>
            <a:pPr defTabSz="957263" fontAlgn="base">
              <a:spcBef>
                <a:spcPct val="0"/>
              </a:spcBef>
              <a:spcAft>
                <a:spcPct val="0"/>
              </a:spcAft>
            </a:pPr>
            <a:endParaRPr lang="sv-SE" sz="900" dirty="0">
              <a:solidFill>
                <a:srgbClr val="382819"/>
              </a:solidFill>
              <a:latin typeface="Arial Narrow"/>
              <a:cs typeface="Arial Narrow"/>
            </a:endParaRPr>
          </a:p>
        </p:txBody>
      </p:sp>
      <p:sp>
        <p:nvSpPr>
          <p:cNvPr id="11" name="Cylinder 10"/>
          <p:cNvSpPr/>
          <p:nvPr/>
        </p:nvSpPr>
        <p:spPr>
          <a:xfrm>
            <a:off x="5050510" y="5507202"/>
            <a:ext cx="1018834" cy="654604"/>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defTabSz="914400" fontAlgn="base">
              <a:spcBef>
                <a:spcPct val="0"/>
              </a:spcBef>
              <a:spcAft>
                <a:spcPct val="0"/>
              </a:spcAft>
            </a:pPr>
            <a:r>
              <a:rPr lang="sv-SE" sz="1000" dirty="0" smtClean="0">
                <a:solidFill>
                  <a:srgbClr val="382819"/>
                </a:solidFill>
                <a:latin typeface="Arial"/>
                <a:ea typeface="ＭＳ Ｐゴシック" pitchFamily="-112" charset="-128"/>
                <a:cs typeface="ＭＳ Ｐゴシック" pitchFamily="-112" charset="-128"/>
              </a:rPr>
              <a:t>NOD</a:t>
            </a:r>
            <a:endParaRPr lang="sv-SE" sz="1000" dirty="0">
              <a:solidFill>
                <a:srgbClr val="382819"/>
              </a:solidFill>
              <a:latin typeface="Arial"/>
              <a:ea typeface="ＭＳ Ｐゴシック" pitchFamily="-112" charset="-128"/>
              <a:cs typeface="ＭＳ Ｐゴシック" pitchFamily="-112" charset="-128"/>
            </a:endParaRPr>
          </a:p>
        </p:txBody>
      </p:sp>
      <p:sp>
        <p:nvSpPr>
          <p:cNvPr id="2" name="Rubrik 1"/>
          <p:cNvSpPr>
            <a:spLocks noGrp="1"/>
          </p:cNvSpPr>
          <p:nvPr>
            <p:ph type="title"/>
          </p:nvPr>
        </p:nvSpPr>
        <p:spPr>
          <a:xfrm>
            <a:off x="1487880" y="277253"/>
            <a:ext cx="6088925" cy="873433"/>
          </a:xfrm>
        </p:spPr>
        <p:txBody>
          <a:bodyPr/>
          <a:lstStyle/>
          <a:p>
            <a:r>
              <a:rPr lang="sv-SE" sz="2000" i="1" dirty="0" smtClean="0"/>
              <a:t>Tekniska integrationsmönster </a:t>
            </a:r>
            <a:br>
              <a:rPr lang="sv-SE" sz="2000" i="1" dirty="0" smtClean="0"/>
            </a:br>
            <a:r>
              <a:rPr lang="sv-SE" sz="2000" i="1" dirty="0" smtClean="0"/>
              <a:t>för samlad läkemedelslista</a:t>
            </a:r>
            <a:endParaRPr lang="sv-SE" sz="20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38</a:t>
            </a:fld>
            <a:endParaRPr lang="sv-SE">
              <a:latin typeface="Arial"/>
            </a:endParaRPr>
          </a:p>
        </p:txBody>
      </p:sp>
      <p:sp>
        <p:nvSpPr>
          <p:cNvPr id="5" name="Rektangel med rundade hörn 4"/>
          <p:cNvSpPr/>
          <p:nvPr/>
        </p:nvSpPr>
        <p:spPr>
          <a:xfrm rot="16200000">
            <a:off x="4455257" y="4571304"/>
            <a:ext cx="1394965" cy="1433578"/>
          </a:xfrm>
          <a:prstGeom prst="roundRect">
            <a:avLst>
              <a:gd name="adj" fmla="val 8787"/>
            </a:avLst>
          </a:prstGeom>
          <a:ln>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Läkemedelslista</a:t>
            </a:r>
            <a:br>
              <a:rPr lang="sv-SE" sz="900" dirty="0">
                <a:solidFill>
                  <a:srgbClr val="382819"/>
                </a:solidFill>
                <a:latin typeface="Arial"/>
                <a:ea typeface="ＭＳ Ｐゴシック" pitchFamily="-112" charset="-128"/>
                <a:cs typeface="ＭＳ Ｐゴシック" pitchFamily="-112" charset="-128"/>
              </a:rPr>
            </a:br>
            <a:endParaRPr lang="sv-SE" sz="900" dirty="0">
              <a:solidFill>
                <a:srgbClr val="382819"/>
              </a:solidFill>
              <a:latin typeface="Arial"/>
              <a:ea typeface="ＭＳ Ｐゴシック" pitchFamily="-112" charset="-128"/>
              <a:cs typeface="ＭＳ Ｐゴシック" pitchFamily="-112" charset="-128"/>
            </a:endParaRPr>
          </a:p>
        </p:txBody>
      </p:sp>
      <p:sp>
        <p:nvSpPr>
          <p:cNvPr id="6" name="Rektangel med rundade hörn 5"/>
          <p:cNvSpPr/>
          <p:nvPr/>
        </p:nvSpPr>
        <p:spPr>
          <a:xfrm>
            <a:off x="4694617" y="4868150"/>
            <a:ext cx="987231" cy="314554"/>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a:t>
            </a:r>
            <a:r>
              <a:rPr lang="sv-SE" sz="900" dirty="0" smtClean="0">
                <a:solidFill>
                  <a:srgbClr val="382819"/>
                </a:solidFill>
                <a:latin typeface="Arial"/>
                <a:ea typeface="ＭＳ Ｐゴシック" pitchFamily="-112" charset="-128"/>
                <a:cs typeface="ＭＳ Ｐゴシック" pitchFamily="-112" charset="-128"/>
              </a:rPr>
              <a:t>ordination</a:t>
            </a:r>
            <a:endParaRPr lang="sv-SE" sz="900" dirty="0">
              <a:solidFill>
                <a:srgbClr val="382819"/>
              </a:solidFill>
              <a:latin typeface="Arial"/>
              <a:ea typeface="ＭＳ Ｐゴシック" pitchFamily="-112" charset="-128"/>
              <a:cs typeface="ＭＳ Ｐゴシック" pitchFamily="-112" charset="-128"/>
            </a:endParaRPr>
          </a:p>
        </p:txBody>
      </p:sp>
      <p:sp>
        <p:nvSpPr>
          <p:cNvPr id="7" name="Rektangel med rundade hörn 6"/>
          <p:cNvSpPr/>
          <p:nvPr/>
        </p:nvSpPr>
        <p:spPr>
          <a:xfrm>
            <a:off x="4694618" y="5182704"/>
            <a:ext cx="987230" cy="324497"/>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rgbClr val="382819"/>
                </a:solidFill>
                <a:ea typeface="ＭＳ Ｐゴシック" pitchFamily="-112" charset="-128"/>
                <a:cs typeface="ＭＳ Ｐゴシック" pitchFamily="-112" charset="-128"/>
              </a:rPr>
              <a:t>Expedierings-underlag</a:t>
            </a:r>
            <a:endParaRPr lang="sv-SE" sz="900" dirty="0">
              <a:solidFill>
                <a:srgbClr val="382819"/>
              </a:solidFill>
              <a:latin typeface="Arial"/>
              <a:ea typeface="ＭＳ Ｐゴシック" pitchFamily="-112" charset="-128"/>
              <a:cs typeface="ＭＳ Ｐゴシック" pitchFamily="-112" charset="-128"/>
            </a:endParaRPr>
          </a:p>
        </p:txBody>
      </p:sp>
      <p:sp>
        <p:nvSpPr>
          <p:cNvPr id="8" name="textruta 7"/>
          <p:cNvSpPr txBox="1"/>
          <p:nvPr/>
        </p:nvSpPr>
        <p:spPr>
          <a:xfrm>
            <a:off x="4616239" y="4632386"/>
            <a:ext cx="1253290" cy="215444"/>
          </a:xfrm>
          <a:prstGeom prst="rect">
            <a:avLst/>
          </a:prstGeom>
          <a:noFill/>
        </p:spPr>
        <p:txBody>
          <a:bodyPr wrap="square" rtlCol="0">
            <a:spAutoFit/>
          </a:bodyPr>
          <a:lstStyle/>
          <a:p>
            <a:r>
              <a:rPr lang="sv-SE" sz="800" b="1" i="1" dirty="0" smtClean="0">
                <a:solidFill>
                  <a:prstClr val="black"/>
                </a:solidFill>
                <a:latin typeface="Arial"/>
                <a:cs typeface="Arial"/>
              </a:rPr>
              <a:t>Läsa, Skapa, Ändra</a:t>
            </a:r>
            <a:endParaRPr lang="sv-SE" sz="800" b="1" i="1" dirty="0">
              <a:solidFill>
                <a:prstClr val="black"/>
              </a:solidFill>
              <a:latin typeface="Arial"/>
              <a:cs typeface="Arial"/>
            </a:endParaRPr>
          </a:p>
        </p:txBody>
      </p:sp>
      <p:sp>
        <p:nvSpPr>
          <p:cNvPr id="9" name="Rektangel med rundade hörn 8"/>
          <p:cNvSpPr/>
          <p:nvPr/>
        </p:nvSpPr>
        <p:spPr>
          <a:xfrm>
            <a:off x="4694617" y="5507201"/>
            <a:ext cx="987230" cy="226533"/>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rgbClr val="382819"/>
                </a:solidFill>
                <a:latin typeface="Arial"/>
                <a:ea typeface="ＭＳ Ｐゴシック" pitchFamily="-112" charset="-128"/>
                <a:cs typeface="ＭＳ Ｐゴシック" pitchFamily="-112" charset="-128"/>
              </a:rPr>
              <a:t>Expediering</a:t>
            </a:r>
            <a:endParaRPr lang="sv-SE" sz="900" dirty="0">
              <a:solidFill>
                <a:srgbClr val="382819"/>
              </a:solidFill>
              <a:latin typeface="Arial"/>
              <a:ea typeface="ＭＳ Ｐゴシック" pitchFamily="-112" charset="-128"/>
              <a:cs typeface="ＭＳ Ｐゴシック" pitchFamily="-112" charset="-128"/>
            </a:endParaRPr>
          </a:p>
        </p:txBody>
      </p:sp>
      <p:sp>
        <p:nvSpPr>
          <p:cNvPr id="13" name="textruta 12"/>
          <p:cNvSpPr txBox="1"/>
          <p:nvPr/>
        </p:nvSpPr>
        <p:spPr>
          <a:xfrm>
            <a:off x="4908297" y="5739355"/>
            <a:ext cx="487626" cy="246221"/>
          </a:xfrm>
          <a:prstGeom prst="rect">
            <a:avLst/>
          </a:prstGeom>
          <a:noFill/>
        </p:spPr>
        <p:txBody>
          <a:bodyPr wrap="square" rtlCol="0">
            <a:spAutoFit/>
          </a:bodyPr>
          <a:lstStyle/>
          <a:p>
            <a:r>
              <a:rPr lang="sv-SE" sz="1000" dirty="0" smtClean="0">
                <a:solidFill>
                  <a:prstClr val="black"/>
                </a:solidFill>
                <a:latin typeface="Arial"/>
                <a:cs typeface="Arial"/>
              </a:rPr>
              <a:t>NOD</a:t>
            </a:r>
            <a:endParaRPr lang="sv-SE" sz="1000" dirty="0">
              <a:solidFill>
                <a:prstClr val="black"/>
              </a:solidFill>
              <a:latin typeface="Arial"/>
              <a:cs typeface="Arial"/>
            </a:endParaRPr>
          </a:p>
        </p:txBody>
      </p:sp>
      <p:grpSp>
        <p:nvGrpSpPr>
          <p:cNvPr id="24" name="Grupp 23"/>
          <p:cNvGrpSpPr/>
          <p:nvPr/>
        </p:nvGrpSpPr>
        <p:grpSpPr>
          <a:xfrm>
            <a:off x="2744308" y="1657244"/>
            <a:ext cx="854378" cy="585893"/>
            <a:chOff x="2178795" y="1012742"/>
            <a:chExt cx="854378" cy="585893"/>
          </a:xfrm>
        </p:grpSpPr>
        <p:pic>
          <p:nvPicPr>
            <p:cNvPr id="25" name="Picture 159" descr="Dator med kortläsare"/>
            <p:cNvPicPr>
              <a:picLocks noChangeAspect="1" noChangeArrowheads="1"/>
            </p:cNvPicPr>
            <p:nvPr/>
          </p:nvPicPr>
          <p:blipFill>
            <a:blip r:embed="rId2"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Users\svrlwi\AppData\Local\Microsoft\Windows\Temporary Internet Files\Content.IE5\51G1LSV1\MC90043393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27" name="textruta 26"/>
            <p:cNvSpPr txBox="1"/>
            <p:nvPr/>
          </p:nvSpPr>
          <p:spPr>
            <a:xfrm>
              <a:off x="2178795" y="1383191"/>
              <a:ext cx="854378" cy="215444"/>
            </a:xfrm>
            <a:prstGeom prst="rect">
              <a:avLst/>
            </a:prstGeom>
            <a:noFill/>
          </p:spPr>
          <p:txBody>
            <a:bodyPr wrap="square" rtlCol="0">
              <a:spAutoFit/>
            </a:bodyPr>
            <a:lstStyle/>
            <a:p>
              <a:pPr defTabSz="457200" fontAlgn="auto">
                <a:spcBef>
                  <a:spcPts val="0"/>
                </a:spcBef>
                <a:spcAft>
                  <a:spcPts val="0"/>
                </a:spcAft>
              </a:pPr>
              <a:r>
                <a:rPr lang="sv-SE" sz="800" i="1" dirty="0" smtClean="0">
                  <a:solidFill>
                    <a:prstClr val="black"/>
                  </a:solidFill>
                  <a:latin typeface="Calibri"/>
                  <a:cs typeface="Arial" pitchFamily="34" charset="0"/>
                </a:rPr>
                <a:t>vårdpersonal</a:t>
              </a:r>
              <a:endParaRPr lang="sv-SE" sz="800" i="1" dirty="0">
                <a:solidFill>
                  <a:prstClr val="black"/>
                </a:solidFill>
                <a:latin typeface="Calibri"/>
                <a:cs typeface="Arial" pitchFamily="34" charset="0"/>
              </a:endParaRPr>
            </a:p>
          </p:txBody>
        </p:sp>
      </p:grpSp>
      <p:sp>
        <p:nvSpPr>
          <p:cNvPr id="64" name="Rundad rektangulär 63"/>
          <p:cNvSpPr/>
          <p:nvPr/>
        </p:nvSpPr>
        <p:spPr bwMode="auto">
          <a:xfrm>
            <a:off x="1300480" y="3669566"/>
            <a:ext cx="1980434" cy="274828"/>
          </a:xfrm>
          <a:prstGeom prst="wedgeRoundRectCallout">
            <a:avLst>
              <a:gd name="adj1" fmla="val 60773"/>
              <a:gd name="adj2" fmla="val -52269"/>
              <a:gd name="adj3" fmla="val 16667"/>
            </a:avLst>
          </a:prstGeom>
          <a:ln>
            <a:solidFill>
              <a:srgbClr val="0000FF"/>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00" i="1" dirty="0" smtClean="0">
                <a:solidFill>
                  <a:schemeClr val="tx1"/>
                </a:solidFill>
                <a:cs typeface="Arial"/>
              </a:rPr>
              <a:t>Skriv baserat på version 1234</a:t>
            </a:r>
            <a:endParaRPr lang="sv-SE" sz="1000" i="1" dirty="0">
              <a:solidFill>
                <a:schemeClr val="tx1"/>
              </a:solidFill>
              <a:cs typeface="Arial"/>
            </a:endParaRPr>
          </a:p>
        </p:txBody>
      </p:sp>
      <p:sp>
        <p:nvSpPr>
          <p:cNvPr id="52" name="Rundad rektangulär 51"/>
          <p:cNvSpPr/>
          <p:nvPr/>
        </p:nvSpPr>
        <p:spPr bwMode="auto">
          <a:xfrm>
            <a:off x="1280160" y="3004390"/>
            <a:ext cx="1967307" cy="274828"/>
          </a:xfrm>
          <a:prstGeom prst="wedgeRoundRectCallout">
            <a:avLst>
              <a:gd name="adj1" fmla="val 69948"/>
              <a:gd name="adj2" fmla="val -34887"/>
              <a:gd name="adj3" fmla="val 16667"/>
            </a:avLst>
          </a:prstGeom>
          <a:ln>
            <a:solidFill>
              <a:srgbClr val="0000FF"/>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00" i="1" dirty="0" smtClean="0">
                <a:solidFill>
                  <a:schemeClr val="tx1"/>
                </a:solidFill>
                <a:cs typeface="Arial"/>
              </a:rPr>
              <a:t>Läs version 1234 (patient x)</a:t>
            </a:r>
            <a:endParaRPr lang="sv-SE" sz="1000" i="1" dirty="0">
              <a:solidFill>
                <a:schemeClr val="tx1"/>
              </a:solidFill>
              <a:cs typeface="Arial"/>
            </a:endParaRPr>
          </a:p>
        </p:txBody>
      </p:sp>
      <p:sp>
        <p:nvSpPr>
          <p:cNvPr id="54" name="Dokument 53"/>
          <p:cNvSpPr/>
          <p:nvPr/>
        </p:nvSpPr>
        <p:spPr bwMode="auto">
          <a:xfrm>
            <a:off x="3964609" y="1965637"/>
            <a:ext cx="902080"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Läkemedel</a:t>
            </a:r>
            <a:br>
              <a:rPr lang="sv-SE" sz="900" dirty="0" smtClean="0">
                <a:solidFill>
                  <a:srgbClr val="382819"/>
                </a:solidFill>
                <a:latin typeface="Arial Narrow"/>
                <a:cs typeface="Arial Narrow"/>
              </a:rPr>
            </a:br>
            <a:r>
              <a:rPr lang="sv-SE" sz="900" dirty="0" smtClean="0">
                <a:solidFill>
                  <a:srgbClr val="382819"/>
                </a:solidFill>
                <a:latin typeface="Arial Narrow"/>
                <a:cs typeface="Arial Narrow"/>
              </a:rPr>
              <a:t>NOD</a:t>
            </a:r>
            <a:endParaRPr lang="sv-SE" sz="900" dirty="0">
              <a:solidFill>
                <a:srgbClr val="382819"/>
              </a:solidFill>
              <a:latin typeface="Arial Narrow"/>
              <a:cs typeface="Arial Narrow"/>
            </a:endParaRPr>
          </a:p>
        </p:txBody>
      </p:sp>
      <p:grpSp>
        <p:nvGrpSpPr>
          <p:cNvPr id="12" name="Grupp 11"/>
          <p:cNvGrpSpPr/>
          <p:nvPr/>
        </p:nvGrpSpPr>
        <p:grpSpPr>
          <a:xfrm>
            <a:off x="3685925" y="3632335"/>
            <a:ext cx="2113257" cy="419081"/>
            <a:chOff x="2748275" y="4018415"/>
            <a:chExt cx="2113257" cy="419081"/>
          </a:xfrm>
        </p:grpSpPr>
        <p:sp>
          <p:nvSpPr>
            <p:cNvPr id="60" name="Rektangel med rundade hörn 59"/>
            <p:cNvSpPr/>
            <p:nvPr/>
          </p:nvSpPr>
          <p:spPr bwMode="auto">
            <a:xfrm>
              <a:off x="2748275" y="4134773"/>
              <a:ext cx="2113257" cy="302723"/>
            </a:xfrm>
            <a:prstGeom prst="roundRect">
              <a:avLst/>
            </a:prstGeom>
            <a:gradFill flip="none" rotWithShape="1">
              <a:gsLst>
                <a:gs pos="0">
                  <a:schemeClr val="dk1">
                    <a:tint val="50000"/>
                    <a:satMod val="300000"/>
                    <a:alpha val="51000"/>
                  </a:schemeClr>
                </a:gs>
                <a:gs pos="35000">
                  <a:schemeClr val="dk1">
                    <a:tint val="37000"/>
                    <a:satMod val="300000"/>
                    <a:alpha val="51000"/>
                  </a:schemeClr>
                </a:gs>
                <a:gs pos="100000">
                  <a:schemeClr val="dk1">
                    <a:tint val="15000"/>
                    <a:satMod val="350000"/>
                    <a:alpha val="51000"/>
                  </a:schemeClr>
                </a:gs>
              </a:gsLst>
              <a:lin ang="16200000" scaled="1"/>
              <a:tileRect/>
            </a:gradFill>
            <a:ln>
              <a:prstDash val="dash"/>
            </a:ln>
            <a:extLst/>
          </p:spPr>
          <p:style>
            <a:lnRef idx="1">
              <a:schemeClr val="dk1"/>
            </a:lnRef>
            <a:fillRef idx="2">
              <a:schemeClr val="dk1"/>
            </a:fillRef>
            <a:effectRef idx="1">
              <a:schemeClr val="dk1"/>
            </a:effectRef>
            <a:fontRef idx="minor">
              <a:schemeClr val="dk1"/>
            </a:fontRef>
          </p:style>
          <p:txBody>
            <a:bodyPr anchor="ctr"/>
            <a:lstStyle/>
            <a:p>
              <a:pPr algn="ctr" defTabSz="914400"/>
              <a:r>
                <a:rPr lang="sv-SE" sz="1200" kern="0" dirty="0" smtClean="0">
                  <a:solidFill>
                    <a:srgbClr val="382819"/>
                  </a:solidFill>
                  <a:cs typeface="Calibri"/>
                </a:rPr>
                <a:t>NTJP</a:t>
              </a:r>
              <a:endParaRPr lang="sv-SE" sz="1200" kern="0" dirty="0">
                <a:solidFill>
                  <a:srgbClr val="382819"/>
                </a:solidFill>
                <a:cs typeface="Calibri"/>
              </a:endParaRPr>
            </a:p>
          </p:txBody>
        </p:sp>
        <p:grpSp>
          <p:nvGrpSpPr>
            <p:cNvPr id="10" name="Grupp 9"/>
            <p:cNvGrpSpPr/>
            <p:nvPr/>
          </p:nvGrpSpPr>
          <p:grpSpPr>
            <a:xfrm>
              <a:off x="3414557" y="4018415"/>
              <a:ext cx="602451" cy="125950"/>
              <a:chOff x="7838865" y="3778958"/>
              <a:chExt cx="602451" cy="125950"/>
            </a:xfrm>
          </p:grpSpPr>
          <p:grpSp>
            <p:nvGrpSpPr>
              <p:cNvPr id="113" name="Grupp 112"/>
              <p:cNvGrpSpPr/>
              <p:nvPr/>
            </p:nvGrpSpPr>
            <p:grpSpPr>
              <a:xfrm>
                <a:off x="8009948" y="3787366"/>
                <a:ext cx="66751" cy="117542"/>
                <a:chOff x="9018096" y="5791998"/>
                <a:chExt cx="66751" cy="117542"/>
              </a:xfrm>
            </p:grpSpPr>
            <p:cxnSp>
              <p:nvCxnSpPr>
                <p:cNvPr id="114" name="Rak pil 18"/>
                <p:cNvCxnSpPr>
                  <a:cxnSpLocks noChangeShapeType="1"/>
                  <a:endCxn id="115"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Ellips 114"/>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86" name="Grupp 85"/>
              <p:cNvGrpSpPr/>
              <p:nvPr/>
            </p:nvGrpSpPr>
            <p:grpSpPr>
              <a:xfrm>
                <a:off x="7838865" y="3778958"/>
                <a:ext cx="66751" cy="117542"/>
                <a:chOff x="9018096" y="5768908"/>
                <a:chExt cx="66751" cy="117542"/>
              </a:xfrm>
            </p:grpSpPr>
            <p:cxnSp>
              <p:nvCxnSpPr>
                <p:cNvPr id="110" name="Rak pil 18"/>
                <p:cNvCxnSpPr>
                  <a:cxnSpLocks noChangeShapeType="1"/>
                  <a:endCxn id="11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Ellips 11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88" name="Grupp 87"/>
              <p:cNvGrpSpPr/>
              <p:nvPr/>
            </p:nvGrpSpPr>
            <p:grpSpPr>
              <a:xfrm>
                <a:off x="8210620" y="3781273"/>
                <a:ext cx="66751" cy="117542"/>
                <a:chOff x="9018096" y="5768908"/>
                <a:chExt cx="66751" cy="117542"/>
              </a:xfrm>
            </p:grpSpPr>
            <p:cxnSp>
              <p:nvCxnSpPr>
                <p:cNvPr id="108" name="Rak pil 18"/>
                <p:cNvCxnSpPr>
                  <a:cxnSpLocks noChangeShapeType="1"/>
                  <a:endCxn id="109"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Ellips 108"/>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98" name="Grupp 97"/>
              <p:cNvGrpSpPr/>
              <p:nvPr/>
            </p:nvGrpSpPr>
            <p:grpSpPr>
              <a:xfrm>
                <a:off x="8374565" y="3783588"/>
                <a:ext cx="66751" cy="117542"/>
                <a:chOff x="9018096" y="5768908"/>
                <a:chExt cx="66751" cy="117542"/>
              </a:xfrm>
            </p:grpSpPr>
            <p:cxnSp>
              <p:nvCxnSpPr>
                <p:cNvPr id="99" name="Rak pil 18"/>
                <p:cNvCxnSpPr>
                  <a:cxnSpLocks noChangeShapeType="1"/>
                  <a:endCxn id="101"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Ellips 100"/>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grpSp>
      <p:grpSp>
        <p:nvGrpSpPr>
          <p:cNvPr id="116" name="Grupp 115"/>
          <p:cNvGrpSpPr/>
          <p:nvPr/>
        </p:nvGrpSpPr>
        <p:grpSpPr>
          <a:xfrm>
            <a:off x="4781871" y="4460674"/>
            <a:ext cx="602451" cy="125950"/>
            <a:chOff x="7838865" y="3778958"/>
            <a:chExt cx="602451" cy="125950"/>
          </a:xfrm>
        </p:grpSpPr>
        <p:grpSp>
          <p:nvGrpSpPr>
            <p:cNvPr id="117" name="Grupp 116"/>
            <p:cNvGrpSpPr/>
            <p:nvPr/>
          </p:nvGrpSpPr>
          <p:grpSpPr>
            <a:xfrm>
              <a:off x="8009948" y="3787366"/>
              <a:ext cx="66751" cy="117542"/>
              <a:chOff x="9018096" y="5791998"/>
              <a:chExt cx="66751" cy="117542"/>
            </a:xfrm>
          </p:grpSpPr>
          <p:cxnSp>
            <p:nvCxnSpPr>
              <p:cNvPr id="127" name="Rak pil 18"/>
              <p:cNvCxnSpPr>
                <a:cxnSpLocks noChangeShapeType="1"/>
                <a:endCxn id="128"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Ellips 127"/>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118" name="Grupp 117"/>
            <p:cNvGrpSpPr/>
            <p:nvPr/>
          </p:nvGrpSpPr>
          <p:grpSpPr>
            <a:xfrm>
              <a:off x="7838865" y="3778958"/>
              <a:ext cx="66751" cy="117542"/>
              <a:chOff x="9018096" y="5768908"/>
              <a:chExt cx="66751" cy="117542"/>
            </a:xfrm>
          </p:grpSpPr>
          <p:cxnSp>
            <p:nvCxnSpPr>
              <p:cNvPr id="125" name="Rak pil 18"/>
              <p:cNvCxnSpPr>
                <a:cxnSpLocks noChangeShapeType="1"/>
                <a:endCxn id="126"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Ellips 125"/>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119" name="Grupp 118"/>
            <p:cNvGrpSpPr/>
            <p:nvPr/>
          </p:nvGrpSpPr>
          <p:grpSpPr>
            <a:xfrm>
              <a:off x="8210620" y="3781273"/>
              <a:ext cx="66751" cy="117542"/>
              <a:chOff x="9018096" y="5768908"/>
              <a:chExt cx="66751" cy="117542"/>
            </a:xfrm>
          </p:grpSpPr>
          <p:cxnSp>
            <p:nvCxnSpPr>
              <p:cNvPr id="123" name="Rak pil 18"/>
              <p:cNvCxnSpPr>
                <a:cxnSpLocks noChangeShapeType="1"/>
                <a:endCxn id="12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Ellips 12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120" name="Grupp 119"/>
            <p:cNvGrpSpPr/>
            <p:nvPr/>
          </p:nvGrpSpPr>
          <p:grpSpPr>
            <a:xfrm>
              <a:off x="8374565" y="3783588"/>
              <a:ext cx="66751" cy="117542"/>
              <a:chOff x="9018096" y="5768908"/>
              <a:chExt cx="66751" cy="117542"/>
            </a:xfrm>
          </p:grpSpPr>
          <p:cxnSp>
            <p:nvCxnSpPr>
              <p:cNvPr id="121" name="Rak pil 18"/>
              <p:cNvCxnSpPr>
                <a:cxnSpLocks noChangeShapeType="1"/>
                <a:endCxn id="122"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Ellips 121"/>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cxnSp>
        <p:nvCxnSpPr>
          <p:cNvPr id="144" name="Rak pil 59"/>
          <p:cNvCxnSpPr/>
          <p:nvPr/>
        </p:nvCxnSpPr>
        <p:spPr>
          <a:xfrm rot="20886055" flipH="1">
            <a:off x="4067759" y="3136523"/>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45" name="Rak pil 59"/>
          <p:cNvCxnSpPr/>
          <p:nvPr/>
        </p:nvCxnSpPr>
        <p:spPr>
          <a:xfrm rot="20886055" flipV="1">
            <a:off x="3906333" y="3180924"/>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46" name="Rak pil 59"/>
          <p:cNvCxnSpPr/>
          <p:nvPr/>
        </p:nvCxnSpPr>
        <p:spPr>
          <a:xfrm rot="20886055" flipH="1">
            <a:off x="4985349" y="4097696"/>
            <a:ext cx="27"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47" name="Rak pil 59"/>
          <p:cNvCxnSpPr/>
          <p:nvPr/>
        </p:nvCxnSpPr>
        <p:spPr>
          <a:xfrm rot="20886055" flipV="1">
            <a:off x="4823923" y="4142097"/>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168" name="Rektangel med rundade hörn 22"/>
          <p:cNvSpPr/>
          <p:nvPr/>
        </p:nvSpPr>
        <p:spPr>
          <a:xfrm>
            <a:off x="5459445" y="2355702"/>
            <a:ext cx="838710" cy="534637"/>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Fristående </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e-tjänst</a:t>
            </a:r>
            <a:br>
              <a:rPr lang="sv-SE" sz="900" dirty="0" smtClean="0">
                <a:solidFill>
                  <a:srgbClr val="382819"/>
                </a:solidFill>
                <a:latin typeface="Arial" charset="0"/>
                <a:ea typeface="ＭＳ Ｐゴシック" charset="0"/>
                <a:cs typeface="ＭＳ Ｐゴシック" charset="0"/>
              </a:rPr>
            </a:br>
            <a:r>
              <a:rPr lang="sv-SE" sz="900" dirty="0" smtClean="0">
                <a:solidFill>
                  <a:srgbClr val="382819"/>
                </a:solidFill>
                <a:latin typeface="Arial" charset="0"/>
                <a:ea typeface="ＭＳ Ｐゴシック" charset="0"/>
                <a:cs typeface="ＭＳ Ｐゴシック" charset="0"/>
              </a:rPr>
              <a:t>Läkemedel</a:t>
            </a:r>
            <a:endParaRPr lang="sv-SE" sz="900" dirty="0">
              <a:solidFill>
                <a:srgbClr val="382819"/>
              </a:solidFill>
              <a:latin typeface="Arial" charset="0"/>
              <a:ea typeface="ＭＳ Ｐゴシック" charset="0"/>
              <a:cs typeface="ＭＳ Ｐゴシック" charset="0"/>
            </a:endParaRPr>
          </a:p>
        </p:txBody>
      </p:sp>
      <p:grpSp>
        <p:nvGrpSpPr>
          <p:cNvPr id="169" name="Grupp 168"/>
          <p:cNvGrpSpPr/>
          <p:nvPr/>
        </p:nvGrpSpPr>
        <p:grpSpPr>
          <a:xfrm>
            <a:off x="5335991" y="1703579"/>
            <a:ext cx="854378" cy="585893"/>
            <a:chOff x="2178795" y="1012742"/>
            <a:chExt cx="854378" cy="585893"/>
          </a:xfrm>
        </p:grpSpPr>
        <p:pic>
          <p:nvPicPr>
            <p:cNvPr id="170" name="Picture 159" descr="Dator med kortläsare"/>
            <p:cNvPicPr>
              <a:picLocks noChangeAspect="1" noChangeArrowheads="1"/>
            </p:cNvPicPr>
            <p:nvPr/>
          </p:nvPicPr>
          <p:blipFill>
            <a:blip r:embed="rId2" cstate="email">
              <a:extLst>
                <a:ext uri="{28A0092B-C50C-407E-A947-70E740481C1C}">
                  <a14:useLocalDpi xmlns:a14="http://schemas.microsoft.com/office/drawing/2010/main"/>
                </a:ext>
              </a:extLst>
            </a:blip>
            <a:srcRect t="23662"/>
            <a:stretch>
              <a:fillRect/>
            </a:stretch>
          </p:blipFill>
          <p:spPr bwMode="auto">
            <a:xfrm>
              <a:off x="2330674" y="1076906"/>
              <a:ext cx="326821" cy="26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 name="Picture 2" descr="C:\Users\svrlwi\AppData\Local\Microsoft\Windows\Temporary Internet Files\Content.IE5\51G1LSV1\MC90043393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95" y="1012742"/>
              <a:ext cx="364283" cy="365630"/>
            </a:xfrm>
            <a:prstGeom prst="rect">
              <a:avLst/>
            </a:prstGeom>
            <a:noFill/>
            <a:extLst>
              <a:ext uri="{909E8E84-426E-40dd-AFC4-6F175D3DCCD1}">
                <a14:hiddenFill xmlns:a14="http://schemas.microsoft.com/office/drawing/2010/main">
                  <a:solidFill>
                    <a:srgbClr val="FFFFFF"/>
                  </a:solidFill>
                </a14:hiddenFill>
              </a:ext>
            </a:extLst>
          </p:spPr>
        </p:pic>
        <p:sp>
          <p:nvSpPr>
            <p:cNvPr id="172" name="textruta 171"/>
            <p:cNvSpPr txBox="1"/>
            <p:nvPr/>
          </p:nvSpPr>
          <p:spPr>
            <a:xfrm>
              <a:off x="2178795" y="1383191"/>
              <a:ext cx="854378" cy="215444"/>
            </a:xfrm>
            <a:prstGeom prst="rect">
              <a:avLst/>
            </a:prstGeom>
            <a:noFill/>
          </p:spPr>
          <p:txBody>
            <a:bodyPr wrap="square" rtlCol="0">
              <a:spAutoFit/>
            </a:bodyPr>
            <a:lstStyle/>
            <a:p>
              <a:pPr defTabSz="457200" fontAlgn="auto">
                <a:spcBef>
                  <a:spcPts val="0"/>
                </a:spcBef>
                <a:spcAft>
                  <a:spcPts val="0"/>
                </a:spcAft>
              </a:pPr>
              <a:r>
                <a:rPr lang="sv-SE" sz="800" i="1" dirty="0" smtClean="0">
                  <a:solidFill>
                    <a:prstClr val="black"/>
                  </a:solidFill>
                  <a:latin typeface="Calibri"/>
                  <a:cs typeface="Arial" pitchFamily="34" charset="0"/>
                </a:rPr>
                <a:t>vårdpersonal</a:t>
              </a:r>
              <a:endParaRPr lang="sv-SE" sz="800" i="1" dirty="0">
                <a:solidFill>
                  <a:prstClr val="black"/>
                </a:solidFill>
                <a:latin typeface="Calibri"/>
                <a:cs typeface="Arial" pitchFamily="34" charset="0"/>
              </a:endParaRPr>
            </a:p>
          </p:txBody>
        </p:sp>
      </p:grpSp>
      <p:cxnSp>
        <p:nvCxnSpPr>
          <p:cNvPr id="174" name="Rak pil 59"/>
          <p:cNvCxnSpPr/>
          <p:nvPr/>
        </p:nvCxnSpPr>
        <p:spPr>
          <a:xfrm flipH="1">
            <a:off x="5394718" y="3188547"/>
            <a:ext cx="173809" cy="276554"/>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75" name="Rak pil 59"/>
          <p:cNvCxnSpPr/>
          <p:nvPr/>
        </p:nvCxnSpPr>
        <p:spPr>
          <a:xfrm flipV="1">
            <a:off x="5245991" y="3167380"/>
            <a:ext cx="161669" cy="244753"/>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178" name="Dokument 177"/>
          <p:cNvSpPr/>
          <p:nvPr/>
        </p:nvSpPr>
        <p:spPr bwMode="auto">
          <a:xfrm>
            <a:off x="6331889" y="2097717"/>
            <a:ext cx="902080" cy="461337"/>
          </a:xfrm>
          <a:prstGeom prst="flowChartDocument">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57263" fontAlgn="base">
              <a:spcBef>
                <a:spcPct val="0"/>
              </a:spcBef>
              <a:spcAft>
                <a:spcPct val="0"/>
              </a:spcAft>
            </a:pPr>
            <a:r>
              <a:rPr lang="sv-SE" sz="900" dirty="0" smtClean="0">
                <a:solidFill>
                  <a:srgbClr val="382819"/>
                </a:solidFill>
                <a:latin typeface="Arial Narrow"/>
                <a:cs typeface="Arial Narrow"/>
              </a:rPr>
              <a:t>Läkemedel</a:t>
            </a:r>
            <a:br>
              <a:rPr lang="sv-SE" sz="900" dirty="0" smtClean="0">
                <a:solidFill>
                  <a:srgbClr val="382819"/>
                </a:solidFill>
                <a:latin typeface="Arial Narrow"/>
                <a:cs typeface="Arial Narrow"/>
              </a:rPr>
            </a:br>
            <a:r>
              <a:rPr lang="sv-SE" sz="900" dirty="0" smtClean="0">
                <a:solidFill>
                  <a:srgbClr val="382819"/>
                </a:solidFill>
                <a:latin typeface="Arial Narrow"/>
                <a:cs typeface="Arial Narrow"/>
              </a:rPr>
              <a:t>NOD</a:t>
            </a:r>
            <a:endParaRPr lang="sv-SE" sz="900" dirty="0">
              <a:solidFill>
                <a:srgbClr val="382819"/>
              </a:solidFill>
              <a:latin typeface="Arial Narrow"/>
              <a:cs typeface="Arial Narrow"/>
            </a:endParaRPr>
          </a:p>
        </p:txBody>
      </p:sp>
      <p:sp>
        <p:nvSpPr>
          <p:cNvPr id="180" name="Rundad rektangulär 179"/>
          <p:cNvSpPr/>
          <p:nvPr/>
        </p:nvSpPr>
        <p:spPr bwMode="auto">
          <a:xfrm>
            <a:off x="1757680" y="3339670"/>
            <a:ext cx="1489787" cy="274828"/>
          </a:xfrm>
          <a:prstGeom prst="wedgeRoundRectCallout">
            <a:avLst>
              <a:gd name="adj1" fmla="val 69948"/>
              <a:gd name="adj2" fmla="val -53371"/>
              <a:gd name="adj3" fmla="val 16667"/>
            </a:avLst>
          </a:prstGeom>
          <a:ln>
            <a:solidFill>
              <a:srgbClr val="0000FF"/>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00" i="1" dirty="0" smtClean="0">
                <a:solidFill>
                  <a:schemeClr val="tx1"/>
                </a:solidFill>
                <a:cs typeface="Arial"/>
              </a:rPr>
              <a:t>Kontrollera version</a:t>
            </a:r>
            <a:endParaRPr lang="sv-SE" sz="1000" i="1" dirty="0">
              <a:solidFill>
                <a:schemeClr val="tx1"/>
              </a:solidFill>
              <a:cs typeface="Arial"/>
            </a:endParaRPr>
          </a:p>
        </p:txBody>
      </p:sp>
      <p:sp>
        <p:nvSpPr>
          <p:cNvPr id="181" name="Rundad rektangulär 180"/>
          <p:cNvSpPr/>
          <p:nvPr/>
        </p:nvSpPr>
        <p:spPr bwMode="auto">
          <a:xfrm>
            <a:off x="6776721" y="2791030"/>
            <a:ext cx="1371600" cy="274828"/>
          </a:xfrm>
          <a:prstGeom prst="wedgeRoundRectCallout">
            <a:avLst>
              <a:gd name="adj1" fmla="val -64401"/>
              <a:gd name="adj2" fmla="val -1615"/>
              <a:gd name="adj3" fmla="val 16667"/>
            </a:avLst>
          </a:prstGeom>
          <a:ln>
            <a:solidFill>
              <a:srgbClr val="0000FF"/>
            </a:solidFill>
          </a:ln>
          <a:extLst/>
        </p:spPr>
        <p:style>
          <a:lnRef idx="2">
            <a:schemeClr val="accent2"/>
          </a:lnRef>
          <a:fillRef idx="1">
            <a:schemeClr val="lt1"/>
          </a:fillRef>
          <a:effectRef idx="0">
            <a:schemeClr val="accent2"/>
          </a:effectRef>
          <a:fontRef idx="minor">
            <a:schemeClr val="dk1"/>
          </a:fontRef>
        </p:style>
        <p:txBody>
          <a:bodyPr vert="horz" wrap="square" lIns="90000" tIns="46800" rIns="90000" bIns="46800" numCol="1" rtlCol="0" anchor="t" anchorCtr="0" compatLnSpc="1">
            <a:prstTxWarp prst="textNoShape">
              <a:avLst/>
            </a:prstTxWarp>
            <a:spAutoFit/>
          </a:bodyPr>
          <a:lstStyle/>
          <a:p>
            <a:pPr defTabSz="957263"/>
            <a:r>
              <a:rPr lang="sv-SE" sz="1000" i="1" dirty="0" smtClean="0">
                <a:solidFill>
                  <a:schemeClr val="tx1"/>
                </a:solidFill>
                <a:cs typeface="Arial"/>
              </a:rPr>
              <a:t>ev. persistenslager</a:t>
            </a:r>
            <a:endParaRPr lang="sv-SE" sz="1000" i="1" dirty="0">
              <a:solidFill>
                <a:schemeClr val="tx1"/>
              </a:solidFill>
              <a:cs typeface="Arial"/>
            </a:endParaRPr>
          </a:p>
        </p:txBody>
      </p:sp>
      <p:sp>
        <p:nvSpPr>
          <p:cNvPr id="185" name="Text Box 182"/>
          <p:cNvSpPr txBox="1">
            <a:spLocks noChangeArrowheads="1"/>
          </p:cNvSpPr>
          <p:nvPr/>
        </p:nvSpPr>
        <p:spPr bwMode="auto">
          <a:xfrm>
            <a:off x="413828" y="4130529"/>
            <a:ext cx="3446972" cy="2215991"/>
          </a:xfrm>
          <a:prstGeom prst="rect">
            <a:avLst/>
          </a:prstGeom>
          <a:ln/>
          <a:extLst/>
        </p:spPr>
        <p:style>
          <a:lnRef idx="3">
            <a:schemeClr val="lt1"/>
          </a:lnRef>
          <a:fillRef idx="1">
            <a:schemeClr val="accent3"/>
          </a:fillRef>
          <a:effectRef idx="1">
            <a:schemeClr val="accent3"/>
          </a:effectRef>
          <a:fontRef idx="minor">
            <a:schemeClr val="lt1"/>
          </a:fontRef>
        </p:style>
        <p:txBody>
          <a:bodyPr wrap="square">
            <a:spAutoFit/>
          </a:bodyPr>
          <a:lstStyle>
            <a:defPPr>
              <a:defRPr lang="sv-SE"/>
            </a:defPPr>
            <a:lvl1pPr eaLnBrk="1" hangingPunct="1">
              <a:spcBef>
                <a:spcPct val="50000"/>
              </a:spcBef>
              <a:defRPr sz="1100">
                <a:ea typeface="ＭＳ Ｐゴシック" charset="0"/>
                <a:cs typeface="ＭＳ Ｐゴシック" charset="0"/>
              </a:defRPr>
            </a:lvl1pPr>
            <a:lvl2pPr marL="742950" indent="-285750" eaLnBrk="0" hangingPunct="0">
              <a:defRPr sz="2400">
                <a:ea typeface="ＭＳ Ｐゴシック" charset="0"/>
              </a:defRPr>
            </a:lvl2pPr>
            <a:lvl3pPr marL="1143000" indent="-228600" eaLnBrk="0" hangingPunct="0">
              <a:defRPr sz="2400">
                <a:ea typeface="ＭＳ Ｐゴシック" charset="0"/>
              </a:defRPr>
            </a:lvl3pPr>
            <a:lvl4pPr marL="1600200" indent="-228600" eaLnBrk="0" hangingPunct="0">
              <a:defRPr sz="2400">
                <a:ea typeface="ＭＳ Ｐゴシック" charset="0"/>
              </a:defRPr>
            </a:lvl4pPr>
            <a:lvl5pPr marL="2057400" indent="-228600" eaLnBrk="0" hangingPunct="0">
              <a:defRPr sz="2400">
                <a:ea typeface="ＭＳ Ｐゴシック" charset="0"/>
              </a:defRPr>
            </a:lvl5pPr>
            <a:lvl6pPr marL="2514600" indent="-228600" eaLnBrk="0" fontAlgn="base" hangingPunct="0">
              <a:spcBef>
                <a:spcPct val="0"/>
              </a:spcBef>
              <a:spcAft>
                <a:spcPct val="0"/>
              </a:spcAft>
              <a:defRPr sz="2400">
                <a:ea typeface="ＭＳ Ｐゴシック" charset="0"/>
              </a:defRPr>
            </a:lvl6pPr>
            <a:lvl7pPr marL="2971800" indent="-228600" eaLnBrk="0" fontAlgn="base" hangingPunct="0">
              <a:spcBef>
                <a:spcPct val="0"/>
              </a:spcBef>
              <a:spcAft>
                <a:spcPct val="0"/>
              </a:spcAft>
              <a:defRPr sz="2400">
                <a:ea typeface="ＭＳ Ｐゴシック" charset="0"/>
              </a:defRPr>
            </a:lvl7pPr>
            <a:lvl8pPr marL="3429000" indent="-228600" eaLnBrk="0" fontAlgn="base" hangingPunct="0">
              <a:spcBef>
                <a:spcPct val="0"/>
              </a:spcBef>
              <a:spcAft>
                <a:spcPct val="0"/>
              </a:spcAft>
              <a:defRPr sz="2400">
                <a:ea typeface="ＭＳ Ｐゴシック" charset="0"/>
              </a:defRPr>
            </a:lvl8pPr>
            <a:lvl9pPr marL="3886200" indent="-228600" eaLnBrk="0" fontAlgn="base" hangingPunct="0">
              <a:spcBef>
                <a:spcPct val="0"/>
              </a:spcBef>
              <a:spcAft>
                <a:spcPct val="0"/>
              </a:spcAft>
              <a:defRPr sz="2400">
                <a:ea typeface="ＭＳ Ｐゴシック" charset="0"/>
              </a:defRPr>
            </a:lvl9pPr>
          </a:lstStyle>
          <a:p>
            <a:r>
              <a:rPr lang="sv-SE" sz="1200" b="1" u="sng" dirty="0" smtClean="0">
                <a:solidFill>
                  <a:srgbClr val="382819"/>
                </a:solidFill>
              </a:rPr>
              <a:t>Designkriteria:</a:t>
            </a:r>
            <a:endParaRPr lang="sv-SE" sz="1200" b="1" u="sng" dirty="0">
              <a:solidFill>
                <a:srgbClr val="382819"/>
              </a:solidFill>
            </a:endParaRPr>
          </a:p>
          <a:p>
            <a:pPr marL="171450" indent="-171450">
              <a:buFont typeface="Arial"/>
              <a:buChar char="•"/>
            </a:pPr>
            <a:r>
              <a:rPr lang="sv-SE" sz="1200" dirty="0" smtClean="0">
                <a:solidFill>
                  <a:srgbClr val="382819"/>
                </a:solidFill>
              </a:rPr>
              <a:t>Alltid möjligt att läsa</a:t>
            </a:r>
          </a:p>
          <a:p>
            <a:pPr marL="171450" indent="-171450">
              <a:buFont typeface="Arial"/>
              <a:buChar char="•"/>
            </a:pPr>
            <a:r>
              <a:rPr lang="sv-SE" sz="1200" dirty="0" smtClean="0">
                <a:solidFill>
                  <a:srgbClr val="382819"/>
                </a:solidFill>
              </a:rPr>
              <a:t>Aldrig låst</a:t>
            </a:r>
          </a:p>
          <a:p>
            <a:pPr marL="171450" indent="-171450">
              <a:buFont typeface="Arial"/>
              <a:buChar char="•"/>
            </a:pPr>
            <a:r>
              <a:rPr lang="sv-SE" sz="1200" dirty="0" smtClean="0">
                <a:solidFill>
                  <a:srgbClr val="382819"/>
                </a:solidFill>
              </a:rPr>
              <a:t>Uppdatering endast möjlig på </a:t>
            </a:r>
            <a:r>
              <a:rPr lang="sv-SE" sz="1200" b="1" i="1" dirty="0" smtClean="0">
                <a:solidFill>
                  <a:srgbClr val="382819"/>
                </a:solidFill>
              </a:rPr>
              <a:t>senaste</a:t>
            </a:r>
            <a:r>
              <a:rPr lang="sv-SE" sz="1200" dirty="0" smtClean="0">
                <a:solidFill>
                  <a:srgbClr val="382819"/>
                </a:solidFill>
              </a:rPr>
              <a:t> version</a:t>
            </a:r>
          </a:p>
          <a:p>
            <a:pPr marL="171450" indent="-171450">
              <a:buFont typeface="Arial"/>
              <a:buChar char="•"/>
            </a:pPr>
            <a:r>
              <a:rPr lang="sv-SE" sz="1200" dirty="0" smtClean="0">
                <a:solidFill>
                  <a:srgbClr val="382819"/>
                </a:solidFill>
              </a:rPr>
              <a:t>Möjligt att </a:t>
            </a:r>
            <a:r>
              <a:rPr lang="sv-SE" sz="1200" dirty="0" err="1" smtClean="0">
                <a:solidFill>
                  <a:srgbClr val="382819"/>
                </a:solidFill>
              </a:rPr>
              <a:t>cacha</a:t>
            </a:r>
            <a:r>
              <a:rPr lang="sv-SE" sz="1200" dirty="0" smtClean="0">
                <a:solidFill>
                  <a:srgbClr val="382819"/>
                </a:solidFill>
              </a:rPr>
              <a:t>/persistera </a:t>
            </a:r>
            <a:br>
              <a:rPr lang="sv-SE" sz="1200" dirty="0" smtClean="0">
                <a:solidFill>
                  <a:srgbClr val="382819"/>
                </a:solidFill>
              </a:rPr>
            </a:br>
            <a:r>
              <a:rPr lang="sv-SE" sz="1200" dirty="0" smtClean="0">
                <a:solidFill>
                  <a:srgbClr val="382819"/>
                </a:solidFill>
              </a:rPr>
              <a:t>(robusthet/</a:t>
            </a:r>
            <a:r>
              <a:rPr lang="sv-SE" sz="1200" dirty="0" err="1" smtClean="0">
                <a:solidFill>
                  <a:srgbClr val="382819"/>
                </a:solidFill>
              </a:rPr>
              <a:t>responsivitet</a:t>
            </a:r>
            <a:r>
              <a:rPr lang="sv-SE" sz="1200" dirty="0" smtClean="0">
                <a:solidFill>
                  <a:srgbClr val="382819"/>
                </a:solidFill>
              </a:rPr>
              <a:t>)</a:t>
            </a:r>
          </a:p>
          <a:p>
            <a:pPr marL="171450" indent="-171450">
              <a:buFont typeface="Arial"/>
              <a:buChar char="•"/>
            </a:pPr>
            <a:r>
              <a:rPr lang="sv-SE" sz="1200" dirty="0" smtClean="0">
                <a:solidFill>
                  <a:srgbClr val="382819"/>
                </a:solidFill>
              </a:rPr>
              <a:t>Möjligt att kontrollera om jag har senaste version av journalförd läkemedelslista lokalt</a:t>
            </a:r>
          </a:p>
        </p:txBody>
      </p:sp>
      <p:grpSp>
        <p:nvGrpSpPr>
          <p:cNvPr id="31" name="Grupp 30"/>
          <p:cNvGrpSpPr/>
          <p:nvPr/>
        </p:nvGrpSpPr>
        <p:grpSpPr>
          <a:xfrm>
            <a:off x="6177280" y="3758285"/>
            <a:ext cx="2721734" cy="2053235"/>
            <a:chOff x="6177280" y="4053840"/>
            <a:chExt cx="2721734" cy="1757680"/>
          </a:xfrm>
        </p:grpSpPr>
        <p:sp>
          <p:nvSpPr>
            <p:cNvPr id="28" name="Rektangel 27"/>
            <p:cNvSpPr/>
            <p:nvPr/>
          </p:nvSpPr>
          <p:spPr>
            <a:xfrm rot="19314218">
              <a:off x="6488646" y="4787281"/>
              <a:ext cx="2410368" cy="395210"/>
            </a:xfrm>
            <a:prstGeom prst="rect">
              <a:avLst/>
            </a:prstGeom>
            <a:noFill/>
          </p:spPr>
          <p:txBody>
            <a:bodyPr wrap="square" lIns="91440" tIns="45720" rIns="91440" bIns="45720">
              <a:spAutoFit/>
            </a:bodyPr>
            <a:lstStyle/>
            <a:p>
              <a:pPr algn="ctr"/>
              <a:r>
                <a:rPr lang="sv-SE" sz="2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preliminärt</a:t>
              </a:r>
              <a:endParaRPr lang="sv-SE"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grpSp>
          <p:nvGrpSpPr>
            <p:cNvPr id="23" name="Grupp 22"/>
            <p:cNvGrpSpPr/>
            <p:nvPr/>
          </p:nvGrpSpPr>
          <p:grpSpPr>
            <a:xfrm>
              <a:off x="6177280" y="4053840"/>
              <a:ext cx="2661920" cy="1757680"/>
              <a:chOff x="6177280" y="4053840"/>
              <a:chExt cx="2661920" cy="1757680"/>
            </a:xfrm>
            <a:noFill/>
          </p:grpSpPr>
          <p:sp>
            <p:nvSpPr>
              <p:cNvPr id="183" name="Text Box 182"/>
              <p:cNvSpPr txBox="1">
                <a:spLocks noChangeArrowheads="1"/>
              </p:cNvSpPr>
              <p:nvPr/>
            </p:nvSpPr>
            <p:spPr bwMode="auto">
              <a:xfrm>
                <a:off x="6580948" y="4486129"/>
                <a:ext cx="2258252" cy="1027546"/>
              </a:xfrm>
              <a:prstGeom prst="rect">
                <a:avLst/>
              </a:prstGeom>
              <a:grpFill/>
              <a:ln/>
              <a:extLst/>
            </p:spPr>
            <p:style>
              <a:lnRef idx="3">
                <a:schemeClr val="lt1"/>
              </a:lnRef>
              <a:fillRef idx="1">
                <a:schemeClr val="accent3"/>
              </a:fillRef>
              <a:effectRef idx="1">
                <a:schemeClr val="accent3"/>
              </a:effectRef>
              <a:fontRef idx="minor">
                <a:schemeClr val="lt1"/>
              </a:fontRef>
            </p:style>
            <p:txBody>
              <a:bodyPr wrap="square">
                <a:spAutoFit/>
              </a:bodyPr>
              <a:lstStyle>
                <a:defPPr>
                  <a:defRPr lang="sv-SE"/>
                </a:defPPr>
                <a:lvl1pPr eaLnBrk="1" hangingPunct="1">
                  <a:spcBef>
                    <a:spcPct val="50000"/>
                  </a:spcBef>
                  <a:defRPr sz="1100">
                    <a:ea typeface="ＭＳ Ｐゴシック" charset="0"/>
                    <a:cs typeface="ＭＳ Ｐゴシック" charset="0"/>
                  </a:defRPr>
                </a:lvl1pPr>
                <a:lvl2pPr marL="742950" indent="-285750" eaLnBrk="0" hangingPunct="0">
                  <a:defRPr sz="2400">
                    <a:ea typeface="ＭＳ Ｐゴシック" charset="0"/>
                  </a:defRPr>
                </a:lvl2pPr>
                <a:lvl3pPr marL="1143000" indent="-228600" eaLnBrk="0" hangingPunct="0">
                  <a:defRPr sz="2400">
                    <a:ea typeface="ＭＳ Ｐゴシック" charset="0"/>
                  </a:defRPr>
                </a:lvl3pPr>
                <a:lvl4pPr marL="1600200" indent="-228600" eaLnBrk="0" hangingPunct="0">
                  <a:defRPr sz="2400">
                    <a:ea typeface="ＭＳ Ｐゴシック" charset="0"/>
                  </a:defRPr>
                </a:lvl4pPr>
                <a:lvl5pPr marL="2057400" indent="-228600" eaLnBrk="0" hangingPunct="0">
                  <a:defRPr sz="2400">
                    <a:ea typeface="ＭＳ Ｐゴシック" charset="0"/>
                  </a:defRPr>
                </a:lvl5pPr>
                <a:lvl6pPr marL="2514600" indent="-228600" eaLnBrk="0" fontAlgn="base" hangingPunct="0">
                  <a:spcBef>
                    <a:spcPct val="0"/>
                  </a:spcBef>
                  <a:spcAft>
                    <a:spcPct val="0"/>
                  </a:spcAft>
                  <a:defRPr sz="2400">
                    <a:ea typeface="ＭＳ Ｐゴシック" charset="0"/>
                  </a:defRPr>
                </a:lvl6pPr>
                <a:lvl7pPr marL="2971800" indent="-228600" eaLnBrk="0" fontAlgn="base" hangingPunct="0">
                  <a:spcBef>
                    <a:spcPct val="0"/>
                  </a:spcBef>
                  <a:spcAft>
                    <a:spcPct val="0"/>
                  </a:spcAft>
                  <a:defRPr sz="2400">
                    <a:ea typeface="ＭＳ Ｐゴシック" charset="0"/>
                  </a:defRPr>
                </a:lvl7pPr>
                <a:lvl8pPr marL="3429000" indent="-228600" eaLnBrk="0" fontAlgn="base" hangingPunct="0">
                  <a:spcBef>
                    <a:spcPct val="0"/>
                  </a:spcBef>
                  <a:spcAft>
                    <a:spcPct val="0"/>
                  </a:spcAft>
                  <a:defRPr sz="2400">
                    <a:ea typeface="ＭＳ Ｐゴシック" charset="0"/>
                  </a:defRPr>
                </a:lvl8pPr>
                <a:lvl9pPr marL="3886200" indent="-228600" eaLnBrk="0" fontAlgn="base" hangingPunct="0">
                  <a:spcBef>
                    <a:spcPct val="0"/>
                  </a:spcBef>
                  <a:spcAft>
                    <a:spcPct val="0"/>
                  </a:spcAft>
                  <a:defRPr sz="2400">
                    <a:ea typeface="ＭＳ Ｐゴシック" charset="0"/>
                  </a:defRPr>
                </a:lvl9pPr>
              </a:lstStyle>
              <a:p>
                <a:r>
                  <a:rPr lang="sv-SE" sz="1200" b="1" u="sng" dirty="0" smtClean="0">
                    <a:solidFill>
                      <a:srgbClr val="382819"/>
                    </a:solidFill>
                  </a:rPr>
                  <a:t>Svarstidskriteria:</a:t>
                </a:r>
                <a:br>
                  <a:rPr lang="sv-SE" sz="1200" b="1" u="sng" dirty="0" smtClean="0">
                    <a:solidFill>
                      <a:srgbClr val="382819"/>
                    </a:solidFill>
                  </a:rPr>
                </a:br>
                <a:r>
                  <a:rPr lang="sv-SE" sz="1200" dirty="0" smtClean="0">
                    <a:solidFill>
                      <a:srgbClr val="382819"/>
                    </a:solidFill>
                  </a:rPr>
                  <a:t> &lt; </a:t>
                </a:r>
                <a:r>
                  <a:rPr lang="sv-SE" sz="1200" dirty="0">
                    <a:solidFill>
                      <a:srgbClr val="382819"/>
                    </a:solidFill>
                  </a:rPr>
                  <a:t>1 sekund för 95 % av alla </a:t>
                </a:r>
                <a:r>
                  <a:rPr lang="sv-SE" sz="1200" dirty="0" smtClean="0">
                    <a:solidFill>
                      <a:srgbClr val="382819"/>
                    </a:solidFill>
                  </a:rPr>
                  <a:t>anrop</a:t>
                </a:r>
                <a:br>
                  <a:rPr lang="sv-SE" sz="1200" dirty="0" smtClean="0">
                    <a:solidFill>
                      <a:srgbClr val="382819"/>
                    </a:solidFill>
                  </a:rPr>
                </a:br>
                <a:r>
                  <a:rPr lang="sv-SE" sz="1200" dirty="0" smtClean="0">
                    <a:solidFill>
                      <a:srgbClr val="382819"/>
                    </a:solidFill>
                  </a:rPr>
                  <a:t/>
                </a:r>
                <a:br>
                  <a:rPr lang="sv-SE" sz="1200" dirty="0" smtClean="0">
                    <a:solidFill>
                      <a:srgbClr val="382819"/>
                    </a:solidFill>
                  </a:rPr>
                </a:br>
                <a:r>
                  <a:rPr lang="sv-SE" sz="1200" dirty="0" smtClean="0">
                    <a:solidFill>
                      <a:srgbClr val="382819"/>
                    </a:solidFill>
                  </a:rPr>
                  <a:t>exempel: </a:t>
                </a:r>
                <a:br>
                  <a:rPr lang="sv-SE" sz="1200" dirty="0" smtClean="0">
                    <a:solidFill>
                      <a:srgbClr val="382819"/>
                    </a:solidFill>
                  </a:rPr>
                </a:br>
                <a:r>
                  <a:rPr lang="sv-SE" sz="1200" dirty="0" smtClean="0">
                    <a:solidFill>
                      <a:srgbClr val="382819"/>
                    </a:solidFill>
                  </a:rPr>
                  <a:t>tjänst T1 &lt;400ms vid last ”X” </a:t>
                </a:r>
                <a:endParaRPr lang="sv-SE" sz="1200" dirty="0">
                  <a:solidFill>
                    <a:srgbClr val="382819"/>
                  </a:solidFill>
                </a:endParaRPr>
              </a:p>
            </p:txBody>
          </p:sp>
          <p:sp>
            <p:nvSpPr>
              <p:cNvPr id="22" name="Höger klammerparentes 21"/>
              <p:cNvSpPr/>
              <p:nvPr/>
            </p:nvSpPr>
            <p:spPr bwMode="auto">
              <a:xfrm>
                <a:off x="6177280" y="4053840"/>
                <a:ext cx="335280" cy="1757680"/>
              </a:xfrm>
              <a:prstGeom prst="rightBrace">
                <a:avLst/>
              </a:prstGeom>
              <a:grpFill/>
              <a:ln/>
              <a:extLst/>
            </p:spPr>
            <p:style>
              <a:lnRef idx="1">
                <a:schemeClr val="accent4"/>
              </a:lnRef>
              <a:fillRef idx="0">
                <a:schemeClr val="accent4"/>
              </a:fillRef>
              <a:effectRef idx="0">
                <a:schemeClr val="accent4"/>
              </a:effectRef>
              <a:fontRef idx="minor">
                <a:schemeClr val="tx1"/>
              </a:fontRef>
            </p:style>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grpSp>
      <p:pic>
        <p:nvPicPr>
          <p:cNvPr id="73" name="Bildobjekt 72"/>
          <p:cNvPicPr>
            <a:picLocks noChangeAspect="1"/>
          </p:cNvPicPr>
          <p:nvPr/>
        </p:nvPicPr>
        <p:blipFill>
          <a:blip r:embed="rId4"/>
          <a:stretch>
            <a:fillRect/>
          </a:stretch>
        </p:blipFill>
        <p:spPr>
          <a:xfrm>
            <a:off x="7668139" y="18852"/>
            <a:ext cx="1384717" cy="1037201"/>
          </a:xfrm>
          <a:prstGeom prst="rect">
            <a:avLst/>
          </a:prstGeom>
        </p:spPr>
      </p:pic>
      <p:sp>
        <p:nvSpPr>
          <p:cNvPr id="74" name="Cylinder 73"/>
          <p:cNvSpPr/>
          <p:nvPr/>
        </p:nvSpPr>
        <p:spPr>
          <a:xfrm>
            <a:off x="3411634" y="2694930"/>
            <a:ext cx="603737" cy="277328"/>
          </a:xfrm>
          <a:prstGeom prst="can">
            <a:avLst/>
          </a:prstGeom>
          <a:ln>
            <a:headEnd type="none"/>
            <a:tailEnd type="none" w="lg" len="lg"/>
          </a:ln>
        </p:spPr>
        <p:style>
          <a:lnRef idx="1">
            <a:schemeClr val="dk1"/>
          </a:lnRef>
          <a:fillRef idx="2">
            <a:schemeClr val="dk1"/>
          </a:fillRef>
          <a:effectRef idx="1">
            <a:schemeClr val="dk1"/>
          </a:effectRef>
          <a:fontRef idx="minor">
            <a:schemeClr val="dk1"/>
          </a:fontRef>
        </p:style>
        <p:txBody>
          <a:bodyPr lIns="72000" rIns="72000" anchor="ctr"/>
          <a:lstStyle/>
          <a:p>
            <a:pPr algn="ctr"/>
            <a:endParaRPr lang="sv-SE" sz="1000" dirty="0">
              <a:solidFill>
                <a:srgbClr val="382819"/>
              </a:solidFill>
              <a:latin typeface="Arial"/>
              <a:ea typeface="ＭＳ Ｐゴシック" pitchFamily="-112" charset="-128"/>
              <a:cs typeface="ＭＳ Ｐゴシック" pitchFamily="-112" charset="-128"/>
            </a:endParaRPr>
          </a:p>
        </p:txBody>
      </p:sp>
      <p:sp>
        <p:nvSpPr>
          <p:cNvPr id="17" name="Rektangel med rundade hörn 22"/>
          <p:cNvSpPr/>
          <p:nvPr/>
        </p:nvSpPr>
        <p:spPr>
          <a:xfrm>
            <a:off x="3025065" y="2266640"/>
            <a:ext cx="787910" cy="546002"/>
          </a:xfrm>
          <a:prstGeom prst="round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p>
            <a:pPr algn="ctr" defTabSz="914400" fontAlgn="base">
              <a:spcBef>
                <a:spcPct val="50000"/>
              </a:spcBef>
              <a:spcAft>
                <a:spcPct val="0"/>
              </a:spcAft>
            </a:pPr>
            <a:r>
              <a:rPr lang="sv-SE" sz="900" dirty="0" smtClean="0">
                <a:solidFill>
                  <a:srgbClr val="382819"/>
                </a:solidFill>
                <a:latin typeface="Arial" charset="0"/>
                <a:ea typeface="ＭＳ Ｐゴシック" charset="0"/>
                <a:cs typeface="ＭＳ Ｐゴシック" charset="0"/>
              </a:rPr>
              <a:t>Journalsystem</a:t>
            </a:r>
            <a:endParaRPr lang="sv-SE" sz="900" dirty="0">
              <a:solidFill>
                <a:srgbClr val="382819"/>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86684381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52" grpId="0" animBg="1"/>
      <p:bldP spid="180" grpId="0" animBg="1"/>
      <p:bldP spid="181" grpId="0" animBg="1"/>
      <p:bldP spid="18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Rektangel med rundade hörn 128"/>
          <p:cNvSpPr/>
          <p:nvPr/>
        </p:nvSpPr>
        <p:spPr>
          <a:xfrm rot="10800000" flipV="1">
            <a:off x="6339425" y="4804173"/>
            <a:ext cx="1608141" cy="1394965"/>
          </a:xfrm>
          <a:prstGeom prst="roundRect">
            <a:avLst>
              <a:gd name="adj" fmla="val 4005"/>
            </a:avLst>
          </a:prstGeom>
          <a:solidFill>
            <a:schemeClr val="bg1">
              <a:lumMod val="85000"/>
            </a:schemeClr>
          </a:solidFill>
          <a:ln w="9525">
            <a:noFill/>
            <a:miter lim="800000"/>
            <a:headEnd/>
            <a:tailEnd/>
          </a:ln>
        </p:spPr>
        <p:txBody>
          <a:bodyPr wrap="none" anchor="b"/>
          <a:lstStyle/>
          <a:p>
            <a:pPr algn="r" defTabSz="914400" fontAlgn="base">
              <a:spcBef>
                <a:spcPct val="0"/>
              </a:spcBef>
              <a:spcAft>
                <a:spcPct val="0"/>
              </a:spcAft>
              <a:defRPr/>
            </a:pPr>
            <a:r>
              <a:rPr lang="sv-SE" sz="1000" dirty="0" smtClean="0">
                <a:solidFill>
                  <a:srgbClr val="382819"/>
                </a:solidFill>
                <a:latin typeface="Arial" pitchFamily="-112" charset="0"/>
                <a:ea typeface="Times New Roman" pitchFamily="-112" charset="0"/>
                <a:cs typeface="Times New Roman" pitchFamily="-112" charset="0"/>
              </a:rPr>
              <a:t>eHälsomyndigheten</a:t>
            </a:r>
            <a:endParaRPr lang="sv-SE" sz="1000" dirty="0">
              <a:solidFill>
                <a:srgbClr val="382819"/>
              </a:solidFill>
              <a:latin typeface="Arial" pitchFamily="-112" charset="0"/>
              <a:ea typeface="Times New Roman" pitchFamily="-112" charset="0"/>
              <a:cs typeface="Times New Roman" pitchFamily="-112" charset="0"/>
            </a:endParaRPr>
          </a:p>
        </p:txBody>
      </p:sp>
      <p:sp>
        <p:nvSpPr>
          <p:cNvPr id="123" name="Rektangel med rundade hörn 122"/>
          <p:cNvSpPr/>
          <p:nvPr/>
        </p:nvSpPr>
        <p:spPr>
          <a:xfrm rot="10800000" flipV="1">
            <a:off x="3623928" y="4804173"/>
            <a:ext cx="2623954" cy="1394965"/>
          </a:xfrm>
          <a:prstGeom prst="roundRect">
            <a:avLst>
              <a:gd name="adj" fmla="val 4005"/>
            </a:avLst>
          </a:prstGeom>
          <a:solidFill>
            <a:schemeClr val="bg1">
              <a:lumMod val="85000"/>
            </a:schemeClr>
          </a:solidFill>
          <a:ln w="9525">
            <a:noFill/>
            <a:miter lim="800000"/>
            <a:headEnd/>
            <a:tailEnd/>
          </a:ln>
        </p:spPr>
        <p:txBody>
          <a:bodyPr wrap="none" anchor="b"/>
          <a:lstStyle/>
          <a:p>
            <a:pPr algn="r" defTabSz="914400" fontAlgn="base">
              <a:spcBef>
                <a:spcPct val="0"/>
              </a:spcBef>
              <a:spcAft>
                <a:spcPct val="0"/>
              </a:spcAft>
              <a:defRPr/>
            </a:pPr>
            <a:r>
              <a:rPr lang="sv-SE" sz="1000" dirty="0" smtClean="0">
                <a:solidFill>
                  <a:srgbClr val="382819"/>
                </a:solidFill>
                <a:latin typeface="Arial" pitchFamily="-112" charset="0"/>
                <a:ea typeface="Times New Roman" pitchFamily="-112" charset="0"/>
                <a:cs typeface="Times New Roman" pitchFamily="-112" charset="0"/>
              </a:rPr>
              <a:t>eHälsomyndigheten</a:t>
            </a:r>
            <a:endParaRPr lang="sv-SE" sz="1000" dirty="0">
              <a:solidFill>
                <a:srgbClr val="382819"/>
              </a:solidFill>
              <a:latin typeface="Arial" pitchFamily="-112" charset="0"/>
              <a:ea typeface="Times New Roman" pitchFamily="-112" charset="0"/>
              <a:cs typeface="Times New Roman" pitchFamily="-112" charset="0"/>
            </a:endParaRPr>
          </a:p>
        </p:txBody>
      </p:sp>
      <p:cxnSp>
        <p:nvCxnSpPr>
          <p:cNvPr id="27" name="Rak pil 59"/>
          <p:cNvCxnSpPr>
            <a:stCxn id="28" idx="2"/>
            <a:endCxn id="78" idx="2"/>
          </p:cNvCxnSpPr>
          <p:nvPr/>
        </p:nvCxnSpPr>
        <p:spPr>
          <a:xfrm>
            <a:off x="3279180" y="2160368"/>
            <a:ext cx="13507" cy="1179160"/>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8" name="Rektangel med rundade hörn 27"/>
          <p:cNvSpPr/>
          <p:nvPr/>
        </p:nvSpPr>
        <p:spPr bwMode="auto">
          <a:xfrm>
            <a:off x="2697417" y="1518973"/>
            <a:ext cx="1163526" cy="641395"/>
          </a:xfrm>
          <a:prstGeom prst="roundRect">
            <a:avLst/>
          </a:prstGeom>
          <a:ln/>
          <a:extLst/>
        </p:spPr>
        <p:style>
          <a:lnRef idx="1">
            <a:schemeClr val="accent6"/>
          </a:lnRef>
          <a:fillRef idx="2">
            <a:schemeClr val="accent6"/>
          </a:fillRef>
          <a:effectRef idx="1">
            <a:schemeClr val="accent6"/>
          </a:effectRef>
          <a:fontRef idx="minor">
            <a:schemeClr val="dk1"/>
          </a:fontRef>
        </p:style>
        <p:txBody>
          <a:bodyPr anchor="ctr"/>
          <a:lstStyle/>
          <a:p>
            <a:pPr algn="ctr" defTabSz="914400" fontAlgn="base">
              <a:spcBef>
                <a:spcPct val="0"/>
              </a:spcBef>
              <a:spcAft>
                <a:spcPct val="0"/>
              </a:spcAft>
            </a:pPr>
            <a:r>
              <a:rPr lang="sv-SE" sz="1200" dirty="0">
                <a:solidFill>
                  <a:srgbClr val="382819"/>
                </a:solidFill>
                <a:latin typeface="Calibri"/>
                <a:cs typeface="Calibri"/>
              </a:rPr>
              <a:t>Vårdsystem</a:t>
            </a:r>
            <a:endParaRPr lang="sv-SE" sz="1200" dirty="0">
              <a:solidFill>
                <a:srgbClr val="382819"/>
              </a:solidFill>
              <a:latin typeface="Arial"/>
            </a:endParaRPr>
          </a:p>
        </p:txBody>
      </p:sp>
      <p:sp>
        <p:nvSpPr>
          <p:cNvPr id="2" name="Rubrik 1"/>
          <p:cNvSpPr>
            <a:spLocks noGrp="1"/>
          </p:cNvSpPr>
          <p:nvPr>
            <p:ph type="title"/>
          </p:nvPr>
        </p:nvSpPr>
        <p:spPr>
          <a:xfrm>
            <a:off x="1371876" y="328046"/>
            <a:ext cx="6792913" cy="692150"/>
          </a:xfrm>
        </p:spPr>
        <p:txBody>
          <a:bodyPr>
            <a:normAutofit/>
          </a:bodyPr>
          <a:lstStyle/>
          <a:p>
            <a:r>
              <a:rPr lang="sv-SE" sz="2400" i="1" dirty="0" smtClean="0">
                <a:solidFill>
                  <a:srgbClr val="009999"/>
                </a:solidFill>
              </a:rPr>
              <a:t>Teknisk säkerhetslösning</a:t>
            </a:r>
            <a:endParaRPr lang="sv-SE" sz="2400" i="1" dirty="0">
              <a:solidFill>
                <a:srgbClr val="009999"/>
              </a:solidFill>
            </a:endParaRPr>
          </a:p>
        </p:txBody>
      </p:sp>
      <p:pic>
        <p:nvPicPr>
          <p:cNvPr id="30" name="Bildobjekt 29" descr="certifikat.jpeg"/>
          <p:cNvPicPr>
            <a:picLocks noChangeAspect="1"/>
          </p:cNvPicPr>
          <p:nvPr/>
        </p:nvPicPr>
        <p:blipFill>
          <a:blip r:embed="rId3" cstate="print">
            <a:alphaModFix/>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623929" y="1954449"/>
            <a:ext cx="285904" cy="271608"/>
          </a:xfrm>
          <a:prstGeom prst="rect">
            <a:avLst/>
          </a:prstGeom>
        </p:spPr>
      </p:pic>
      <p:cxnSp>
        <p:nvCxnSpPr>
          <p:cNvPr id="31" name="Rak pil 59"/>
          <p:cNvCxnSpPr>
            <a:stCxn id="32" idx="3"/>
            <a:endCxn id="28" idx="1"/>
          </p:cNvCxnSpPr>
          <p:nvPr/>
        </p:nvCxnSpPr>
        <p:spPr>
          <a:xfrm flipV="1">
            <a:off x="2328778" y="1839671"/>
            <a:ext cx="368639" cy="1311"/>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32" name="Picture 162" descr="MCj04241600000[1]"/>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895501" y="1468488"/>
            <a:ext cx="433277" cy="7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159" descr="Dator med kortläsare"/>
          <p:cNvPicPr>
            <a:picLocks noChangeAspect="1" noChangeArrowheads="1"/>
          </p:cNvPicPr>
          <p:nvPr/>
        </p:nvPicPr>
        <p:blipFill>
          <a:blip r:embed="rId6" cstate="email">
            <a:extLst>
              <a:ext uri="{28A0092B-C50C-407E-A947-70E740481C1C}">
                <a14:useLocalDpi xmlns:a14="http://schemas.microsoft.com/office/drawing/2010/main"/>
              </a:ext>
            </a:extLst>
          </a:blip>
          <a:srcRect t="23662"/>
          <a:stretch>
            <a:fillRect/>
          </a:stretch>
        </p:blipFill>
        <p:spPr bwMode="auto">
          <a:xfrm>
            <a:off x="2229763" y="1954449"/>
            <a:ext cx="338981"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 name="Rak pil 59"/>
          <p:cNvCxnSpPr/>
          <p:nvPr/>
        </p:nvCxnSpPr>
        <p:spPr>
          <a:xfrm flipH="1">
            <a:off x="3860943" y="1839671"/>
            <a:ext cx="1209227" cy="0"/>
          </a:xfrm>
          <a:prstGeom prst="straightConnector1">
            <a:avLst/>
          </a:prstGeom>
          <a:ln>
            <a:solidFill>
              <a:srgbClr val="000000"/>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62" name="Rektangel med rundade hörn 61">
            <a:hlinkClick r:id="" action="ppaction://noaction"/>
          </p:cNvPr>
          <p:cNvSpPr/>
          <p:nvPr/>
        </p:nvSpPr>
        <p:spPr>
          <a:xfrm flipV="1">
            <a:off x="5070170" y="983314"/>
            <a:ext cx="1318399" cy="2614491"/>
          </a:xfrm>
          <a:prstGeom prst="roundRect">
            <a:avLst>
              <a:gd name="adj" fmla="val 9532"/>
            </a:avLst>
          </a:prstGeom>
          <a:solidFill>
            <a:schemeClr val="bg1">
              <a:lumMod val="85000"/>
            </a:schemeClr>
          </a:solidFill>
          <a:ln w="9525">
            <a:noFill/>
            <a:miter lim="800000"/>
            <a:headEnd/>
            <a:tailEnd/>
          </a:ln>
        </p:spPr>
        <p:txBody>
          <a:bodyPr wrap="none" anchor="ctr"/>
          <a:lstStyle/>
          <a:p>
            <a:pPr algn="ctr">
              <a:defRPr/>
            </a:pPr>
            <a:endParaRPr lang="sv-SE" sz="1000">
              <a:solidFill>
                <a:schemeClr val="bg1"/>
              </a:solidFill>
              <a:latin typeface="Arial" pitchFamily="-112" charset="0"/>
              <a:ea typeface="Times New Roman" pitchFamily="-112" charset="0"/>
              <a:cs typeface="Times New Roman" pitchFamily="-112" charset="0"/>
            </a:endParaRPr>
          </a:p>
        </p:txBody>
      </p:sp>
      <p:sp>
        <p:nvSpPr>
          <p:cNvPr id="67" name="Rektangel med rundade hörn 66"/>
          <p:cNvSpPr/>
          <p:nvPr/>
        </p:nvSpPr>
        <p:spPr>
          <a:xfrm>
            <a:off x="5186588" y="1126492"/>
            <a:ext cx="1061294" cy="441738"/>
          </a:xfrm>
          <a:prstGeom prst="roundRect">
            <a:avLst/>
          </a:prstGeom>
          <a:ln>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latin typeface="Arial"/>
                <a:ea typeface="ＭＳ Ｐゴシック" pitchFamily="-112" charset="-128"/>
                <a:cs typeface="ＭＳ Ｐゴシック" pitchFamily="-112" charset="-128"/>
              </a:rPr>
              <a:t>Autentisering</a:t>
            </a:r>
          </a:p>
        </p:txBody>
      </p:sp>
      <p:sp>
        <p:nvSpPr>
          <p:cNvPr id="35" name="Rektangel med rundade hörn 34"/>
          <p:cNvSpPr/>
          <p:nvPr/>
        </p:nvSpPr>
        <p:spPr>
          <a:xfrm>
            <a:off x="5186588" y="1662528"/>
            <a:ext cx="1061294" cy="384839"/>
          </a:xfrm>
          <a:prstGeom prst="roundRect">
            <a:avLst/>
          </a:prstGeom>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latin typeface="Arial"/>
                <a:ea typeface="ＭＳ Ｐゴシック" pitchFamily="-112" charset="-128"/>
                <a:cs typeface="ＭＳ Ｐゴシック" pitchFamily="-112" charset="-128"/>
              </a:rPr>
              <a:t>Nationell</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katalog</a:t>
            </a:r>
          </a:p>
        </p:txBody>
      </p:sp>
      <p:sp>
        <p:nvSpPr>
          <p:cNvPr id="34" name="Rektangel med rundade hörn 33"/>
          <p:cNvSpPr/>
          <p:nvPr/>
        </p:nvSpPr>
        <p:spPr>
          <a:xfrm>
            <a:off x="5204107" y="2142381"/>
            <a:ext cx="1054038" cy="368408"/>
          </a:xfrm>
          <a:prstGeom prst="roundRect">
            <a:avLst/>
          </a:prstGeom>
          <a:ln>
            <a:solidFill>
              <a:srgbClr val="382819"/>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smtClean="0">
                <a:solidFill>
                  <a:srgbClr val="382819"/>
                </a:solidFill>
                <a:latin typeface="Arial"/>
                <a:ea typeface="ＭＳ Ｐゴシック" pitchFamily="-112" charset="-128"/>
                <a:cs typeface="ＭＳ Ｐゴシック" pitchFamily="-112" charset="-128"/>
              </a:rPr>
              <a:t>Spärr</a:t>
            </a:r>
            <a:r>
              <a:rPr lang="sv-SE" sz="1100" dirty="0">
                <a:solidFill>
                  <a:srgbClr val="382819"/>
                </a:solidFill>
                <a:latin typeface="Arial"/>
                <a:ea typeface="ＭＳ Ｐゴシック" pitchFamily="-112" charset="-128"/>
                <a:cs typeface="ＭＳ Ｐゴシック" pitchFamily="-112" charset="-128"/>
              </a:rPr>
              <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(PDL)</a:t>
            </a:r>
          </a:p>
        </p:txBody>
      </p:sp>
      <p:sp>
        <p:nvSpPr>
          <p:cNvPr id="42" name="Rektangel med rundade hörn 41"/>
          <p:cNvSpPr/>
          <p:nvPr/>
        </p:nvSpPr>
        <p:spPr>
          <a:xfrm>
            <a:off x="5202918" y="2589973"/>
            <a:ext cx="1061294" cy="372517"/>
          </a:xfrm>
          <a:prstGeom prst="roundRect">
            <a:avLst/>
          </a:prstGeom>
          <a:ln>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ea typeface="ＭＳ Ｐゴシック" pitchFamily="-112" charset="-128"/>
                <a:cs typeface="ＭＳ Ｐゴシック" pitchFamily="-112" charset="-128"/>
              </a:rPr>
              <a:t>Samtycke</a:t>
            </a:r>
            <a:r>
              <a:rPr lang="sv-SE" sz="1100" dirty="0">
                <a:solidFill>
                  <a:srgbClr val="382819"/>
                </a:solidFill>
                <a:latin typeface="Arial"/>
                <a:ea typeface="ＭＳ Ｐゴシック" pitchFamily="-112" charset="-128"/>
                <a:cs typeface="ＭＳ Ｐゴシック" pitchFamily="-112" charset="-128"/>
              </a:rPr>
              <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(PDL)</a:t>
            </a:r>
          </a:p>
        </p:txBody>
      </p:sp>
      <p:sp>
        <p:nvSpPr>
          <p:cNvPr id="44" name="Rektangel med rundade hörn 43"/>
          <p:cNvSpPr/>
          <p:nvPr/>
        </p:nvSpPr>
        <p:spPr>
          <a:xfrm>
            <a:off x="5200540" y="3041789"/>
            <a:ext cx="1061294" cy="354297"/>
          </a:xfrm>
          <a:prstGeom prst="roundRect">
            <a:avLst/>
          </a:prstGeom>
          <a:ln>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latin typeface="Arial"/>
                <a:ea typeface="ＭＳ Ｐゴシック" pitchFamily="-112" charset="-128"/>
                <a:cs typeface="ＭＳ Ｐゴシック" pitchFamily="-112" charset="-128"/>
              </a:rPr>
              <a:t>Logg</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(PDL)</a:t>
            </a:r>
          </a:p>
        </p:txBody>
      </p:sp>
      <p:sp>
        <p:nvSpPr>
          <p:cNvPr id="60" name="Rektangel med rundade hörn 59"/>
          <p:cNvSpPr/>
          <p:nvPr/>
        </p:nvSpPr>
        <p:spPr>
          <a:xfrm>
            <a:off x="6915385" y="2443041"/>
            <a:ext cx="259874" cy="229935"/>
          </a:xfrm>
          <a:prstGeom prst="roundRect">
            <a:avLst/>
          </a:prstGeom>
          <a:solidFill>
            <a:schemeClr val="bg1">
              <a:alpha val="54000"/>
            </a:schemeClr>
          </a:solidFill>
          <a:ln>
            <a:solidFill>
              <a:srgbClr val="382819"/>
            </a:solidFill>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endParaRPr lang="sv-SE" sz="1050" dirty="0">
              <a:solidFill>
                <a:srgbClr val="382819"/>
              </a:solidFill>
              <a:ea typeface="ＭＳ Ｐゴシック" pitchFamily="-112" charset="-128"/>
              <a:cs typeface="ＭＳ Ｐゴシック" pitchFamily="-112" charset="-128"/>
            </a:endParaRPr>
          </a:p>
        </p:txBody>
      </p:sp>
      <p:sp>
        <p:nvSpPr>
          <p:cNvPr id="61" name="textruta 82"/>
          <p:cNvSpPr txBox="1">
            <a:spLocks noChangeArrowheads="1"/>
          </p:cNvSpPr>
          <p:nvPr/>
        </p:nvSpPr>
        <p:spPr bwMode="auto">
          <a:xfrm>
            <a:off x="7153768" y="2313680"/>
            <a:ext cx="16261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200" dirty="0" smtClean="0">
                <a:solidFill>
                  <a:srgbClr val="382819"/>
                </a:solidFill>
                <a:latin typeface="Calibri"/>
                <a:cs typeface="Calibri"/>
              </a:rPr>
              <a:t>Krav på gemensam/federerad källa</a:t>
            </a:r>
            <a:endParaRPr lang="sv-SE" sz="1200" dirty="0" smtClean="0">
              <a:solidFill>
                <a:srgbClr val="382819"/>
              </a:solidFill>
            </a:endParaRPr>
          </a:p>
        </p:txBody>
      </p:sp>
      <p:sp>
        <p:nvSpPr>
          <p:cNvPr id="63" name="Rektangel med rundade hörn 62"/>
          <p:cNvSpPr/>
          <p:nvPr/>
        </p:nvSpPr>
        <p:spPr>
          <a:xfrm>
            <a:off x="6921237" y="2900716"/>
            <a:ext cx="259874" cy="229935"/>
          </a:xfrm>
          <a:prstGeom prst="roundRect">
            <a:avLst/>
          </a:prstGeom>
          <a:noFill/>
          <a:ln>
            <a:solidFill>
              <a:srgbClr val="7F7F7F"/>
            </a:solidFill>
            <a:prstDash val="sysDash"/>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fontAlgn="base">
              <a:spcBef>
                <a:spcPct val="0"/>
              </a:spcBef>
              <a:spcAft>
                <a:spcPct val="0"/>
              </a:spcAft>
            </a:pPr>
            <a:endParaRPr lang="sv-SE" sz="1100" dirty="0">
              <a:solidFill>
                <a:srgbClr val="382819"/>
              </a:solidFill>
              <a:ea typeface="ＭＳ Ｐゴシック" pitchFamily="-112" charset="-128"/>
              <a:cs typeface="ＭＳ Ｐゴシック" pitchFamily="-112" charset="-128"/>
            </a:endParaRPr>
          </a:p>
        </p:txBody>
      </p:sp>
      <p:sp>
        <p:nvSpPr>
          <p:cNvPr id="68" name="textruta 82"/>
          <p:cNvSpPr txBox="1">
            <a:spLocks noChangeArrowheads="1"/>
          </p:cNvSpPr>
          <p:nvPr/>
        </p:nvSpPr>
        <p:spPr bwMode="auto">
          <a:xfrm>
            <a:off x="7159619" y="2735701"/>
            <a:ext cx="13892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200" dirty="0" smtClean="0">
                <a:solidFill>
                  <a:srgbClr val="382819"/>
                </a:solidFill>
                <a:latin typeface="Calibri"/>
                <a:cs typeface="Calibri"/>
              </a:rPr>
              <a:t>Frivilligt som gemensam tjänst/källa</a:t>
            </a:r>
            <a:endParaRPr lang="sv-SE" sz="1200" dirty="0" smtClean="0">
              <a:solidFill>
                <a:srgbClr val="382819"/>
              </a:solidFill>
            </a:endParaRPr>
          </a:p>
        </p:txBody>
      </p:sp>
      <p:grpSp>
        <p:nvGrpSpPr>
          <p:cNvPr id="45" name="Grupp 44"/>
          <p:cNvGrpSpPr/>
          <p:nvPr/>
        </p:nvGrpSpPr>
        <p:grpSpPr>
          <a:xfrm>
            <a:off x="1839751" y="4804173"/>
            <a:ext cx="1433578" cy="1394965"/>
            <a:chOff x="5030925" y="2231442"/>
            <a:chExt cx="1433578" cy="1394965"/>
          </a:xfrm>
        </p:grpSpPr>
        <p:sp>
          <p:nvSpPr>
            <p:cNvPr id="47" name="Rektangel med rundade hörn 46"/>
            <p:cNvSpPr/>
            <p:nvPr/>
          </p:nvSpPr>
          <p:spPr>
            <a:xfrm rot="16200000">
              <a:off x="5050231" y="2212136"/>
              <a:ext cx="1394965" cy="1433578"/>
            </a:xfrm>
            <a:prstGeom prst="roundRect">
              <a:avLst>
                <a:gd name="adj" fmla="val 8787"/>
              </a:avLst>
            </a:prstGeom>
            <a:ln>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Läkemedelslista</a:t>
              </a:r>
              <a:br>
                <a:rPr lang="sv-SE" sz="900" dirty="0">
                  <a:solidFill>
                    <a:srgbClr val="382819"/>
                  </a:solidFill>
                  <a:latin typeface="Arial"/>
                  <a:ea typeface="ＭＳ Ｐゴシック" pitchFamily="-112" charset="-128"/>
                  <a:cs typeface="ＭＳ Ｐゴシック" pitchFamily="-112" charset="-128"/>
                </a:rPr>
              </a:br>
              <a:endParaRPr lang="sv-SE" sz="900" dirty="0">
                <a:solidFill>
                  <a:srgbClr val="382819"/>
                </a:solidFill>
                <a:latin typeface="Arial"/>
                <a:ea typeface="ＭＳ Ｐゴシック" pitchFamily="-112" charset="-128"/>
                <a:cs typeface="ＭＳ Ｐゴシック" pitchFamily="-112" charset="-128"/>
              </a:endParaRPr>
            </a:p>
          </p:txBody>
        </p:sp>
        <p:sp>
          <p:nvSpPr>
            <p:cNvPr id="49" name="Rektangel med rundade hörn 48"/>
            <p:cNvSpPr/>
            <p:nvPr/>
          </p:nvSpPr>
          <p:spPr>
            <a:xfrm>
              <a:off x="5289591" y="2508982"/>
              <a:ext cx="987231" cy="314554"/>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Läkemedels-</a:t>
              </a:r>
              <a:r>
                <a:rPr lang="sv-SE" sz="900" dirty="0" smtClean="0">
                  <a:solidFill>
                    <a:schemeClr val="bg1"/>
                  </a:solidFill>
                  <a:latin typeface="Arial"/>
                  <a:ea typeface="ＭＳ Ｐゴシック" pitchFamily="-112" charset="-128"/>
                  <a:cs typeface="ＭＳ Ｐゴシック" pitchFamily="-112" charset="-128"/>
                </a:rPr>
                <a:t>ordination</a:t>
              </a:r>
              <a:endParaRPr lang="sv-SE" sz="900" dirty="0">
                <a:solidFill>
                  <a:schemeClr val="bg1"/>
                </a:solidFill>
                <a:latin typeface="Arial"/>
                <a:ea typeface="ＭＳ Ｐゴシック" pitchFamily="-112" charset="-128"/>
                <a:cs typeface="ＭＳ Ｐゴシック" pitchFamily="-112" charset="-128"/>
              </a:endParaRPr>
            </a:p>
          </p:txBody>
        </p:sp>
        <p:sp>
          <p:nvSpPr>
            <p:cNvPr id="51" name="Rektangel med rundade hörn 50"/>
            <p:cNvSpPr/>
            <p:nvPr/>
          </p:nvSpPr>
          <p:spPr>
            <a:xfrm>
              <a:off x="5289592" y="2823536"/>
              <a:ext cx="987230" cy="324497"/>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Läkemedels-</a:t>
              </a:r>
              <a:r>
                <a:rPr lang="sv-SE" sz="900" dirty="0">
                  <a:solidFill>
                    <a:schemeClr val="bg1"/>
                  </a:solidFill>
                  <a:latin typeface="Arial" charset="0"/>
                </a:rPr>
                <a:t>förskrivning</a:t>
              </a:r>
              <a:endParaRPr lang="sv-SE" sz="900" dirty="0">
                <a:solidFill>
                  <a:schemeClr val="bg1"/>
                </a:solidFill>
                <a:latin typeface="Arial"/>
                <a:ea typeface="ＭＳ Ｐゴシック" pitchFamily="-112" charset="-128"/>
                <a:cs typeface="ＭＳ Ｐゴシック" pitchFamily="-112" charset="-128"/>
              </a:endParaRPr>
            </a:p>
          </p:txBody>
        </p:sp>
        <p:sp>
          <p:nvSpPr>
            <p:cNvPr id="52" name="Rektangel med rundade hörn 51"/>
            <p:cNvSpPr/>
            <p:nvPr/>
          </p:nvSpPr>
          <p:spPr>
            <a:xfrm>
              <a:off x="5289591" y="3148033"/>
              <a:ext cx="987230" cy="226533"/>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chemeClr val="bg1"/>
                  </a:solidFill>
                  <a:latin typeface="Arial"/>
                  <a:ea typeface="ＭＳ Ｐゴシック" pitchFamily="-112" charset="-128"/>
                  <a:cs typeface="ＭＳ Ｐゴシック" pitchFamily="-112" charset="-128"/>
                </a:rPr>
                <a:t>Expediering</a:t>
              </a:r>
              <a:endParaRPr lang="sv-SE" sz="900" dirty="0">
                <a:solidFill>
                  <a:schemeClr val="bg1"/>
                </a:solidFill>
                <a:latin typeface="Arial"/>
                <a:ea typeface="ＭＳ Ｐゴシック" pitchFamily="-112" charset="-128"/>
                <a:cs typeface="ＭＳ Ｐゴシック" pitchFamily="-112" charset="-128"/>
              </a:endParaRPr>
            </a:p>
          </p:txBody>
        </p:sp>
      </p:grpSp>
      <p:grpSp>
        <p:nvGrpSpPr>
          <p:cNvPr id="56" name="Grupp 55"/>
          <p:cNvGrpSpPr/>
          <p:nvPr/>
        </p:nvGrpSpPr>
        <p:grpSpPr>
          <a:xfrm>
            <a:off x="2421947" y="3331120"/>
            <a:ext cx="2113257" cy="419081"/>
            <a:chOff x="2748275" y="4018415"/>
            <a:chExt cx="2113257" cy="419081"/>
          </a:xfrm>
        </p:grpSpPr>
        <p:sp>
          <p:nvSpPr>
            <p:cNvPr id="57" name="Rektangel med rundade hörn 56"/>
            <p:cNvSpPr/>
            <p:nvPr/>
          </p:nvSpPr>
          <p:spPr bwMode="auto">
            <a:xfrm>
              <a:off x="2748275" y="4134773"/>
              <a:ext cx="2113257" cy="302723"/>
            </a:xfrm>
            <a:prstGeom prst="roundRect">
              <a:avLst/>
            </a:prstGeom>
            <a:gradFill flip="none" rotWithShape="1">
              <a:gsLst>
                <a:gs pos="0">
                  <a:schemeClr val="dk1">
                    <a:tint val="50000"/>
                    <a:satMod val="300000"/>
                    <a:alpha val="51000"/>
                  </a:schemeClr>
                </a:gs>
                <a:gs pos="35000">
                  <a:schemeClr val="dk1">
                    <a:tint val="37000"/>
                    <a:satMod val="300000"/>
                    <a:alpha val="51000"/>
                  </a:schemeClr>
                </a:gs>
                <a:gs pos="100000">
                  <a:schemeClr val="dk1">
                    <a:tint val="15000"/>
                    <a:satMod val="350000"/>
                    <a:alpha val="51000"/>
                  </a:schemeClr>
                </a:gs>
              </a:gsLst>
              <a:lin ang="16200000" scaled="1"/>
              <a:tileRect/>
            </a:gradFill>
            <a:ln>
              <a:prstDash val="dash"/>
            </a:ln>
            <a:extLst/>
          </p:spPr>
          <p:style>
            <a:lnRef idx="1">
              <a:schemeClr val="dk1"/>
            </a:lnRef>
            <a:fillRef idx="2">
              <a:schemeClr val="dk1"/>
            </a:fillRef>
            <a:effectRef idx="1">
              <a:schemeClr val="dk1"/>
            </a:effectRef>
            <a:fontRef idx="minor">
              <a:schemeClr val="dk1"/>
            </a:fontRef>
          </p:style>
          <p:txBody>
            <a:bodyPr anchor="ctr"/>
            <a:lstStyle/>
            <a:p>
              <a:pPr algn="ctr" defTabSz="914400"/>
              <a:r>
                <a:rPr lang="sv-SE" sz="1200" kern="0" dirty="0" smtClean="0">
                  <a:solidFill>
                    <a:srgbClr val="382819"/>
                  </a:solidFill>
                  <a:cs typeface="Calibri"/>
                </a:rPr>
                <a:t>NTJP</a:t>
              </a:r>
              <a:endParaRPr lang="sv-SE" sz="1200" kern="0" dirty="0">
                <a:solidFill>
                  <a:srgbClr val="382819"/>
                </a:solidFill>
                <a:cs typeface="Calibri"/>
              </a:endParaRPr>
            </a:p>
          </p:txBody>
        </p:sp>
        <p:grpSp>
          <p:nvGrpSpPr>
            <p:cNvPr id="64" name="Grupp 63"/>
            <p:cNvGrpSpPr/>
            <p:nvPr/>
          </p:nvGrpSpPr>
          <p:grpSpPr>
            <a:xfrm>
              <a:off x="3414557" y="4018415"/>
              <a:ext cx="602451" cy="125950"/>
              <a:chOff x="7838865" y="3778958"/>
              <a:chExt cx="602451" cy="125950"/>
            </a:xfrm>
          </p:grpSpPr>
          <p:grpSp>
            <p:nvGrpSpPr>
              <p:cNvPr id="65" name="Grupp 64"/>
              <p:cNvGrpSpPr/>
              <p:nvPr/>
            </p:nvGrpSpPr>
            <p:grpSpPr>
              <a:xfrm>
                <a:off x="8009948" y="3787366"/>
                <a:ext cx="66751" cy="117542"/>
                <a:chOff x="9018096" y="5791998"/>
                <a:chExt cx="66751" cy="117542"/>
              </a:xfrm>
            </p:grpSpPr>
            <p:cxnSp>
              <p:nvCxnSpPr>
                <p:cNvPr id="77" name="Rak pil 18"/>
                <p:cNvCxnSpPr>
                  <a:cxnSpLocks noChangeShapeType="1"/>
                  <a:endCxn id="78"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Ellips 77"/>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66" name="Grupp 65"/>
              <p:cNvGrpSpPr/>
              <p:nvPr/>
            </p:nvGrpSpPr>
            <p:grpSpPr>
              <a:xfrm>
                <a:off x="7838865" y="3778958"/>
                <a:ext cx="66751" cy="117542"/>
                <a:chOff x="9018096" y="5768908"/>
                <a:chExt cx="66751" cy="117542"/>
              </a:xfrm>
            </p:grpSpPr>
            <p:cxnSp>
              <p:nvCxnSpPr>
                <p:cNvPr id="75" name="Rak pil 18"/>
                <p:cNvCxnSpPr>
                  <a:cxnSpLocks noChangeShapeType="1"/>
                  <a:endCxn id="76"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Ellips 75"/>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69" name="Grupp 68"/>
              <p:cNvGrpSpPr/>
              <p:nvPr/>
            </p:nvGrpSpPr>
            <p:grpSpPr>
              <a:xfrm>
                <a:off x="8210620" y="3781273"/>
                <a:ext cx="66751" cy="117542"/>
                <a:chOff x="9018096" y="5768908"/>
                <a:chExt cx="66751" cy="117542"/>
              </a:xfrm>
            </p:grpSpPr>
            <p:cxnSp>
              <p:nvCxnSpPr>
                <p:cNvPr id="73" name="Rak pil 18"/>
                <p:cNvCxnSpPr>
                  <a:cxnSpLocks noChangeShapeType="1"/>
                  <a:endCxn id="7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Ellips 7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70" name="Grupp 69"/>
              <p:cNvGrpSpPr/>
              <p:nvPr/>
            </p:nvGrpSpPr>
            <p:grpSpPr>
              <a:xfrm>
                <a:off x="8374565" y="3783588"/>
                <a:ext cx="66751" cy="117542"/>
                <a:chOff x="9018096" y="5768908"/>
                <a:chExt cx="66751" cy="117542"/>
              </a:xfrm>
            </p:grpSpPr>
            <p:cxnSp>
              <p:nvCxnSpPr>
                <p:cNvPr id="71" name="Rak pil 18"/>
                <p:cNvCxnSpPr>
                  <a:cxnSpLocks noChangeShapeType="1"/>
                  <a:endCxn id="72"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Ellips 71"/>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grpSp>
      <p:pic>
        <p:nvPicPr>
          <p:cNvPr id="79" name="Bildobjekt 78"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746134" y="3334606"/>
            <a:ext cx="289106" cy="274650"/>
          </a:xfrm>
          <a:prstGeom prst="rect">
            <a:avLst/>
          </a:prstGeom>
        </p:spPr>
      </p:pic>
      <p:cxnSp>
        <p:nvCxnSpPr>
          <p:cNvPr id="80" name="Rak pil 59"/>
          <p:cNvCxnSpPr/>
          <p:nvPr/>
        </p:nvCxnSpPr>
        <p:spPr>
          <a:xfrm>
            <a:off x="2685898" y="3755295"/>
            <a:ext cx="7739" cy="1053973"/>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82" name="textruta 82"/>
          <p:cNvSpPr txBox="1">
            <a:spLocks noChangeArrowheads="1"/>
          </p:cNvSpPr>
          <p:nvPr/>
        </p:nvSpPr>
        <p:spPr bwMode="auto">
          <a:xfrm>
            <a:off x="3279837" y="2604896"/>
            <a:ext cx="9402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a:t>
            </a:r>
            <a:endParaRPr lang="sv-SE" sz="1100" dirty="0" smtClean="0">
              <a:solidFill>
                <a:srgbClr val="382819"/>
              </a:solidFill>
            </a:endParaRPr>
          </a:p>
        </p:txBody>
      </p:sp>
      <p:sp>
        <p:nvSpPr>
          <p:cNvPr id="84" name="textruta 82"/>
          <p:cNvSpPr txBox="1">
            <a:spLocks noChangeArrowheads="1"/>
          </p:cNvSpPr>
          <p:nvPr/>
        </p:nvSpPr>
        <p:spPr bwMode="auto">
          <a:xfrm>
            <a:off x="1951835" y="4140846"/>
            <a:ext cx="9402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a:t>
            </a:r>
            <a:endParaRPr lang="sv-SE" sz="1100" dirty="0" smtClean="0">
              <a:solidFill>
                <a:srgbClr val="382819"/>
              </a:solidFill>
            </a:endParaRPr>
          </a:p>
        </p:txBody>
      </p:sp>
      <p:pic>
        <p:nvPicPr>
          <p:cNvPr id="41" name="Bildobjekt 40"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092671" y="4715386"/>
            <a:ext cx="319306" cy="303340"/>
          </a:xfrm>
          <a:prstGeom prst="rect">
            <a:avLst/>
          </a:prstGeom>
        </p:spPr>
      </p:pic>
      <p:cxnSp>
        <p:nvCxnSpPr>
          <p:cNvPr id="92" name="Rak pil 59"/>
          <p:cNvCxnSpPr/>
          <p:nvPr/>
        </p:nvCxnSpPr>
        <p:spPr>
          <a:xfrm flipV="1">
            <a:off x="4018366" y="4159029"/>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93" name="Bildobjekt 92"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356686" y="3970343"/>
            <a:ext cx="341603" cy="324522"/>
          </a:xfrm>
          <a:prstGeom prst="rect">
            <a:avLst/>
          </a:prstGeom>
        </p:spPr>
      </p:pic>
      <p:sp>
        <p:nvSpPr>
          <p:cNvPr id="95" name="textruta 82"/>
          <p:cNvSpPr txBox="1">
            <a:spLocks noChangeArrowheads="1"/>
          </p:cNvSpPr>
          <p:nvPr/>
        </p:nvSpPr>
        <p:spPr bwMode="auto">
          <a:xfrm>
            <a:off x="6477011" y="1076203"/>
            <a:ext cx="1389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400" i="1" dirty="0" smtClean="0">
                <a:solidFill>
                  <a:srgbClr val="382819"/>
                </a:solidFill>
                <a:latin typeface="Calibri"/>
                <a:cs typeface="Calibri"/>
              </a:rPr>
              <a:t>Krav på Stark autentisering</a:t>
            </a:r>
            <a:endParaRPr lang="sv-SE" sz="1400" i="1" dirty="0" smtClean="0">
              <a:solidFill>
                <a:srgbClr val="382819"/>
              </a:solidFill>
            </a:endParaRPr>
          </a:p>
        </p:txBody>
      </p:sp>
      <p:sp>
        <p:nvSpPr>
          <p:cNvPr id="96" name="Rektangel 95"/>
          <p:cNvSpPr/>
          <p:nvPr/>
        </p:nvSpPr>
        <p:spPr>
          <a:xfrm>
            <a:off x="6653468" y="209065"/>
            <a:ext cx="1795310" cy="70788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000" b="1" i="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Dagens lösning</a:t>
            </a:r>
            <a:endParaRPr lang="sv-SE" sz="2000" b="1" i="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cxnSp>
        <p:nvCxnSpPr>
          <p:cNvPr id="105" name="Rak pil 59"/>
          <p:cNvCxnSpPr/>
          <p:nvPr/>
        </p:nvCxnSpPr>
        <p:spPr>
          <a:xfrm flipH="1">
            <a:off x="3297303" y="5587151"/>
            <a:ext cx="313849" cy="1"/>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06" name="Rak pil 59"/>
          <p:cNvCxnSpPr/>
          <p:nvPr/>
        </p:nvCxnSpPr>
        <p:spPr>
          <a:xfrm>
            <a:off x="3297303" y="5417551"/>
            <a:ext cx="313849" cy="0"/>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121" name="Rektangel med rundade hörn 120"/>
          <p:cNvSpPr/>
          <p:nvPr/>
        </p:nvSpPr>
        <p:spPr>
          <a:xfrm>
            <a:off x="5252720" y="5216548"/>
            <a:ext cx="840406" cy="512363"/>
          </a:xfrm>
          <a:prstGeom prst="roundRect">
            <a:avLst>
              <a:gd name="adj" fmla="val 7041"/>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a:solidFill>
                  <a:srgbClr val="382819"/>
                </a:solidFill>
                <a:ea typeface="ＭＳ Ｐゴシック" pitchFamily="-112" charset="-128"/>
                <a:cs typeface="ＭＳ Ｐゴシック" pitchFamily="-112" charset="-128"/>
              </a:rPr>
              <a:t>Dosunderlag</a:t>
            </a:r>
            <a:br>
              <a:rPr lang="sv-SE" sz="900" dirty="0">
                <a:solidFill>
                  <a:srgbClr val="382819"/>
                </a:solidFill>
                <a:ea typeface="ＭＳ Ｐゴシック" pitchFamily="-112" charset="-128"/>
                <a:cs typeface="ＭＳ Ｐゴシック" pitchFamily="-112" charset="-128"/>
              </a:rPr>
            </a:br>
            <a:r>
              <a:rPr lang="sv-SE" sz="900" dirty="0">
                <a:solidFill>
                  <a:srgbClr val="382819"/>
                </a:solidFill>
                <a:ea typeface="ＭＳ Ｐゴシック" pitchFamily="-112" charset="-128"/>
                <a:cs typeface="ＭＳ Ｐゴシック" pitchFamily="-112" charset="-128"/>
              </a:rPr>
              <a:t>Dossamtycke</a:t>
            </a:r>
          </a:p>
        </p:txBody>
      </p:sp>
      <p:sp>
        <p:nvSpPr>
          <p:cNvPr id="122" name="Rektangel med rundade hörn 121"/>
          <p:cNvSpPr/>
          <p:nvPr/>
        </p:nvSpPr>
        <p:spPr>
          <a:xfrm>
            <a:off x="6690371" y="5221478"/>
            <a:ext cx="860752" cy="509146"/>
          </a:xfrm>
          <a:prstGeom prst="roundRect">
            <a:avLst>
              <a:gd name="adj" fmla="val 7175"/>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a:r>
              <a:rPr lang="sv-SE" sz="900" dirty="0">
                <a:solidFill>
                  <a:schemeClr val="bg1"/>
                </a:solidFill>
                <a:latin typeface="Arial"/>
                <a:ea typeface="ＭＳ Ｐゴシック" pitchFamily="-112" charset="-128"/>
                <a:cs typeface="ＭＳ Ｐゴシック" pitchFamily="-112" charset="-128"/>
              </a:rPr>
              <a:t>Dosapotek</a:t>
            </a:r>
            <a:br>
              <a:rPr lang="sv-SE" sz="900" dirty="0">
                <a:solidFill>
                  <a:schemeClr val="bg1"/>
                </a:solidFill>
                <a:latin typeface="Arial"/>
                <a:ea typeface="ＭＳ Ｐゴシック" pitchFamily="-112" charset="-128"/>
                <a:cs typeface="ＭＳ Ｐゴシック" pitchFamily="-112" charset="-128"/>
              </a:rPr>
            </a:br>
            <a:r>
              <a:rPr lang="sv-SE" sz="900" dirty="0">
                <a:solidFill>
                  <a:schemeClr val="bg1"/>
                </a:solidFill>
                <a:latin typeface="Arial"/>
                <a:ea typeface="ＭＳ Ｐゴシック" pitchFamily="-112" charset="-128"/>
                <a:cs typeface="ＭＳ Ｐゴシック" pitchFamily="-112" charset="-128"/>
              </a:rPr>
              <a:t>Logistik</a:t>
            </a:r>
          </a:p>
        </p:txBody>
      </p:sp>
      <p:sp>
        <p:nvSpPr>
          <p:cNvPr id="124" name="Rektangel med rundade hörn 123"/>
          <p:cNvSpPr/>
          <p:nvPr/>
        </p:nvSpPr>
        <p:spPr>
          <a:xfrm>
            <a:off x="4477523" y="5221478"/>
            <a:ext cx="709065" cy="507433"/>
          </a:xfrm>
          <a:prstGeom prst="roundRect">
            <a:avLst>
              <a:gd name="adj" fmla="val 5926"/>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Expediering</a:t>
            </a:r>
          </a:p>
          <a:p>
            <a:pPr algn="ctr" defTabSz="914400" fontAlgn="base">
              <a:spcBef>
                <a:spcPct val="0"/>
              </a:spcBef>
              <a:spcAft>
                <a:spcPct val="0"/>
              </a:spcAft>
            </a:pPr>
            <a:r>
              <a:rPr lang="sv-SE" sz="900" dirty="0" smtClean="0">
                <a:solidFill>
                  <a:srgbClr val="382819"/>
                </a:solidFill>
                <a:ea typeface="ＭＳ Ｐゴシック" pitchFamily="-112" charset="-128"/>
                <a:cs typeface="ＭＳ Ｐゴシック" pitchFamily="-112" charset="-128"/>
              </a:rPr>
              <a:t>läkemedel</a:t>
            </a:r>
            <a:endParaRPr lang="sv-SE" sz="900" dirty="0">
              <a:solidFill>
                <a:srgbClr val="382819"/>
              </a:solidFill>
              <a:ea typeface="ＭＳ Ｐゴシック" pitchFamily="-112" charset="-128"/>
              <a:cs typeface="ＭＳ Ｐゴシック" pitchFamily="-112" charset="-128"/>
            </a:endParaRPr>
          </a:p>
        </p:txBody>
      </p:sp>
      <p:sp>
        <p:nvSpPr>
          <p:cNvPr id="125" name="Rektangel med rundade hörn 124"/>
          <p:cNvSpPr/>
          <p:nvPr/>
        </p:nvSpPr>
        <p:spPr>
          <a:xfrm>
            <a:off x="3743043" y="5213331"/>
            <a:ext cx="666398" cy="507433"/>
          </a:xfrm>
          <a:prstGeom prst="roundRect">
            <a:avLst>
              <a:gd name="adj" fmla="val 9033"/>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smtClean="0">
                <a:solidFill>
                  <a:srgbClr val="382819"/>
                </a:solidFill>
                <a:latin typeface="Arial"/>
                <a:ea typeface="ＭＳ Ｐゴシック" pitchFamily="-112" charset="-128"/>
                <a:cs typeface="ＭＳ Ｐゴシック" pitchFamily="-112" charset="-128"/>
              </a:rPr>
              <a:t>Recept </a:t>
            </a:r>
            <a:endParaRPr lang="sv-SE" sz="900" dirty="0">
              <a:solidFill>
                <a:srgbClr val="382819"/>
              </a:solidFill>
              <a:latin typeface="Arial"/>
              <a:ea typeface="ＭＳ Ｐゴシック" pitchFamily="-112" charset="-128"/>
              <a:cs typeface="ＭＳ Ｐゴシック" pitchFamily="-112" charset="-128"/>
            </a:endParaRPr>
          </a:p>
        </p:txBody>
      </p:sp>
      <p:pic>
        <p:nvPicPr>
          <p:cNvPr id="126" name="Bildobjekt 125"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509086" y="4122743"/>
            <a:ext cx="341603" cy="324522"/>
          </a:xfrm>
          <a:prstGeom prst="rect">
            <a:avLst/>
          </a:prstGeom>
        </p:spPr>
      </p:pic>
      <p:pic>
        <p:nvPicPr>
          <p:cNvPr id="127" name="Bildobjekt 126"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661486" y="4275143"/>
            <a:ext cx="341603" cy="324522"/>
          </a:xfrm>
          <a:prstGeom prst="rect">
            <a:avLst/>
          </a:prstGeom>
        </p:spPr>
      </p:pic>
      <p:cxnSp>
        <p:nvCxnSpPr>
          <p:cNvPr id="128" name="Rak pil 59"/>
          <p:cNvCxnSpPr/>
          <p:nvPr/>
        </p:nvCxnSpPr>
        <p:spPr>
          <a:xfrm>
            <a:off x="4251998" y="3767878"/>
            <a:ext cx="7739" cy="1053973"/>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0" name="Rak pil 59"/>
          <p:cNvCxnSpPr>
            <a:stCxn id="57" idx="3"/>
            <a:endCxn id="129" idx="0"/>
          </p:cNvCxnSpPr>
          <p:nvPr/>
        </p:nvCxnSpPr>
        <p:spPr>
          <a:xfrm>
            <a:off x="4535204" y="3598840"/>
            <a:ext cx="2608291" cy="1205333"/>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32" name="textruta 82"/>
          <p:cNvSpPr txBox="1">
            <a:spLocks noChangeArrowheads="1"/>
          </p:cNvSpPr>
          <p:nvPr/>
        </p:nvSpPr>
        <p:spPr bwMode="auto">
          <a:xfrm>
            <a:off x="5623014" y="3906734"/>
            <a:ext cx="9402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a:t>
            </a:r>
            <a:endParaRPr lang="sv-SE" sz="1100" dirty="0" smtClean="0">
              <a:solidFill>
                <a:srgbClr val="382819"/>
              </a:solidFill>
            </a:endParaRPr>
          </a:p>
        </p:txBody>
      </p:sp>
      <p:sp>
        <p:nvSpPr>
          <p:cNvPr id="133" name="textruta 82"/>
          <p:cNvSpPr txBox="1">
            <a:spLocks noChangeArrowheads="1"/>
          </p:cNvSpPr>
          <p:nvPr/>
        </p:nvSpPr>
        <p:spPr bwMode="auto">
          <a:xfrm>
            <a:off x="4306181" y="4059699"/>
            <a:ext cx="9402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2.0</a:t>
            </a:r>
          </a:p>
          <a:p>
            <a:pPr defTabSz="914400" eaLnBrk="1" fontAlgn="base" hangingPunct="1">
              <a:spcBef>
                <a:spcPct val="0"/>
              </a:spcBef>
              <a:spcAft>
                <a:spcPct val="0"/>
              </a:spcAft>
            </a:pPr>
            <a:r>
              <a:rPr lang="sv-SE" sz="1100" dirty="0" smtClean="0">
                <a:solidFill>
                  <a:srgbClr val="382819"/>
                </a:solidFill>
                <a:latin typeface="Calibri"/>
                <a:cs typeface="Calibri"/>
              </a:rPr>
              <a:t>SAML intyg</a:t>
            </a:r>
            <a:endParaRPr lang="sv-SE" sz="1100" dirty="0" smtClean="0">
              <a:solidFill>
                <a:srgbClr val="382819"/>
              </a:solidFill>
            </a:endParaRPr>
          </a:p>
        </p:txBody>
      </p:sp>
      <p:sp>
        <p:nvSpPr>
          <p:cNvPr id="134" name="Rektangel med rundade hörn 133"/>
          <p:cNvSpPr/>
          <p:nvPr/>
        </p:nvSpPr>
        <p:spPr>
          <a:xfrm>
            <a:off x="3803641" y="3638551"/>
            <a:ext cx="666398" cy="334863"/>
          </a:xfrm>
          <a:prstGeom prst="roundRect">
            <a:avLst>
              <a:gd name="adj" fmla="val 9033"/>
            </a:avLst>
          </a:prstGeom>
          <a:ln>
            <a:solidFill>
              <a:schemeClr val="bg1">
                <a:lumMod val="65000"/>
              </a:schemeClr>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EHM adaptrar</a:t>
            </a:r>
          </a:p>
        </p:txBody>
      </p:sp>
      <p:pic>
        <p:nvPicPr>
          <p:cNvPr id="135" name="Bildobjekt 134"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4750864" y="4715386"/>
            <a:ext cx="319306" cy="303340"/>
          </a:xfrm>
          <a:prstGeom prst="rect">
            <a:avLst/>
          </a:prstGeom>
        </p:spPr>
      </p:pic>
      <p:pic>
        <p:nvPicPr>
          <p:cNvPr id="136" name="Bildobjekt 135"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6530718" y="4715386"/>
            <a:ext cx="319306" cy="303340"/>
          </a:xfrm>
          <a:prstGeom prst="rect">
            <a:avLst/>
          </a:prstGeom>
        </p:spPr>
      </p:pic>
      <p:sp>
        <p:nvSpPr>
          <p:cNvPr id="81" name="textruta 82"/>
          <p:cNvSpPr txBox="1">
            <a:spLocks noChangeArrowheads="1"/>
          </p:cNvSpPr>
          <p:nvPr/>
        </p:nvSpPr>
        <p:spPr bwMode="auto">
          <a:xfrm>
            <a:off x="3812800" y="2047367"/>
            <a:ext cx="11468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SITHS-certifikat</a:t>
            </a:r>
            <a:endParaRPr lang="sv-SE" sz="1100" dirty="0" smtClean="0">
              <a:solidFill>
                <a:srgbClr val="382819"/>
              </a:solidFill>
            </a:endParaRPr>
          </a:p>
        </p:txBody>
      </p:sp>
      <p:sp>
        <p:nvSpPr>
          <p:cNvPr id="83" name="Rundad rektangulär 82"/>
          <p:cNvSpPr/>
          <p:nvPr/>
        </p:nvSpPr>
        <p:spPr bwMode="auto">
          <a:xfrm>
            <a:off x="700769" y="2348247"/>
            <a:ext cx="1837452" cy="1058021"/>
          </a:xfrm>
          <a:prstGeom prst="wedgeRoundRectCallout">
            <a:avLst>
              <a:gd name="adj1" fmla="val 79181"/>
              <a:gd name="adj2" fmla="val -26355"/>
              <a:gd name="adj3" fmla="val 16667"/>
            </a:avLst>
          </a:prstGeom>
          <a:ln>
            <a:solidFill>
              <a:srgbClr val="0000FF"/>
            </a:solid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defTabSz="914400" fontAlgn="base">
              <a:spcBef>
                <a:spcPct val="0"/>
              </a:spcBef>
              <a:spcAft>
                <a:spcPct val="0"/>
              </a:spcAft>
            </a:pPr>
            <a:r>
              <a:rPr lang="sv-SE" sz="1400" dirty="0">
                <a:solidFill>
                  <a:srgbClr val="382819"/>
                </a:solidFill>
                <a:latin typeface="Calibri"/>
                <a:cs typeface="Calibri"/>
              </a:rPr>
              <a:t>Ett ganska stort antal säkerhetsattribut behöver </a:t>
            </a:r>
            <a:r>
              <a:rPr lang="sv-SE" sz="1400" dirty="0" smtClean="0">
                <a:solidFill>
                  <a:srgbClr val="382819"/>
                </a:solidFill>
                <a:latin typeface="Calibri"/>
                <a:cs typeface="Calibri"/>
              </a:rPr>
              <a:t>skickas i anropet</a:t>
            </a:r>
            <a:endParaRPr lang="sv-SE" sz="1400" dirty="0">
              <a:solidFill>
                <a:srgbClr val="382819"/>
              </a:solidFill>
            </a:endParaRPr>
          </a:p>
        </p:txBody>
      </p:sp>
    </p:spTree>
    <p:extLst>
      <p:ext uri="{BB962C8B-B14F-4D97-AF65-F5344CB8AC3E}">
        <p14:creationId xmlns:p14="http://schemas.microsoft.com/office/powerpoint/2010/main" val="3135409563"/>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Rektangel med rundade hörn 128"/>
          <p:cNvSpPr/>
          <p:nvPr/>
        </p:nvSpPr>
        <p:spPr>
          <a:xfrm rot="10800000" flipV="1">
            <a:off x="6339425" y="4804173"/>
            <a:ext cx="1608141" cy="1394965"/>
          </a:xfrm>
          <a:prstGeom prst="roundRect">
            <a:avLst>
              <a:gd name="adj" fmla="val 4005"/>
            </a:avLst>
          </a:prstGeom>
          <a:solidFill>
            <a:schemeClr val="bg1">
              <a:lumMod val="85000"/>
            </a:schemeClr>
          </a:solidFill>
          <a:ln w="9525">
            <a:noFill/>
            <a:miter lim="800000"/>
            <a:headEnd/>
            <a:tailEnd/>
          </a:ln>
        </p:spPr>
        <p:txBody>
          <a:bodyPr wrap="none" anchor="b"/>
          <a:lstStyle/>
          <a:p>
            <a:pPr algn="r" defTabSz="914400" fontAlgn="base">
              <a:spcBef>
                <a:spcPct val="0"/>
              </a:spcBef>
              <a:spcAft>
                <a:spcPct val="0"/>
              </a:spcAft>
              <a:defRPr/>
            </a:pPr>
            <a:r>
              <a:rPr lang="sv-SE" sz="1000" dirty="0" smtClean="0">
                <a:solidFill>
                  <a:srgbClr val="382819"/>
                </a:solidFill>
                <a:latin typeface="Arial" pitchFamily="-112" charset="0"/>
                <a:ea typeface="Times New Roman" pitchFamily="-112" charset="0"/>
                <a:cs typeface="Times New Roman" pitchFamily="-112" charset="0"/>
              </a:rPr>
              <a:t>eHälsomyndigheten</a:t>
            </a:r>
            <a:endParaRPr lang="sv-SE" sz="1000" dirty="0">
              <a:solidFill>
                <a:srgbClr val="382819"/>
              </a:solidFill>
              <a:latin typeface="Arial" pitchFamily="-112" charset="0"/>
              <a:ea typeface="Times New Roman" pitchFamily="-112" charset="0"/>
              <a:cs typeface="Times New Roman" pitchFamily="-112" charset="0"/>
            </a:endParaRPr>
          </a:p>
        </p:txBody>
      </p:sp>
      <p:sp>
        <p:nvSpPr>
          <p:cNvPr id="123" name="Rektangel med rundade hörn 122"/>
          <p:cNvSpPr/>
          <p:nvPr/>
        </p:nvSpPr>
        <p:spPr>
          <a:xfrm rot="10800000" flipV="1">
            <a:off x="3623928" y="4804173"/>
            <a:ext cx="2623954" cy="1394965"/>
          </a:xfrm>
          <a:prstGeom prst="roundRect">
            <a:avLst>
              <a:gd name="adj" fmla="val 4005"/>
            </a:avLst>
          </a:prstGeom>
          <a:solidFill>
            <a:schemeClr val="bg1">
              <a:lumMod val="85000"/>
            </a:schemeClr>
          </a:solidFill>
          <a:ln w="9525">
            <a:noFill/>
            <a:miter lim="800000"/>
            <a:headEnd/>
            <a:tailEnd/>
          </a:ln>
        </p:spPr>
        <p:txBody>
          <a:bodyPr wrap="none" anchor="b"/>
          <a:lstStyle/>
          <a:p>
            <a:pPr algn="r" defTabSz="914400" fontAlgn="base">
              <a:spcBef>
                <a:spcPct val="0"/>
              </a:spcBef>
              <a:spcAft>
                <a:spcPct val="0"/>
              </a:spcAft>
              <a:defRPr/>
            </a:pPr>
            <a:r>
              <a:rPr lang="sv-SE" sz="1000" dirty="0" smtClean="0">
                <a:solidFill>
                  <a:srgbClr val="382819"/>
                </a:solidFill>
                <a:latin typeface="Arial" pitchFamily="-112" charset="0"/>
                <a:ea typeface="Times New Roman" pitchFamily="-112" charset="0"/>
                <a:cs typeface="Times New Roman" pitchFamily="-112" charset="0"/>
              </a:rPr>
              <a:t>eHälsomyndigheten</a:t>
            </a:r>
            <a:endParaRPr lang="sv-SE" sz="1000" dirty="0">
              <a:solidFill>
                <a:srgbClr val="382819"/>
              </a:solidFill>
              <a:latin typeface="Arial" pitchFamily="-112" charset="0"/>
              <a:ea typeface="Times New Roman" pitchFamily="-112" charset="0"/>
              <a:cs typeface="Times New Roman" pitchFamily="-112" charset="0"/>
            </a:endParaRPr>
          </a:p>
        </p:txBody>
      </p:sp>
      <p:cxnSp>
        <p:nvCxnSpPr>
          <p:cNvPr id="27" name="Rak pil 59"/>
          <p:cNvCxnSpPr>
            <a:stCxn id="28" idx="2"/>
            <a:endCxn id="78" idx="2"/>
          </p:cNvCxnSpPr>
          <p:nvPr/>
        </p:nvCxnSpPr>
        <p:spPr>
          <a:xfrm>
            <a:off x="3279180" y="2160368"/>
            <a:ext cx="13507" cy="1179160"/>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8" name="Rektangel med rundade hörn 27"/>
          <p:cNvSpPr/>
          <p:nvPr/>
        </p:nvSpPr>
        <p:spPr bwMode="auto">
          <a:xfrm>
            <a:off x="2697417" y="1518973"/>
            <a:ext cx="1163526" cy="641395"/>
          </a:xfrm>
          <a:prstGeom prst="roundRect">
            <a:avLst/>
          </a:prstGeom>
          <a:ln/>
          <a:extLst/>
        </p:spPr>
        <p:style>
          <a:lnRef idx="1">
            <a:schemeClr val="accent6"/>
          </a:lnRef>
          <a:fillRef idx="2">
            <a:schemeClr val="accent6"/>
          </a:fillRef>
          <a:effectRef idx="1">
            <a:schemeClr val="accent6"/>
          </a:effectRef>
          <a:fontRef idx="minor">
            <a:schemeClr val="dk1"/>
          </a:fontRef>
        </p:style>
        <p:txBody>
          <a:bodyPr anchor="ctr"/>
          <a:lstStyle/>
          <a:p>
            <a:pPr algn="ctr" defTabSz="914400" fontAlgn="base">
              <a:spcBef>
                <a:spcPct val="0"/>
              </a:spcBef>
              <a:spcAft>
                <a:spcPct val="0"/>
              </a:spcAft>
            </a:pPr>
            <a:r>
              <a:rPr lang="sv-SE" sz="1200" dirty="0">
                <a:solidFill>
                  <a:srgbClr val="382819"/>
                </a:solidFill>
                <a:latin typeface="Calibri"/>
                <a:cs typeface="Calibri"/>
              </a:rPr>
              <a:t>Vårdsystem</a:t>
            </a:r>
            <a:endParaRPr lang="sv-SE" sz="1200" dirty="0">
              <a:solidFill>
                <a:srgbClr val="382819"/>
              </a:solidFill>
              <a:latin typeface="Arial"/>
            </a:endParaRPr>
          </a:p>
        </p:txBody>
      </p:sp>
      <p:sp>
        <p:nvSpPr>
          <p:cNvPr id="2" name="Rubrik 1"/>
          <p:cNvSpPr>
            <a:spLocks noGrp="1"/>
          </p:cNvSpPr>
          <p:nvPr>
            <p:ph type="title"/>
          </p:nvPr>
        </p:nvSpPr>
        <p:spPr>
          <a:xfrm>
            <a:off x="1371876" y="328046"/>
            <a:ext cx="6792913" cy="692150"/>
          </a:xfrm>
        </p:spPr>
        <p:txBody>
          <a:bodyPr>
            <a:normAutofit/>
          </a:bodyPr>
          <a:lstStyle/>
          <a:p>
            <a:r>
              <a:rPr lang="sv-SE" sz="2400" i="1" dirty="0">
                <a:solidFill>
                  <a:srgbClr val="009999"/>
                </a:solidFill>
              </a:rPr>
              <a:t>Teknisk säkerhetslösning</a:t>
            </a:r>
          </a:p>
        </p:txBody>
      </p:sp>
      <p:pic>
        <p:nvPicPr>
          <p:cNvPr id="30" name="Bildobjekt 29" descr="certifikat.jpeg"/>
          <p:cNvPicPr>
            <a:picLocks noChangeAspect="1"/>
          </p:cNvPicPr>
          <p:nvPr/>
        </p:nvPicPr>
        <p:blipFill>
          <a:blip r:embed="rId3" cstate="print">
            <a:alphaModFix/>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623929" y="1954449"/>
            <a:ext cx="285904" cy="271608"/>
          </a:xfrm>
          <a:prstGeom prst="rect">
            <a:avLst/>
          </a:prstGeom>
        </p:spPr>
      </p:pic>
      <p:cxnSp>
        <p:nvCxnSpPr>
          <p:cNvPr id="31" name="Rak pil 59"/>
          <p:cNvCxnSpPr>
            <a:stCxn id="32" idx="3"/>
            <a:endCxn id="28" idx="1"/>
          </p:cNvCxnSpPr>
          <p:nvPr/>
        </p:nvCxnSpPr>
        <p:spPr>
          <a:xfrm flipV="1">
            <a:off x="2328778" y="1839671"/>
            <a:ext cx="368639" cy="1311"/>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32" name="Picture 162" descr="MCj04241600000[1]"/>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895501" y="1468488"/>
            <a:ext cx="433277" cy="7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159" descr="Dator med kortläsare"/>
          <p:cNvPicPr>
            <a:picLocks noChangeAspect="1" noChangeArrowheads="1"/>
          </p:cNvPicPr>
          <p:nvPr/>
        </p:nvPicPr>
        <p:blipFill>
          <a:blip r:embed="rId6" cstate="email">
            <a:extLst>
              <a:ext uri="{28A0092B-C50C-407E-A947-70E740481C1C}">
                <a14:useLocalDpi xmlns:a14="http://schemas.microsoft.com/office/drawing/2010/main"/>
              </a:ext>
            </a:extLst>
          </a:blip>
          <a:srcRect t="23662"/>
          <a:stretch>
            <a:fillRect/>
          </a:stretch>
        </p:blipFill>
        <p:spPr bwMode="auto">
          <a:xfrm>
            <a:off x="2229763" y="1954449"/>
            <a:ext cx="338981"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 name="Rak pil 59"/>
          <p:cNvCxnSpPr/>
          <p:nvPr/>
        </p:nvCxnSpPr>
        <p:spPr>
          <a:xfrm flipH="1">
            <a:off x="3860943" y="1839671"/>
            <a:ext cx="1209227" cy="0"/>
          </a:xfrm>
          <a:prstGeom prst="straightConnector1">
            <a:avLst/>
          </a:prstGeom>
          <a:ln>
            <a:solidFill>
              <a:srgbClr val="000000"/>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62" name="Rektangel med rundade hörn 61">
            <a:hlinkClick r:id="" action="ppaction://noaction"/>
          </p:cNvPr>
          <p:cNvSpPr/>
          <p:nvPr/>
        </p:nvSpPr>
        <p:spPr>
          <a:xfrm flipV="1">
            <a:off x="5070170" y="983314"/>
            <a:ext cx="1318399" cy="2614491"/>
          </a:xfrm>
          <a:prstGeom prst="roundRect">
            <a:avLst>
              <a:gd name="adj" fmla="val 9532"/>
            </a:avLst>
          </a:prstGeom>
          <a:solidFill>
            <a:schemeClr val="bg1">
              <a:lumMod val="85000"/>
            </a:schemeClr>
          </a:solidFill>
          <a:ln w="9525">
            <a:noFill/>
            <a:miter lim="800000"/>
            <a:headEnd/>
            <a:tailEnd/>
          </a:ln>
        </p:spPr>
        <p:txBody>
          <a:bodyPr wrap="none" anchor="ctr"/>
          <a:lstStyle/>
          <a:p>
            <a:pPr algn="ctr">
              <a:defRPr/>
            </a:pPr>
            <a:endParaRPr lang="sv-SE" sz="1000">
              <a:solidFill>
                <a:schemeClr val="bg1"/>
              </a:solidFill>
              <a:latin typeface="Arial" pitchFamily="-112" charset="0"/>
              <a:ea typeface="Times New Roman" pitchFamily="-112" charset="0"/>
              <a:cs typeface="Times New Roman" pitchFamily="-112" charset="0"/>
            </a:endParaRPr>
          </a:p>
        </p:txBody>
      </p:sp>
      <p:sp>
        <p:nvSpPr>
          <p:cNvPr id="67" name="Rektangel med rundade hörn 66"/>
          <p:cNvSpPr/>
          <p:nvPr/>
        </p:nvSpPr>
        <p:spPr>
          <a:xfrm>
            <a:off x="5186588" y="1126492"/>
            <a:ext cx="1061294" cy="441738"/>
          </a:xfrm>
          <a:prstGeom prst="roundRect">
            <a:avLst/>
          </a:prstGeom>
          <a:ln>
            <a:solidFill>
              <a:srgbClr val="382819"/>
            </a:solidFill>
            <a:prstDash val="soli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latin typeface="Arial"/>
                <a:ea typeface="ＭＳ Ｐゴシック" pitchFamily="-112" charset="-128"/>
                <a:cs typeface="ＭＳ Ｐゴシック" pitchFamily="-112" charset="-128"/>
              </a:rPr>
              <a:t>Autentisering</a:t>
            </a:r>
          </a:p>
        </p:txBody>
      </p:sp>
      <p:sp>
        <p:nvSpPr>
          <p:cNvPr id="35" name="Rektangel med rundade hörn 34"/>
          <p:cNvSpPr/>
          <p:nvPr/>
        </p:nvSpPr>
        <p:spPr>
          <a:xfrm>
            <a:off x="5186588" y="1662528"/>
            <a:ext cx="1061294" cy="384839"/>
          </a:xfrm>
          <a:prstGeom prst="roundRect">
            <a:avLst/>
          </a:prstGeom>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latin typeface="Arial"/>
                <a:ea typeface="ＭＳ Ｐゴシック" pitchFamily="-112" charset="-128"/>
                <a:cs typeface="ＭＳ Ｐゴシック" pitchFamily="-112" charset="-128"/>
              </a:rPr>
              <a:t>Nationell</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katalog</a:t>
            </a:r>
          </a:p>
        </p:txBody>
      </p:sp>
      <p:sp>
        <p:nvSpPr>
          <p:cNvPr id="34" name="Rektangel med rundade hörn 33"/>
          <p:cNvSpPr/>
          <p:nvPr/>
        </p:nvSpPr>
        <p:spPr>
          <a:xfrm>
            <a:off x="5204107" y="2142381"/>
            <a:ext cx="1054038" cy="368408"/>
          </a:xfrm>
          <a:prstGeom prst="roundRect">
            <a:avLst/>
          </a:prstGeom>
          <a:ln>
            <a:solidFill>
              <a:srgbClr val="382819"/>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smtClean="0">
                <a:solidFill>
                  <a:srgbClr val="382819"/>
                </a:solidFill>
                <a:latin typeface="Arial"/>
                <a:ea typeface="ＭＳ Ｐゴシック" pitchFamily="-112" charset="-128"/>
                <a:cs typeface="ＭＳ Ｐゴシック" pitchFamily="-112" charset="-128"/>
              </a:rPr>
              <a:t>Spärr</a:t>
            </a:r>
            <a:r>
              <a:rPr lang="sv-SE" sz="1100" dirty="0">
                <a:solidFill>
                  <a:srgbClr val="382819"/>
                </a:solidFill>
                <a:latin typeface="Arial"/>
                <a:ea typeface="ＭＳ Ｐゴシック" pitchFamily="-112" charset="-128"/>
                <a:cs typeface="ＭＳ Ｐゴシック" pitchFamily="-112" charset="-128"/>
              </a:rPr>
              <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(PDL)</a:t>
            </a:r>
          </a:p>
        </p:txBody>
      </p:sp>
      <p:sp>
        <p:nvSpPr>
          <p:cNvPr id="42" name="Rektangel med rundade hörn 41"/>
          <p:cNvSpPr/>
          <p:nvPr/>
        </p:nvSpPr>
        <p:spPr>
          <a:xfrm>
            <a:off x="5202918" y="2589973"/>
            <a:ext cx="1061294" cy="372517"/>
          </a:xfrm>
          <a:prstGeom prst="roundRect">
            <a:avLst/>
          </a:prstGeom>
          <a:ln>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ea typeface="ＭＳ Ｐゴシック" pitchFamily="-112" charset="-128"/>
                <a:cs typeface="ＭＳ Ｐゴシック" pitchFamily="-112" charset="-128"/>
              </a:rPr>
              <a:t>Samtycke</a:t>
            </a:r>
            <a:r>
              <a:rPr lang="sv-SE" sz="1100" dirty="0">
                <a:solidFill>
                  <a:srgbClr val="382819"/>
                </a:solidFill>
                <a:latin typeface="Arial"/>
                <a:ea typeface="ＭＳ Ｐゴシック" pitchFamily="-112" charset="-128"/>
                <a:cs typeface="ＭＳ Ｐゴシック" pitchFamily="-112" charset="-128"/>
              </a:rPr>
              <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(PDL)</a:t>
            </a:r>
          </a:p>
        </p:txBody>
      </p:sp>
      <p:sp>
        <p:nvSpPr>
          <p:cNvPr id="44" name="Rektangel med rundade hörn 43"/>
          <p:cNvSpPr/>
          <p:nvPr/>
        </p:nvSpPr>
        <p:spPr>
          <a:xfrm>
            <a:off x="5200540" y="3041789"/>
            <a:ext cx="1061294" cy="354297"/>
          </a:xfrm>
          <a:prstGeom prst="roundRect">
            <a:avLst/>
          </a:prstGeom>
          <a:ln>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sv-SE" sz="1100" dirty="0">
                <a:solidFill>
                  <a:srgbClr val="382819"/>
                </a:solidFill>
                <a:latin typeface="Arial"/>
                <a:ea typeface="ＭＳ Ｐゴシック" pitchFamily="-112" charset="-128"/>
                <a:cs typeface="ＭＳ Ｐゴシック" pitchFamily="-112" charset="-128"/>
              </a:rPr>
              <a:t>Logg</a:t>
            </a:r>
            <a:br>
              <a:rPr lang="sv-SE" sz="1100" dirty="0">
                <a:solidFill>
                  <a:srgbClr val="382819"/>
                </a:solidFill>
                <a:latin typeface="Arial"/>
                <a:ea typeface="ＭＳ Ｐゴシック" pitchFamily="-112" charset="-128"/>
                <a:cs typeface="ＭＳ Ｐゴシック" pitchFamily="-112" charset="-128"/>
              </a:rPr>
            </a:br>
            <a:r>
              <a:rPr lang="sv-SE" sz="1100" dirty="0">
                <a:solidFill>
                  <a:srgbClr val="382819"/>
                </a:solidFill>
                <a:latin typeface="Arial"/>
                <a:ea typeface="ＭＳ Ｐゴシック" pitchFamily="-112" charset="-128"/>
                <a:cs typeface="ＭＳ Ｐゴシック" pitchFamily="-112" charset="-128"/>
              </a:rPr>
              <a:t>(PDL)</a:t>
            </a:r>
          </a:p>
        </p:txBody>
      </p:sp>
      <p:sp>
        <p:nvSpPr>
          <p:cNvPr id="60" name="Rektangel med rundade hörn 59"/>
          <p:cNvSpPr/>
          <p:nvPr/>
        </p:nvSpPr>
        <p:spPr>
          <a:xfrm>
            <a:off x="6915385" y="2443041"/>
            <a:ext cx="259874" cy="229935"/>
          </a:xfrm>
          <a:prstGeom prst="roundRect">
            <a:avLst/>
          </a:prstGeom>
          <a:solidFill>
            <a:schemeClr val="bg1">
              <a:alpha val="54000"/>
            </a:schemeClr>
          </a:solidFill>
          <a:ln>
            <a:solidFill>
              <a:srgbClr val="382819"/>
            </a:solidFill>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endParaRPr lang="sv-SE" sz="1050" dirty="0">
              <a:solidFill>
                <a:srgbClr val="382819"/>
              </a:solidFill>
              <a:ea typeface="ＭＳ Ｐゴシック" pitchFamily="-112" charset="-128"/>
              <a:cs typeface="ＭＳ Ｐゴシック" pitchFamily="-112" charset="-128"/>
            </a:endParaRPr>
          </a:p>
        </p:txBody>
      </p:sp>
      <p:sp>
        <p:nvSpPr>
          <p:cNvPr id="61" name="textruta 82"/>
          <p:cNvSpPr txBox="1">
            <a:spLocks noChangeArrowheads="1"/>
          </p:cNvSpPr>
          <p:nvPr/>
        </p:nvSpPr>
        <p:spPr bwMode="auto">
          <a:xfrm>
            <a:off x="7153768" y="2313680"/>
            <a:ext cx="15753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200" dirty="0">
                <a:solidFill>
                  <a:srgbClr val="382819"/>
                </a:solidFill>
                <a:latin typeface="Calibri"/>
                <a:cs typeface="Calibri"/>
              </a:rPr>
              <a:t>Krav på gemensam/federerad källa</a:t>
            </a:r>
            <a:endParaRPr lang="sv-SE" sz="1200" dirty="0">
              <a:solidFill>
                <a:srgbClr val="382819"/>
              </a:solidFill>
            </a:endParaRPr>
          </a:p>
        </p:txBody>
      </p:sp>
      <p:sp>
        <p:nvSpPr>
          <p:cNvPr id="63" name="Rektangel med rundade hörn 62"/>
          <p:cNvSpPr/>
          <p:nvPr/>
        </p:nvSpPr>
        <p:spPr>
          <a:xfrm>
            <a:off x="6921237" y="2900716"/>
            <a:ext cx="259874" cy="229935"/>
          </a:xfrm>
          <a:prstGeom prst="roundRect">
            <a:avLst/>
          </a:prstGeom>
          <a:noFill/>
          <a:ln>
            <a:solidFill>
              <a:srgbClr val="7F7F7F"/>
            </a:solidFill>
            <a:prstDash val="sysDash"/>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fontAlgn="base">
              <a:spcBef>
                <a:spcPct val="0"/>
              </a:spcBef>
              <a:spcAft>
                <a:spcPct val="0"/>
              </a:spcAft>
            </a:pPr>
            <a:endParaRPr lang="sv-SE" sz="1100" dirty="0">
              <a:solidFill>
                <a:srgbClr val="382819"/>
              </a:solidFill>
              <a:ea typeface="ＭＳ Ｐゴシック" pitchFamily="-112" charset="-128"/>
              <a:cs typeface="ＭＳ Ｐゴシック" pitchFamily="-112" charset="-128"/>
            </a:endParaRPr>
          </a:p>
        </p:txBody>
      </p:sp>
      <p:sp>
        <p:nvSpPr>
          <p:cNvPr id="68" name="textruta 82"/>
          <p:cNvSpPr txBox="1">
            <a:spLocks noChangeArrowheads="1"/>
          </p:cNvSpPr>
          <p:nvPr/>
        </p:nvSpPr>
        <p:spPr bwMode="auto">
          <a:xfrm>
            <a:off x="7159619" y="2735701"/>
            <a:ext cx="13892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200" dirty="0" smtClean="0">
                <a:solidFill>
                  <a:srgbClr val="382819"/>
                </a:solidFill>
                <a:latin typeface="Calibri"/>
                <a:cs typeface="Calibri"/>
              </a:rPr>
              <a:t>Frivilligt som gemensam tjänst/källa</a:t>
            </a:r>
            <a:endParaRPr lang="sv-SE" sz="1200" dirty="0" smtClean="0">
              <a:solidFill>
                <a:srgbClr val="382819"/>
              </a:solidFill>
            </a:endParaRPr>
          </a:p>
        </p:txBody>
      </p:sp>
      <p:grpSp>
        <p:nvGrpSpPr>
          <p:cNvPr id="45" name="Grupp 44"/>
          <p:cNvGrpSpPr/>
          <p:nvPr/>
        </p:nvGrpSpPr>
        <p:grpSpPr>
          <a:xfrm>
            <a:off x="1839751" y="4804173"/>
            <a:ext cx="1433578" cy="1394965"/>
            <a:chOff x="5030925" y="2231442"/>
            <a:chExt cx="1433578" cy="1394965"/>
          </a:xfrm>
        </p:grpSpPr>
        <p:sp>
          <p:nvSpPr>
            <p:cNvPr id="47" name="Rektangel med rundade hörn 46"/>
            <p:cNvSpPr/>
            <p:nvPr/>
          </p:nvSpPr>
          <p:spPr>
            <a:xfrm rot="16200000">
              <a:off x="5050231" y="2212136"/>
              <a:ext cx="1394965" cy="1433578"/>
            </a:xfrm>
            <a:prstGeom prst="roundRect">
              <a:avLst>
                <a:gd name="adj" fmla="val 8787"/>
              </a:avLst>
            </a:prstGeom>
            <a:ln>
              <a:tailEnd type="triangle" w="lg" len="lg"/>
            </a:ln>
          </p:spPr>
          <p:style>
            <a:lnRef idx="2">
              <a:schemeClr val="dk1"/>
            </a:lnRef>
            <a:fillRef idx="1">
              <a:schemeClr val="lt1"/>
            </a:fillRef>
            <a:effectRef idx="0">
              <a:schemeClr val="dk1"/>
            </a:effectRef>
            <a:fontRef idx="minor">
              <a:schemeClr val="dk1"/>
            </a:fontRef>
          </p:style>
          <p:txBody>
            <a:bodyPr lIns="36000" rIns="36000" anchor="t"/>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Läkemedelslista</a:t>
              </a:r>
              <a:br>
                <a:rPr lang="sv-SE" sz="900" dirty="0">
                  <a:solidFill>
                    <a:srgbClr val="382819"/>
                  </a:solidFill>
                  <a:latin typeface="Arial"/>
                  <a:ea typeface="ＭＳ Ｐゴシック" pitchFamily="-112" charset="-128"/>
                  <a:cs typeface="ＭＳ Ｐゴシック" pitchFamily="-112" charset="-128"/>
                </a:rPr>
              </a:br>
              <a:endParaRPr lang="sv-SE" sz="900" dirty="0">
                <a:solidFill>
                  <a:srgbClr val="382819"/>
                </a:solidFill>
                <a:latin typeface="Arial"/>
                <a:ea typeface="ＭＳ Ｐゴシック" pitchFamily="-112" charset="-128"/>
                <a:cs typeface="ＭＳ Ｐゴシック" pitchFamily="-112" charset="-128"/>
              </a:endParaRPr>
            </a:p>
          </p:txBody>
        </p:sp>
        <p:sp>
          <p:nvSpPr>
            <p:cNvPr id="49" name="Rektangel med rundade hörn 48"/>
            <p:cNvSpPr/>
            <p:nvPr/>
          </p:nvSpPr>
          <p:spPr>
            <a:xfrm>
              <a:off x="5289591" y="2508982"/>
              <a:ext cx="987231" cy="314554"/>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Läkemedels-</a:t>
              </a:r>
              <a:r>
                <a:rPr lang="sv-SE" sz="900" dirty="0" smtClean="0">
                  <a:solidFill>
                    <a:schemeClr val="bg1"/>
                  </a:solidFill>
                  <a:latin typeface="Arial"/>
                  <a:ea typeface="ＭＳ Ｐゴシック" pitchFamily="-112" charset="-128"/>
                  <a:cs typeface="ＭＳ Ｐゴシック" pitchFamily="-112" charset="-128"/>
                </a:rPr>
                <a:t>ordination</a:t>
              </a:r>
              <a:endParaRPr lang="sv-SE" sz="900" dirty="0">
                <a:solidFill>
                  <a:schemeClr val="bg1"/>
                </a:solidFill>
                <a:latin typeface="Arial"/>
                <a:ea typeface="ＭＳ Ｐゴシック" pitchFamily="-112" charset="-128"/>
                <a:cs typeface="ＭＳ Ｐゴシック" pitchFamily="-112" charset="-128"/>
              </a:endParaRPr>
            </a:p>
          </p:txBody>
        </p:sp>
        <p:sp>
          <p:nvSpPr>
            <p:cNvPr id="51" name="Rektangel med rundade hörn 50"/>
            <p:cNvSpPr/>
            <p:nvPr/>
          </p:nvSpPr>
          <p:spPr>
            <a:xfrm>
              <a:off x="5289592" y="2823536"/>
              <a:ext cx="987230" cy="324497"/>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a:solidFill>
                    <a:schemeClr val="bg1"/>
                  </a:solidFill>
                  <a:latin typeface="Arial"/>
                  <a:ea typeface="ＭＳ Ｐゴシック" pitchFamily="-112" charset="-128"/>
                  <a:cs typeface="ＭＳ Ｐゴシック" pitchFamily="-112" charset="-128"/>
                </a:rPr>
                <a:t>Läkemedels-</a:t>
              </a:r>
              <a:r>
                <a:rPr lang="sv-SE" sz="900" dirty="0">
                  <a:solidFill>
                    <a:schemeClr val="bg1"/>
                  </a:solidFill>
                  <a:latin typeface="Arial" charset="0"/>
                </a:rPr>
                <a:t>förskrivning</a:t>
              </a:r>
              <a:endParaRPr lang="sv-SE" sz="900" dirty="0">
                <a:solidFill>
                  <a:schemeClr val="bg1"/>
                </a:solidFill>
                <a:latin typeface="Arial"/>
                <a:ea typeface="ＭＳ Ｐゴシック" pitchFamily="-112" charset="-128"/>
                <a:cs typeface="ＭＳ Ｐゴシック" pitchFamily="-112" charset="-128"/>
              </a:endParaRPr>
            </a:p>
          </p:txBody>
        </p:sp>
        <p:sp>
          <p:nvSpPr>
            <p:cNvPr id="52" name="Rektangel med rundade hörn 51"/>
            <p:cNvSpPr/>
            <p:nvPr/>
          </p:nvSpPr>
          <p:spPr>
            <a:xfrm>
              <a:off x="5289591" y="3148033"/>
              <a:ext cx="987230" cy="226533"/>
            </a:xfrm>
            <a:prstGeom prst="roundRect">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defTabSz="914400" fontAlgn="base">
                <a:spcBef>
                  <a:spcPct val="0"/>
                </a:spcBef>
                <a:spcAft>
                  <a:spcPct val="0"/>
                </a:spcAft>
              </a:pPr>
              <a:r>
                <a:rPr lang="sv-SE" sz="900" dirty="0" smtClean="0">
                  <a:solidFill>
                    <a:schemeClr val="bg1"/>
                  </a:solidFill>
                  <a:latin typeface="Arial"/>
                  <a:ea typeface="ＭＳ Ｐゴシック" pitchFamily="-112" charset="-128"/>
                  <a:cs typeface="ＭＳ Ｐゴシック" pitchFamily="-112" charset="-128"/>
                </a:rPr>
                <a:t>Expediering</a:t>
              </a:r>
              <a:endParaRPr lang="sv-SE" sz="900" dirty="0">
                <a:solidFill>
                  <a:schemeClr val="bg1"/>
                </a:solidFill>
                <a:latin typeface="Arial"/>
                <a:ea typeface="ＭＳ Ｐゴシック" pitchFamily="-112" charset="-128"/>
                <a:cs typeface="ＭＳ Ｐゴシック" pitchFamily="-112" charset="-128"/>
              </a:endParaRPr>
            </a:p>
          </p:txBody>
        </p:sp>
      </p:grpSp>
      <p:grpSp>
        <p:nvGrpSpPr>
          <p:cNvPr id="56" name="Grupp 55"/>
          <p:cNvGrpSpPr/>
          <p:nvPr/>
        </p:nvGrpSpPr>
        <p:grpSpPr>
          <a:xfrm>
            <a:off x="2421947" y="3331120"/>
            <a:ext cx="2113257" cy="419081"/>
            <a:chOff x="2748275" y="4018415"/>
            <a:chExt cx="2113257" cy="419081"/>
          </a:xfrm>
        </p:grpSpPr>
        <p:sp>
          <p:nvSpPr>
            <p:cNvPr id="57" name="Rektangel med rundade hörn 56"/>
            <p:cNvSpPr/>
            <p:nvPr/>
          </p:nvSpPr>
          <p:spPr bwMode="auto">
            <a:xfrm>
              <a:off x="2748275" y="4134773"/>
              <a:ext cx="2113257" cy="302723"/>
            </a:xfrm>
            <a:prstGeom prst="roundRect">
              <a:avLst/>
            </a:prstGeom>
            <a:gradFill flip="none" rotWithShape="1">
              <a:gsLst>
                <a:gs pos="0">
                  <a:schemeClr val="dk1">
                    <a:tint val="50000"/>
                    <a:satMod val="300000"/>
                    <a:alpha val="51000"/>
                  </a:schemeClr>
                </a:gs>
                <a:gs pos="35000">
                  <a:schemeClr val="dk1">
                    <a:tint val="37000"/>
                    <a:satMod val="300000"/>
                    <a:alpha val="51000"/>
                  </a:schemeClr>
                </a:gs>
                <a:gs pos="100000">
                  <a:schemeClr val="dk1">
                    <a:tint val="15000"/>
                    <a:satMod val="350000"/>
                    <a:alpha val="51000"/>
                  </a:schemeClr>
                </a:gs>
              </a:gsLst>
              <a:lin ang="16200000" scaled="1"/>
              <a:tileRect/>
            </a:gradFill>
            <a:ln>
              <a:prstDash val="dash"/>
            </a:ln>
            <a:extLst/>
          </p:spPr>
          <p:style>
            <a:lnRef idx="1">
              <a:schemeClr val="dk1"/>
            </a:lnRef>
            <a:fillRef idx="2">
              <a:schemeClr val="dk1"/>
            </a:fillRef>
            <a:effectRef idx="1">
              <a:schemeClr val="dk1"/>
            </a:effectRef>
            <a:fontRef idx="minor">
              <a:schemeClr val="dk1"/>
            </a:fontRef>
          </p:style>
          <p:txBody>
            <a:bodyPr anchor="ctr"/>
            <a:lstStyle/>
            <a:p>
              <a:pPr algn="ctr" defTabSz="914400"/>
              <a:r>
                <a:rPr lang="sv-SE" sz="1200" kern="0" dirty="0" smtClean="0">
                  <a:solidFill>
                    <a:srgbClr val="382819"/>
                  </a:solidFill>
                  <a:cs typeface="Calibri"/>
                </a:rPr>
                <a:t>NTJP</a:t>
              </a:r>
              <a:endParaRPr lang="sv-SE" sz="1200" kern="0" dirty="0">
                <a:solidFill>
                  <a:srgbClr val="382819"/>
                </a:solidFill>
                <a:cs typeface="Calibri"/>
              </a:endParaRPr>
            </a:p>
          </p:txBody>
        </p:sp>
        <p:grpSp>
          <p:nvGrpSpPr>
            <p:cNvPr id="64" name="Grupp 63"/>
            <p:cNvGrpSpPr/>
            <p:nvPr/>
          </p:nvGrpSpPr>
          <p:grpSpPr>
            <a:xfrm>
              <a:off x="3414557" y="4018415"/>
              <a:ext cx="602451" cy="125950"/>
              <a:chOff x="7838865" y="3778958"/>
              <a:chExt cx="602451" cy="125950"/>
            </a:xfrm>
          </p:grpSpPr>
          <p:grpSp>
            <p:nvGrpSpPr>
              <p:cNvPr id="65" name="Grupp 64"/>
              <p:cNvGrpSpPr/>
              <p:nvPr/>
            </p:nvGrpSpPr>
            <p:grpSpPr>
              <a:xfrm>
                <a:off x="8009948" y="3787366"/>
                <a:ext cx="66751" cy="117542"/>
                <a:chOff x="9018096" y="5791998"/>
                <a:chExt cx="66751" cy="117542"/>
              </a:xfrm>
            </p:grpSpPr>
            <p:cxnSp>
              <p:nvCxnSpPr>
                <p:cNvPr id="77" name="Rak pil 18"/>
                <p:cNvCxnSpPr>
                  <a:cxnSpLocks noChangeShapeType="1"/>
                  <a:endCxn id="78" idx="6"/>
                </p:cNvCxnSpPr>
                <p:nvPr/>
              </p:nvCxnSpPr>
              <p:spPr bwMode="auto">
                <a:xfrm flipV="1">
                  <a:off x="9051471" y="585286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Ellips 77"/>
                <p:cNvSpPr/>
                <p:nvPr/>
              </p:nvSpPr>
              <p:spPr bwMode="auto">
                <a:xfrm rot="5400000">
                  <a:off x="9021039" y="578905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66" name="Grupp 65"/>
              <p:cNvGrpSpPr/>
              <p:nvPr/>
            </p:nvGrpSpPr>
            <p:grpSpPr>
              <a:xfrm>
                <a:off x="7838865" y="3778958"/>
                <a:ext cx="66751" cy="117542"/>
                <a:chOff x="9018096" y="5768908"/>
                <a:chExt cx="66751" cy="117542"/>
              </a:xfrm>
            </p:grpSpPr>
            <p:cxnSp>
              <p:nvCxnSpPr>
                <p:cNvPr id="75" name="Rak pil 18"/>
                <p:cNvCxnSpPr>
                  <a:cxnSpLocks noChangeShapeType="1"/>
                  <a:endCxn id="76"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Ellips 75"/>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69" name="Grupp 68"/>
              <p:cNvGrpSpPr/>
              <p:nvPr/>
            </p:nvGrpSpPr>
            <p:grpSpPr>
              <a:xfrm>
                <a:off x="8210620" y="3781273"/>
                <a:ext cx="66751" cy="117542"/>
                <a:chOff x="9018096" y="5768908"/>
                <a:chExt cx="66751" cy="117542"/>
              </a:xfrm>
            </p:grpSpPr>
            <p:cxnSp>
              <p:nvCxnSpPr>
                <p:cNvPr id="73" name="Rak pil 18"/>
                <p:cNvCxnSpPr>
                  <a:cxnSpLocks noChangeShapeType="1"/>
                  <a:endCxn id="74"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Ellips 73"/>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nvGrpSpPr>
              <p:cNvPr id="70" name="Grupp 69"/>
              <p:cNvGrpSpPr/>
              <p:nvPr/>
            </p:nvGrpSpPr>
            <p:grpSpPr>
              <a:xfrm>
                <a:off x="8374565" y="3783588"/>
                <a:ext cx="66751" cy="117542"/>
                <a:chOff x="9018096" y="5768908"/>
                <a:chExt cx="66751" cy="117542"/>
              </a:xfrm>
            </p:grpSpPr>
            <p:cxnSp>
              <p:nvCxnSpPr>
                <p:cNvPr id="71" name="Rak pil 18"/>
                <p:cNvCxnSpPr>
                  <a:cxnSpLocks noChangeShapeType="1"/>
                  <a:endCxn id="72" idx="6"/>
                </p:cNvCxnSpPr>
                <p:nvPr/>
              </p:nvCxnSpPr>
              <p:spPr bwMode="auto">
                <a:xfrm flipV="1">
                  <a:off x="9051471" y="5829773"/>
                  <a:ext cx="0" cy="56677"/>
                </a:xfrm>
                <a:prstGeom prst="straightConnector1">
                  <a:avLst/>
                </a:prstGeom>
                <a:noFill/>
                <a:ln w="12700">
                  <a:solidFill>
                    <a:schemeClr val="tx1"/>
                  </a:solidFill>
                  <a:round/>
                  <a:headEnd type="non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Ellips 71"/>
                <p:cNvSpPr/>
                <p:nvPr/>
              </p:nvSpPr>
              <p:spPr bwMode="auto">
                <a:xfrm rot="5400000">
                  <a:off x="9021039" y="5765965"/>
                  <a:ext cx="60865" cy="66751"/>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lvl="0" indent="0" algn="l" defTabSz="957263" rtl="0" eaLnBrk="1" fontAlgn="base" latinLnBrk="0" hangingPunct="1">
                    <a:lnSpc>
                      <a:spcPct val="100000"/>
                    </a:lnSpc>
                    <a:spcBef>
                      <a:spcPct val="0"/>
                    </a:spcBef>
                    <a:spcAft>
                      <a:spcPct val="0"/>
                    </a:spcAft>
                    <a:buClrTx/>
                    <a:buSzTx/>
                    <a:buFontTx/>
                    <a:buNone/>
                    <a:tabLst/>
                    <a:defRPr/>
                  </a:pPr>
                  <a:endParaRPr kumimoji="0" lang="sv-SE" sz="1900" b="0" i="0" u="none" strike="noStrike" kern="0" cap="none" spc="0" normalizeH="0" baseline="0" noProof="0" smtClean="0">
                    <a:ln>
                      <a:noFill/>
                    </a:ln>
                    <a:solidFill>
                      <a:srgbClr val="382819"/>
                    </a:solidFill>
                    <a:effectLst/>
                    <a:uLnTx/>
                    <a:uFillTx/>
                    <a:latin typeface="Arial" charset="0"/>
                  </a:endParaRPr>
                </a:p>
              </p:txBody>
            </p:sp>
          </p:grpSp>
        </p:grpSp>
      </p:grpSp>
      <p:pic>
        <p:nvPicPr>
          <p:cNvPr id="79" name="Bildobjekt 78"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746134" y="3334606"/>
            <a:ext cx="289106" cy="274650"/>
          </a:xfrm>
          <a:prstGeom prst="rect">
            <a:avLst/>
          </a:prstGeom>
        </p:spPr>
      </p:pic>
      <p:cxnSp>
        <p:nvCxnSpPr>
          <p:cNvPr id="80" name="Rak pil 59"/>
          <p:cNvCxnSpPr/>
          <p:nvPr/>
        </p:nvCxnSpPr>
        <p:spPr>
          <a:xfrm>
            <a:off x="2685898" y="3755295"/>
            <a:ext cx="7739" cy="1053973"/>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41" name="Bildobjekt 40"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092671" y="4715386"/>
            <a:ext cx="319306" cy="303340"/>
          </a:xfrm>
          <a:prstGeom prst="rect">
            <a:avLst/>
          </a:prstGeom>
        </p:spPr>
      </p:pic>
      <p:sp>
        <p:nvSpPr>
          <p:cNvPr id="95" name="textruta 82"/>
          <p:cNvSpPr txBox="1">
            <a:spLocks noChangeArrowheads="1"/>
          </p:cNvSpPr>
          <p:nvPr/>
        </p:nvSpPr>
        <p:spPr bwMode="auto">
          <a:xfrm>
            <a:off x="6477011" y="1076204"/>
            <a:ext cx="206603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400" i="1" dirty="0" smtClean="0">
                <a:solidFill>
                  <a:srgbClr val="382819"/>
                </a:solidFill>
                <a:latin typeface="Calibri"/>
                <a:cs typeface="Calibri"/>
              </a:rPr>
              <a:t>Krav på Stark autentisering</a:t>
            </a:r>
            <a:br>
              <a:rPr lang="sv-SE" sz="1400" i="1" dirty="0" smtClean="0">
                <a:solidFill>
                  <a:srgbClr val="382819"/>
                </a:solidFill>
                <a:latin typeface="Calibri"/>
                <a:cs typeface="Calibri"/>
              </a:rPr>
            </a:br>
            <a:r>
              <a:rPr lang="sv-SE" sz="1400" i="1" dirty="0" smtClean="0">
                <a:solidFill>
                  <a:srgbClr val="382819"/>
                </a:solidFill>
                <a:latin typeface="Calibri"/>
                <a:cs typeface="Calibri"/>
              </a:rPr>
              <a:t>En godkänd </a:t>
            </a:r>
            <a:r>
              <a:rPr lang="sv-SE" sz="1400" i="1" dirty="0" err="1" smtClean="0">
                <a:solidFill>
                  <a:srgbClr val="382819"/>
                </a:solidFill>
                <a:latin typeface="Calibri"/>
                <a:cs typeface="Calibri"/>
              </a:rPr>
              <a:t>IdP</a:t>
            </a:r>
            <a:r>
              <a:rPr lang="sv-SE" sz="1400" i="1" dirty="0" smtClean="0">
                <a:solidFill>
                  <a:srgbClr val="382819"/>
                </a:solidFill>
                <a:latin typeface="Calibri"/>
                <a:cs typeface="Calibri"/>
              </a:rPr>
              <a:t> (samverkan/federation)</a:t>
            </a:r>
            <a:endParaRPr lang="sv-SE" sz="1400" i="1" dirty="0" smtClean="0">
              <a:solidFill>
                <a:srgbClr val="382819"/>
              </a:solidFill>
            </a:endParaRPr>
          </a:p>
        </p:txBody>
      </p:sp>
      <p:sp>
        <p:nvSpPr>
          <p:cNvPr id="96" name="Rektangel 95"/>
          <p:cNvSpPr/>
          <p:nvPr/>
        </p:nvSpPr>
        <p:spPr>
          <a:xfrm>
            <a:off x="6388569" y="256926"/>
            <a:ext cx="2418496" cy="646331"/>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b="1" i="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Ny lösning under framtagande (EHM)</a:t>
            </a:r>
            <a:endParaRPr lang="sv-SE" b="1" i="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cxnSp>
        <p:nvCxnSpPr>
          <p:cNvPr id="105" name="Rak pil 59"/>
          <p:cNvCxnSpPr/>
          <p:nvPr/>
        </p:nvCxnSpPr>
        <p:spPr>
          <a:xfrm flipH="1">
            <a:off x="3297303" y="5587151"/>
            <a:ext cx="313849" cy="1"/>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cxnSp>
        <p:nvCxnSpPr>
          <p:cNvPr id="106" name="Rak pil 59"/>
          <p:cNvCxnSpPr/>
          <p:nvPr/>
        </p:nvCxnSpPr>
        <p:spPr>
          <a:xfrm>
            <a:off x="3297303" y="5417551"/>
            <a:ext cx="313849" cy="0"/>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sp>
        <p:nvSpPr>
          <p:cNvPr id="121" name="Rektangel med rundade hörn 120"/>
          <p:cNvSpPr/>
          <p:nvPr/>
        </p:nvSpPr>
        <p:spPr>
          <a:xfrm>
            <a:off x="5252720" y="5216548"/>
            <a:ext cx="840406" cy="512363"/>
          </a:xfrm>
          <a:prstGeom prst="roundRect">
            <a:avLst>
              <a:gd name="adj" fmla="val 7041"/>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a:solidFill>
                  <a:srgbClr val="382819"/>
                </a:solidFill>
                <a:ea typeface="ＭＳ Ｐゴシック" pitchFamily="-112" charset="-128"/>
                <a:cs typeface="ＭＳ Ｐゴシック" pitchFamily="-112" charset="-128"/>
              </a:rPr>
              <a:t>Dosunderlag</a:t>
            </a:r>
            <a:br>
              <a:rPr lang="sv-SE" sz="900" dirty="0">
                <a:solidFill>
                  <a:srgbClr val="382819"/>
                </a:solidFill>
                <a:ea typeface="ＭＳ Ｐゴシック" pitchFamily="-112" charset="-128"/>
                <a:cs typeface="ＭＳ Ｐゴシック" pitchFamily="-112" charset="-128"/>
              </a:rPr>
            </a:br>
            <a:r>
              <a:rPr lang="sv-SE" sz="900" dirty="0">
                <a:solidFill>
                  <a:srgbClr val="382819"/>
                </a:solidFill>
                <a:ea typeface="ＭＳ Ｐゴシック" pitchFamily="-112" charset="-128"/>
                <a:cs typeface="ＭＳ Ｐゴシック" pitchFamily="-112" charset="-128"/>
              </a:rPr>
              <a:t>Dossamtycke</a:t>
            </a:r>
          </a:p>
        </p:txBody>
      </p:sp>
      <p:sp>
        <p:nvSpPr>
          <p:cNvPr id="122" name="Rektangel med rundade hörn 121"/>
          <p:cNvSpPr/>
          <p:nvPr/>
        </p:nvSpPr>
        <p:spPr>
          <a:xfrm>
            <a:off x="6690371" y="5221478"/>
            <a:ext cx="860752" cy="509146"/>
          </a:xfrm>
          <a:prstGeom prst="roundRect">
            <a:avLst>
              <a:gd name="adj" fmla="val 7175"/>
            </a:avLst>
          </a:prstGeom>
          <a:solidFill>
            <a:schemeClr val="accent1">
              <a:lumMod val="50000"/>
            </a:schemeClr>
          </a:solidFill>
          <a:ln>
            <a:tailEnd type="triangle" w="lg" len="lg"/>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algn="ctr"/>
            <a:r>
              <a:rPr lang="sv-SE" sz="900" dirty="0">
                <a:solidFill>
                  <a:schemeClr val="bg1"/>
                </a:solidFill>
                <a:latin typeface="Arial"/>
                <a:ea typeface="ＭＳ Ｐゴシック" pitchFamily="-112" charset="-128"/>
                <a:cs typeface="ＭＳ Ｐゴシック" pitchFamily="-112" charset="-128"/>
              </a:rPr>
              <a:t>Dosapotek</a:t>
            </a:r>
            <a:br>
              <a:rPr lang="sv-SE" sz="900" dirty="0">
                <a:solidFill>
                  <a:schemeClr val="bg1"/>
                </a:solidFill>
                <a:latin typeface="Arial"/>
                <a:ea typeface="ＭＳ Ｐゴシック" pitchFamily="-112" charset="-128"/>
                <a:cs typeface="ＭＳ Ｐゴシック" pitchFamily="-112" charset="-128"/>
              </a:rPr>
            </a:br>
            <a:r>
              <a:rPr lang="sv-SE" sz="900" dirty="0">
                <a:solidFill>
                  <a:schemeClr val="bg1"/>
                </a:solidFill>
                <a:latin typeface="Arial"/>
                <a:ea typeface="ＭＳ Ｐゴシック" pitchFamily="-112" charset="-128"/>
                <a:cs typeface="ＭＳ Ｐゴシック" pitchFamily="-112" charset="-128"/>
              </a:rPr>
              <a:t>Logistik</a:t>
            </a:r>
          </a:p>
        </p:txBody>
      </p:sp>
      <p:sp>
        <p:nvSpPr>
          <p:cNvPr id="124" name="Rektangel med rundade hörn 123"/>
          <p:cNvSpPr/>
          <p:nvPr/>
        </p:nvSpPr>
        <p:spPr>
          <a:xfrm>
            <a:off x="4477523" y="5221478"/>
            <a:ext cx="709065" cy="507433"/>
          </a:xfrm>
          <a:prstGeom prst="roundRect">
            <a:avLst>
              <a:gd name="adj" fmla="val 5926"/>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a:solidFill>
                  <a:srgbClr val="382819"/>
                </a:solidFill>
                <a:latin typeface="Arial"/>
                <a:ea typeface="ＭＳ Ｐゴシック" pitchFamily="-112" charset="-128"/>
                <a:cs typeface="ＭＳ Ｐゴシック" pitchFamily="-112" charset="-128"/>
              </a:rPr>
              <a:t>Expediering</a:t>
            </a:r>
          </a:p>
          <a:p>
            <a:pPr algn="ctr" defTabSz="914400" fontAlgn="base">
              <a:spcBef>
                <a:spcPct val="0"/>
              </a:spcBef>
              <a:spcAft>
                <a:spcPct val="0"/>
              </a:spcAft>
            </a:pPr>
            <a:r>
              <a:rPr lang="sv-SE" sz="900" dirty="0" smtClean="0">
                <a:solidFill>
                  <a:srgbClr val="382819"/>
                </a:solidFill>
                <a:ea typeface="ＭＳ Ｐゴシック" pitchFamily="-112" charset="-128"/>
                <a:cs typeface="ＭＳ Ｐゴシック" pitchFamily="-112" charset="-128"/>
              </a:rPr>
              <a:t>läkemedel</a:t>
            </a:r>
            <a:endParaRPr lang="sv-SE" sz="900" dirty="0">
              <a:solidFill>
                <a:srgbClr val="382819"/>
              </a:solidFill>
              <a:ea typeface="ＭＳ Ｐゴシック" pitchFamily="-112" charset="-128"/>
              <a:cs typeface="ＭＳ Ｐゴシック" pitchFamily="-112" charset="-128"/>
            </a:endParaRPr>
          </a:p>
        </p:txBody>
      </p:sp>
      <p:sp>
        <p:nvSpPr>
          <p:cNvPr id="125" name="Rektangel med rundade hörn 124"/>
          <p:cNvSpPr/>
          <p:nvPr/>
        </p:nvSpPr>
        <p:spPr>
          <a:xfrm>
            <a:off x="3743043" y="5213331"/>
            <a:ext cx="666398" cy="507433"/>
          </a:xfrm>
          <a:prstGeom prst="roundRect">
            <a:avLst>
              <a:gd name="adj" fmla="val 9033"/>
            </a:avLst>
          </a:prstGeom>
          <a:ln>
            <a:tailEnd type="triangle" w="lg" len="lg"/>
          </a:ln>
        </p:spPr>
        <p:style>
          <a:lnRef idx="1">
            <a:schemeClr val="accent4"/>
          </a:lnRef>
          <a:fillRef idx="2">
            <a:schemeClr val="accent4"/>
          </a:fillRef>
          <a:effectRef idx="1">
            <a:schemeClr val="accent4"/>
          </a:effectRef>
          <a:fontRef idx="minor">
            <a:schemeClr val="dk1"/>
          </a:fontRef>
        </p:style>
        <p:txBody>
          <a:bodyPr lIns="36000" rIns="36000" anchor="ctr"/>
          <a:lstStyle/>
          <a:p>
            <a:pPr algn="ctr" defTabSz="914400" fontAlgn="base">
              <a:spcBef>
                <a:spcPct val="0"/>
              </a:spcBef>
              <a:spcAft>
                <a:spcPct val="0"/>
              </a:spcAft>
            </a:pPr>
            <a:r>
              <a:rPr lang="sv-SE" sz="900" dirty="0" smtClean="0">
                <a:solidFill>
                  <a:srgbClr val="382819"/>
                </a:solidFill>
                <a:latin typeface="Arial"/>
                <a:ea typeface="ＭＳ Ｐゴシック" pitchFamily="-112" charset="-128"/>
                <a:cs typeface="ＭＳ Ｐゴシック" pitchFamily="-112" charset="-128"/>
              </a:rPr>
              <a:t>Recept </a:t>
            </a:r>
            <a:endParaRPr lang="sv-SE" sz="900" dirty="0">
              <a:solidFill>
                <a:srgbClr val="382819"/>
              </a:solidFill>
              <a:latin typeface="Arial"/>
              <a:ea typeface="ＭＳ Ｐゴシック" pitchFamily="-112" charset="-128"/>
              <a:cs typeface="ＭＳ Ｐゴシック" pitchFamily="-112" charset="-128"/>
            </a:endParaRPr>
          </a:p>
        </p:txBody>
      </p:sp>
      <p:grpSp>
        <p:nvGrpSpPr>
          <p:cNvPr id="3" name="Grupp 2"/>
          <p:cNvGrpSpPr/>
          <p:nvPr/>
        </p:nvGrpSpPr>
        <p:grpSpPr>
          <a:xfrm>
            <a:off x="3752926" y="4138709"/>
            <a:ext cx="397521" cy="328876"/>
            <a:chOff x="3752926" y="4138709"/>
            <a:chExt cx="397521" cy="328876"/>
          </a:xfrm>
        </p:grpSpPr>
        <p:cxnSp>
          <p:nvCxnSpPr>
            <p:cNvPr id="92" name="Rak pil 59"/>
            <p:cNvCxnSpPr/>
            <p:nvPr/>
          </p:nvCxnSpPr>
          <p:spPr>
            <a:xfrm flipV="1">
              <a:off x="4150446" y="4138709"/>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127" name="Bildobjekt 126"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752926" y="4143063"/>
              <a:ext cx="341603" cy="324522"/>
            </a:xfrm>
            <a:prstGeom prst="rect">
              <a:avLst/>
            </a:prstGeom>
          </p:spPr>
        </p:pic>
      </p:grpSp>
      <p:cxnSp>
        <p:nvCxnSpPr>
          <p:cNvPr id="128" name="Rak pil 59"/>
          <p:cNvCxnSpPr/>
          <p:nvPr/>
        </p:nvCxnSpPr>
        <p:spPr>
          <a:xfrm>
            <a:off x="4251998" y="3767878"/>
            <a:ext cx="7739" cy="1053973"/>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0" name="Rak pil 59"/>
          <p:cNvCxnSpPr>
            <a:stCxn id="57" idx="3"/>
            <a:endCxn id="129" idx="0"/>
          </p:cNvCxnSpPr>
          <p:nvPr/>
        </p:nvCxnSpPr>
        <p:spPr>
          <a:xfrm>
            <a:off x="4535204" y="3598840"/>
            <a:ext cx="2608291" cy="1205333"/>
          </a:xfrm>
          <a:prstGeom prst="straightConnector1">
            <a:avLst/>
          </a:prstGeom>
          <a:ln w="63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33" name="textruta 82"/>
          <p:cNvSpPr txBox="1">
            <a:spLocks noChangeArrowheads="1"/>
          </p:cNvSpPr>
          <p:nvPr/>
        </p:nvSpPr>
        <p:spPr bwMode="auto">
          <a:xfrm>
            <a:off x="4306181" y="4059699"/>
            <a:ext cx="9402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 +</a:t>
            </a:r>
          </a:p>
          <a:p>
            <a:pPr defTabSz="914400" eaLnBrk="1" fontAlgn="base" hangingPunct="1">
              <a:spcBef>
                <a:spcPct val="0"/>
              </a:spcBef>
              <a:spcAft>
                <a:spcPct val="0"/>
              </a:spcAft>
            </a:pPr>
            <a:r>
              <a:rPr lang="sv-SE" sz="1100" dirty="0" smtClean="0">
                <a:solidFill>
                  <a:srgbClr val="382819"/>
                </a:solidFill>
                <a:latin typeface="Calibri"/>
                <a:cs typeface="Calibri"/>
              </a:rPr>
              <a:t>SAML intyg</a:t>
            </a:r>
            <a:endParaRPr lang="sv-SE" sz="1100" dirty="0" smtClean="0">
              <a:solidFill>
                <a:srgbClr val="382819"/>
              </a:solidFill>
            </a:endParaRPr>
          </a:p>
        </p:txBody>
      </p:sp>
      <p:grpSp>
        <p:nvGrpSpPr>
          <p:cNvPr id="81" name="Grupp 80"/>
          <p:cNvGrpSpPr/>
          <p:nvPr/>
        </p:nvGrpSpPr>
        <p:grpSpPr>
          <a:xfrm>
            <a:off x="6364476" y="4126671"/>
            <a:ext cx="397521" cy="328876"/>
            <a:chOff x="3752926" y="4138709"/>
            <a:chExt cx="397521" cy="328876"/>
          </a:xfrm>
        </p:grpSpPr>
        <p:cxnSp>
          <p:nvCxnSpPr>
            <p:cNvPr id="83" name="Rak pil 59"/>
            <p:cNvCxnSpPr/>
            <p:nvPr/>
          </p:nvCxnSpPr>
          <p:spPr>
            <a:xfrm flipV="1">
              <a:off x="4150446" y="4138709"/>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85" name="Bildobjekt 84"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752926" y="4143063"/>
              <a:ext cx="341603" cy="324522"/>
            </a:xfrm>
            <a:prstGeom prst="rect">
              <a:avLst/>
            </a:prstGeom>
          </p:spPr>
        </p:pic>
      </p:grpSp>
      <p:grpSp>
        <p:nvGrpSpPr>
          <p:cNvPr id="86" name="Grupp 85"/>
          <p:cNvGrpSpPr/>
          <p:nvPr/>
        </p:nvGrpSpPr>
        <p:grpSpPr>
          <a:xfrm>
            <a:off x="2724083" y="4161710"/>
            <a:ext cx="397521" cy="328876"/>
            <a:chOff x="3752926" y="4138709"/>
            <a:chExt cx="397521" cy="328876"/>
          </a:xfrm>
        </p:grpSpPr>
        <p:cxnSp>
          <p:nvCxnSpPr>
            <p:cNvPr id="87" name="Rak pil 59"/>
            <p:cNvCxnSpPr/>
            <p:nvPr/>
          </p:nvCxnSpPr>
          <p:spPr>
            <a:xfrm flipV="1">
              <a:off x="4150446" y="4138709"/>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88" name="Bildobjekt 87"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752926" y="4143063"/>
              <a:ext cx="341603" cy="324522"/>
            </a:xfrm>
            <a:prstGeom prst="rect">
              <a:avLst/>
            </a:prstGeom>
          </p:spPr>
        </p:pic>
      </p:grpSp>
      <p:sp>
        <p:nvSpPr>
          <p:cNvPr id="89" name="textruta 82"/>
          <p:cNvSpPr txBox="1">
            <a:spLocks noChangeArrowheads="1"/>
          </p:cNvSpPr>
          <p:nvPr/>
        </p:nvSpPr>
        <p:spPr bwMode="auto">
          <a:xfrm>
            <a:off x="1875181" y="4117544"/>
            <a:ext cx="9402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 +</a:t>
            </a:r>
          </a:p>
          <a:p>
            <a:pPr defTabSz="914400" eaLnBrk="1" fontAlgn="base" hangingPunct="1">
              <a:spcBef>
                <a:spcPct val="0"/>
              </a:spcBef>
              <a:spcAft>
                <a:spcPct val="0"/>
              </a:spcAft>
            </a:pPr>
            <a:r>
              <a:rPr lang="sv-SE" sz="1100" dirty="0" smtClean="0">
                <a:solidFill>
                  <a:srgbClr val="382819"/>
                </a:solidFill>
                <a:latin typeface="Calibri"/>
                <a:cs typeface="Calibri"/>
              </a:rPr>
              <a:t>SAML intyg</a:t>
            </a:r>
            <a:endParaRPr lang="sv-SE" sz="1100" dirty="0" smtClean="0">
              <a:solidFill>
                <a:srgbClr val="382819"/>
              </a:solidFill>
            </a:endParaRPr>
          </a:p>
        </p:txBody>
      </p:sp>
      <p:sp>
        <p:nvSpPr>
          <p:cNvPr id="90" name="textruta 82"/>
          <p:cNvSpPr txBox="1">
            <a:spLocks noChangeArrowheads="1"/>
          </p:cNvSpPr>
          <p:nvPr/>
        </p:nvSpPr>
        <p:spPr bwMode="auto">
          <a:xfrm>
            <a:off x="5612438" y="3759846"/>
            <a:ext cx="9402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 +</a:t>
            </a:r>
          </a:p>
          <a:p>
            <a:pPr defTabSz="914400" eaLnBrk="1" fontAlgn="base" hangingPunct="1">
              <a:spcBef>
                <a:spcPct val="0"/>
              </a:spcBef>
              <a:spcAft>
                <a:spcPct val="0"/>
              </a:spcAft>
            </a:pPr>
            <a:r>
              <a:rPr lang="sv-SE" sz="1100" dirty="0" smtClean="0">
                <a:solidFill>
                  <a:srgbClr val="382819"/>
                </a:solidFill>
                <a:latin typeface="Calibri"/>
                <a:cs typeface="Calibri"/>
              </a:rPr>
              <a:t>SAML intyg</a:t>
            </a:r>
            <a:endParaRPr lang="sv-SE" sz="1100" dirty="0" smtClean="0">
              <a:solidFill>
                <a:srgbClr val="382819"/>
              </a:solidFill>
            </a:endParaRPr>
          </a:p>
        </p:txBody>
      </p:sp>
      <p:grpSp>
        <p:nvGrpSpPr>
          <p:cNvPr id="91" name="Grupp 90"/>
          <p:cNvGrpSpPr/>
          <p:nvPr/>
        </p:nvGrpSpPr>
        <p:grpSpPr>
          <a:xfrm>
            <a:off x="2745126" y="2589973"/>
            <a:ext cx="397521" cy="328876"/>
            <a:chOff x="3752926" y="4138709"/>
            <a:chExt cx="397521" cy="328876"/>
          </a:xfrm>
        </p:grpSpPr>
        <p:cxnSp>
          <p:nvCxnSpPr>
            <p:cNvPr id="94" name="Rak pil 59"/>
            <p:cNvCxnSpPr/>
            <p:nvPr/>
          </p:nvCxnSpPr>
          <p:spPr>
            <a:xfrm flipV="1">
              <a:off x="4150446" y="4138709"/>
              <a:ext cx="1" cy="324408"/>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97" name="Bildobjekt 96"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3752926" y="4143063"/>
              <a:ext cx="341603" cy="324522"/>
            </a:xfrm>
            <a:prstGeom prst="rect">
              <a:avLst/>
            </a:prstGeom>
          </p:spPr>
        </p:pic>
      </p:grpSp>
      <p:sp>
        <p:nvSpPr>
          <p:cNvPr id="98" name="textruta 82"/>
          <p:cNvSpPr txBox="1">
            <a:spLocks noChangeArrowheads="1"/>
          </p:cNvSpPr>
          <p:nvPr/>
        </p:nvSpPr>
        <p:spPr bwMode="auto">
          <a:xfrm>
            <a:off x="3328730" y="2559901"/>
            <a:ext cx="9402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RIV TA 2.1 +</a:t>
            </a:r>
          </a:p>
          <a:p>
            <a:pPr defTabSz="914400" eaLnBrk="1" fontAlgn="base" hangingPunct="1">
              <a:spcBef>
                <a:spcPct val="0"/>
              </a:spcBef>
              <a:spcAft>
                <a:spcPct val="0"/>
              </a:spcAft>
            </a:pPr>
            <a:r>
              <a:rPr lang="sv-SE" sz="1100" dirty="0" smtClean="0">
                <a:solidFill>
                  <a:srgbClr val="382819"/>
                </a:solidFill>
                <a:latin typeface="Calibri"/>
                <a:cs typeface="Calibri"/>
              </a:rPr>
              <a:t>SAML intyg</a:t>
            </a:r>
            <a:endParaRPr lang="sv-SE" sz="1100" dirty="0" smtClean="0">
              <a:solidFill>
                <a:srgbClr val="382819"/>
              </a:solidFill>
            </a:endParaRPr>
          </a:p>
        </p:txBody>
      </p:sp>
      <p:cxnSp>
        <p:nvCxnSpPr>
          <p:cNvPr id="100" name="Rak pil 59"/>
          <p:cNvCxnSpPr/>
          <p:nvPr/>
        </p:nvCxnSpPr>
        <p:spPr>
          <a:xfrm>
            <a:off x="4253950" y="1429117"/>
            <a:ext cx="290663" cy="0"/>
          </a:xfrm>
          <a:prstGeom prst="straightConnector1">
            <a:avLst/>
          </a:prstGeom>
          <a:ln w="38100" cmpd="dbl">
            <a:solidFill>
              <a:srgbClr val="7F7F7F"/>
            </a:solidFill>
            <a:headEnd type="arrow" w="sm" len="sm"/>
            <a:tailEnd type="none" w="sm" len="sm"/>
          </a:ln>
        </p:spPr>
        <p:style>
          <a:lnRef idx="1">
            <a:schemeClr val="accent5"/>
          </a:lnRef>
          <a:fillRef idx="0">
            <a:schemeClr val="accent5"/>
          </a:fillRef>
          <a:effectRef idx="0">
            <a:schemeClr val="accent5"/>
          </a:effectRef>
          <a:fontRef idx="minor">
            <a:schemeClr val="tx1"/>
          </a:fontRef>
        </p:style>
      </p:cxnSp>
      <p:pic>
        <p:nvPicPr>
          <p:cNvPr id="101" name="Bildobjekt 100" descr="certifikat.jpeg"/>
          <p:cNvPicPr>
            <a:picLocks noChangeAspect="1"/>
          </p:cNvPicPr>
          <p:nvPr/>
        </p:nvPicPr>
        <p:blipFill>
          <a:blip r:embed="rId3" cstate="print">
            <a:alphaModFix/>
            <a:duotone>
              <a:prstClr val="black"/>
              <a:srgbClr val="3CFCFF">
                <a:tint val="45000"/>
                <a:satMod val="400000"/>
              </a:srgbClr>
            </a:duotone>
            <a:extLst>
              <a:ext uri="{BEBA8EAE-BF5A-486C-A8C5-ECC9F3942E4B}">
                <a14:imgProps xmlns:a14="http://schemas.microsoft.com/office/drawing/2010/main">
                  <a14:imgLayer r:embed="rId4">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4249578" y="1500267"/>
            <a:ext cx="341603" cy="324522"/>
          </a:xfrm>
          <a:prstGeom prst="rect">
            <a:avLst/>
          </a:prstGeom>
        </p:spPr>
      </p:pic>
      <p:sp>
        <p:nvSpPr>
          <p:cNvPr id="102" name="textruta 82"/>
          <p:cNvSpPr txBox="1">
            <a:spLocks noChangeArrowheads="1"/>
          </p:cNvSpPr>
          <p:nvPr/>
        </p:nvSpPr>
        <p:spPr bwMode="auto">
          <a:xfrm>
            <a:off x="4071409" y="1830822"/>
            <a:ext cx="9402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SAML intyg</a:t>
            </a:r>
            <a:endParaRPr lang="sv-SE" sz="1100" dirty="0" smtClean="0">
              <a:solidFill>
                <a:srgbClr val="382819"/>
              </a:solidFill>
            </a:endParaRPr>
          </a:p>
        </p:txBody>
      </p:sp>
      <p:pic>
        <p:nvPicPr>
          <p:cNvPr id="104" name="Bildobjekt 103"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4750864" y="4715386"/>
            <a:ext cx="319306" cy="303340"/>
          </a:xfrm>
          <a:prstGeom prst="rect">
            <a:avLst/>
          </a:prstGeom>
        </p:spPr>
      </p:pic>
      <p:pic>
        <p:nvPicPr>
          <p:cNvPr id="107" name="Bildobjekt 106" descr="certifikat.jpeg"/>
          <p:cNvPicPr>
            <a:picLocks noChangeAspect="1"/>
          </p:cNvPicPr>
          <p:nvPr/>
        </p:nvPicPr>
        <p:blipFill>
          <a:blip r:embed="rId3" cstate="print">
            <a:alphaModFix/>
            <a:extLst>
              <a:ext uri="{BEBA8EAE-BF5A-486C-A8C5-ECC9F3942E4B}">
                <a14:imgProps xmlns:a14="http://schemas.microsoft.com/office/drawing/2010/main">
                  <a14:imgLayer r:embed="rId7">
                    <a14:imgEffect>
                      <a14:backgroundRemoval t="0" b="98684" l="2500" r="99063"/>
                    </a14:imgEffect>
                    <a14:imgEffect>
                      <a14:artisticPencilGrayscale/>
                    </a14:imgEffect>
                  </a14:imgLayer>
                </a14:imgProps>
              </a:ext>
              <a:ext uri="{28A0092B-C50C-407E-A947-70E740481C1C}">
                <a14:useLocalDpi xmlns:a14="http://schemas.microsoft.com/office/drawing/2010/main"/>
              </a:ext>
            </a:extLst>
          </a:blip>
          <a:stretch>
            <a:fillRect/>
          </a:stretch>
        </p:blipFill>
        <p:spPr>
          <a:xfrm>
            <a:off x="6530718" y="4715386"/>
            <a:ext cx="319306" cy="303340"/>
          </a:xfrm>
          <a:prstGeom prst="rect">
            <a:avLst/>
          </a:prstGeom>
        </p:spPr>
      </p:pic>
      <p:sp>
        <p:nvSpPr>
          <p:cNvPr id="82" name="Rundad rektangulär 81"/>
          <p:cNvSpPr/>
          <p:nvPr/>
        </p:nvSpPr>
        <p:spPr bwMode="auto">
          <a:xfrm>
            <a:off x="177800" y="2142381"/>
            <a:ext cx="2178583" cy="1296384"/>
          </a:xfrm>
          <a:prstGeom prst="wedgeRoundRectCallout">
            <a:avLst>
              <a:gd name="adj1" fmla="val 67031"/>
              <a:gd name="adj2" fmla="val -11254"/>
              <a:gd name="adj3" fmla="val 16667"/>
            </a:avLst>
          </a:prstGeom>
          <a:ln>
            <a:solidFill>
              <a:srgbClr val="0000FF"/>
            </a:solidFill>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pPr lvl="0" defTabSz="914400" fontAlgn="base">
              <a:spcBef>
                <a:spcPct val="0"/>
              </a:spcBef>
              <a:spcAft>
                <a:spcPct val="0"/>
              </a:spcAft>
            </a:pPr>
            <a:r>
              <a:rPr lang="sv-SE" sz="1400" dirty="0" smtClean="0">
                <a:solidFill>
                  <a:srgbClr val="382819"/>
                </a:solidFill>
                <a:latin typeface="Calibri"/>
                <a:cs typeface="Calibri"/>
              </a:rPr>
              <a:t>Ett fåtal attribut krävs i  </a:t>
            </a:r>
            <a:r>
              <a:rPr lang="sv-SE" sz="1400" dirty="0">
                <a:solidFill>
                  <a:srgbClr val="382819"/>
                </a:solidFill>
                <a:latin typeface="Calibri"/>
                <a:cs typeface="Calibri"/>
              </a:rPr>
              <a:t>SAML-</a:t>
            </a:r>
            <a:r>
              <a:rPr lang="sv-SE" sz="1400" dirty="0" smtClean="0">
                <a:solidFill>
                  <a:srgbClr val="382819"/>
                </a:solidFill>
                <a:latin typeface="Calibri"/>
                <a:cs typeface="Calibri"/>
              </a:rPr>
              <a:t>intyget</a:t>
            </a:r>
          </a:p>
          <a:p>
            <a:pPr lvl="0" defTabSz="914400" fontAlgn="base">
              <a:spcBef>
                <a:spcPct val="0"/>
              </a:spcBef>
              <a:spcAft>
                <a:spcPct val="0"/>
              </a:spcAft>
            </a:pPr>
            <a:r>
              <a:rPr lang="sv-SE" sz="1400" dirty="0" smtClean="0">
                <a:solidFill>
                  <a:srgbClr val="382819"/>
                </a:solidFill>
                <a:latin typeface="Calibri"/>
                <a:cs typeface="Calibri"/>
              </a:rPr>
              <a:t>”bare minimum”</a:t>
            </a:r>
            <a:br>
              <a:rPr lang="sv-SE" sz="1400" dirty="0" smtClean="0">
                <a:solidFill>
                  <a:srgbClr val="382819"/>
                </a:solidFill>
                <a:latin typeface="Calibri"/>
                <a:cs typeface="Calibri"/>
              </a:rPr>
            </a:br>
            <a:r>
              <a:rPr lang="sv-SE" sz="1400" dirty="0" smtClean="0">
                <a:solidFill>
                  <a:srgbClr val="382819"/>
                </a:solidFill>
                <a:latin typeface="Calibri"/>
                <a:cs typeface="Calibri"/>
              </a:rPr>
              <a:t>Sänds i HTTP-header med </a:t>
            </a:r>
            <a:br>
              <a:rPr lang="sv-SE" sz="1400" dirty="0" smtClean="0">
                <a:solidFill>
                  <a:srgbClr val="382819"/>
                </a:solidFill>
                <a:latin typeface="Calibri"/>
                <a:cs typeface="Calibri"/>
              </a:rPr>
            </a:br>
            <a:r>
              <a:rPr lang="sv-SE" sz="1400" i="1" dirty="0" smtClean="0">
                <a:solidFill>
                  <a:srgbClr val="382819"/>
                </a:solidFill>
                <a:latin typeface="Calibri"/>
                <a:cs typeface="Calibri"/>
              </a:rPr>
              <a:t>SAML Token profile</a:t>
            </a:r>
          </a:p>
        </p:txBody>
      </p:sp>
      <p:sp>
        <p:nvSpPr>
          <p:cNvPr id="84" name="textruta 82"/>
          <p:cNvSpPr txBox="1">
            <a:spLocks noChangeArrowheads="1"/>
          </p:cNvSpPr>
          <p:nvPr/>
        </p:nvSpPr>
        <p:spPr bwMode="auto">
          <a:xfrm>
            <a:off x="3812800" y="2047367"/>
            <a:ext cx="11468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900">
                <a:solidFill>
                  <a:schemeClr val="tx1"/>
                </a:solidFill>
                <a:latin typeface="Arial" pitchFamily="34" charset="0"/>
                <a:ea typeface="ＭＳ Ｐゴシック" pitchFamily="34" charset="-128"/>
              </a:defRPr>
            </a:lvl1pPr>
            <a:lvl2pPr marL="742950" indent="-285750" eaLnBrk="0" hangingPunct="0">
              <a:defRPr sz="1900">
                <a:solidFill>
                  <a:schemeClr val="tx1"/>
                </a:solidFill>
                <a:latin typeface="Arial" pitchFamily="34" charset="0"/>
                <a:ea typeface="ＭＳ Ｐゴシック" pitchFamily="34" charset="-128"/>
              </a:defRPr>
            </a:lvl2pPr>
            <a:lvl3pPr marL="1143000" indent="-228600" eaLnBrk="0" hangingPunct="0">
              <a:defRPr sz="1900">
                <a:solidFill>
                  <a:schemeClr val="tx1"/>
                </a:solidFill>
                <a:latin typeface="Arial" pitchFamily="34" charset="0"/>
                <a:ea typeface="ＭＳ Ｐゴシック" pitchFamily="34" charset="-128"/>
              </a:defRPr>
            </a:lvl3pPr>
            <a:lvl4pPr marL="1600200" indent="-228600" eaLnBrk="0" hangingPunct="0">
              <a:defRPr sz="1900">
                <a:solidFill>
                  <a:schemeClr val="tx1"/>
                </a:solidFill>
                <a:latin typeface="Arial" pitchFamily="34" charset="0"/>
                <a:ea typeface="ＭＳ Ｐゴシック" pitchFamily="34" charset="-128"/>
              </a:defRPr>
            </a:lvl4pPr>
            <a:lvl5pPr marL="2057400" indent="-228600" eaLnBrk="0" hangingPunct="0">
              <a:defRPr sz="19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900">
                <a:solidFill>
                  <a:schemeClr val="tx1"/>
                </a:solidFill>
                <a:latin typeface="Arial" pitchFamily="34" charset="0"/>
                <a:ea typeface="ＭＳ Ｐゴシック" pitchFamily="34" charset="-128"/>
              </a:defRPr>
            </a:lvl9pPr>
          </a:lstStyle>
          <a:p>
            <a:pPr defTabSz="914400" eaLnBrk="1" fontAlgn="base" hangingPunct="1">
              <a:spcBef>
                <a:spcPct val="0"/>
              </a:spcBef>
              <a:spcAft>
                <a:spcPct val="0"/>
              </a:spcAft>
            </a:pPr>
            <a:r>
              <a:rPr lang="sv-SE" sz="1100" dirty="0" smtClean="0">
                <a:solidFill>
                  <a:srgbClr val="382819"/>
                </a:solidFill>
                <a:latin typeface="Calibri"/>
                <a:cs typeface="Calibri"/>
              </a:rPr>
              <a:t>SITHS-certifikat</a:t>
            </a:r>
            <a:endParaRPr lang="sv-SE" sz="1100" dirty="0" smtClean="0">
              <a:solidFill>
                <a:srgbClr val="382819"/>
              </a:solidFill>
            </a:endParaRPr>
          </a:p>
        </p:txBody>
      </p:sp>
    </p:spTree>
    <p:extLst>
      <p:ext uri="{BB962C8B-B14F-4D97-AF65-F5344CB8AC3E}">
        <p14:creationId xmlns:p14="http://schemas.microsoft.com/office/powerpoint/2010/main" val="448911635"/>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ctrTitle"/>
          </p:nvPr>
        </p:nvSpPr>
        <p:spPr>
          <a:xfrm>
            <a:off x="829732" y="1532466"/>
            <a:ext cx="7296573" cy="2997200"/>
          </a:xfrm>
        </p:spPr>
        <p:txBody>
          <a:bodyPr/>
          <a:lstStyle/>
          <a:p>
            <a:r>
              <a:rPr lang="sv-SE" sz="2800" dirty="0" smtClean="0"/>
              <a:t>Samlad läkemedelslista / NOD </a:t>
            </a:r>
            <a:r>
              <a:rPr lang="sv-SE" sz="2400" dirty="0" smtClean="0"/>
              <a:t/>
            </a:r>
            <a:br>
              <a:rPr lang="sv-SE" sz="2400" dirty="0" smtClean="0"/>
            </a:br>
            <a:r>
              <a:rPr lang="sv-SE" sz="2400" dirty="0" smtClean="0"/>
              <a:t/>
            </a:r>
            <a:br>
              <a:rPr lang="sv-SE" sz="2400" dirty="0" smtClean="0"/>
            </a:br>
            <a:r>
              <a:rPr lang="sv-SE" sz="2000" i="1" dirty="0" smtClean="0"/>
              <a:t>Exempel på användningsfall </a:t>
            </a:r>
            <a:br>
              <a:rPr lang="sv-SE" sz="2000" i="1" dirty="0" smtClean="0"/>
            </a:br>
            <a:r>
              <a:rPr lang="sv-SE" sz="1800" b="0" i="1" dirty="0"/>
              <a:t>Olika </a:t>
            </a:r>
            <a:r>
              <a:rPr lang="sv-SE" sz="1800" b="0" i="1" dirty="0" smtClean="0"/>
              <a:t>typer </a:t>
            </a:r>
            <a:r>
              <a:rPr lang="sv-SE" sz="1800" b="0" i="1" dirty="0"/>
              <a:t>av ä</a:t>
            </a:r>
            <a:r>
              <a:rPr lang="sv-SE" sz="1800" b="0" i="1" dirty="0" smtClean="0"/>
              <a:t>ndringar i behandlingen</a:t>
            </a:r>
            <a:br>
              <a:rPr lang="sv-SE" sz="1800" b="0" i="1" dirty="0" smtClean="0"/>
            </a:br>
            <a:r>
              <a:rPr lang="sv-SE" sz="1800" b="0" i="1" dirty="0" smtClean="0"/>
              <a:t>Hantering av </a:t>
            </a:r>
            <a:r>
              <a:rPr lang="sv-SE" sz="1800" b="0" i="1" dirty="0"/>
              <a:t>e</a:t>
            </a:r>
            <a:r>
              <a:rPr lang="sv-SE" sz="1800" b="0" i="1" dirty="0" smtClean="0"/>
              <a:t>xpedieringsunderlag</a:t>
            </a:r>
            <a:r>
              <a:rPr lang="sv-SE" sz="1800" b="0" i="1" dirty="0"/>
              <a:t/>
            </a:r>
            <a:br>
              <a:rPr lang="sv-SE" sz="1800" b="0" i="1" dirty="0"/>
            </a:br>
            <a:r>
              <a:rPr lang="sv-SE" sz="1800" b="0" i="1" dirty="0"/>
              <a:t/>
            </a:r>
            <a:br>
              <a:rPr lang="sv-SE" sz="1800" b="0" i="1" dirty="0"/>
            </a:br>
            <a:endParaRPr lang="sv-SE" sz="1800" b="0" i="1" dirty="0"/>
          </a:p>
        </p:txBody>
      </p:sp>
      <p:sp>
        <p:nvSpPr>
          <p:cNvPr id="5" name="Underrubrik 4"/>
          <p:cNvSpPr>
            <a:spLocks noGrp="1"/>
          </p:cNvSpPr>
          <p:nvPr>
            <p:ph type="subTitle" idx="1"/>
          </p:nvPr>
        </p:nvSpPr>
        <p:spPr>
          <a:xfrm>
            <a:off x="1371600" y="5080000"/>
            <a:ext cx="6400800" cy="558800"/>
          </a:xfrm>
        </p:spPr>
        <p:txBody>
          <a:bodyPr/>
          <a:lstStyle/>
          <a:p>
            <a:endParaRPr lang="sv-SE"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41</a:t>
            </a:fld>
            <a:endParaRPr lang="sv-SE">
              <a:latin typeface="Arial"/>
            </a:endParaRPr>
          </a:p>
        </p:txBody>
      </p:sp>
      <p:pic>
        <p:nvPicPr>
          <p:cNvPr id="6" name="Bildobjekt 5"/>
          <p:cNvPicPr>
            <a:picLocks noChangeAspect="1"/>
          </p:cNvPicPr>
          <p:nvPr/>
        </p:nvPicPr>
        <p:blipFill>
          <a:blip r:embed="rId3"/>
          <a:stretch>
            <a:fillRect/>
          </a:stretch>
        </p:blipFill>
        <p:spPr>
          <a:xfrm>
            <a:off x="7668139" y="18852"/>
            <a:ext cx="1384717" cy="1037201"/>
          </a:xfrm>
          <a:prstGeom prst="rect">
            <a:avLst/>
          </a:prstGeom>
        </p:spPr>
      </p:pic>
    </p:spTree>
    <p:extLst>
      <p:ext uri="{BB962C8B-B14F-4D97-AF65-F5344CB8AC3E}">
        <p14:creationId xmlns:p14="http://schemas.microsoft.com/office/powerpoint/2010/main" val="3944218338"/>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noAutofit/>
          </a:bodyPr>
          <a:lstStyle/>
          <a:p>
            <a:r>
              <a:rPr lang="sv-SE" sz="2400" dirty="0" smtClean="0"/>
              <a:t>Läkemedelsordination ”utlagd”</a:t>
            </a:r>
            <a:br>
              <a:rPr lang="sv-SE" sz="2400" dirty="0" smtClean="0"/>
            </a:br>
            <a:r>
              <a:rPr lang="sv-SE" sz="2400" dirty="0" smtClean="0"/>
              <a:t>på tidsaxeln</a:t>
            </a:r>
            <a:endParaRPr lang="sv-SE" sz="24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42</a:t>
            </a:fld>
            <a:endParaRPr lang="sv-SE"/>
          </a:p>
        </p:txBody>
      </p:sp>
      <p:sp>
        <p:nvSpPr>
          <p:cNvPr id="5" name="textruta 4"/>
          <p:cNvSpPr txBox="1"/>
          <p:nvPr/>
        </p:nvSpPr>
        <p:spPr>
          <a:xfrm>
            <a:off x="3149600" y="4539196"/>
            <a:ext cx="855139" cy="276999"/>
          </a:xfrm>
          <a:prstGeom prst="rect">
            <a:avLst/>
          </a:prstGeom>
          <a:solidFill>
            <a:srgbClr val="AADEE2"/>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sv-SE" sz="1200" dirty="0" smtClean="0"/>
          </a:p>
        </p:txBody>
      </p:sp>
      <p:sp>
        <p:nvSpPr>
          <p:cNvPr id="6" name="textruta 5"/>
          <p:cNvSpPr txBox="1"/>
          <p:nvPr/>
        </p:nvSpPr>
        <p:spPr>
          <a:xfrm>
            <a:off x="2741731" y="4539196"/>
            <a:ext cx="407870" cy="276999"/>
          </a:xfrm>
          <a:prstGeom prst="rect">
            <a:avLst/>
          </a:prstGeom>
          <a:solidFill>
            <a:schemeClr val="bg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sv-SE" sz="1200" dirty="0" smtClean="0"/>
          </a:p>
        </p:txBody>
      </p:sp>
      <p:sp>
        <p:nvSpPr>
          <p:cNvPr id="7" name="Ellips 6"/>
          <p:cNvSpPr>
            <a:spLocks noChangeAspect="1"/>
          </p:cNvSpPr>
          <p:nvPr/>
        </p:nvSpPr>
        <p:spPr bwMode="auto">
          <a:xfrm>
            <a:off x="2650489" y="4218580"/>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cxnSp>
        <p:nvCxnSpPr>
          <p:cNvPr id="8" name="Rak 7"/>
          <p:cNvCxnSpPr/>
          <p:nvPr/>
        </p:nvCxnSpPr>
        <p:spPr bwMode="auto">
          <a:xfrm flipH="1">
            <a:off x="2736850" y="4440343"/>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Ellips 9"/>
          <p:cNvSpPr>
            <a:spLocks noChangeAspect="1"/>
          </p:cNvSpPr>
          <p:nvPr/>
        </p:nvSpPr>
        <p:spPr bwMode="auto">
          <a:xfrm>
            <a:off x="3056890" y="4222032"/>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11" name="Ellips 10"/>
          <p:cNvSpPr>
            <a:spLocks noChangeAspect="1"/>
          </p:cNvSpPr>
          <p:nvPr/>
        </p:nvSpPr>
        <p:spPr bwMode="auto">
          <a:xfrm>
            <a:off x="3888740" y="4218198"/>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cxnSp>
        <p:nvCxnSpPr>
          <p:cNvPr id="13" name="Rak 12"/>
          <p:cNvCxnSpPr/>
          <p:nvPr/>
        </p:nvCxnSpPr>
        <p:spPr bwMode="auto">
          <a:xfrm>
            <a:off x="2042436" y="493776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ruta 13"/>
          <p:cNvSpPr txBox="1"/>
          <p:nvPr/>
        </p:nvSpPr>
        <p:spPr>
          <a:xfrm>
            <a:off x="7255723" y="480832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17" name="Rak 16"/>
          <p:cNvCxnSpPr/>
          <p:nvPr/>
        </p:nvCxnSpPr>
        <p:spPr bwMode="auto">
          <a:xfrm flipH="1">
            <a:off x="3149600" y="4433993"/>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flipH="1">
            <a:off x="4000500" y="4440343"/>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Rak 18"/>
          <p:cNvCxnSpPr/>
          <p:nvPr/>
        </p:nvCxnSpPr>
        <p:spPr bwMode="auto">
          <a:xfrm flipH="1">
            <a:off x="2794000" y="4440343"/>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Ellips 19"/>
          <p:cNvSpPr>
            <a:spLocks noChangeAspect="1"/>
          </p:cNvSpPr>
          <p:nvPr/>
        </p:nvSpPr>
        <p:spPr bwMode="auto">
          <a:xfrm>
            <a:off x="2707639" y="5088530"/>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r</a:t>
            </a:r>
            <a:endParaRPr kumimoji="0" lang="sv-SE" sz="1200" b="0" i="0" u="none" strike="noStrike" cap="none" normalizeH="0" baseline="0" dirty="0" smtClean="0">
              <a:ln>
                <a:noFill/>
              </a:ln>
              <a:solidFill>
                <a:srgbClr val="3366FF"/>
              </a:solidFill>
              <a:effectLst/>
              <a:latin typeface="Arial" charset="0"/>
            </a:endParaRPr>
          </a:p>
        </p:txBody>
      </p:sp>
      <p:sp>
        <p:nvSpPr>
          <p:cNvPr id="21" name="Ellips 20"/>
          <p:cNvSpPr>
            <a:spLocks noChangeAspect="1"/>
          </p:cNvSpPr>
          <p:nvPr/>
        </p:nvSpPr>
        <p:spPr bwMode="auto">
          <a:xfrm>
            <a:off x="2662490" y="2245900"/>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22" name="Ellips 21"/>
          <p:cNvSpPr>
            <a:spLocks noChangeAspect="1"/>
          </p:cNvSpPr>
          <p:nvPr/>
        </p:nvSpPr>
        <p:spPr bwMode="auto">
          <a:xfrm>
            <a:off x="2660845" y="1894573"/>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r</a:t>
            </a:r>
            <a:endParaRPr kumimoji="0" lang="sv-SE" sz="1200" b="0" i="0" u="none" strike="noStrike" cap="none" normalizeH="0" baseline="0" dirty="0" smtClean="0">
              <a:ln>
                <a:noFill/>
              </a:ln>
              <a:solidFill>
                <a:srgbClr val="3366FF"/>
              </a:solidFill>
              <a:effectLst/>
              <a:latin typeface="Arial" charset="0"/>
            </a:endParaRPr>
          </a:p>
        </p:txBody>
      </p:sp>
      <p:sp>
        <p:nvSpPr>
          <p:cNvPr id="23" name="Ellips 22"/>
          <p:cNvSpPr>
            <a:spLocks noChangeAspect="1"/>
          </p:cNvSpPr>
          <p:nvPr/>
        </p:nvSpPr>
        <p:spPr bwMode="auto">
          <a:xfrm>
            <a:off x="2657330" y="2817601"/>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24" name="Ellips 23"/>
          <p:cNvSpPr>
            <a:spLocks noChangeAspect="1"/>
          </p:cNvSpPr>
          <p:nvPr/>
        </p:nvSpPr>
        <p:spPr bwMode="auto">
          <a:xfrm>
            <a:off x="2677499" y="3336560"/>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sp>
        <p:nvSpPr>
          <p:cNvPr id="25" name="textruta 24"/>
          <p:cNvSpPr txBox="1"/>
          <p:nvPr/>
        </p:nvSpPr>
        <p:spPr>
          <a:xfrm>
            <a:off x="2926966" y="1849787"/>
            <a:ext cx="5344679" cy="1754327"/>
          </a:xfrm>
          <a:prstGeom prst="rect">
            <a:avLst/>
          </a:prstGeom>
          <a:noFill/>
        </p:spPr>
        <p:txBody>
          <a:bodyPr wrap="square" rtlCol="0">
            <a:spAutoFit/>
          </a:bodyPr>
          <a:lstStyle/>
          <a:p>
            <a:r>
              <a:rPr lang="sv-SE" sz="1200" dirty="0" smtClean="0"/>
              <a:t>Registrerad i NOD</a:t>
            </a:r>
          </a:p>
          <a:p>
            <a:endParaRPr lang="sv-SE" sz="1200" dirty="0"/>
          </a:p>
          <a:p>
            <a:r>
              <a:rPr lang="sv-SE" sz="1200" dirty="0" smtClean="0"/>
              <a:t>Beslutad (ordinationstidpunkt) av ordinatör. Får ej vara i framtid. Kan vara samma som Registrerad eller en tidigare tidpunkt (b=r eller b&lt;r).</a:t>
            </a:r>
          </a:p>
          <a:p>
            <a:endParaRPr lang="sv-SE" sz="1200" dirty="0"/>
          </a:p>
          <a:p>
            <a:r>
              <a:rPr lang="sv-SE" sz="1200" dirty="0" smtClean="0"/>
              <a:t>Insättningstidpunkt. Tidpunkt då medicinering enligt beslutet ska sättas in. Angiven dosering räknas från denna tidpunkt.</a:t>
            </a:r>
          </a:p>
          <a:p>
            <a:endParaRPr lang="sv-SE" sz="1200" dirty="0"/>
          </a:p>
          <a:p>
            <a:r>
              <a:rPr lang="sv-SE" sz="1200" dirty="0" smtClean="0"/>
              <a:t>Utsättningstidpunkt (om applicerbart)</a:t>
            </a:r>
          </a:p>
        </p:txBody>
      </p:sp>
      <p:sp>
        <p:nvSpPr>
          <p:cNvPr id="26" name="Rundad rektangulär 25"/>
          <p:cNvSpPr/>
          <p:nvPr/>
        </p:nvSpPr>
        <p:spPr bwMode="auto">
          <a:xfrm>
            <a:off x="709325" y="5057328"/>
            <a:ext cx="1870887" cy="853710"/>
          </a:xfrm>
          <a:prstGeom prst="wedgeRoundRectCallout">
            <a:avLst>
              <a:gd name="adj1" fmla="val 54078"/>
              <a:gd name="adj2" fmla="val -9229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a:solidFill>
                  <a:srgbClr val="3366FF"/>
                </a:solidFill>
              </a:rPr>
              <a:t>Läkemedels-</a:t>
            </a:r>
            <a:br>
              <a:rPr lang="sv-SE" sz="1100" i="1" dirty="0">
                <a:solidFill>
                  <a:srgbClr val="3366FF"/>
                </a:solidFill>
              </a:rPr>
            </a:br>
            <a:r>
              <a:rPr lang="sv-SE" sz="1100" i="1" dirty="0" smtClean="0">
                <a:solidFill>
                  <a:srgbClr val="3366FF"/>
                </a:solidFill>
              </a:rPr>
              <a:t>ordination och dess effekt</a:t>
            </a:r>
            <a:endParaRPr lang="sv-SE" sz="1100" i="1" dirty="0">
              <a:solidFill>
                <a:srgbClr val="3366FF"/>
              </a:solidFill>
            </a:endParaRPr>
          </a:p>
          <a:p>
            <a:r>
              <a:rPr lang="sv-SE" sz="1100" i="1" dirty="0">
                <a:solidFill>
                  <a:srgbClr val="3366FF"/>
                </a:solidFill>
              </a:rPr>
              <a:t>utsträckt i tid för behandlingen.</a:t>
            </a:r>
          </a:p>
        </p:txBody>
      </p:sp>
      <p:sp>
        <p:nvSpPr>
          <p:cNvPr id="27" name="Rektangel 26"/>
          <p:cNvSpPr/>
          <p:nvPr/>
        </p:nvSpPr>
        <p:spPr>
          <a:xfrm>
            <a:off x="771548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extLst>
      <p:ext uri="{BB962C8B-B14F-4D97-AF65-F5344CB8AC3E}">
        <p14:creationId xmlns:p14="http://schemas.microsoft.com/office/powerpoint/2010/main" val="2163306832"/>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ubrik 21"/>
          <p:cNvSpPr>
            <a:spLocks noGrp="1"/>
          </p:cNvSpPr>
          <p:nvPr>
            <p:ph type="title"/>
          </p:nvPr>
        </p:nvSpPr>
        <p:spPr/>
        <p:txBody>
          <a:bodyPr/>
          <a:lstStyle/>
          <a:p>
            <a:r>
              <a:rPr lang="sv-SE" sz="2400" dirty="0" smtClean="0"/>
              <a:t>Ändring av läkemedelsbehandling</a:t>
            </a:r>
            <a:br>
              <a:rPr lang="sv-SE" sz="2400" dirty="0" smtClean="0"/>
            </a:br>
            <a:r>
              <a:rPr lang="sv-SE" sz="1800" i="1" dirty="0" smtClean="0"/>
              <a:t>Justering av behandlingstid och dosering</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43</a:t>
            </a:fld>
            <a:endParaRPr lang="sv-SE"/>
          </a:p>
        </p:txBody>
      </p:sp>
      <p:cxnSp>
        <p:nvCxnSpPr>
          <p:cNvPr id="7" name="Rak 6"/>
          <p:cNvCxnSpPr/>
          <p:nvPr/>
        </p:nvCxnSpPr>
        <p:spPr bwMode="auto">
          <a:xfrm>
            <a:off x="2109304"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325037" y="1368359"/>
            <a:ext cx="1032084" cy="738664"/>
          </a:xfrm>
          <a:prstGeom prst="rect">
            <a:avLst/>
          </a:prstGeom>
          <a:noFill/>
        </p:spPr>
        <p:txBody>
          <a:bodyPr wrap="square" rtlCol="0">
            <a:spAutoFit/>
          </a:bodyPr>
          <a:lstStyle/>
          <a:p>
            <a:r>
              <a:rPr lang="sv-SE" sz="1050" i="1" dirty="0" smtClean="0">
                <a:solidFill>
                  <a:srgbClr val="3366FF"/>
                </a:solidFill>
              </a:rPr>
              <a:t>Insättning av behandling</a:t>
            </a:r>
          </a:p>
          <a:p>
            <a:r>
              <a:rPr lang="sv-SE" sz="1050" i="1" dirty="0" smtClean="0">
                <a:solidFill>
                  <a:srgbClr val="3366FF"/>
                </a:solidFill>
              </a:rPr>
              <a:t>(behandlings-start)</a:t>
            </a:r>
            <a:endParaRPr lang="sv-SE" sz="1050" i="1" dirty="0">
              <a:solidFill>
                <a:srgbClr val="3366FF"/>
              </a:solidFill>
            </a:endParaRPr>
          </a:p>
        </p:txBody>
      </p: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dirty="0" smtClean="0"/>
              <a:t>Tidigare ordinationer </a:t>
            </a:r>
            <a:endParaRPr lang="sv-SE" sz="1050" dirty="0"/>
          </a:p>
        </p:txBody>
      </p:sp>
      <p:grpSp>
        <p:nvGrpSpPr>
          <p:cNvPr id="87" name="Grupp 86"/>
          <p:cNvGrpSpPr/>
          <p:nvPr/>
        </p:nvGrpSpPr>
        <p:grpSpPr>
          <a:xfrm>
            <a:off x="4400124" y="1550117"/>
            <a:ext cx="708423" cy="4444188"/>
            <a:chOff x="4041377" y="1538358"/>
            <a:chExt cx="708423" cy="4444188"/>
          </a:xfrm>
        </p:grpSpPr>
        <p:cxnSp>
          <p:nvCxnSpPr>
            <p:cNvPr id="50" name="Rak 49"/>
            <p:cNvCxnSpPr/>
            <p:nvPr/>
          </p:nvCxnSpPr>
          <p:spPr bwMode="auto">
            <a:xfrm>
              <a:off x="4316524" y="2033079"/>
              <a:ext cx="0" cy="3949467"/>
            </a:xfrm>
            <a:prstGeom prst="line">
              <a:avLst/>
            </a:prstGeom>
            <a:noFill/>
            <a:ln w="12700" cap="flat" cmpd="sng" algn="ctr">
              <a:solidFill>
                <a:srgbClr val="008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Rundad rektangulär 50"/>
            <p:cNvSpPr/>
            <p:nvPr/>
          </p:nvSpPr>
          <p:spPr bwMode="auto">
            <a:xfrm>
              <a:off x="4041377" y="1538358"/>
              <a:ext cx="708423" cy="291854"/>
            </a:xfrm>
            <a:prstGeom prst="wedgeRoundRectCallout">
              <a:avLst>
                <a:gd name="adj1" fmla="val -14336"/>
                <a:gd name="adj2" fmla="val 9890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008000"/>
                  </a:solidFill>
                </a:rPr>
                <a:t>Nulinje</a:t>
              </a:r>
              <a:endParaRPr lang="sv-SE" sz="1100" i="1" dirty="0">
                <a:solidFill>
                  <a:srgbClr val="008000"/>
                </a:solidFill>
              </a:endParaRPr>
            </a:p>
          </p:txBody>
        </p:sp>
      </p:grpSp>
      <p:sp>
        <p:nvSpPr>
          <p:cNvPr id="52" name="textruta 51"/>
          <p:cNvSpPr txBox="1"/>
          <p:nvPr/>
        </p:nvSpPr>
        <p:spPr>
          <a:xfrm>
            <a:off x="6947746" y="2278991"/>
            <a:ext cx="1749214" cy="1054135"/>
          </a:xfrm>
          <a:prstGeom prst="rect">
            <a:avLst/>
          </a:prstGeom>
          <a:noFill/>
        </p:spPr>
        <p:txBody>
          <a:bodyPr wrap="square" rtlCol="0">
            <a:spAutoFit/>
          </a:bodyPr>
          <a:lstStyle>
            <a:defPPr>
              <a:defRPr lang="sv-SE"/>
            </a:defPPr>
            <a:lvl1pPr>
              <a:defRPr sz="1050" i="1"/>
            </a:lvl1pPr>
          </a:lstStyle>
          <a:p>
            <a:r>
              <a:rPr lang="sv-SE" sz="1100" dirty="0"/>
              <a:t>Läkemedels-</a:t>
            </a:r>
            <a:br>
              <a:rPr lang="sv-SE" sz="1100" dirty="0"/>
            </a:br>
            <a:r>
              <a:rPr lang="sv-SE" sz="1100" dirty="0"/>
              <a:t>behandling</a:t>
            </a:r>
          </a:p>
          <a:p>
            <a:r>
              <a:rPr lang="sv-SE" sz="1000" dirty="0" smtClean="0"/>
              <a:t>har</a:t>
            </a:r>
          </a:p>
          <a:p>
            <a:r>
              <a:rPr lang="sv-SE" sz="1000" dirty="0" smtClean="0"/>
              <a:t>  Behandlingsstart</a:t>
            </a:r>
          </a:p>
          <a:p>
            <a:r>
              <a:rPr lang="sv-SE" sz="1000" dirty="0"/>
              <a:t> </a:t>
            </a:r>
            <a:r>
              <a:rPr lang="sv-SE" sz="1000" dirty="0" smtClean="0"/>
              <a:t> Behandlingsslut</a:t>
            </a:r>
            <a:r>
              <a:rPr lang="sv-SE" sz="1000" dirty="0"/>
              <a:t/>
            </a:r>
            <a:br>
              <a:rPr lang="sv-SE" sz="1000" dirty="0"/>
            </a:br>
            <a:r>
              <a:rPr lang="sv-SE" sz="1000" dirty="0" smtClean="0"/>
              <a:t>  (planerad, utfall, ingen)</a:t>
            </a:r>
            <a:r>
              <a:rPr lang="sv-SE" sz="1100" dirty="0"/>
              <a:t>	</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55" name="Rektangel 54"/>
          <p:cNvSpPr/>
          <p:nvPr/>
        </p:nvSpPr>
        <p:spPr bwMode="auto">
          <a:xfrm>
            <a:off x="1869440" y="2306320"/>
            <a:ext cx="5049520" cy="186944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26" name="Grupp 25"/>
          <p:cNvGrpSpPr/>
          <p:nvPr/>
        </p:nvGrpSpPr>
        <p:grpSpPr>
          <a:xfrm>
            <a:off x="1432561" y="2413074"/>
            <a:ext cx="1577517" cy="378151"/>
            <a:chOff x="1432561" y="2413074"/>
            <a:chExt cx="1577517" cy="378151"/>
          </a:xfrm>
        </p:grpSpPr>
        <p:sp>
          <p:nvSpPr>
            <p:cNvPr id="4" name="textruta 3"/>
            <p:cNvSpPr txBox="1"/>
            <p:nvPr/>
          </p:nvSpPr>
          <p:spPr>
            <a:xfrm>
              <a:off x="2104224" y="2503640"/>
              <a:ext cx="905854" cy="261610"/>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100" dirty="0" smtClean="0"/>
                <a:t>1x3 20d</a:t>
              </a:r>
            </a:p>
          </p:txBody>
        </p:sp>
        <p:grpSp>
          <p:nvGrpSpPr>
            <p:cNvPr id="11" name="Grupp 10"/>
            <p:cNvGrpSpPr/>
            <p:nvPr/>
          </p:nvGrpSpPr>
          <p:grpSpPr>
            <a:xfrm>
              <a:off x="1432561" y="2413074"/>
              <a:ext cx="588564" cy="378151"/>
              <a:chOff x="2946401" y="492834"/>
              <a:chExt cx="588564" cy="378151"/>
            </a:xfrm>
          </p:grpSpPr>
          <p:sp>
            <p:nvSpPr>
              <p:cNvPr id="35" name="textruta 34"/>
              <p:cNvSpPr txBox="1"/>
              <p:nvPr/>
            </p:nvSpPr>
            <p:spPr>
              <a:xfrm>
                <a:off x="2946401" y="580984"/>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pic>
            <p:nvPicPr>
              <p:cNvPr id="61"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0996" y="49283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38" name="Rak 37"/>
          <p:cNvCxnSpPr>
            <a:endCxn id="4" idx="3"/>
          </p:cNvCxnSpPr>
          <p:nvPr/>
        </p:nvCxnSpPr>
        <p:spPr bwMode="auto">
          <a:xfrm flipH="1">
            <a:off x="3010078" y="2140002"/>
            <a:ext cx="196" cy="494443"/>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 name="Grupp 16"/>
          <p:cNvGrpSpPr/>
          <p:nvPr/>
        </p:nvGrpSpPr>
        <p:grpSpPr>
          <a:xfrm>
            <a:off x="2082800" y="3859530"/>
            <a:ext cx="2538440" cy="828859"/>
            <a:chOff x="2082800" y="3859530"/>
            <a:chExt cx="2538440" cy="828859"/>
          </a:xfrm>
        </p:grpSpPr>
        <p:sp>
          <p:nvSpPr>
            <p:cNvPr id="69" name="textruta 68"/>
            <p:cNvSpPr txBox="1"/>
            <p:nvPr/>
          </p:nvSpPr>
          <p:spPr>
            <a:xfrm>
              <a:off x="2089572" y="3955391"/>
              <a:ext cx="530013" cy="253916"/>
            </a:xfrm>
            <a:prstGeom prst="rect">
              <a:avLst/>
            </a:prstGeom>
            <a:noFill/>
          </p:spPr>
          <p:txBody>
            <a:bodyPr wrap="square" rtlCol="0">
              <a:spAutoFit/>
            </a:bodyPr>
            <a:lstStyle/>
            <a:p>
              <a:r>
                <a:rPr lang="sv-SE" sz="1050" dirty="0" smtClean="0"/>
                <a:t>1x3</a:t>
              </a:r>
              <a:endParaRPr lang="sv-SE" sz="1050" dirty="0"/>
            </a:p>
          </p:txBody>
        </p:sp>
        <p:sp>
          <p:nvSpPr>
            <p:cNvPr id="15" name="Ellips 14"/>
            <p:cNvSpPr/>
            <p:nvPr/>
          </p:nvSpPr>
          <p:spPr bwMode="auto">
            <a:xfrm>
              <a:off x="2082800" y="412750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0" name="Ellips 69"/>
            <p:cNvSpPr/>
            <p:nvPr/>
          </p:nvSpPr>
          <p:spPr bwMode="auto">
            <a:xfrm>
              <a:off x="2527300" y="4137025"/>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1" name="Ellips 70"/>
            <p:cNvSpPr/>
            <p:nvPr/>
          </p:nvSpPr>
          <p:spPr bwMode="auto">
            <a:xfrm>
              <a:off x="3244850" y="413385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2" name="Ellips 71"/>
            <p:cNvSpPr/>
            <p:nvPr/>
          </p:nvSpPr>
          <p:spPr bwMode="auto">
            <a:xfrm>
              <a:off x="3895725" y="413385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4" name="textruta 73"/>
            <p:cNvSpPr txBox="1"/>
            <p:nvPr/>
          </p:nvSpPr>
          <p:spPr>
            <a:xfrm>
              <a:off x="2563705" y="3955393"/>
              <a:ext cx="530013" cy="253916"/>
            </a:xfrm>
            <a:prstGeom prst="rect">
              <a:avLst/>
            </a:prstGeom>
            <a:noFill/>
          </p:spPr>
          <p:txBody>
            <a:bodyPr wrap="square" rtlCol="0">
              <a:spAutoFit/>
            </a:bodyPr>
            <a:lstStyle/>
            <a:p>
              <a:r>
                <a:rPr lang="sv-SE" sz="1050" dirty="0"/>
                <a:t>2</a:t>
              </a:r>
              <a:r>
                <a:rPr lang="sv-SE" sz="1050" dirty="0" smtClean="0"/>
                <a:t>x3</a:t>
              </a:r>
              <a:endParaRPr lang="sv-SE" sz="1050" dirty="0"/>
            </a:p>
          </p:txBody>
        </p:sp>
        <p:sp>
          <p:nvSpPr>
            <p:cNvPr id="75" name="textruta 74"/>
            <p:cNvSpPr txBox="1"/>
            <p:nvPr/>
          </p:nvSpPr>
          <p:spPr>
            <a:xfrm>
              <a:off x="3300315" y="3955395"/>
              <a:ext cx="530013" cy="253916"/>
            </a:xfrm>
            <a:prstGeom prst="rect">
              <a:avLst/>
            </a:prstGeom>
            <a:noFill/>
          </p:spPr>
          <p:txBody>
            <a:bodyPr wrap="square" rtlCol="0">
              <a:spAutoFit/>
            </a:bodyPr>
            <a:lstStyle/>
            <a:p>
              <a:r>
                <a:rPr lang="sv-SE" sz="1050" dirty="0"/>
                <a:t>2</a:t>
              </a:r>
              <a:r>
                <a:rPr lang="sv-SE" sz="1050" dirty="0" smtClean="0"/>
                <a:t>x3</a:t>
              </a:r>
              <a:endParaRPr lang="sv-SE" sz="1050" dirty="0"/>
            </a:p>
          </p:txBody>
        </p:sp>
        <p:sp>
          <p:nvSpPr>
            <p:cNvPr id="76" name="textruta 75"/>
            <p:cNvSpPr txBox="1"/>
            <p:nvPr/>
          </p:nvSpPr>
          <p:spPr>
            <a:xfrm>
              <a:off x="3918389" y="3955397"/>
              <a:ext cx="530013" cy="253916"/>
            </a:xfrm>
            <a:prstGeom prst="rect">
              <a:avLst/>
            </a:prstGeom>
            <a:noFill/>
          </p:spPr>
          <p:txBody>
            <a:bodyPr wrap="square" rtlCol="0">
              <a:spAutoFit/>
            </a:bodyPr>
            <a:lstStyle/>
            <a:p>
              <a:r>
                <a:rPr lang="sv-SE" sz="1050" dirty="0" smtClean="0"/>
                <a:t>3x3</a:t>
              </a:r>
              <a:endParaRPr lang="sv-SE" sz="1050" dirty="0"/>
            </a:p>
          </p:txBody>
        </p:sp>
        <p:sp>
          <p:nvSpPr>
            <p:cNvPr id="81" name="textruta 80"/>
            <p:cNvSpPr txBox="1"/>
            <p:nvPr/>
          </p:nvSpPr>
          <p:spPr>
            <a:xfrm>
              <a:off x="2280496" y="4272891"/>
              <a:ext cx="2340744" cy="415498"/>
            </a:xfrm>
            <a:prstGeom prst="rect">
              <a:avLst/>
            </a:prstGeom>
            <a:noFill/>
          </p:spPr>
          <p:txBody>
            <a:bodyPr wrap="square" rtlCol="0">
              <a:spAutoFit/>
            </a:bodyPr>
            <a:lstStyle>
              <a:defPPr>
                <a:defRPr lang="sv-SE"/>
              </a:defPPr>
              <a:lvl1pPr>
                <a:defRPr sz="1050" i="1"/>
              </a:lvl1pPr>
            </a:lstStyle>
            <a:p>
              <a:r>
                <a:rPr lang="sv-SE" dirty="0" smtClean="0"/>
                <a:t>läkemedelsbehandling, historik/utfall</a:t>
              </a:r>
              <a:r>
                <a:rPr lang="sv-SE" dirty="0"/>
                <a:t>	</a:t>
              </a:r>
            </a:p>
          </p:txBody>
        </p:sp>
        <p:cxnSp>
          <p:nvCxnSpPr>
            <p:cNvPr id="73" name="Rak 72"/>
            <p:cNvCxnSpPr/>
            <p:nvPr/>
          </p:nvCxnSpPr>
          <p:spPr bwMode="auto">
            <a:xfrm>
              <a:off x="3924935" y="3859530"/>
              <a:ext cx="3495" cy="268626"/>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textruta 83"/>
          <p:cNvSpPr txBox="1"/>
          <p:nvPr/>
        </p:nvSpPr>
        <p:spPr>
          <a:xfrm>
            <a:off x="6968066" y="3614175"/>
            <a:ext cx="1749214" cy="577081"/>
          </a:xfrm>
          <a:prstGeom prst="rect">
            <a:avLst/>
          </a:prstGeom>
          <a:noFill/>
        </p:spPr>
        <p:txBody>
          <a:bodyPr wrap="square" rtlCol="0">
            <a:spAutoFit/>
          </a:bodyPr>
          <a:lstStyle>
            <a:defPPr>
              <a:defRPr lang="sv-SE"/>
            </a:defPPr>
            <a:lvl1pPr>
              <a:defRPr sz="1050" i="1"/>
            </a:lvl1pPr>
          </a:lstStyle>
          <a:p>
            <a:r>
              <a:rPr lang="sv-SE" i="0" dirty="0" smtClean="0"/>
              <a:t>Respektive </a:t>
            </a:r>
            <a:r>
              <a:rPr lang="sv-SE" i="0" dirty="0"/>
              <a:t>ordinatör </a:t>
            </a:r>
            <a:r>
              <a:rPr lang="sv-SE" i="0" dirty="0" smtClean="0"/>
              <a:t>är ansvarig för sitt beslut (ordination)</a:t>
            </a:r>
            <a:endParaRPr lang="sv-SE" i="0" dirty="0"/>
          </a:p>
        </p:txBody>
      </p:sp>
      <p:sp>
        <p:nvSpPr>
          <p:cNvPr id="80" name="Rundad rektangulär 79"/>
          <p:cNvSpPr/>
          <p:nvPr/>
        </p:nvSpPr>
        <p:spPr bwMode="auto">
          <a:xfrm>
            <a:off x="223520" y="2986597"/>
            <a:ext cx="1584115" cy="666425"/>
          </a:xfrm>
          <a:prstGeom prst="wedgeRoundRectCallout">
            <a:avLst>
              <a:gd name="adj1" fmla="val 76187"/>
              <a:gd name="adj2" fmla="val -7608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366FF"/>
                </a:solidFill>
              </a:rPr>
              <a:t>Varaktighet beskrivs relativt insättningstidpunkten</a:t>
            </a:r>
            <a:endParaRPr lang="sv-SE" sz="1100" i="1" dirty="0">
              <a:solidFill>
                <a:srgbClr val="3366FF"/>
              </a:solidFill>
            </a:endParaRPr>
          </a:p>
        </p:txBody>
      </p:sp>
      <p:sp>
        <p:nvSpPr>
          <p:cNvPr id="6" name="Ellips 5"/>
          <p:cNvSpPr>
            <a:spLocks noChangeAspect="1"/>
          </p:cNvSpPr>
          <p:nvPr/>
        </p:nvSpPr>
        <p:spPr bwMode="auto">
          <a:xfrm>
            <a:off x="2008337" y="4695199"/>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86" name="Ellips 85"/>
          <p:cNvSpPr>
            <a:spLocks noChangeAspect="1"/>
          </p:cNvSpPr>
          <p:nvPr/>
        </p:nvSpPr>
        <p:spPr bwMode="auto">
          <a:xfrm>
            <a:off x="2002871" y="4927490"/>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88" name="Ellips 87"/>
          <p:cNvSpPr>
            <a:spLocks noChangeAspect="1"/>
          </p:cNvSpPr>
          <p:nvPr/>
        </p:nvSpPr>
        <p:spPr bwMode="auto">
          <a:xfrm>
            <a:off x="2903366" y="2028851"/>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grpSp>
        <p:nvGrpSpPr>
          <p:cNvPr id="9" name="Grupp 8"/>
          <p:cNvGrpSpPr/>
          <p:nvPr/>
        </p:nvGrpSpPr>
        <p:grpSpPr>
          <a:xfrm>
            <a:off x="2590801" y="1560218"/>
            <a:ext cx="3284794" cy="4405395"/>
            <a:chOff x="2590801" y="1560218"/>
            <a:chExt cx="3284794" cy="4405395"/>
          </a:xfrm>
        </p:grpSpPr>
        <p:grpSp>
          <p:nvGrpSpPr>
            <p:cNvPr id="27" name="Grupp 26"/>
            <p:cNvGrpSpPr/>
            <p:nvPr/>
          </p:nvGrpSpPr>
          <p:grpSpPr>
            <a:xfrm>
              <a:off x="2590801" y="1560218"/>
              <a:ext cx="3284794" cy="4405395"/>
              <a:chOff x="2590801" y="1560218"/>
              <a:chExt cx="3284794" cy="4405395"/>
            </a:xfrm>
          </p:grpSpPr>
          <p:grpSp>
            <p:nvGrpSpPr>
              <p:cNvPr id="25" name="Grupp 24"/>
              <p:cNvGrpSpPr/>
              <p:nvPr/>
            </p:nvGrpSpPr>
            <p:grpSpPr>
              <a:xfrm>
                <a:off x="2590801" y="1560218"/>
                <a:ext cx="3284794" cy="4405395"/>
                <a:chOff x="2590801" y="1560218"/>
                <a:chExt cx="3284794" cy="4405395"/>
              </a:xfrm>
            </p:grpSpPr>
            <p:cxnSp>
              <p:nvCxnSpPr>
                <p:cNvPr id="59" name="Rak 58"/>
                <p:cNvCxnSpPr/>
                <p:nvPr/>
              </p:nvCxnSpPr>
              <p:spPr bwMode="auto">
                <a:xfrm>
                  <a:off x="3279400" y="201614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5" name="Grupp 64"/>
                <p:cNvGrpSpPr/>
                <p:nvPr/>
              </p:nvGrpSpPr>
              <p:grpSpPr>
                <a:xfrm>
                  <a:off x="2590801" y="3510354"/>
                  <a:ext cx="588564" cy="378151"/>
                  <a:chOff x="2946401" y="492834"/>
                  <a:chExt cx="588564" cy="378151"/>
                </a:xfrm>
              </p:grpSpPr>
              <p:sp>
                <p:nvSpPr>
                  <p:cNvPr id="66" name="textruta 65"/>
                  <p:cNvSpPr txBox="1"/>
                  <p:nvPr/>
                </p:nvSpPr>
                <p:spPr>
                  <a:xfrm>
                    <a:off x="2946401" y="580984"/>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Nils</a:t>
                    </a:r>
                    <a:endParaRPr lang="sv-SE" sz="1000" i="1" dirty="0">
                      <a:solidFill>
                        <a:prstClr val="black"/>
                      </a:solidFill>
                      <a:latin typeface="Calibri"/>
                      <a:cs typeface="Arial" pitchFamily="34" charset="0"/>
                    </a:endParaRPr>
                  </a:p>
                </p:txBody>
              </p:sp>
              <p:pic>
                <p:nvPicPr>
                  <p:cNvPr id="67"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0996" y="49283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Höger 20"/>
                <p:cNvSpPr/>
                <p:nvPr/>
              </p:nvSpPr>
              <p:spPr bwMode="auto">
                <a:xfrm>
                  <a:off x="3289300" y="3460750"/>
                  <a:ext cx="2228850" cy="504393"/>
                </a:xfrm>
                <a:prstGeom prst="rightArrow">
                  <a:avLst>
                    <a:gd name="adj1" fmla="val 50000"/>
                    <a:gd name="adj2" fmla="val 38766"/>
                  </a:avLst>
                </a:prstGeom>
                <a:solidFill>
                  <a:schemeClr val="accent1"/>
                </a:solidFill>
                <a:ln>
                  <a:solidFill>
                    <a:schemeClr val="tx2"/>
                  </a:solidFill>
                </a:ln>
                <a:extLst/>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2x3  10d    3x3</a:t>
                  </a:r>
                  <a:endParaRPr lang="sv-SE" sz="1050" dirty="0"/>
                </a:p>
              </p:txBody>
            </p:sp>
            <p:sp>
              <p:nvSpPr>
                <p:cNvPr id="83" name="textruta 82"/>
                <p:cNvSpPr txBox="1"/>
                <p:nvPr/>
              </p:nvSpPr>
              <p:spPr>
                <a:xfrm>
                  <a:off x="4961562" y="3209136"/>
                  <a:ext cx="914033" cy="253916"/>
                </a:xfrm>
                <a:prstGeom prst="rect">
                  <a:avLst/>
                </a:prstGeom>
                <a:noFill/>
              </p:spPr>
              <p:txBody>
                <a:bodyPr wrap="square" rtlCol="0">
                  <a:spAutoFit/>
                </a:bodyPr>
                <a:lstStyle/>
                <a:p>
                  <a:r>
                    <a:rPr lang="sv-SE" sz="1050" i="1" dirty="0" smtClean="0"/>
                    <a:t>tillsvidare</a:t>
                  </a:r>
                  <a:endParaRPr lang="sv-SE" sz="1050" i="1" dirty="0"/>
                </a:p>
              </p:txBody>
            </p:sp>
            <p:sp>
              <p:nvSpPr>
                <p:cNvPr id="82" name="textruta 81"/>
                <p:cNvSpPr txBox="1"/>
                <p:nvPr/>
              </p:nvSpPr>
              <p:spPr>
                <a:xfrm>
                  <a:off x="3185144" y="1560218"/>
                  <a:ext cx="1183656" cy="577081"/>
                </a:xfrm>
                <a:prstGeom prst="rect">
                  <a:avLst/>
                </a:prstGeom>
                <a:noFill/>
              </p:spPr>
              <p:txBody>
                <a:bodyPr wrap="square" rtlCol="0">
                  <a:spAutoFit/>
                </a:bodyPr>
                <a:lstStyle/>
                <a:p>
                  <a:r>
                    <a:rPr lang="sv-SE" sz="1050" i="1" dirty="0" smtClean="0">
                      <a:solidFill>
                        <a:srgbClr val="3366FF"/>
                      </a:solidFill>
                    </a:rPr>
                    <a:t>Planerad upptrappning,</a:t>
                  </a:r>
                </a:p>
                <a:p>
                  <a:r>
                    <a:rPr lang="sv-SE" sz="1050" i="1" dirty="0" smtClean="0">
                      <a:solidFill>
                        <a:srgbClr val="3366FF"/>
                      </a:solidFill>
                    </a:rPr>
                    <a:t>Därefter stående</a:t>
                  </a:r>
                </a:p>
              </p:txBody>
            </p:sp>
          </p:grpSp>
          <p:cxnSp>
            <p:nvCxnSpPr>
              <p:cNvPr id="60" name="Rak 59"/>
              <p:cNvCxnSpPr/>
              <p:nvPr/>
            </p:nvCxnSpPr>
            <p:spPr bwMode="auto">
              <a:xfrm>
                <a:off x="3921760" y="3586480"/>
                <a:ext cx="3495" cy="268626"/>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2" name="Ellips 91"/>
            <p:cNvSpPr>
              <a:spLocks noChangeAspect="1"/>
            </p:cNvSpPr>
            <p:nvPr/>
          </p:nvSpPr>
          <p:spPr bwMode="auto">
            <a:xfrm>
              <a:off x="3194069" y="4702509"/>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93" name="Ellips 92"/>
            <p:cNvSpPr>
              <a:spLocks noChangeAspect="1"/>
            </p:cNvSpPr>
            <p:nvPr/>
          </p:nvSpPr>
          <p:spPr bwMode="auto">
            <a:xfrm>
              <a:off x="3188603" y="4934800"/>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grpSp>
      <p:grpSp>
        <p:nvGrpSpPr>
          <p:cNvPr id="12" name="Grupp 11"/>
          <p:cNvGrpSpPr/>
          <p:nvPr/>
        </p:nvGrpSpPr>
        <p:grpSpPr>
          <a:xfrm>
            <a:off x="1859281" y="1359519"/>
            <a:ext cx="3325008" cy="4575614"/>
            <a:chOff x="1859281" y="1359519"/>
            <a:chExt cx="3325008" cy="4575614"/>
          </a:xfrm>
        </p:grpSpPr>
        <p:grpSp>
          <p:nvGrpSpPr>
            <p:cNvPr id="8" name="Grupp 7"/>
            <p:cNvGrpSpPr/>
            <p:nvPr/>
          </p:nvGrpSpPr>
          <p:grpSpPr>
            <a:xfrm>
              <a:off x="1859281" y="1359519"/>
              <a:ext cx="3325008" cy="4575614"/>
              <a:chOff x="1859281" y="1359519"/>
              <a:chExt cx="3325008" cy="4575614"/>
            </a:xfrm>
          </p:grpSpPr>
          <p:grpSp>
            <p:nvGrpSpPr>
              <p:cNvPr id="24" name="Grupp 23"/>
              <p:cNvGrpSpPr/>
              <p:nvPr/>
            </p:nvGrpSpPr>
            <p:grpSpPr>
              <a:xfrm>
                <a:off x="1859281" y="1359519"/>
                <a:ext cx="3325008" cy="4575614"/>
                <a:chOff x="1859281" y="1359519"/>
                <a:chExt cx="3325008" cy="4575614"/>
              </a:xfrm>
            </p:grpSpPr>
            <p:sp>
              <p:nvSpPr>
                <p:cNvPr id="30" name="textruta 29"/>
                <p:cNvSpPr txBox="1"/>
                <p:nvPr/>
              </p:nvSpPr>
              <p:spPr>
                <a:xfrm>
                  <a:off x="2214297" y="1359519"/>
                  <a:ext cx="1200576" cy="577081"/>
                </a:xfrm>
                <a:prstGeom prst="rect">
                  <a:avLst/>
                </a:prstGeom>
                <a:noFill/>
              </p:spPr>
              <p:txBody>
                <a:bodyPr wrap="square" rtlCol="0">
                  <a:spAutoFit/>
                </a:bodyPr>
                <a:lstStyle/>
                <a:p>
                  <a:r>
                    <a:rPr lang="sv-SE" sz="1050" i="1" dirty="0" smtClean="0">
                      <a:solidFill>
                        <a:srgbClr val="3366FF"/>
                      </a:solidFill>
                    </a:rPr>
                    <a:t>Justering av dos, förlängning av behandling</a:t>
                  </a:r>
                  <a:endParaRPr lang="sv-SE" sz="1050" i="1" dirty="0">
                    <a:solidFill>
                      <a:srgbClr val="3366FF"/>
                    </a:solidFill>
                  </a:endParaRPr>
                </a:p>
              </p:txBody>
            </p:sp>
            <p:cxnSp>
              <p:nvCxnSpPr>
                <p:cNvPr id="18" name="Rak 17"/>
                <p:cNvCxnSpPr/>
                <p:nvPr/>
              </p:nvCxnSpPr>
              <p:spPr bwMode="auto">
                <a:xfrm>
                  <a:off x="2558040"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textruta 4"/>
                <p:cNvSpPr txBox="1"/>
                <p:nvPr/>
              </p:nvSpPr>
              <p:spPr>
                <a:xfrm>
                  <a:off x="2557150" y="3049787"/>
                  <a:ext cx="1151249" cy="261610"/>
                </a:xfrm>
                <a:prstGeom prst="rect">
                  <a:avLst/>
                </a:prstGeom>
                <a:solidFill>
                  <a:srgbClr val="AADEE2"/>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2x3 25d</a:t>
                  </a:r>
                </a:p>
              </p:txBody>
            </p:sp>
            <p:grpSp>
              <p:nvGrpSpPr>
                <p:cNvPr id="62" name="Grupp 61"/>
                <p:cNvGrpSpPr/>
                <p:nvPr/>
              </p:nvGrpSpPr>
              <p:grpSpPr>
                <a:xfrm>
                  <a:off x="1859281" y="2951554"/>
                  <a:ext cx="588564" cy="378151"/>
                  <a:chOff x="2946401" y="492834"/>
                  <a:chExt cx="588564" cy="378151"/>
                </a:xfrm>
              </p:grpSpPr>
              <p:sp>
                <p:nvSpPr>
                  <p:cNvPr id="63" name="textruta 62"/>
                  <p:cNvSpPr txBox="1"/>
                  <p:nvPr/>
                </p:nvSpPr>
                <p:spPr>
                  <a:xfrm>
                    <a:off x="2946401" y="580984"/>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Lisa</a:t>
                    </a:r>
                    <a:endParaRPr lang="sv-SE" sz="1000" i="1" dirty="0">
                      <a:solidFill>
                        <a:prstClr val="black"/>
                      </a:solidFill>
                      <a:latin typeface="Calibri"/>
                      <a:cs typeface="Arial" pitchFamily="34" charset="0"/>
                    </a:endParaRPr>
                  </a:p>
                </p:txBody>
              </p:sp>
              <p:pic>
                <p:nvPicPr>
                  <p:cNvPr id="64"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0996" y="49283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8" name="Rundad rektangulär 77"/>
                <p:cNvSpPr/>
                <p:nvPr/>
              </p:nvSpPr>
              <p:spPr bwMode="auto">
                <a:xfrm>
                  <a:off x="3487671" y="2286234"/>
                  <a:ext cx="1696618" cy="640886"/>
                </a:xfrm>
                <a:prstGeom prst="wedgeRoundRectCallout">
                  <a:avLst>
                    <a:gd name="adj1" fmla="val -67838"/>
                    <a:gd name="adj2" fmla="val 61511"/>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50" i="1" dirty="0" smtClean="0">
                      <a:solidFill>
                        <a:srgbClr val="3366FF"/>
                      </a:solidFill>
                    </a:rPr>
                    <a:t>Varje nytt beslut ersätter det föregående</a:t>
                  </a:r>
                  <a:br>
                    <a:rPr lang="sv-SE" sz="1050" i="1" dirty="0" smtClean="0">
                      <a:solidFill>
                        <a:srgbClr val="3366FF"/>
                      </a:solidFill>
                    </a:rPr>
                  </a:br>
                  <a:r>
                    <a:rPr lang="sv-SE" sz="1050" i="1" dirty="0" smtClean="0">
                      <a:solidFill>
                        <a:srgbClr val="3366FF"/>
                      </a:solidFill>
                    </a:rPr>
                    <a:t>från och med beslutet</a:t>
                  </a:r>
                  <a:endParaRPr lang="sv-SE" sz="1050" i="1" dirty="0">
                    <a:solidFill>
                      <a:srgbClr val="3366FF"/>
                    </a:solidFill>
                  </a:endParaRPr>
                </a:p>
              </p:txBody>
            </p:sp>
          </p:grpSp>
          <p:sp>
            <p:nvSpPr>
              <p:cNvPr id="90" name="Ellips 89"/>
              <p:cNvSpPr>
                <a:spLocks noChangeAspect="1"/>
              </p:cNvSpPr>
              <p:nvPr/>
            </p:nvSpPr>
            <p:spPr bwMode="auto">
              <a:xfrm>
                <a:off x="2446754" y="4698854"/>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91" name="Ellips 90"/>
              <p:cNvSpPr>
                <a:spLocks noChangeAspect="1"/>
              </p:cNvSpPr>
              <p:nvPr/>
            </p:nvSpPr>
            <p:spPr bwMode="auto">
              <a:xfrm>
                <a:off x="2441288" y="4931145"/>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grpSp>
        <p:sp>
          <p:nvSpPr>
            <p:cNvPr id="96" name="Rundad rektangulär 95"/>
            <p:cNvSpPr/>
            <p:nvPr/>
          </p:nvSpPr>
          <p:spPr bwMode="auto">
            <a:xfrm>
              <a:off x="2316480" y="5424996"/>
              <a:ext cx="944880" cy="479139"/>
            </a:xfrm>
            <a:prstGeom prst="wedgeRoundRectCallout">
              <a:avLst>
                <a:gd name="adj1" fmla="val -24011"/>
                <a:gd name="adj2" fmla="val -81782"/>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366FF"/>
                  </a:solidFill>
                </a:rPr>
                <a:t>Momentan ändring</a:t>
              </a:r>
              <a:endParaRPr lang="sv-SE" sz="1100" i="1" dirty="0">
                <a:solidFill>
                  <a:srgbClr val="FF0000"/>
                </a:solidFill>
              </a:endParaRPr>
            </a:p>
          </p:txBody>
        </p:sp>
      </p:grpSp>
    </p:spTree>
    <p:extLst>
      <p:ext uri="{BB962C8B-B14F-4D97-AF65-F5344CB8AC3E}">
        <p14:creationId xmlns:p14="http://schemas.microsoft.com/office/powerpoint/2010/main" val="89899878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upp 58"/>
          <p:cNvGrpSpPr/>
          <p:nvPr/>
        </p:nvGrpSpPr>
        <p:grpSpPr>
          <a:xfrm>
            <a:off x="4501354" y="1593726"/>
            <a:ext cx="708423" cy="4444188"/>
            <a:chOff x="4041377" y="1538358"/>
            <a:chExt cx="708423" cy="4444188"/>
          </a:xfrm>
        </p:grpSpPr>
        <p:cxnSp>
          <p:nvCxnSpPr>
            <p:cNvPr id="66" name="Rak 65"/>
            <p:cNvCxnSpPr/>
            <p:nvPr/>
          </p:nvCxnSpPr>
          <p:spPr bwMode="auto">
            <a:xfrm>
              <a:off x="4316524" y="2033079"/>
              <a:ext cx="0" cy="3949467"/>
            </a:xfrm>
            <a:prstGeom prst="line">
              <a:avLst/>
            </a:prstGeom>
            <a:noFill/>
            <a:ln w="12700" cap="flat" cmpd="sng" algn="ctr">
              <a:solidFill>
                <a:srgbClr val="008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Rundad rektangulär 66"/>
            <p:cNvSpPr/>
            <p:nvPr/>
          </p:nvSpPr>
          <p:spPr bwMode="auto">
            <a:xfrm>
              <a:off x="4041377" y="1538358"/>
              <a:ext cx="708423" cy="291854"/>
            </a:xfrm>
            <a:prstGeom prst="wedgeRoundRectCallout">
              <a:avLst>
                <a:gd name="adj1" fmla="val -14336"/>
                <a:gd name="adj2" fmla="val 9890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008000"/>
                  </a:solidFill>
                </a:rPr>
                <a:t>Nulinje</a:t>
              </a:r>
              <a:endParaRPr lang="sv-SE" sz="1100" i="1" dirty="0">
                <a:solidFill>
                  <a:srgbClr val="008000"/>
                </a:solidFill>
              </a:endParaRPr>
            </a:p>
          </p:txBody>
        </p:sp>
      </p:grpSp>
      <p:sp>
        <p:nvSpPr>
          <p:cNvPr id="2" name="Rubrik 1"/>
          <p:cNvSpPr>
            <a:spLocks noGrp="1"/>
          </p:cNvSpPr>
          <p:nvPr>
            <p:ph type="title"/>
          </p:nvPr>
        </p:nvSpPr>
        <p:spPr>
          <a:xfrm>
            <a:off x="1371876" y="331805"/>
            <a:ext cx="7213324" cy="823829"/>
          </a:xfrm>
        </p:spPr>
        <p:txBody>
          <a:bodyPr/>
          <a:lstStyle/>
          <a:p>
            <a:r>
              <a:rPr lang="sv-SE" sz="2400" dirty="0">
                <a:solidFill>
                  <a:schemeClr val="tx2"/>
                </a:solidFill>
              </a:rPr>
              <a:t>Ändring av läkemedelsbehandling</a:t>
            </a:r>
            <a:br>
              <a:rPr lang="sv-SE" sz="2400" dirty="0">
                <a:solidFill>
                  <a:schemeClr val="tx2"/>
                </a:solidFill>
              </a:rPr>
            </a:br>
            <a:r>
              <a:rPr lang="sv-SE" sz="1800" i="1" dirty="0" smtClean="0">
                <a:solidFill>
                  <a:schemeClr val="tx2"/>
                </a:solidFill>
              </a:rPr>
              <a:t>Exempel: Fördröjt byte </a:t>
            </a:r>
            <a:r>
              <a:rPr lang="sv-SE" sz="1800" i="1" dirty="0">
                <a:solidFill>
                  <a:schemeClr val="tx2"/>
                </a:solidFill>
              </a:rPr>
              <a:t>av </a:t>
            </a:r>
            <a:r>
              <a:rPr lang="sv-SE" sz="1800" i="1" dirty="0" smtClean="0">
                <a:solidFill>
                  <a:schemeClr val="tx2"/>
                </a:solidFill>
              </a:rPr>
              <a:t>läkemedel, övergång till dosdispenserat </a:t>
            </a:r>
            <a:endParaRPr lang="sv-SE" sz="2400" dirty="0">
              <a:solidFill>
                <a:schemeClr val="tx2"/>
              </a:solidFill>
            </a:endParaRPr>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44</a:t>
            </a:fld>
            <a:endParaRPr lang="sv-SE"/>
          </a:p>
        </p:txBody>
      </p:sp>
      <p:cxnSp>
        <p:nvCxnSpPr>
          <p:cNvPr id="7" name="Rak 6"/>
          <p:cNvCxnSpPr/>
          <p:nvPr/>
        </p:nvCxnSpPr>
        <p:spPr bwMode="auto">
          <a:xfrm>
            <a:off x="2109304"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a:off x="2558040"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274702" y="1478405"/>
            <a:ext cx="1278469" cy="577081"/>
          </a:xfrm>
          <a:prstGeom prst="rect">
            <a:avLst/>
          </a:prstGeom>
          <a:noFill/>
        </p:spPr>
        <p:txBody>
          <a:bodyPr wrap="square" rtlCol="0">
            <a:spAutoFit/>
          </a:bodyPr>
          <a:lstStyle/>
          <a:p>
            <a:r>
              <a:rPr lang="sv-SE" sz="1050" i="1" dirty="0" smtClean="0">
                <a:solidFill>
                  <a:srgbClr val="3366FF"/>
                </a:solidFill>
              </a:rPr>
              <a:t>Insättning av behandling</a:t>
            </a:r>
          </a:p>
          <a:p>
            <a:r>
              <a:rPr lang="sv-SE" sz="1050" i="1" dirty="0" smtClean="0">
                <a:solidFill>
                  <a:srgbClr val="3366FF"/>
                </a:solidFill>
              </a:rPr>
              <a:t>(behandlingsstart)</a:t>
            </a:r>
            <a:endParaRPr lang="sv-SE" sz="1050" i="1" dirty="0">
              <a:solidFill>
                <a:srgbClr val="3366FF"/>
              </a:solidFill>
            </a:endParaRPr>
          </a:p>
        </p:txBody>
      </p:sp>
      <p:sp>
        <p:nvSpPr>
          <p:cNvPr id="30" name="textruta 29"/>
          <p:cNvSpPr txBox="1"/>
          <p:nvPr/>
        </p:nvSpPr>
        <p:spPr>
          <a:xfrm>
            <a:off x="2397644" y="1491485"/>
            <a:ext cx="880076" cy="577081"/>
          </a:xfrm>
          <a:prstGeom prst="rect">
            <a:avLst/>
          </a:prstGeom>
          <a:noFill/>
        </p:spPr>
        <p:txBody>
          <a:bodyPr wrap="square" rtlCol="0">
            <a:spAutoFit/>
          </a:bodyPr>
          <a:lstStyle/>
          <a:p>
            <a:r>
              <a:rPr lang="sv-SE" sz="1050" i="1" dirty="0" smtClean="0">
                <a:solidFill>
                  <a:srgbClr val="3366FF"/>
                </a:solidFill>
              </a:rPr>
              <a:t>Planerat byte av läkemedel</a:t>
            </a:r>
            <a:endParaRPr lang="sv-SE" sz="1050" i="1" dirty="0">
              <a:solidFill>
                <a:srgbClr val="3366FF"/>
              </a:solidFill>
            </a:endParaRPr>
          </a:p>
        </p:txBody>
      </p:sp>
      <p:cxnSp>
        <p:nvCxnSpPr>
          <p:cNvPr id="38" name="Rak 37"/>
          <p:cNvCxnSpPr/>
          <p:nvPr/>
        </p:nvCxnSpPr>
        <p:spPr bwMode="auto">
          <a:xfrm flipH="1">
            <a:off x="3454400" y="2013778"/>
            <a:ext cx="699" cy="2669982"/>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6947746" y="22891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33" name="Rektangel 32"/>
          <p:cNvSpPr/>
          <p:nvPr/>
        </p:nvSpPr>
        <p:spPr bwMode="auto">
          <a:xfrm>
            <a:off x="1869440" y="2306320"/>
            <a:ext cx="5039360" cy="225552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13" name="Grupp 12"/>
          <p:cNvGrpSpPr/>
          <p:nvPr/>
        </p:nvGrpSpPr>
        <p:grpSpPr>
          <a:xfrm>
            <a:off x="2028610" y="4341471"/>
            <a:ext cx="2088407" cy="261009"/>
            <a:chOff x="2028610" y="4341471"/>
            <a:chExt cx="2088407" cy="261009"/>
          </a:xfrm>
        </p:grpSpPr>
        <p:sp>
          <p:nvSpPr>
            <p:cNvPr id="27" name="textruta 26"/>
            <p:cNvSpPr txBox="1"/>
            <p:nvPr/>
          </p:nvSpPr>
          <p:spPr>
            <a:xfrm>
              <a:off x="2028610" y="4341471"/>
              <a:ext cx="605835" cy="253916"/>
            </a:xfrm>
            <a:prstGeom prst="rect">
              <a:avLst/>
            </a:prstGeom>
            <a:noFill/>
          </p:spPr>
          <p:txBody>
            <a:bodyPr wrap="square" rtlCol="0">
              <a:spAutoFit/>
            </a:bodyPr>
            <a:lstStyle/>
            <a:p>
              <a:r>
                <a:rPr lang="sv-SE" sz="1050" dirty="0" smtClean="0"/>
                <a:t>1x3 </a:t>
              </a:r>
              <a:r>
                <a:rPr lang="sv-SE" sz="1050" dirty="0"/>
                <a:t>L</a:t>
              </a:r>
              <a:r>
                <a:rPr lang="sv-SE" sz="1050" baseline="-25000" dirty="0"/>
                <a:t>a</a:t>
              </a:r>
              <a:endParaRPr lang="sv-SE" sz="1050" dirty="0"/>
            </a:p>
          </p:txBody>
        </p:sp>
        <p:sp>
          <p:nvSpPr>
            <p:cNvPr id="32" name="Ellips 31"/>
            <p:cNvSpPr/>
            <p:nvPr/>
          </p:nvSpPr>
          <p:spPr bwMode="auto">
            <a:xfrm>
              <a:off x="2072640" y="451358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4" name="Ellips 33"/>
            <p:cNvSpPr/>
            <p:nvPr/>
          </p:nvSpPr>
          <p:spPr bwMode="auto">
            <a:xfrm>
              <a:off x="2517140" y="4523105"/>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40" name="textruta 39"/>
            <p:cNvSpPr txBox="1"/>
            <p:nvPr/>
          </p:nvSpPr>
          <p:spPr>
            <a:xfrm>
              <a:off x="2553545" y="4341473"/>
              <a:ext cx="604095" cy="253916"/>
            </a:xfrm>
            <a:prstGeom prst="rect">
              <a:avLst/>
            </a:prstGeom>
            <a:noFill/>
          </p:spPr>
          <p:txBody>
            <a:bodyPr wrap="square" rtlCol="0">
              <a:spAutoFit/>
            </a:bodyPr>
            <a:lstStyle/>
            <a:p>
              <a:r>
                <a:rPr lang="sv-SE" sz="1050" dirty="0" smtClean="0"/>
                <a:t>1x3 </a:t>
              </a:r>
              <a:r>
                <a:rPr lang="sv-SE" sz="1050" dirty="0"/>
                <a:t>L</a:t>
              </a:r>
              <a:r>
                <a:rPr lang="sv-SE" sz="1050" baseline="-25000" dirty="0"/>
                <a:t>a</a:t>
              </a:r>
              <a:endParaRPr lang="sv-SE" sz="1050" dirty="0"/>
            </a:p>
          </p:txBody>
        </p:sp>
        <p:sp>
          <p:nvSpPr>
            <p:cNvPr id="41" name="textruta 40"/>
            <p:cNvSpPr txBox="1"/>
            <p:nvPr/>
          </p:nvSpPr>
          <p:spPr>
            <a:xfrm>
              <a:off x="3469647" y="4341475"/>
              <a:ext cx="647370" cy="253916"/>
            </a:xfrm>
            <a:prstGeom prst="rect">
              <a:avLst/>
            </a:prstGeom>
            <a:noFill/>
          </p:spPr>
          <p:txBody>
            <a:bodyPr wrap="square" rtlCol="0">
              <a:spAutoFit/>
            </a:bodyPr>
            <a:lstStyle/>
            <a:p>
              <a:r>
                <a:rPr lang="sv-SE" sz="1050" dirty="0" smtClean="0"/>
                <a:t>2x3 L</a:t>
              </a:r>
              <a:r>
                <a:rPr lang="sv-SE" sz="1050" baseline="-25000" dirty="0" smtClean="0"/>
                <a:t>b</a:t>
              </a:r>
              <a:endParaRPr lang="sv-SE" sz="1050" dirty="0"/>
            </a:p>
          </p:txBody>
        </p:sp>
        <p:sp>
          <p:nvSpPr>
            <p:cNvPr id="48" name="Ellips 47"/>
            <p:cNvSpPr/>
            <p:nvPr/>
          </p:nvSpPr>
          <p:spPr bwMode="auto">
            <a:xfrm>
              <a:off x="3421380" y="452628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sp>
        <p:nvSpPr>
          <p:cNvPr id="42" name="Höger 41"/>
          <p:cNvSpPr/>
          <p:nvPr/>
        </p:nvSpPr>
        <p:spPr bwMode="auto">
          <a:xfrm>
            <a:off x="2112434" y="2385482"/>
            <a:ext cx="2228850" cy="504393"/>
          </a:xfrm>
          <a:prstGeom prst="rightArrow">
            <a:avLst>
              <a:gd name="adj1" fmla="val 50000"/>
              <a:gd name="adj2" fmla="val 38766"/>
            </a:avLst>
          </a:prstGeom>
          <a:solidFill>
            <a:srgbClr val="AADEE2"/>
          </a:solidFill>
          <a:ln>
            <a:solidFill>
              <a:srgbClr val="00A9A7"/>
            </a:solidFill>
          </a:ln>
          <a:ex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sv-SE" sz="1050" dirty="0" smtClean="0">
                <a:solidFill>
                  <a:srgbClr val="382819"/>
                </a:solidFill>
              </a:rPr>
              <a:t>1x3 Läkemedel </a:t>
            </a:r>
            <a:r>
              <a:rPr lang="sv-SE" sz="1050" dirty="0" smtClean="0">
                <a:solidFill>
                  <a:schemeClr val="tx1"/>
                </a:solidFill>
              </a:rPr>
              <a:t>L</a:t>
            </a:r>
            <a:r>
              <a:rPr lang="sv-SE" sz="1050" baseline="-25000" dirty="0" smtClean="0">
                <a:solidFill>
                  <a:schemeClr val="tx1"/>
                </a:solidFill>
              </a:rPr>
              <a:t>a</a:t>
            </a:r>
            <a:endParaRPr lang="sv-SE" sz="1050" dirty="0">
              <a:solidFill>
                <a:schemeClr val="tx1"/>
              </a:solidFill>
            </a:endParaRPr>
          </a:p>
        </p:txBody>
      </p:sp>
      <p:grpSp>
        <p:nvGrpSpPr>
          <p:cNvPr id="6" name="Grupp 5"/>
          <p:cNvGrpSpPr/>
          <p:nvPr/>
        </p:nvGrpSpPr>
        <p:grpSpPr>
          <a:xfrm>
            <a:off x="1432561" y="2413074"/>
            <a:ext cx="588564" cy="378151"/>
            <a:chOff x="1432561" y="2413074"/>
            <a:chExt cx="588564" cy="378151"/>
          </a:xfrm>
        </p:grpSpPr>
        <p:pic>
          <p:nvPicPr>
            <p:cNvPr id="46"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7156" y="2413074"/>
              <a:ext cx="193969" cy="378151"/>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textruta 55"/>
            <p:cNvSpPr txBox="1"/>
            <p:nvPr/>
          </p:nvSpPr>
          <p:spPr>
            <a:xfrm>
              <a:off x="1432561" y="2501224"/>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grpSp>
        <p:nvGrpSpPr>
          <p:cNvPr id="12" name="Grupp 11"/>
          <p:cNvGrpSpPr/>
          <p:nvPr/>
        </p:nvGrpSpPr>
        <p:grpSpPr>
          <a:xfrm>
            <a:off x="1544499" y="2935816"/>
            <a:ext cx="4134519" cy="2930159"/>
            <a:chOff x="1544499" y="2935816"/>
            <a:chExt cx="4134519" cy="2930159"/>
          </a:xfrm>
        </p:grpSpPr>
        <p:sp>
          <p:nvSpPr>
            <p:cNvPr id="5" name="textruta 4"/>
            <p:cNvSpPr txBox="1"/>
            <p:nvPr/>
          </p:nvSpPr>
          <p:spPr>
            <a:xfrm>
              <a:off x="2557151" y="3062487"/>
              <a:ext cx="905716" cy="252213"/>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sv-SE" sz="1050" dirty="0" smtClean="0"/>
            </a:p>
          </p:txBody>
        </p:sp>
        <p:grpSp>
          <p:nvGrpSpPr>
            <p:cNvPr id="60" name="Grupp 59"/>
            <p:cNvGrpSpPr/>
            <p:nvPr/>
          </p:nvGrpSpPr>
          <p:grpSpPr>
            <a:xfrm>
              <a:off x="1701800" y="2971874"/>
              <a:ext cx="725725" cy="378151"/>
              <a:chOff x="1295400" y="2413074"/>
              <a:chExt cx="725725" cy="378151"/>
            </a:xfrm>
          </p:grpSpPr>
          <p:pic>
            <p:nvPicPr>
              <p:cNvPr id="61"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7156" y="2413074"/>
                <a:ext cx="193969" cy="378151"/>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textruta 61"/>
              <p:cNvSpPr txBox="1"/>
              <p:nvPr/>
            </p:nvSpPr>
            <p:spPr>
              <a:xfrm>
                <a:off x="1295400" y="2501224"/>
                <a:ext cx="604521"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Anders</a:t>
                </a:r>
                <a:endParaRPr lang="sv-SE" sz="1000" i="1" dirty="0">
                  <a:solidFill>
                    <a:prstClr val="black"/>
                  </a:solidFill>
                  <a:latin typeface="Calibri"/>
                  <a:cs typeface="Arial" pitchFamily="34" charset="0"/>
                </a:endParaRPr>
              </a:p>
            </p:txBody>
          </p:sp>
        </p:grpSp>
        <p:sp>
          <p:nvSpPr>
            <p:cNvPr id="63" name="Höger 62"/>
            <p:cNvSpPr/>
            <p:nvPr/>
          </p:nvSpPr>
          <p:spPr bwMode="auto">
            <a:xfrm>
              <a:off x="3450168" y="2935816"/>
              <a:ext cx="2228850" cy="504393"/>
            </a:xfrm>
            <a:prstGeom prst="rightArrow">
              <a:avLst>
                <a:gd name="adj1" fmla="val 50000"/>
                <a:gd name="adj2" fmla="val 38766"/>
              </a:avLst>
            </a:prstGeom>
            <a:solidFill>
              <a:srgbClr val="AADEE2"/>
            </a:solidFill>
            <a:ln>
              <a:solidFill>
                <a:srgbClr val="00A9A7"/>
              </a:solidFill>
            </a:ln>
            <a:ex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sv-SE" sz="1050" dirty="0" smtClean="0">
                  <a:solidFill>
                    <a:srgbClr val="382819"/>
                  </a:solidFill>
                </a:rPr>
                <a:t>2x3 Läkemedel L</a:t>
              </a:r>
              <a:r>
                <a:rPr lang="sv-SE" sz="1050" baseline="-25000" dirty="0" smtClean="0">
                  <a:solidFill>
                    <a:srgbClr val="382819"/>
                  </a:solidFill>
                </a:rPr>
                <a:t>b</a:t>
              </a:r>
              <a:endParaRPr lang="sv-SE" sz="1050" dirty="0">
                <a:solidFill>
                  <a:srgbClr val="382819"/>
                </a:solidFill>
              </a:endParaRPr>
            </a:p>
          </p:txBody>
        </p:sp>
        <p:sp>
          <p:nvSpPr>
            <p:cNvPr id="64" name="Rundad rektangulär 63"/>
            <p:cNvSpPr/>
            <p:nvPr/>
          </p:nvSpPr>
          <p:spPr bwMode="auto">
            <a:xfrm>
              <a:off x="3328129" y="3587290"/>
              <a:ext cx="2054624" cy="666425"/>
            </a:xfrm>
            <a:prstGeom prst="wedgeRoundRectCallout">
              <a:avLst>
                <a:gd name="adj1" fmla="val -42213"/>
                <a:gd name="adj2" fmla="val -84264"/>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366FF"/>
                  </a:solidFill>
                </a:rPr>
                <a:t>Insättningstidpunkt för 2x3 B</a:t>
              </a:r>
              <a:br>
                <a:rPr lang="sv-SE" sz="1100" i="1" dirty="0" smtClean="0">
                  <a:solidFill>
                    <a:srgbClr val="3366FF"/>
                  </a:solidFill>
                </a:rPr>
              </a:br>
              <a:r>
                <a:rPr lang="sv-SE" sz="1100" i="1" dirty="0" smtClean="0">
                  <a:solidFill>
                    <a:srgbClr val="3366FF"/>
                  </a:solidFill>
                </a:rPr>
                <a:t>Det tidigare läkemedlet sätts samtidigt ut</a:t>
              </a:r>
              <a:endParaRPr lang="sv-SE" sz="1100" i="1" dirty="0">
                <a:solidFill>
                  <a:srgbClr val="3366FF"/>
                </a:solidFill>
              </a:endParaRPr>
            </a:p>
          </p:txBody>
        </p:sp>
        <p:sp>
          <p:nvSpPr>
            <p:cNvPr id="65" name="Rundad rektangulär 64"/>
            <p:cNvSpPr/>
            <p:nvPr/>
          </p:nvSpPr>
          <p:spPr bwMode="auto">
            <a:xfrm>
              <a:off x="1979506" y="5012265"/>
              <a:ext cx="1627294" cy="853710"/>
            </a:xfrm>
            <a:prstGeom prst="wedgeRoundRectCallout">
              <a:avLst>
                <a:gd name="adj1" fmla="val -15640"/>
                <a:gd name="adj2" fmla="val -8085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366FF"/>
                  </a:solidFill>
                </a:rPr>
                <a:t>Anders tar </a:t>
              </a:r>
              <a:r>
                <a:rPr lang="sv-SE" sz="1100" i="1" dirty="0">
                  <a:solidFill>
                    <a:srgbClr val="3366FF"/>
                  </a:solidFill>
                </a:rPr>
                <a:t>över behandlingsansvaret från det </a:t>
              </a:r>
              <a:r>
                <a:rPr lang="sv-SE" sz="1100" i="1" dirty="0" smtClean="0">
                  <a:solidFill>
                    <a:srgbClr val="3366FF"/>
                  </a:solidFill>
                </a:rPr>
                <a:t>att han </a:t>
              </a:r>
              <a:r>
                <a:rPr lang="sv-SE" sz="1100" i="1" dirty="0">
                  <a:solidFill>
                    <a:srgbClr val="3366FF"/>
                  </a:solidFill>
                </a:rPr>
                <a:t>tar </a:t>
              </a:r>
              <a:r>
                <a:rPr lang="sv-SE" sz="1100" i="1" dirty="0" smtClean="0">
                  <a:solidFill>
                    <a:srgbClr val="3366FF"/>
                  </a:solidFill>
                </a:rPr>
                <a:t>beslutet</a:t>
              </a:r>
              <a:endParaRPr lang="sv-SE" sz="1100" i="1" dirty="0">
                <a:solidFill>
                  <a:srgbClr val="3366FF"/>
                </a:solidFill>
              </a:endParaRPr>
            </a:p>
          </p:txBody>
        </p:sp>
        <p:sp>
          <p:nvSpPr>
            <p:cNvPr id="57" name="Rundad rektangulär 56"/>
            <p:cNvSpPr/>
            <p:nvPr/>
          </p:nvSpPr>
          <p:spPr bwMode="auto">
            <a:xfrm>
              <a:off x="1544499" y="3581321"/>
              <a:ext cx="1750438" cy="666425"/>
            </a:xfrm>
            <a:prstGeom prst="wedgeRoundRectCallout">
              <a:avLst>
                <a:gd name="adj1" fmla="val 23573"/>
                <a:gd name="adj2" fmla="val -80645"/>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366FF"/>
                  </a:solidFill>
                </a:rPr>
                <a:t>Beslutet implicerar ”fortsätt enligt föregående beslut”</a:t>
              </a:r>
              <a:endParaRPr lang="sv-SE" sz="1100" i="1" dirty="0">
                <a:solidFill>
                  <a:srgbClr val="3366FF"/>
                </a:solidFill>
              </a:endParaRPr>
            </a:p>
          </p:txBody>
        </p:sp>
      </p:grpSp>
      <p:sp>
        <p:nvSpPr>
          <p:cNvPr id="54" name="Rundad rektangulär 53"/>
          <p:cNvSpPr/>
          <p:nvPr/>
        </p:nvSpPr>
        <p:spPr bwMode="auto">
          <a:xfrm>
            <a:off x="5628837" y="1224286"/>
            <a:ext cx="2580443" cy="921814"/>
          </a:xfrm>
          <a:prstGeom prst="wedgeRoundRectCallout">
            <a:avLst>
              <a:gd name="adj1" fmla="val -45121"/>
              <a:gd name="adj2" fmla="val -2274"/>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200" i="1" dirty="0">
                <a:solidFill>
                  <a:schemeClr val="tx1"/>
                </a:solidFill>
              </a:rPr>
              <a:t>Anders planerar ett byte från Alvedon 500mg i </a:t>
            </a:r>
            <a:r>
              <a:rPr lang="sv-SE" sz="1200" i="1" dirty="0" err="1">
                <a:solidFill>
                  <a:schemeClr val="tx1"/>
                </a:solidFill>
              </a:rPr>
              <a:t>helförpackning</a:t>
            </a:r>
            <a:r>
              <a:rPr lang="sv-SE" sz="1200" i="1" dirty="0">
                <a:solidFill>
                  <a:schemeClr val="tx1"/>
                </a:solidFill>
              </a:rPr>
              <a:t> till </a:t>
            </a:r>
            <a:r>
              <a:rPr lang="sv-SE" sz="1200" i="1" dirty="0" err="1">
                <a:solidFill>
                  <a:schemeClr val="tx1"/>
                </a:solidFill>
              </a:rPr>
              <a:t>dosförpackad</a:t>
            </a:r>
            <a:r>
              <a:rPr lang="sv-SE" sz="1200" i="1" dirty="0">
                <a:solidFill>
                  <a:schemeClr val="tx1"/>
                </a:solidFill>
              </a:rPr>
              <a:t> Alvedon forte 1g från </a:t>
            </a:r>
            <a:r>
              <a:rPr lang="sv-SE" sz="1200" i="1" dirty="0" err="1">
                <a:solidFill>
                  <a:schemeClr val="tx1"/>
                </a:solidFill>
              </a:rPr>
              <a:t>dosperiodens</a:t>
            </a:r>
            <a:r>
              <a:rPr lang="sv-SE" sz="1200" i="1" dirty="0">
                <a:solidFill>
                  <a:schemeClr val="tx1"/>
                </a:solidFill>
              </a:rPr>
              <a:t> start</a:t>
            </a:r>
          </a:p>
        </p:txBody>
      </p:sp>
      <p:sp>
        <p:nvSpPr>
          <p:cNvPr id="55" name="Rektangel 54"/>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58" name="textruta 57"/>
          <p:cNvSpPr txBox="1"/>
          <p:nvPr/>
        </p:nvSpPr>
        <p:spPr>
          <a:xfrm>
            <a:off x="3157640" y="1556101"/>
            <a:ext cx="993245" cy="415498"/>
          </a:xfrm>
          <a:prstGeom prst="rect">
            <a:avLst/>
          </a:prstGeom>
          <a:noFill/>
        </p:spPr>
        <p:txBody>
          <a:bodyPr wrap="square" rtlCol="0">
            <a:spAutoFit/>
          </a:bodyPr>
          <a:lstStyle/>
          <a:p>
            <a:r>
              <a:rPr lang="sv-SE" sz="1050" i="1" dirty="0" smtClean="0"/>
              <a:t>Första dag i </a:t>
            </a:r>
            <a:r>
              <a:rPr lang="sv-SE" sz="1050" i="1" dirty="0" err="1" smtClean="0"/>
              <a:t>dosperioden</a:t>
            </a:r>
            <a:endParaRPr lang="sv-SE" sz="1050" i="1" dirty="0"/>
          </a:p>
        </p:txBody>
      </p:sp>
      <p:sp>
        <p:nvSpPr>
          <p:cNvPr id="43" name="textruta 42"/>
          <p:cNvSpPr txBox="1"/>
          <p:nvPr/>
        </p:nvSpPr>
        <p:spPr>
          <a:xfrm>
            <a:off x="2066970" y="4589780"/>
            <a:ext cx="618277" cy="253916"/>
          </a:xfrm>
          <a:prstGeom prst="rect">
            <a:avLst/>
          </a:prstGeom>
          <a:noFill/>
        </p:spPr>
        <p:txBody>
          <a:bodyPr wrap="square" rtlCol="0">
            <a:spAutoFit/>
          </a:bodyPr>
          <a:lstStyle/>
          <a:p>
            <a:r>
              <a:rPr lang="sv-SE" sz="1050" dirty="0" smtClean="0"/>
              <a:t>O = 1</a:t>
            </a:r>
            <a:endParaRPr lang="sv-SE" sz="1050" dirty="0"/>
          </a:p>
        </p:txBody>
      </p:sp>
      <p:sp>
        <p:nvSpPr>
          <p:cNvPr id="49" name="textruta 48"/>
          <p:cNvSpPr txBox="1"/>
          <p:nvPr/>
        </p:nvSpPr>
        <p:spPr>
          <a:xfrm>
            <a:off x="3415251" y="2510221"/>
            <a:ext cx="618277" cy="253916"/>
          </a:xfrm>
          <a:prstGeom prst="rect">
            <a:avLst/>
          </a:prstGeom>
          <a:noFill/>
        </p:spPr>
        <p:txBody>
          <a:bodyPr wrap="square" rtlCol="0">
            <a:spAutoFit/>
          </a:bodyPr>
          <a:lstStyle/>
          <a:p>
            <a:r>
              <a:rPr lang="sv-SE" sz="1050" dirty="0" smtClean="0"/>
              <a:t>O = 1</a:t>
            </a:r>
            <a:endParaRPr lang="sv-SE" sz="1050" dirty="0"/>
          </a:p>
        </p:txBody>
      </p:sp>
      <p:sp>
        <p:nvSpPr>
          <p:cNvPr id="50" name="textruta 49"/>
          <p:cNvSpPr txBox="1"/>
          <p:nvPr/>
        </p:nvSpPr>
        <p:spPr>
          <a:xfrm>
            <a:off x="4776501" y="3056271"/>
            <a:ext cx="618277" cy="253916"/>
          </a:xfrm>
          <a:prstGeom prst="rect">
            <a:avLst/>
          </a:prstGeom>
          <a:noFill/>
        </p:spPr>
        <p:txBody>
          <a:bodyPr wrap="square" rtlCol="0">
            <a:spAutoFit/>
          </a:bodyPr>
          <a:lstStyle/>
          <a:p>
            <a:r>
              <a:rPr lang="sv-SE" sz="1050" dirty="0" smtClean="0"/>
              <a:t>O = 2</a:t>
            </a:r>
            <a:endParaRPr lang="sv-SE" sz="1050" dirty="0"/>
          </a:p>
        </p:txBody>
      </p:sp>
      <p:sp>
        <p:nvSpPr>
          <p:cNvPr id="51" name="textruta 50"/>
          <p:cNvSpPr txBox="1"/>
          <p:nvPr/>
        </p:nvSpPr>
        <p:spPr>
          <a:xfrm>
            <a:off x="2709852" y="4602480"/>
            <a:ext cx="618277" cy="253916"/>
          </a:xfrm>
          <a:prstGeom prst="rect">
            <a:avLst/>
          </a:prstGeom>
          <a:noFill/>
        </p:spPr>
        <p:txBody>
          <a:bodyPr wrap="square" rtlCol="0">
            <a:spAutoFit/>
          </a:bodyPr>
          <a:lstStyle/>
          <a:p>
            <a:r>
              <a:rPr lang="sv-SE" sz="1050" dirty="0" smtClean="0"/>
              <a:t>O = 2</a:t>
            </a:r>
            <a:endParaRPr lang="sv-SE" sz="1050" dirty="0"/>
          </a:p>
        </p:txBody>
      </p:sp>
      <p:sp>
        <p:nvSpPr>
          <p:cNvPr id="53" name="textruta 52"/>
          <p:cNvSpPr txBox="1"/>
          <p:nvPr/>
        </p:nvSpPr>
        <p:spPr>
          <a:xfrm>
            <a:off x="3532608" y="4589780"/>
            <a:ext cx="618277" cy="253916"/>
          </a:xfrm>
          <a:prstGeom prst="rect">
            <a:avLst/>
          </a:prstGeom>
          <a:noFill/>
        </p:spPr>
        <p:txBody>
          <a:bodyPr wrap="square" rtlCol="0">
            <a:spAutoFit/>
          </a:bodyPr>
          <a:lstStyle/>
          <a:p>
            <a:r>
              <a:rPr lang="sv-SE" sz="1050" dirty="0" smtClean="0"/>
              <a:t>O = 2</a:t>
            </a:r>
            <a:endParaRPr lang="sv-SE" sz="1050" dirty="0"/>
          </a:p>
        </p:txBody>
      </p:sp>
      <p:sp>
        <p:nvSpPr>
          <p:cNvPr id="68" name="Höger klammerparentes 67"/>
          <p:cNvSpPr/>
          <p:nvPr/>
        </p:nvSpPr>
        <p:spPr bwMode="auto">
          <a:xfrm rot="10800000">
            <a:off x="1133308" y="4341470"/>
            <a:ext cx="273474" cy="514925"/>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0" name="textruta 69"/>
          <p:cNvSpPr txBox="1"/>
          <p:nvPr/>
        </p:nvSpPr>
        <p:spPr>
          <a:xfrm>
            <a:off x="264160" y="4392270"/>
            <a:ext cx="955040" cy="415498"/>
          </a:xfrm>
          <a:prstGeom prst="rect">
            <a:avLst/>
          </a:prstGeom>
          <a:noFill/>
        </p:spPr>
        <p:txBody>
          <a:bodyPr wrap="square" rtlCol="0">
            <a:spAutoFit/>
          </a:bodyPr>
          <a:lstStyle/>
          <a:p>
            <a:r>
              <a:rPr lang="sv-SE" sz="1050" dirty="0" smtClean="0"/>
              <a:t>Behandlingssteg </a:t>
            </a:r>
            <a:endParaRPr lang="sv-SE" sz="1050" dirty="0"/>
          </a:p>
        </p:txBody>
      </p:sp>
    </p:spTree>
    <p:extLst>
      <p:ext uri="{BB962C8B-B14F-4D97-AF65-F5344CB8AC3E}">
        <p14:creationId xmlns:p14="http://schemas.microsoft.com/office/powerpoint/2010/main" val="628257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400" dirty="0" smtClean="0"/>
              <a:t> </a:t>
            </a:r>
            <a:endParaRPr lang="sv-SE" sz="24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latin typeface="Arial"/>
              </a:rPr>
              <a:pPr/>
              <a:t>45</a:t>
            </a:fld>
            <a:endParaRPr lang="sv-SE">
              <a:latin typeface="Arial"/>
            </a:endParaRPr>
          </a:p>
        </p:txBody>
      </p:sp>
      <p:cxnSp>
        <p:nvCxnSpPr>
          <p:cNvPr id="7" name="Rak 6"/>
          <p:cNvCxnSpPr/>
          <p:nvPr/>
        </p:nvCxnSpPr>
        <p:spPr bwMode="auto">
          <a:xfrm>
            <a:off x="2109304" y="1985666"/>
            <a:ext cx="0" cy="394946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a:off x="2558040" y="1985666"/>
            <a:ext cx="0" cy="394946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Rak 27"/>
          <p:cNvCxnSpPr/>
          <p:nvPr/>
        </p:nvCxnSpPr>
        <p:spPr bwMode="auto">
          <a:xfrm>
            <a:off x="3182634" y="1977328"/>
            <a:ext cx="0" cy="394946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274702" y="1241329"/>
            <a:ext cx="1278469" cy="415498"/>
          </a:xfrm>
          <a:prstGeom prst="rect">
            <a:avLst/>
          </a:prstGeom>
          <a:noFill/>
        </p:spPr>
        <p:txBody>
          <a:bodyPr wrap="square" rtlCol="0">
            <a:spAutoFit/>
          </a:bodyPr>
          <a:lstStyle/>
          <a:p>
            <a:r>
              <a:rPr lang="sv-SE" sz="1050" i="1" dirty="0">
                <a:solidFill>
                  <a:srgbClr val="0000FF"/>
                </a:solidFill>
                <a:latin typeface="Arial"/>
              </a:rPr>
              <a:t>Insättning av </a:t>
            </a:r>
            <a:r>
              <a:rPr lang="sv-SE" sz="1050" i="1" dirty="0" smtClean="0">
                <a:solidFill>
                  <a:srgbClr val="0000FF"/>
                </a:solidFill>
                <a:latin typeface="Arial"/>
              </a:rPr>
              <a:t>behandling</a:t>
            </a:r>
            <a:endParaRPr lang="sv-SE" sz="1050" i="1" dirty="0">
              <a:solidFill>
                <a:srgbClr val="0000FF"/>
              </a:solidFill>
              <a:latin typeface="Arial"/>
            </a:endParaRPr>
          </a:p>
        </p:txBody>
      </p:sp>
      <p:sp>
        <p:nvSpPr>
          <p:cNvPr id="30" name="textruta 29"/>
          <p:cNvSpPr txBox="1"/>
          <p:nvPr/>
        </p:nvSpPr>
        <p:spPr>
          <a:xfrm>
            <a:off x="2103965" y="1261005"/>
            <a:ext cx="1093587" cy="415498"/>
          </a:xfrm>
          <a:prstGeom prst="rect">
            <a:avLst/>
          </a:prstGeom>
          <a:noFill/>
        </p:spPr>
        <p:txBody>
          <a:bodyPr wrap="square" rtlCol="0">
            <a:spAutoFit/>
          </a:bodyPr>
          <a:lstStyle/>
          <a:p>
            <a:r>
              <a:rPr lang="sv-SE" sz="1050" i="1" dirty="0" smtClean="0">
                <a:solidFill>
                  <a:srgbClr val="0000FF"/>
                </a:solidFill>
                <a:latin typeface="Arial"/>
              </a:rPr>
              <a:t>Planerat byte av läkemedel</a:t>
            </a:r>
            <a:endParaRPr lang="sv-SE" sz="1050" i="1" dirty="0">
              <a:solidFill>
                <a:srgbClr val="0000FF"/>
              </a:solidFill>
              <a:latin typeface="Arial"/>
            </a:endParaRPr>
          </a:p>
        </p:txBody>
      </p: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a:solidFill>
                  <a:srgbClr val="382819"/>
                </a:solidFill>
                <a:latin typeface="Arial"/>
              </a:rPr>
              <a:t>t</a:t>
            </a:r>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a:solidFill>
                  <a:srgbClr val="382819"/>
                </a:solidFill>
                <a:latin typeface="Arial"/>
              </a:rPr>
              <a:t>Tidigare ordinationer </a:t>
            </a:r>
          </a:p>
        </p:txBody>
      </p:sp>
      <p:sp>
        <p:nvSpPr>
          <p:cNvPr id="33" name="Rektangel 32"/>
          <p:cNvSpPr/>
          <p:nvPr/>
        </p:nvSpPr>
        <p:spPr bwMode="auto">
          <a:xfrm>
            <a:off x="1869440" y="2379529"/>
            <a:ext cx="5039360" cy="2679304"/>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defTabSz="957263" fontAlgn="base">
              <a:spcBef>
                <a:spcPct val="0"/>
              </a:spcBef>
              <a:spcAft>
                <a:spcPct val="0"/>
              </a:spcAft>
            </a:pPr>
            <a:endParaRPr lang="sv-SE" sz="1900">
              <a:solidFill>
                <a:srgbClr val="382819"/>
              </a:solidFill>
              <a:latin typeface="Arial" charset="0"/>
            </a:endParaRPr>
          </a:p>
        </p:txBody>
      </p:sp>
      <p:sp>
        <p:nvSpPr>
          <p:cNvPr id="59" name="Höger 58"/>
          <p:cNvSpPr/>
          <p:nvPr/>
        </p:nvSpPr>
        <p:spPr bwMode="auto">
          <a:xfrm>
            <a:off x="3454400" y="3025075"/>
            <a:ext cx="1365250" cy="512714"/>
          </a:xfrm>
          <a:prstGeom prst="rightArrow">
            <a:avLst>
              <a:gd name="adj1" fmla="val 50000"/>
              <a:gd name="adj2" fmla="val 38766"/>
            </a:avLst>
          </a:prstGeom>
          <a:ln/>
          <a:ex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sv-SE" sz="1050" dirty="0">
                <a:solidFill>
                  <a:schemeClr val="tx1"/>
                </a:solidFill>
              </a:rPr>
              <a:t>1</a:t>
            </a:r>
            <a:r>
              <a:rPr lang="sv-SE" sz="1050" dirty="0" smtClean="0">
                <a:solidFill>
                  <a:schemeClr val="tx1"/>
                </a:solidFill>
              </a:rPr>
              <a:t>x3  </a:t>
            </a:r>
            <a:r>
              <a:rPr lang="sv-SE" sz="1050" dirty="0" smtClean="0">
                <a:solidFill>
                  <a:srgbClr val="382819"/>
                </a:solidFill>
              </a:rPr>
              <a:t>L</a:t>
            </a:r>
            <a:r>
              <a:rPr lang="sv-SE" sz="1050" baseline="-25000" dirty="0">
                <a:solidFill>
                  <a:srgbClr val="382819"/>
                </a:solidFill>
              </a:rPr>
              <a:t>b</a:t>
            </a:r>
            <a:endParaRPr lang="sv-SE" sz="1050" dirty="0">
              <a:solidFill>
                <a:srgbClr val="382819"/>
              </a:solidFill>
            </a:endParaRPr>
          </a:p>
        </p:txBody>
      </p:sp>
      <p:sp>
        <p:nvSpPr>
          <p:cNvPr id="8" name="textruta 7"/>
          <p:cNvSpPr txBox="1"/>
          <p:nvPr/>
        </p:nvSpPr>
        <p:spPr>
          <a:xfrm>
            <a:off x="1389721" y="301698"/>
            <a:ext cx="6613151" cy="738664"/>
          </a:xfrm>
          <a:prstGeom prst="rect">
            <a:avLst/>
          </a:prstGeom>
          <a:noFill/>
        </p:spPr>
        <p:txBody>
          <a:bodyPr wrap="square" rtlCol="0">
            <a:spAutoFit/>
          </a:bodyPr>
          <a:lstStyle/>
          <a:p>
            <a:r>
              <a:rPr lang="sv-SE" sz="2400" b="1" kern="0" dirty="0">
                <a:solidFill>
                  <a:srgbClr val="00A9A7"/>
                </a:solidFill>
                <a:ea typeface="+mj-ea"/>
                <a:cs typeface="+mj-cs"/>
              </a:rPr>
              <a:t>Ändring av läkemedelsbehandling</a:t>
            </a:r>
            <a:br>
              <a:rPr lang="sv-SE" sz="2400" b="1" kern="0" dirty="0">
                <a:solidFill>
                  <a:srgbClr val="00A9A7"/>
                </a:solidFill>
                <a:ea typeface="+mj-ea"/>
                <a:cs typeface="+mj-cs"/>
              </a:rPr>
            </a:br>
            <a:r>
              <a:rPr lang="sv-SE" b="1" i="1" kern="0" dirty="0" smtClean="0">
                <a:solidFill>
                  <a:srgbClr val="00A9A7"/>
                </a:solidFill>
                <a:ea typeface="+mj-ea"/>
                <a:cs typeface="+mj-cs"/>
              </a:rPr>
              <a:t>Exempel: Senarelägg en planerad ändring</a:t>
            </a:r>
            <a:endParaRPr lang="sv-SE" b="1" dirty="0" smtClean="0">
              <a:solidFill>
                <a:srgbClr val="00A9A7"/>
              </a:solidFill>
            </a:endParaRPr>
          </a:p>
        </p:txBody>
      </p:sp>
      <p:grpSp>
        <p:nvGrpSpPr>
          <p:cNvPr id="83" name="Grupp 82"/>
          <p:cNvGrpSpPr/>
          <p:nvPr/>
        </p:nvGrpSpPr>
        <p:grpSpPr>
          <a:xfrm>
            <a:off x="1358480" y="2402490"/>
            <a:ext cx="588564" cy="378151"/>
            <a:chOff x="2946401" y="492834"/>
            <a:chExt cx="588564" cy="378151"/>
          </a:xfrm>
        </p:grpSpPr>
        <p:sp>
          <p:nvSpPr>
            <p:cNvPr id="84" name="textruta 83"/>
            <p:cNvSpPr txBox="1"/>
            <p:nvPr/>
          </p:nvSpPr>
          <p:spPr>
            <a:xfrm>
              <a:off x="2946401" y="580984"/>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pic>
          <p:nvPicPr>
            <p:cNvPr id="85"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0996" y="49283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6" name="textruta 55"/>
          <p:cNvSpPr txBox="1"/>
          <p:nvPr/>
        </p:nvSpPr>
        <p:spPr>
          <a:xfrm>
            <a:off x="1442720" y="3156716"/>
            <a:ext cx="738206"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Anders</a:t>
            </a:r>
            <a:endParaRPr lang="sv-SE" sz="1000" i="1" dirty="0">
              <a:solidFill>
                <a:prstClr val="black"/>
              </a:solidFill>
              <a:latin typeface="Calibri"/>
              <a:cs typeface="Arial" pitchFamily="34" charset="0"/>
            </a:endParaRPr>
          </a:p>
        </p:txBody>
      </p:sp>
      <p:sp>
        <p:nvSpPr>
          <p:cNvPr id="60" name="Höger 59"/>
          <p:cNvSpPr/>
          <p:nvPr/>
        </p:nvSpPr>
        <p:spPr bwMode="auto">
          <a:xfrm>
            <a:off x="2112432" y="2389237"/>
            <a:ext cx="2652607" cy="512714"/>
          </a:xfrm>
          <a:prstGeom prst="rightArrow">
            <a:avLst>
              <a:gd name="adj1" fmla="val 50000"/>
              <a:gd name="adj2" fmla="val 38766"/>
            </a:avLst>
          </a:prstGeom>
          <a:ln/>
          <a:ex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sv-SE" sz="1050" dirty="0">
                <a:solidFill>
                  <a:schemeClr val="tx1"/>
                </a:solidFill>
              </a:rPr>
              <a:t>1</a:t>
            </a:r>
            <a:r>
              <a:rPr lang="sv-SE" sz="1050" dirty="0" smtClean="0">
                <a:solidFill>
                  <a:schemeClr val="tx1"/>
                </a:solidFill>
              </a:rPr>
              <a:t>x3  </a:t>
            </a:r>
            <a:r>
              <a:rPr lang="sv-SE" sz="1050" dirty="0">
                <a:solidFill>
                  <a:schemeClr val="tx1"/>
                </a:solidFill>
              </a:rPr>
              <a:t>L</a:t>
            </a:r>
            <a:r>
              <a:rPr lang="sv-SE" sz="1050" baseline="-25000" dirty="0">
                <a:solidFill>
                  <a:schemeClr val="tx1"/>
                </a:solidFill>
              </a:rPr>
              <a:t>a</a:t>
            </a:r>
          </a:p>
        </p:txBody>
      </p:sp>
      <p:cxnSp>
        <p:nvCxnSpPr>
          <p:cNvPr id="61" name="Rak 60"/>
          <p:cNvCxnSpPr/>
          <p:nvPr/>
        </p:nvCxnSpPr>
        <p:spPr bwMode="auto">
          <a:xfrm flipH="1">
            <a:off x="3455099" y="1967168"/>
            <a:ext cx="1855" cy="3959746"/>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Rak 70"/>
          <p:cNvCxnSpPr/>
          <p:nvPr/>
        </p:nvCxnSpPr>
        <p:spPr bwMode="auto">
          <a:xfrm>
            <a:off x="3883674" y="2007808"/>
            <a:ext cx="0" cy="394946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ruta 94"/>
          <p:cNvSpPr txBox="1"/>
          <p:nvPr/>
        </p:nvSpPr>
        <p:spPr>
          <a:xfrm>
            <a:off x="2569712" y="3150109"/>
            <a:ext cx="893294" cy="26161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sv-SE" sz="1050" b="1" dirty="0">
              <a:solidFill>
                <a:srgbClr val="382819"/>
              </a:solidFill>
              <a:latin typeface="Arial"/>
            </a:endParaRPr>
          </a:p>
        </p:txBody>
      </p:sp>
      <p:grpSp>
        <p:nvGrpSpPr>
          <p:cNvPr id="9" name="Grupp 8"/>
          <p:cNvGrpSpPr/>
          <p:nvPr/>
        </p:nvGrpSpPr>
        <p:grpSpPr>
          <a:xfrm>
            <a:off x="2252984" y="955428"/>
            <a:ext cx="6667497" cy="4296428"/>
            <a:chOff x="2252984" y="955428"/>
            <a:chExt cx="6667497" cy="4296428"/>
          </a:xfrm>
        </p:grpSpPr>
        <p:sp>
          <p:nvSpPr>
            <p:cNvPr id="53" name="Rundad rektangulär 52"/>
            <p:cNvSpPr/>
            <p:nvPr/>
          </p:nvSpPr>
          <p:spPr bwMode="auto">
            <a:xfrm>
              <a:off x="5730241" y="955428"/>
              <a:ext cx="3190240" cy="4296428"/>
            </a:xfrm>
            <a:prstGeom prst="wedgeRoundRectCallout">
              <a:avLst>
                <a:gd name="adj1" fmla="val -58903"/>
                <a:gd name="adj2" fmla="val 1503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a:solidFill>
                    <a:srgbClr val="382819"/>
                  </a:solidFill>
                </a:rPr>
                <a:t>Lisa markerar den nu gällande behandlingen </a:t>
              </a:r>
              <a:r>
                <a:rPr lang="sv-SE" sz="1100" i="1" dirty="0" smtClean="0">
                  <a:solidFill>
                    <a:srgbClr val="382819"/>
                  </a:solidFill>
                </a:rPr>
                <a:t>(1x3 </a:t>
              </a:r>
              <a:r>
                <a:rPr lang="sv-SE" sz="1100" i="1" dirty="0">
                  <a:solidFill>
                    <a:srgbClr val="382819"/>
                  </a:solidFill>
                </a:rPr>
                <a:t>L</a:t>
              </a:r>
              <a:r>
                <a:rPr lang="sv-SE" sz="1100" i="1" baseline="-25000" dirty="0">
                  <a:solidFill>
                    <a:srgbClr val="382819"/>
                  </a:solidFill>
                </a:rPr>
                <a:t>a</a:t>
              </a:r>
              <a:r>
                <a:rPr lang="sv-SE" sz="1100" i="1" dirty="0" smtClean="0">
                  <a:solidFill>
                    <a:srgbClr val="382819"/>
                  </a:solidFill>
                </a:rPr>
                <a:t>)</a:t>
              </a:r>
              <a:r>
                <a:rPr lang="sv-SE" sz="1100" i="1" dirty="0">
                  <a:solidFill>
                    <a:srgbClr val="382819"/>
                  </a:solidFill>
                </a:rPr>
                <a:t>. </a:t>
              </a:r>
              <a:r>
                <a:rPr lang="sv-SE" sz="1100" i="1" dirty="0" smtClean="0">
                  <a:solidFill>
                    <a:srgbClr val="382819"/>
                  </a:solidFill>
                </a:rPr>
                <a:t>Hon ser att det </a:t>
              </a:r>
              <a:r>
                <a:rPr lang="sv-SE" sz="1100" i="1" dirty="0">
                  <a:solidFill>
                    <a:srgbClr val="382819"/>
                  </a:solidFill>
                </a:rPr>
                <a:t>finns </a:t>
              </a:r>
              <a:r>
                <a:rPr lang="sv-SE" sz="1100" i="1" dirty="0" smtClean="0">
                  <a:solidFill>
                    <a:srgbClr val="382819"/>
                  </a:solidFill>
                </a:rPr>
                <a:t>en planerad justering till 1x3 med läkemedel L</a:t>
              </a:r>
              <a:r>
                <a:rPr lang="sv-SE" sz="1100" i="1" baseline="-25000" dirty="0" smtClean="0">
                  <a:solidFill>
                    <a:srgbClr val="382819"/>
                  </a:solidFill>
                </a:rPr>
                <a:t>b</a:t>
              </a:r>
              <a:r>
                <a:rPr lang="sv-SE" sz="1100" b="1" i="1" dirty="0" smtClean="0">
                  <a:solidFill>
                    <a:srgbClr val="382819"/>
                  </a:solidFill>
                </a:rPr>
                <a:t> </a:t>
              </a:r>
              <a:r>
                <a:rPr lang="sv-SE" sz="1100" i="1" dirty="0" smtClean="0">
                  <a:solidFill>
                    <a:srgbClr val="382819"/>
                  </a:solidFill>
                </a:rPr>
                <a:t>om några dagar.</a:t>
              </a:r>
              <a:r>
                <a:rPr lang="sv-SE" sz="1100" i="1" dirty="0">
                  <a:solidFill>
                    <a:srgbClr val="382819"/>
                  </a:solidFill>
                </a:rPr>
                <a:t/>
              </a:r>
              <a:br>
                <a:rPr lang="sv-SE" sz="1100" i="1" dirty="0">
                  <a:solidFill>
                    <a:srgbClr val="382819"/>
                  </a:solidFill>
                </a:rPr>
              </a:br>
              <a:r>
                <a:rPr lang="sv-SE" sz="1100" i="1" dirty="0" smtClean="0">
                  <a:solidFill>
                    <a:srgbClr val="382819"/>
                  </a:solidFill>
                  <a:latin typeface="Arial"/>
                </a:rPr>
                <a:t>Lisa använder ”Ändra”-funktionen i sitt system, vilken i sin tur nyttjar </a:t>
              </a:r>
              <a:r>
                <a:rPr lang="sv-SE" sz="1100" i="1" dirty="0" smtClean="0">
                  <a:solidFill>
                    <a:srgbClr val="382819"/>
                  </a:solidFill>
                </a:rPr>
                <a:t>Register</a:t>
              </a:r>
              <a:r>
                <a:rPr lang="sv-SE" sz="1100" i="1" dirty="0">
                  <a:solidFill>
                    <a:srgbClr val="382819"/>
                  </a:solidFill>
                </a:rPr>
                <a:t/>
              </a:r>
              <a:br>
                <a:rPr lang="sv-SE" sz="1100" i="1" dirty="0">
                  <a:solidFill>
                    <a:srgbClr val="382819"/>
                  </a:solidFill>
                </a:rPr>
              </a:br>
              <a:r>
                <a:rPr lang="sv-SE" sz="1100" i="1" dirty="0">
                  <a:solidFill>
                    <a:srgbClr val="382819"/>
                  </a:solidFill>
                </a:rPr>
                <a:t>MedicationPrescription</a:t>
              </a:r>
              <a:br>
                <a:rPr lang="sv-SE" sz="1100" i="1" dirty="0">
                  <a:solidFill>
                    <a:srgbClr val="382819"/>
                  </a:solidFill>
                </a:rPr>
              </a:br>
              <a:endParaRPr lang="sv-SE" sz="1100" i="1" dirty="0" smtClean="0">
                <a:solidFill>
                  <a:srgbClr val="382819"/>
                </a:solidFill>
                <a:latin typeface="Arial"/>
              </a:endParaRPr>
            </a:p>
            <a:p>
              <a:r>
                <a:rPr lang="sv-SE" sz="1100" i="1" dirty="0" smtClean="0">
                  <a:solidFill>
                    <a:srgbClr val="382819"/>
                  </a:solidFill>
                  <a:latin typeface="Arial"/>
                </a:rPr>
                <a:t>Systemet presenterar för Lisa hur den nuvarande läkemedelsbehandlingen ser ut: 1x3 </a:t>
              </a:r>
              <a:r>
                <a:rPr lang="sv-SE" sz="1100" i="1" dirty="0">
                  <a:solidFill>
                    <a:srgbClr val="382819"/>
                  </a:solidFill>
                </a:rPr>
                <a:t>L</a:t>
              </a:r>
              <a:r>
                <a:rPr lang="sv-SE" sz="1100" i="1" baseline="-25000" dirty="0">
                  <a:solidFill>
                    <a:srgbClr val="382819"/>
                  </a:solidFill>
                </a:rPr>
                <a:t>a</a:t>
              </a:r>
              <a:r>
                <a:rPr lang="sv-SE" sz="1100" i="1" dirty="0" smtClean="0">
                  <a:solidFill>
                    <a:srgbClr val="382819"/>
                  </a:solidFill>
                  <a:latin typeface="Arial"/>
                </a:rPr>
                <a:t>; 1x3 </a:t>
              </a:r>
              <a:r>
                <a:rPr lang="sv-SE" sz="1100" i="1" dirty="0" smtClean="0">
                  <a:solidFill>
                    <a:srgbClr val="382819"/>
                  </a:solidFill>
                </a:rPr>
                <a:t>L</a:t>
              </a:r>
              <a:r>
                <a:rPr lang="sv-SE" sz="1100" i="1" baseline="-25000" dirty="0" smtClean="0">
                  <a:solidFill>
                    <a:srgbClr val="382819"/>
                  </a:solidFill>
                </a:rPr>
                <a:t>b</a:t>
              </a:r>
              <a:r>
                <a:rPr lang="sv-SE" sz="1100" i="1" dirty="0" smtClean="0">
                  <a:solidFill>
                    <a:srgbClr val="382819"/>
                  </a:solidFill>
                  <a:latin typeface="Arial"/>
                </a:rPr>
                <a:t> stående.</a:t>
              </a:r>
            </a:p>
            <a:p>
              <a:endParaRPr lang="sv-SE" sz="1100" i="1" dirty="0" smtClean="0">
                <a:solidFill>
                  <a:srgbClr val="382819"/>
                </a:solidFill>
                <a:latin typeface="Arial"/>
              </a:endParaRPr>
            </a:p>
            <a:p>
              <a:r>
                <a:rPr lang="sv-SE" sz="1100" i="1" dirty="0" smtClean="0">
                  <a:solidFill>
                    <a:srgbClr val="382819"/>
                  </a:solidFill>
                  <a:latin typeface="Arial"/>
                </a:rPr>
                <a:t>Lisa ändrar till att </a:t>
              </a:r>
            </a:p>
            <a:p>
              <a:r>
                <a:rPr lang="sv-SE" sz="1100" i="1" dirty="0" smtClean="0">
                  <a:solidFill>
                    <a:srgbClr val="382819"/>
                  </a:solidFill>
                  <a:latin typeface="Arial"/>
                </a:rPr>
                <a:t>fortsätta med 1x3 </a:t>
              </a:r>
              <a:r>
                <a:rPr lang="sv-SE" sz="1100" i="1" dirty="0">
                  <a:solidFill>
                    <a:srgbClr val="382819"/>
                  </a:solidFill>
                </a:rPr>
                <a:t>L</a:t>
              </a:r>
              <a:r>
                <a:rPr lang="sv-SE" sz="1100" i="1" baseline="-25000" dirty="0">
                  <a:solidFill>
                    <a:srgbClr val="382819"/>
                  </a:solidFill>
                </a:rPr>
                <a:t>a</a:t>
              </a:r>
              <a:r>
                <a:rPr lang="sv-SE" sz="1100" i="1" dirty="0">
                  <a:solidFill>
                    <a:srgbClr val="382819"/>
                  </a:solidFill>
                </a:rPr>
                <a:t> </a:t>
              </a:r>
              <a:r>
                <a:rPr lang="sv-SE" sz="1100" i="1" dirty="0" smtClean="0">
                  <a:solidFill>
                    <a:srgbClr val="382819"/>
                  </a:solidFill>
                  <a:latin typeface="Arial"/>
                </a:rPr>
                <a:t>ytterligare tid, och sedan planerat byte till 1x3 </a:t>
              </a:r>
              <a:r>
                <a:rPr lang="sv-SE" sz="1100" i="1" dirty="0" smtClean="0">
                  <a:solidFill>
                    <a:srgbClr val="382819"/>
                  </a:solidFill>
                </a:rPr>
                <a:t>L</a:t>
              </a:r>
              <a:r>
                <a:rPr lang="sv-SE" sz="1100" i="1" baseline="-25000" dirty="0" smtClean="0">
                  <a:solidFill>
                    <a:srgbClr val="382819"/>
                  </a:solidFill>
                </a:rPr>
                <a:t>b</a:t>
              </a:r>
              <a:endParaRPr lang="sv-SE" sz="1100" i="1" baseline="-25000" dirty="0" smtClean="0">
                <a:solidFill>
                  <a:srgbClr val="382819"/>
                </a:solidFill>
                <a:latin typeface="Arial"/>
              </a:endParaRPr>
            </a:p>
            <a:p>
              <a:r>
                <a:rPr lang="sv-SE" sz="1100" i="1" dirty="0" smtClean="0">
                  <a:solidFill>
                    <a:srgbClr val="382819"/>
                  </a:solidFill>
                  <a:latin typeface="Arial"/>
                </a:rPr>
                <a:t>(</a:t>
              </a:r>
              <a:r>
                <a:rPr lang="sv-SE" sz="1100" i="1" dirty="0">
                  <a:solidFill>
                    <a:srgbClr val="382819"/>
                  </a:solidFill>
                </a:rPr>
                <a:t>1x3 L</a:t>
              </a:r>
              <a:r>
                <a:rPr lang="sv-SE" sz="1100" i="1" baseline="-25000" dirty="0">
                  <a:solidFill>
                    <a:srgbClr val="382819"/>
                  </a:solidFill>
                </a:rPr>
                <a:t>a</a:t>
              </a:r>
              <a:r>
                <a:rPr lang="sv-SE" sz="1100" i="1" dirty="0">
                  <a:solidFill>
                    <a:srgbClr val="382819"/>
                  </a:solidFill>
                </a:rPr>
                <a:t>; </a:t>
              </a:r>
              <a:r>
                <a:rPr lang="sv-SE" sz="1100" i="1" dirty="0" smtClean="0">
                  <a:solidFill>
                    <a:srgbClr val="382819"/>
                  </a:solidFill>
                  <a:latin typeface="Arial"/>
                </a:rPr>
                <a:t>1x3 </a:t>
              </a:r>
              <a:r>
                <a:rPr lang="sv-SE" sz="1100" i="1" dirty="0" smtClean="0">
                  <a:solidFill>
                    <a:srgbClr val="382819"/>
                  </a:solidFill>
                </a:rPr>
                <a:t>L</a:t>
              </a:r>
              <a:r>
                <a:rPr lang="sv-SE" sz="1100" i="1" baseline="-25000" dirty="0" smtClean="0">
                  <a:solidFill>
                    <a:srgbClr val="382819"/>
                  </a:solidFill>
                </a:rPr>
                <a:t>b</a:t>
              </a:r>
              <a:r>
                <a:rPr lang="sv-SE" sz="1100" i="1" dirty="0" smtClean="0">
                  <a:solidFill>
                    <a:srgbClr val="382819"/>
                  </a:solidFill>
                  <a:latin typeface="Arial"/>
                </a:rPr>
                <a:t> stående)</a:t>
              </a:r>
            </a:p>
            <a:p>
              <a:endParaRPr lang="sv-SE" sz="1100" i="1" dirty="0" smtClean="0">
                <a:solidFill>
                  <a:schemeClr val="tx1"/>
                </a:solidFill>
                <a:latin typeface="Arial"/>
              </a:endParaRPr>
            </a:p>
            <a:p>
              <a:endParaRPr lang="sv-SE" sz="1100" i="1" dirty="0">
                <a:solidFill>
                  <a:schemeClr val="tx1"/>
                </a:solidFill>
                <a:latin typeface="Arial"/>
              </a:endParaRPr>
            </a:p>
            <a:p>
              <a:r>
                <a:rPr lang="sv-SE" sz="1100" i="1" dirty="0" smtClean="0">
                  <a:solidFill>
                    <a:schemeClr val="tx1"/>
                  </a:solidFill>
                </a:rPr>
                <a:t>Tjänstekontrakt: </a:t>
              </a:r>
              <a:br>
                <a:rPr lang="sv-SE" sz="1100" i="1" dirty="0" smtClean="0">
                  <a:solidFill>
                    <a:schemeClr val="tx1"/>
                  </a:solidFill>
                </a:rPr>
              </a:br>
              <a:r>
                <a:rPr lang="sv-SE" sz="1100" i="1" dirty="0">
                  <a:solidFill>
                    <a:srgbClr val="382819"/>
                  </a:solidFill>
                </a:rPr>
                <a:t>Register</a:t>
              </a:r>
              <a:br>
                <a:rPr lang="sv-SE" sz="1100" i="1" dirty="0">
                  <a:solidFill>
                    <a:srgbClr val="382819"/>
                  </a:solidFill>
                </a:rPr>
              </a:br>
              <a:r>
                <a:rPr lang="sv-SE" sz="1100" i="1" dirty="0">
                  <a:solidFill>
                    <a:srgbClr val="382819"/>
                  </a:solidFill>
                </a:rPr>
                <a:t>MedicationPrescription</a:t>
              </a:r>
              <a:endParaRPr lang="sv-SE" sz="1100" i="1" dirty="0" smtClean="0">
                <a:solidFill>
                  <a:schemeClr val="tx1"/>
                </a:solidFill>
              </a:endParaRPr>
            </a:p>
            <a:p>
              <a:r>
                <a:rPr lang="sv-SE" sz="1100" i="1" dirty="0" smtClean="0">
                  <a:solidFill>
                    <a:schemeClr val="tx1"/>
                  </a:solidFill>
                  <a:latin typeface="Arial"/>
                </a:rPr>
                <a:t>INPUT: 1..* Läkemedelsordinationer som skapas i följd</a:t>
              </a:r>
            </a:p>
          </p:txBody>
        </p:sp>
        <p:grpSp>
          <p:nvGrpSpPr>
            <p:cNvPr id="6" name="Grupp 5"/>
            <p:cNvGrpSpPr/>
            <p:nvPr/>
          </p:nvGrpSpPr>
          <p:grpSpPr>
            <a:xfrm>
              <a:off x="2252984" y="3636424"/>
              <a:ext cx="3252175" cy="860801"/>
              <a:chOff x="2252984" y="3636424"/>
              <a:chExt cx="3252175" cy="860801"/>
            </a:xfrm>
          </p:grpSpPr>
          <p:sp>
            <p:nvSpPr>
              <p:cNvPr id="43" name="Höger 42"/>
              <p:cNvSpPr/>
              <p:nvPr/>
            </p:nvSpPr>
            <p:spPr bwMode="auto">
              <a:xfrm>
                <a:off x="3888526" y="3984511"/>
                <a:ext cx="1616633" cy="512714"/>
              </a:xfrm>
              <a:prstGeom prst="rightArrow">
                <a:avLst>
                  <a:gd name="adj1" fmla="val 50000"/>
                  <a:gd name="adj2" fmla="val 38766"/>
                </a:avLst>
              </a:prstGeom>
              <a:ln/>
              <a:ex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sv-SE" sz="1050" dirty="0">
                    <a:solidFill>
                      <a:schemeClr val="tx1"/>
                    </a:solidFill>
                  </a:rPr>
                  <a:t>1</a:t>
                </a:r>
                <a:r>
                  <a:rPr lang="sv-SE" sz="1050" dirty="0" smtClean="0">
                    <a:solidFill>
                      <a:schemeClr val="tx1"/>
                    </a:solidFill>
                  </a:rPr>
                  <a:t>x3  </a:t>
                </a:r>
                <a:r>
                  <a:rPr lang="sv-SE" sz="1050" dirty="0" smtClean="0">
                    <a:solidFill>
                      <a:srgbClr val="382819"/>
                    </a:solidFill>
                  </a:rPr>
                  <a:t>L</a:t>
                </a:r>
                <a:r>
                  <a:rPr lang="sv-SE" sz="1050" baseline="-25000" dirty="0" smtClean="0">
                    <a:solidFill>
                      <a:srgbClr val="382819"/>
                    </a:solidFill>
                  </a:rPr>
                  <a:t>b</a:t>
                </a:r>
                <a:endParaRPr lang="sv-SE" sz="1050" dirty="0">
                  <a:solidFill>
                    <a:srgbClr val="382819"/>
                  </a:solidFill>
                </a:endParaRPr>
              </a:p>
            </p:txBody>
          </p:sp>
          <p:grpSp>
            <p:nvGrpSpPr>
              <p:cNvPr id="46" name="Grupp 45"/>
              <p:cNvGrpSpPr/>
              <p:nvPr/>
            </p:nvGrpSpPr>
            <p:grpSpPr>
              <a:xfrm>
                <a:off x="2252984" y="3825304"/>
                <a:ext cx="588564" cy="378151"/>
                <a:chOff x="2946401" y="492834"/>
                <a:chExt cx="588564" cy="378151"/>
              </a:xfrm>
            </p:grpSpPr>
            <p:sp>
              <p:nvSpPr>
                <p:cNvPr id="48" name="textruta 47"/>
                <p:cNvSpPr txBox="1"/>
                <p:nvPr/>
              </p:nvSpPr>
              <p:spPr>
                <a:xfrm>
                  <a:off x="2946401" y="580984"/>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Lisa</a:t>
                  </a:r>
                  <a:endParaRPr lang="sv-SE" sz="1000" i="1" dirty="0">
                    <a:solidFill>
                      <a:prstClr val="black"/>
                    </a:solidFill>
                    <a:latin typeface="Calibri"/>
                    <a:cs typeface="Arial" pitchFamily="34" charset="0"/>
                  </a:endParaRPr>
                </a:p>
              </p:txBody>
            </p:sp>
            <p:pic>
              <p:nvPicPr>
                <p:cNvPr id="49"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0996" y="49283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5" name="textruta 64"/>
              <p:cNvSpPr txBox="1"/>
              <p:nvPr/>
            </p:nvSpPr>
            <p:spPr>
              <a:xfrm>
                <a:off x="3176911" y="3684355"/>
                <a:ext cx="704209" cy="26161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sv-SE" sz="1050" dirty="0">
                    <a:solidFill>
                      <a:srgbClr val="382819"/>
                    </a:solidFill>
                    <a:latin typeface="Arial"/>
                  </a:rPr>
                  <a:t>1</a:t>
                </a:r>
                <a:r>
                  <a:rPr lang="sv-SE" sz="1050" dirty="0" smtClean="0">
                    <a:solidFill>
                      <a:srgbClr val="382819"/>
                    </a:solidFill>
                    <a:latin typeface="Arial"/>
                  </a:rPr>
                  <a:t>x3 </a:t>
                </a:r>
                <a:r>
                  <a:rPr lang="sv-SE" sz="1050" dirty="0">
                    <a:solidFill>
                      <a:srgbClr val="382819"/>
                    </a:solidFill>
                  </a:rPr>
                  <a:t>L</a:t>
                </a:r>
                <a:r>
                  <a:rPr lang="sv-SE" sz="1050" baseline="-25000" dirty="0">
                    <a:solidFill>
                      <a:srgbClr val="382819"/>
                    </a:solidFill>
                  </a:rPr>
                  <a:t>a</a:t>
                </a:r>
                <a:endParaRPr lang="sv-SE" sz="1050" b="1" dirty="0">
                  <a:solidFill>
                    <a:srgbClr val="382819"/>
                  </a:solidFill>
                  <a:latin typeface="Arial"/>
                </a:endParaRPr>
              </a:p>
            </p:txBody>
          </p:sp>
          <p:sp>
            <p:nvSpPr>
              <p:cNvPr id="76" name="Höger klammerparentes 75"/>
              <p:cNvSpPr/>
              <p:nvPr/>
            </p:nvSpPr>
            <p:spPr bwMode="auto">
              <a:xfrm rot="10800000">
                <a:off x="2870623" y="3636424"/>
                <a:ext cx="273473" cy="788671"/>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96" name="textruta 95"/>
              <p:cNvSpPr txBox="1"/>
              <p:nvPr/>
            </p:nvSpPr>
            <p:spPr>
              <a:xfrm>
                <a:off x="3169920" y="4115309"/>
                <a:ext cx="719806" cy="26161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sv-SE" sz="1050" b="1" dirty="0">
                  <a:solidFill>
                    <a:srgbClr val="382819"/>
                  </a:solidFill>
                  <a:latin typeface="Arial"/>
                </a:endParaRPr>
              </a:p>
            </p:txBody>
          </p:sp>
        </p:grpSp>
      </p:grpSp>
      <p:pic>
        <p:nvPicPr>
          <p:cNvPr id="63" name="Picture 19" descr="person.tors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2923" y="3068359"/>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Rektangel 56"/>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grpSp>
        <p:nvGrpSpPr>
          <p:cNvPr id="11" name="Grupp 10"/>
          <p:cNvGrpSpPr/>
          <p:nvPr/>
        </p:nvGrpSpPr>
        <p:grpSpPr>
          <a:xfrm>
            <a:off x="2002127" y="4835181"/>
            <a:ext cx="2485206" cy="925270"/>
            <a:chOff x="2002127" y="4835181"/>
            <a:chExt cx="2485206" cy="925270"/>
          </a:xfrm>
        </p:grpSpPr>
        <p:sp>
          <p:nvSpPr>
            <p:cNvPr id="67" name="textruta 66"/>
            <p:cNvSpPr txBox="1"/>
            <p:nvPr/>
          </p:nvSpPr>
          <p:spPr>
            <a:xfrm>
              <a:off x="2035995" y="4842965"/>
              <a:ext cx="617453" cy="253916"/>
            </a:xfrm>
            <a:prstGeom prst="rect">
              <a:avLst/>
            </a:prstGeom>
            <a:noFill/>
          </p:spPr>
          <p:txBody>
            <a:bodyPr wrap="square" rtlCol="0">
              <a:spAutoFit/>
            </a:bodyPr>
            <a:lstStyle/>
            <a:p>
              <a:r>
                <a:rPr lang="sv-SE" sz="1050" dirty="0" smtClean="0"/>
                <a:t>1x3 </a:t>
              </a:r>
              <a:r>
                <a:rPr lang="sv-SE" sz="1050" i="1" dirty="0">
                  <a:solidFill>
                    <a:srgbClr val="382819"/>
                  </a:solidFill>
                </a:rPr>
                <a:t>L</a:t>
              </a:r>
              <a:r>
                <a:rPr lang="sv-SE" sz="1050" i="1" baseline="-25000" dirty="0">
                  <a:solidFill>
                    <a:srgbClr val="382819"/>
                  </a:solidFill>
                </a:rPr>
                <a:t>a</a:t>
              </a:r>
              <a:endParaRPr lang="sv-SE" sz="1050" dirty="0"/>
            </a:p>
          </p:txBody>
        </p:sp>
        <p:sp>
          <p:nvSpPr>
            <p:cNvPr id="68" name="Ellips 67"/>
            <p:cNvSpPr/>
            <p:nvPr/>
          </p:nvSpPr>
          <p:spPr bwMode="auto">
            <a:xfrm>
              <a:off x="2082795" y="501507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69" name="Ellips 68"/>
            <p:cNvSpPr/>
            <p:nvPr/>
          </p:nvSpPr>
          <p:spPr bwMode="auto">
            <a:xfrm>
              <a:off x="2527295" y="5024599"/>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0" name="Ellips 69"/>
            <p:cNvSpPr/>
            <p:nvPr/>
          </p:nvSpPr>
          <p:spPr bwMode="auto">
            <a:xfrm>
              <a:off x="3161367" y="502142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72" name="textruta 71"/>
            <p:cNvSpPr txBox="1"/>
            <p:nvPr/>
          </p:nvSpPr>
          <p:spPr>
            <a:xfrm>
              <a:off x="2563700" y="4842967"/>
              <a:ext cx="597667" cy="253916"/>
            </a:xfrm>
            <a:prstGeom prst="rect">
              <a:avLst/>
            </a:prstGeom>
            <a:noFill/>
          </p:spPr>
          <p:txBody>
            <a:bodyPr wrap="square" rtlCol="0">
              <a:spAutoFit/>
            </a:bodyPr>
            <a:lstStyle/>
            <a:p>
              <a:r>
                <a:rPr lang="sv-SE" sz="1050" dirty="0"/>
                <a:t>1</a:t>
              </a:r>
              <a:r>
                <a:rPr lang="sv-SE" sz="1050" dirty="0" smtClean="0"/>
                <a:t>x3 </a:t>
              </a:r>
              <a:r>
                <a:rPr lang="sv-SE" sz="1050" i="1" dirty="0">
                  <a:solidFill>
                    <a:srgbClr val="382819"/>
                  </a:solidFill>
                </a:rPr>
                <a:t>L</a:t>
              </a:r>
              <a:r>
                <a:rPr lang="sv-SE" sz="1050" i="1" baseline="-25000" dirty="0">
                  <a:solidFill>
                    <a:srgbClr val="382819"/>
                  </a:solidFill>
                </a:rPr>
                <a:t>a</a:t>
              </a:r>
              <a:endParaRPr lang="sv-SE" sz="1050" dirty="0"/>
            </a:p>
          </p:txBody>
        </p:sp>
        <p:sp>
          <p:nvSpPr>
            <p:cNvPr id="73" name="textruta 72"/>
            <p:cNvSpPr txBox="1"/>
            <p:nvPr/>
          </p:nvSpPr>
          <p:spPr>
            <a:xfrm>
              <a:off x="3877497" y="4842969"/>
              <a:ext cx="609836" cy="253916"/>
            </a:xfrm>
            <a:prstGeom prst="rect">
              <a:avLst/>
            </a:prstGeom>
            <a:noFill/>
          </p:spPr>
          <p:txBody>
            <a:bodyPr wrap="square" rtlCol="0">
              <a:spAutoFit/>
            </a:bodyPr>
            <a:lstStyle/>
            <a:p>
              <a:r>
                <a:rPr lang="sv-SE" sz="1050" dirty="0" smtClean="0"/>
                <a:t>1x3 </a:t>
              </a:r>
              <a:r>
                <a:rPr lang="sv-SE" sz="1050" i="1" dirty="0" smtClean="0">
                  <a:solidFill>
                    <a:srgbClr val="382819"/>
                  </a:solidFill>
                </a:rPr>
                <a:t>L</a:t>
              </a:r>
              <a:r>
                <a:rPr lang="sv-SE" sz="1050" i="1" baseline="-25000" dirty="0" smtClean="0">
                  <a:solidFill>
                    <a:srgbClr val="382819"/>
                  </a:solidFill>
                </a:rPr>
                <a:t>b</a:t>
              </a:r>
              <a:endParaRPr lang="sv-SE" sz="1050" dirty="0"/>
            </a:p>
          </p:txBody>
        </p:sp>
        <p:sp>
          <p:nvSpPr>
            <p:cNvPr id="64" name="textruta 63"/>
            <p:cNvSpPr txBox="1"/>
            <p:nvPr/>
          </p:nvSpPr>
          <p:spPr>
            <a:xfrm>
              <a:off x="3148957" y="4835181"/>
              <a:ext cx="624318" cy="253916"/>
            </a:xfrm>
            <a:prstGeom prst="rect">
              <a:avLst/>
            </a:prstGeom>
            <a:noFill/>
          </p:spPr>
          <p:txBody>
            <a:bodyPr wrap="square" rtlCol="0">
              <a:spAutoFit/>
            </a:bodyPr>
            <a:lstStyle/>
            <a:p>
              <a:r>
                <a:rPr lang="sv-SE" sz="1050" dirty="0" smtClean="0"/>
                <a:t>1x3 </a:t>
              </a:r>
              <a:r>
                <a:rPr lang="sv-SE" sz="1050" i="1" dirty="0">
                  <a:solidFill>
                    <a:srgbClr val="382819"/>
                  </a:solidFill>
                </a:rPr>
                <a:t>L</a:t>
              </a:r>
              <a:r>
                <a:rPr lang="sv-SE" sz="1050" i="1" baseline="-25000" dirty="0">
                  <a:solidFill>
                    <a:srgbClr val="382819"/>
                  </a:solidFill>
                </a:rPr>
                <a:t>a</a:t>
              </a:r>
              <a:endParaRPr lang="sv-SE" sz="1050" dirty="0"/>
            </a:p>
          </p:txBody>
        </p:sp>
        <p:sp>
          <p:nvSpPr>
            <p:cNvPr id="66" name="Ellips 65"/>
            <p:cNvSpPr>
              <a:spLocks noChangeAspect="1"/>
            </p:cNvSpPr>
            <p:nvPr/>
          </p:nvSpPr>
          <p:spPr bwMode="auto">
            <a:xfrm>
              <a:off x="2007732" y="5570431"/>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74" name="Ellips 73"/>
            <p:cNvSpPr>
              <a:spLocks noChangeAspect="1"/>
            </p:cNvSpPr>
            <p:nvPr/>
          </p:nvSpPr>
          <p:spPr bwMode="auto">
            <a:xfrm>
              <a:off x="2002127" y="5343883"/>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75" name="Ellips 74"/>
            <p:cNvSpPr>
              <a:spLocks noChangeAspect="1"/>
            </p:cNvSpPr>
            <p:nvPr/>
          </p:nvSpPr>
          <p:spPr bwMode="auto">
            <a:xfrm>
              <a:off x="2440552" y="5336095"/>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77" name="Ellips 76"/>
            <p:cNvSpPr>
              <a:spLocks noChangeAspect="1"/>
            </p:cNvSpPr>
            <p:nvPr/>
          </p:nvSpPr>
          <p:spPr bwMode="auto">
            <a:xfrm>
              <a:off x="3062033" y="5328307"/>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b</a:t>
              </a:r>
              <a:endParaRPr kumimoji="0" lang="sv-SE" sz="1200" b="0" i="0" u="none" strike="noStrike" cap="none" normalizeH="0" baseline="0" dirty="0" smtClean="0">
                <a:ln>
                  <a:noFill/>
                </a:ln>
                <a:solidFill>
                  <a:srgbClr val="3366FF"/>
                </a:solidFill>
                <a:effectLst/>
                <a:latin typeface="Arial" charset="0"/>
              </a:endParaRPr>
            </a:p>
          </p:txBody>
        </p:sp>
        <p:sp>
          <p:nvSpPr>
            <p:cNvPr id="81" name="Ellips 80"/>
            <p:cNvSpPr>
              <a:spLocks noChangeAspect="1"/>
            </p:cNvSpPr>
            <p:nvPr/>
          </p:nvSpPr>
          <p:spPr bwMode="auto">
            <a:xfrm>
              <a:off x="3773275" y="5562646"/>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93" name="Ellips 92"/>
            <p:cNvSpPr>
              <a:spLocks noChangeAspect="1"/>
            </p:cNvSpPr>
            <p:nvPr/>
          </p:nvSpPr>
          <p:spPr bwMode="auto">
            <a:xfrm>
              <a:off x="3075391" y="5574086"/>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94" name="Ellips 93"/>
            <p:cNvSpPr>
              <a:spLocks noChangeAspect="1"/>
            </p:cNvSpPr>
            <p:nvPr/>
          </p:nvSpPr>
          <p:spPr bwMode="auto">
            <a:xfrm>
              <a:off x="3361409" y="5574087"/>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grpSp>
      <p:sp>
        <p:nvSpPr>
          <p:cNvPr id="55" name="textruta 54"/>
          <p:cNvSpPr txBox="1"/>
          <p:nvPr/>
        </p:nvSpPr>
        <p:spPr>
          <a:xfrm>
            <a:off x="3263057" y="1662974"/>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 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62" name="textruta 61"/>
          <p:cNvSpPr txBox="1"/>
          <p:nvPr/>
        </p:nvSpPr>
        <p:spPr>
          <a:xfrm>
            <a:off x="2370763" y="1672467"/>
            <a:ext cx="614581" cy="230832"/>
          </a:xfrm>
          <a:prstGeom prst="rect">
            <a:avLst/>
          </a:prstGeom>
          <a:noFill/>
        </p:spPr>
        <p:txBody>
          <a:bodyPr wrap="square" rtlCol="0">
            <a:spAutoFit/>
          </a:bodyPr>
          <a:lstStyle/>
          <a:p>
            <a:r>
              <a:rPr lang="sv-SE" sz="900" dirty="0" smtClean="0">
                <a:solidFill>
                  <a:srgbClr val="0000FF"/>
                </a:solidFill>
                <a:latin typeface="Courier New"/>
                <a:cs typeface="Courier New"/>
              </a:rPr>
              <a:t>RMP</a:t>
            </a:r>
            <a:endParaRPr lang="sv-SE" sz="900" b="1" i="1" dirty="0">
              <a:solidFill>
                <a:srgbClr val="0000FF"/>
              </a:solidFill>
            </a:endParaRPr>
          </a:p>
        </p:txBody>
      </p:sp>
      <p:sp>
        <p:nvSpPr>
          <p:cNvPr id="78" name="textruta 77"/>
          <p:cNvSpPr txBox="1"/>
          <p:nvPr/>
        </p:nvSpPr>
        <p:spPr>
          <a:xfrm>
            <a:off x="2979284" y="1664000"/>
            <a:ext cx="614581" cy="230832"/>
          </a:xfrm>
          <a:prstGeom prst="rect">
            <a:avLst/>
          </a:prstGeom>
          <a:noFill/>
        </p:spPr>
        <p:txBody>
          <a:bodyPr wrap="square" rtlCol="0">
            <a:spAutoFit/>
          </a:bodyPr>
          <a:lstStyle/>
          <a:p>
            <a:r>
              <a:rPr lang="sv-SE" sz="900" dirty="0" smtClean="0">
                <a:solidFill>
                  <a:srgbClr val="0000FF"/>
                </a:solidFill>
                <a:latin typeface="Courier New"/>
                <a:cs typeface="Courier New"/>
              </a:rPr>
              <a:t>RMP</a:t>
            </a:r>
            <a:endParaRPr lang="sv-SE" sz="900" b="1" i="1" dirty="0">
              <a:solidFill>
                <a:srgbClr val="0000FF"/>
              </a:solidFill>
            </a:endParaRPr>
          </a:p>
        </p:txBody>
      </p:sp>
      <p:sp>
        <p:nvSpPr>
          <p:cNvPr id="79" name="textruta 78"/>
          <p:cNvSpPr txBox="1"/>
          <p:nvPr/>
        </p:nvSpPr>
        <p:spPr>
          <a:xfrm>
            <a:off x="1893857" y="1662974"/>
            <a:ext cx="614581" cy="230832"/>
          </a:xfrm>
          <a:prstGeom prst="rect">
            <a:avLst/>
          </a:prstGeom>
          <a:noFill/>
        </p:spPr>
        <p:txBody>
          <a:bodyPr wrap="square" rtlCol="0">
            <a:spAutoFit/>
          </a:bodyPr>
          <a:lstStyle/>
          <a:p>
            <a:r>
              <a:rPr lang="sv-SE" sz="900" dirty="0" smtClean="0">
                <a:solidFill>
                  <a:srgbClr val="0000FF"/>
                </a:solidFill>
                <a:latin typeface="Courier New"/>
                <a:cs typeface="Courier New"/>
              </a:rPr>
              <a:t>RMP</a:t>
            </a:r>
            <a:endParaRPr lang="sv-SE" sz="900" b="1" i="1" dirty="0">
              <a:solidFill>
                <a:srgbClr val="0000FF"/>
              </a:solidFill>
            </a:endParaRPr>
          </a:p>
        </p:txBody>
      </p:sp>
      <p:sp>
        <p:nvSpPr>
          <p:cNvPr id="80" name="textruta 79"/>
          <p:cNvSpPr txBox="1"/>
          <p:nvPr/>
        </p:nvSpPr>
        <p:spPr>
          <a:xfrm>
            <a:off x="2979335" y="1269472"/>
            <a:ext cx="1093587" cy="415498"/>
          </a:xfrm>
          <a:prstGeom prst="rect">
            <a:avLst/>
          </a:prstGeom>
          <a:noFill/>
        </p:spPr>
        <p:txBody>
          <a:bodyPr wrap="square" rtlCol="0">
            <a:spAutoFit/>
          </a:bodyPr>
          <a:lstStyle/>
          <a:p>
            <a:r>
              <a:rPr lang="sv-SE" sz="1050" i="1" dirty="0" smtClean="0">
                <a:solidFill>
                  <a:srgbClr val="0000FF"/>
                </a:solidFill>
                <a:latin typeface="Arial"/>
              </a:rPr>
              <a:t>Senarelägg planerat byte</a:t>
            </a:r>
            <a:endParaRPr lang="sv-SE" sz="1050" i="1" dirty="0">
              <a:solidFill>
                <a:srgbClr val="0000FF"/>
              </a:solidFill>
              <a:latin typeface="Arial"/>
            </a:endParaRPr>
          </a:p>
        </p:txBody>
      </p:sp>
    </p:spTree>
    <p:extLst>
      <p:ext uri="{BB962C8B-B14F-4D97-AF65-F5344CB8AC3E}">
        <p14:creationId xmlns:p14="http://schemas.microsoft.com/office/powerpoint/2010/main" val="21331299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2400" dirty="0"/>
              <a:t>Ändring av </a:t>
            </a:r>
            <a:r>
              <a:rPr lang="sv-SE" sz="2400" dirty="0" smtClean="0"/>
              <a:t>läkemedelsbehandling</a:t>
            </a:r>
            <a:br>
              <a:rPr lang="sv-SE" sz="2400" dirty="0" smtClean="0"/>
            </a:br>
            <a:r>
              <a:rPr lang="sv-SE" sz="1800" i="1" dirty="0" smtClean="0"/>
              <a:t>Återinsättning och momentan utsättning</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46</a:t>
            </a:fld>
            <a:endParaRPr lang="sv-SE"/>
          </a:p>
        </p:txBody>
      </p:sp>
      <p:sp>
        <p:nvSpPr>
          <p:cNvPr id="4" name="textruta 3"/>
          <p:cNvSpPr txBox="1"/>
          <p:nvPr/>
        </p:nvSpPr>
        <p:spPr>
          <a:xfrm>
            <a:off x="2104224" y="2503640"/>
            <a:ext cx="905854" cy="261610"/>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1x3</a:t>
            </a:r>
          </a:p>
        </p:txBody>
      </p:sp>
      <p:cxnSp>
        <p:nvCxnSpPr>
          <p:cNvPr id="7" name="Rak 6"/>
          <p:cNvCxnSpPr/>
          <p:nvPr/>
        </p:nvCxnSpPr>
        <p:spPr bwMode="auto">
          <a:xfrm>
            <a:off x="2109304"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470069" y="1237455"/>
            <a:ext cx="1278469" cy="415498"/>
          </a:xfrm>
          <a:prstGeom prst="rect">
            <a:avLst/>
          </a:prstGeom>
          <a:noFill/>
        </p:spPr>
        <p:txBody>
          <a:bodyPr wrap="square" rtlCol="0">
            <a:spAutoFit/>
          </a:bodyPr>
          <a:lstStyle/>
          <a:p>
            <a:r>
              <a:rPr lang="sv-SE" sz="1050" i="1" dirty="0" smtClean="0">
                <a:solidFill>
                  <a:srgbClr val="3366FF"/>
                </a:solidFill>
              </a:rPr>
              <a:t>Insättning av behandling</a:t>
            </a:r>
          </a:p>
        </p:txBody>
      </p:sp>
      <p:sp>
        <p:nvSpPr>
          <p:cNvPr id="37" name="textruta 36"/>
          <p:cNvSpPr txBox="1"/>
          <p:nvPr/>
        </p:nvSpPr>
        <p:spPr>
          <a:xfrm>
            <a:off x="2673757" y="2801533"/>
            <a:ext cx="914033" cy="415498"/>
          </a:xfrm>
          <a:prstGeom prst="rect">
            <a:avLst/>
          </a:prstGeom>
          <a:noFill/>
        </p:spPr>
        <p:txBody>
          <a:bodyPr wrap="square" rtlCol="0">
            <a:spAutoFit/>
          </a:bodyPr>
          <a:lstStyle/>
          <a:p>
            <a:r>
              <a:rPr lang="sv-SE" sz="1050" i="1" dirty="0" smtClean="0"/>
              <a:t>Behandling</a:t>
            </a:r>
            <a:br>
              <a:rPr lang="sv-SE" sz="1050" i="1" dirty="0" smtClean="0"/>
            </a:br>
            <a:r>
              <a:rPr lang="sv-SE" sz="1050" i="1" dirty="0" smtClean="0"/>
              <a:t>tog slut</a:t>
            </a:r>
            <a:endParaRPr lang="sv-SE" sz="1050" i="1" dirty="0"/>
          </a:p>
        </p:txBody>
      </p:sp>
      <p:cxnSp>
        <p:nvCxnSpPr>
          <p:cNvPr id="38" name="Rak 37"/>
          <p:cNvCxnSpPr/>
          <p:nvPr/>
        </p:nvCxnSpPr>
        <p:spPr bwMode="auto">
          <a:xfrm>
            <a:off x="3014116" y="2634828"/>
            <a:ext cx="0" cy="2082800"/>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6947746" y="22891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5039360" cy="225552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9" name="Grupp 8"/>
          <p:cNvGrpSpPr/>
          <p:nvPr/>
        </p:nvGrpSpPr>
        <p:grpSpPr>
          <a:xfrm>
            <a:off x="2072640" y="4334052"/>
            <a:ext cx="2980055" cy="813654"/>
            <a:chOff x="2072640" y="4325585"/>
            <a:chExt cx="2980055" cy="813654"/>
          </a:xfrm>
        </p:grpSpPr>
        <p:sp>
          <p:nvSpPr>
            <p:cNvPr id="27" name="textruta 26"/>
            <p:cNvSpPr txBox="1"/>
            <p:nvPr/>
          </p:nvSpPr>
          <p:spPr>
            <a:xfrm>
              <a:off x="2079412" y="4341471"/>
              <a:ext cx="530013" cy="253916"/>
            </a:xfrm>
            <a:prstGeom prst="rect">
              <a:avLst/>
            </a:prstGeom>
            <a:noFill/>
          </p:spPr>
          <p:txBody>
            <a:bodyPr wrap="square" rtlCol="0">
              <a:spAutoFit/>
            </a:bodyPr>
            <a:lstStyle/>
            <a:p>
              <a:r>
                <a:rPr lang="sv-SE" sz="1050" dirty="0" smtClean="0"/>
                <a:t>1x3</a:t>
              </a:r>
              <a:endParaRPr lang="sv-SE" sz="1050" dirty="0"/>
            </a:p>
          </p:txBody>
        </p:sp>
        <p:sp>
          <p:nvSpPr>
            <p:cNvPr id="32" name="Ellips 31"/>
            <p:cNvSpPr/>
            <p:nvPr/>
          </p:nvSpPr>
          <p:spPr bwMode="auto">
            <a:xfrm>
              <a:off x="2072640" y="451358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5" name="Ellips 34"/>
            <p:cNvSpPr/>
            <p:nvPr/>
          </p:nvSpPr>
          <p:spPr bwMode="auto">
            <a:xfrm>
              <a:off x="3732530" y="451993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9" name="Ellips 38"/>
            <p:cNvSpPr/>
            <p:nvPr/>
          </p:nvSpPr>
          <p:spPr bwMode="auto">
            <a:xfrm>
              <a:off x="4982845" y="451993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41" name="textruta 40"/>
            <p:cNvSpPr txBox="1"/>
            <p:nvPr/>
          </p:nvSpPr>
          <p:spPr>
            <a:xfrm>
              <a:off x="3767675" y="4341475"/>
              <a:ext cx="530013" cy="253916"/>
            </a:xfrm>
            <a:prstGeom prst="rect">
              <a:avLst/>
            </a:prstGeom>
            <a:noFill/>
          </p:spPr>
          <p:txBody>
            <a:bodyPr wrap="square" rtlCol="0">
              <a:spAutoFit/>
            </a:bodyPr>
            <a:lstStyle/>
            <a:p>
              <a:r>
                <a:rPr lang="sv-SE" sz="1050" dirty="0"/>
                <a:t>2</a:t>
              </a:r>
              <a:r>
                <a:rPr lang="sv-SE" sz="1050" dirty="0" smtClean="0"/>
                <a:t>x3</a:t>
              </a:r>
              <a:endParaRPr lang="sv-SE" sz="1050" dirty="0"/>
            </a:p>
          </p:txBody>
        </p:sp>
        <p:sp>
          <p:nvSpPr>
            <p:cNvPr id="43" name="textruta 42"/>
            <p:cNvSpPr txBox="1"/>
            <p:nvPr/>
          </p:nvSpPr>
          <p:spPr>
            <a:xfrm>
              <a:off x="2270336" y="4723741"/>
              <a:ext cx="2340744" cy="415498"/>
            </a:xfrm>
            <a:prstGeom prst="rect">
              <a:avLst/>
            </a:prstGeom>
            <a:noFill/>
          </p:spPr>
          <p:txBody>
            <a:bodyPr wrap="square" rtlCol="0">
              <a:spAutoFit/>
            </a:bodyPr>
            <a:lstStyle>
              <a:defPPr>
                <a:defRPr lang="sv-SE"/>
              </a:defPPr>
              <a:lvl1pPr>
                <a:defRPr sz="1050" i="1"/>
              </a:lvl1pPr>
            </a:lstStyle>
            <a:p>
              <a:r>
                <a:rPr lang="sv-SE" dirty="0" smtClean="0"/>
                <a:t>läkemedelsbehandling, historik (utfall)</a:t>
              </a:r>
              <a:r>
                <a:rPr lang="sv-SE" dirty="0"/>
                <a:t>	</a:t>
              </a:r>
            </a:p>
          </p:txBody>
        </p:sp>
        <p:sp>
          <p:nvSpPr>
            <p:cNvPr id="48" name="Ellips 47"/>
            <p:cNvSpPr/>
            <p:nvPr/>
          </p:nvSpPr>
          <p:spPr bwMode="auto">
            <a:xfrm>
              <a:off x="2998030" y="4526280"/>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49" name="textruta 48"/>
            <p:cNvSpPr txBox="1"/>
            <p:nvPr/>
          </p:nvSpPr>
          <p:spPr>
            <a:xfrm>
              <a:off x="3024715" y="4325585"/>
              <a:ext cx="396665" cy="253916"/>
            </a:xfrm>
            <a:prstGeom prst="rect">
              <a:avLst/>
            </a:prstGeom>
            <a:noFill/>
          </p:spPr>
          <p:txBody>
            <a:bodyPr wrap="square" rtlCol="0">
              <a:spAutoFit/>
            </a:bodyPr>
            <a:lstStyle/>
            <a:p>
              <a:r>
                <a:rPr lang="sv-SE" sz="1050" dirty="0" smtClean="0"/>
                <a:t>0x0</a:t>
              </a:r>
              <a:endParaRPr lang="sv-SE" sz="1050" dirty="0"/>
            </a:p>
          </p:txBody>
        </p:sp>
      </p:grpSp>
      <p:grpSp>
        <p:nvGrpSpPr>
          <p:cNvPr id="6" name="Grupp 5"/>
          <p:cNvGrpSpPr/>
          <p:nvPr/>
        </p:nvGrpSpPr>
        <p:grpSpPr>
          <a:xfrm>
            <a:off x="3554728" y="1215627"/>
            <a:ext cx="2440942" cy="4719506"/>
            <a:chOff x="3554728" y="1215627"/>
            <a:chExt cx="2440942" cy="4719506"/>
          </a:xfrm>
        </p:grpSpPr>
        <p:cxnSp>
          <p:nvCxnSpPr>
            <p:cNvPr id="28" name="Rak 27"/>
            <p:cNvCxnSpPr/>
            <p:nvPr/>
          </p:nvCxnSpPr>
          <p:spPr bwMode="auto">
            <a:xfrm>
              <a:off x="3767884"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ruta 30"/>
            <p:cNvSpPr txBox="1"/>
            <p:nvPr/>
          </p:nvSpPr>
          <p:spPr>
            <a:xfrm>
              <a:off x="3554728" y="1215627"/>
              <a:ext cx="1172342" cy="587579"/>
            </a:xfrm>
            <a:prstGeom prst="rect">
              <a:avLst/>
            </a:prstGeom>
            <a:noFill/>
          </p:spPr>
          <p:txBody>
            <a:bodyPr wrap="square" rtlCol="0">
              <a:spAutoFit/>
            </a:bodyPr>
            <a:lstStyle/>
            <a:p>
              <a:r>
                <a:rPr lang="sv-SE" sz="1050" i="1" dirty="0" smtClean="0">
                  <a:solidFill>
                    <a:srgbClr val="3366FF"/>
                  </a:solidFill>
                </a:rPr>
                <a:t>Sätter in läkemedlet igen, stående</a:t>
              </a:r>
              <a:endParaRPr lang="sv-SE" sz="1050" i="1" dirty="0">
                <a:solidFill>
                  <a:srgbClr val="3366FF"/>
                </a:solidFill>
              </a:endParaRPr>
            </a:p>
          </p:txBody>
        </p:sp>
        <p:sp>
          <p:nvSpPr>
            <p:cNvPr id="36" name="Höger 35"/>
            <p:cNvSpPr/>
            <p:nvPr/>
          </p:nvSpPr>
          <p:spPr bwMode="auto">
            <a:xfrm>
              <a:off x="3766820" y="3420110"/>
              <a:ext cx="2228850" cy="504393"/>
            </a:xfrm>
            <a:prstGeom prst="rightArrow">
              <a:avLst>
                <a:gd name="adj1" fmla="val 50000"/>
                <a:gd name="adj2" fmla="val 38766"/>
              </a:avLst>
            </a:prstGeom>
            <a:solidFill>
              <a:srgbClr val="AADEE2"/>
            </a:solidFill>
            <a:ln>
              <a:solidFill>
                <a:schemeClr val="tx2"/>
              </a:solidFill>
            </a:ln>
            <a:extLst/>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2x3</a:t>
              </a:r>
              <a:endParaRPr lang="sv-SE" sz="1050" dirty="0"/>
            </a:p>
          </p:txBody>
        </p:sp>
      </p:grpSp>
      <p:grpSp>
        <p:nvGrpSpPr>
          <p:cNvPr id="8" name="Grupp 7"/>
          <p:cNvGrpSpPr/>
          <p:nvPr/>
        </p:nvGrpSpPr>
        <p:grpSpPr>
          <a:xfrm>
            <a:off x="4804408" y="1241028"/>
            <a:ext cx="2205992" cy="4694105"/>
            <a:chOff x="4804408" y="1241028"/>
            <a:chExt cx="2205992" cy="4694105"/>
          </a:xfrm>
        </p:grpSpPr>
        <p:sp>
          <p:nvSpPr>
            <p:cNvPr id="22" name="textruta 21"/>
            <p:cNvSpPr txBox="1"/>
            <p:nvPr/>
          </p:nvSpPr>
          <p:spPr>
            <a:xfrm>
              <a:off x="5005711" y="4116587"/>
              <a:ext cx="45719" cy="261610"/>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sv-SE" sz="1050" dirty="0" smtClean="0"/>
            </a:p>
          </p:txBody>
        </p:sp>
        <p:cxnSp>
          <p:nvCxnSpPr>
            <p:cNvPr id="23" name="Rak 22"/>
            <p:cNvCxnSpPr/>
            <p:nvPr/>
          </p:nvCxnSpPr>
          <p:spPr bwMode="auto">
            <a:xfrm>
              <a:off x="5017564" y="1985666"/>
              <a:ext cx="0" cy="3949467"/>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ruta 23"/>
            <p:cNvSpPr txBox="1"/>
            <p:nvPr/>
          </p:nvSpPr>
          <p:spPr>
            <a:xfrm>
              <a:off x="4804408" y="1241028"/>
              <a:ext cx="1393192" cy="415498"/>
            </a:xfrm>
            <a:prstGeom prst="rect">
              <a:avLst/>
            </a:prstGeom>
            <a:noFill/>
          </p:spPr>
          <p:txBody>
            <a:bodyPr wrap="square" rtlCol="0">
              <a:spAutoFit/>
            </a:bodyPr>
            <a:lstStyle/>
            <a:p>
              <a:r>
                <a:rPr lang="sv-SE" sz="1050" i="1" dirty="0" smtClean="0">
                  <a:solidFill>
                    <a:srgbClr val="3366FF"/>
                  </a:solidFill>
                </a:rPr>
                <a:t>Sätter ut läkemedlet</a:t>
              </a:r>
            </a:p>
            <a:p>
              <a:r>
                <a:rPr lang="sv-SE" sz="1050" i="1" dirty="0">
                  <a:solidFill>
                    <a:srgbClr val="3366FF"/>
                  </a:solidFill>
                </a:rPr>
                <a:t>d</a:t>
              </a:r>
              <a:r>
                <a:rPr lang="sv-SE" sz="1050" i="1" dirty="0" smtClean="0">
                  <a:solidFill>
                    <a:srgbClr val="3366FF"/>
                  </a:solidFill>
                </a:rPr>
                <a:t>irekt (momentant)</a:t>
              </a:r>
              <a:endParaRPr lang="sv-SE" sz="1050" i="1" dirty="0">
                <a:solidFill>
                  <a:srgbClr val="3366FF"/>
                </a:solidFill>
              </a:endParaRPr>
            </a:p>
          </p:txBody>
        </p:sp>
        <p:sp>
          <p:nvSpPr>
            <p:cNvPr id="25" name="Rundad rektangulär 24"/>
            <p:cNvSpPr/>
            <p:nvPr/>
          </p:nvSpPr>
          <p:spPr bwMode="auto">
            <a:xfrm>
              <a:off x="5494256" y="4308651"/>
              <a:ext cx="1516144" cy="853710"/>
            </a:xfrm>
            <a:prstGeom prst="wedgeRoundRectCallout">
              <a:avLst>
                <a:gd name="adj1" fmla="val -75317"/>
                <a:gd name="adj2" fmla="val -51493"/>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3366FF"/>
                  </a:solidFill>
                </a:rPr>
                <a:t>Beskriver Ordinerat läkemedel etc. för ordinationen som nu är utsatt</a:t>
              </a:r>
              <a:endParaRPr lang="sv-SE" sz="1100" i="1" dirty="0">
                <a:solidFill>
                  <a:srgbClr val="3366FF"/>
                </a:solidFill>
              </a:endParaRPr>
            </a:p>
          </p:txBody>
        </p:sp>
      </p:grpSp>
      <p:sp>
        <p:nvSpPr>
          <p:cNvPr id="46" name="textruta 45"/>
          <p:cNvSpPr txBox="1"/>
          <p:nvPr/>
        </p:nvSpPr>
        <p:spPr>
          <a:xfrm>
            <a:off x="1473941" y="1779365"/>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err="1" smtClean="0">
                <a:solidFill>
                  <a:srgbClr val="0000FF"/>
                </a:solidFill>
                <a:latin typeface="Courier New"/>
                <a:cs typeface="Courier New"/>
              </a:rPr>
              <a:t>MedicationPrescription</a:t>
            </a:r>
            <a:endParaRPr lang="sv-SE" sz="900" b="1" i="1" dirty="0">
              <a:solidFill>
                <a:srgbClr val="0000FF"/>
              </a:solidFill>
            </a:endParaRPr>
          </a:p>
        </p:txBody>
      </p:sp>
      <p:sp>
        <p:nvSpPr>
          <p:cNvPr id="56" name="textruta 55"/>
          <p:cNvSpPr txBox="1"/>
          <p:nvPr/>
        </p:nvSpPr>
        <p:spPr>
          <a:xfrm>
            <a:off x="3271573" y="1772263"/>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err="1" smtClean="0">
                <a:solidFill>
                  <a:srgbClr val="0000FF"/>
                </a:solidFill>
                <a:latin typeface="Courier New"/>
                <a:cs typeface="Courier New"/>
              </a:rPr>
              <a:t>MedicationPrescription</a:t>
            </a:r>
            <a:endParaRPr lang="sv-SE" sz="900" b="1" i="1" dirty="0">
              <a:solidFill>
                <a:srgbClr val="0000FF"/>
              </a:solidFill>
            </a:endParaRPr>
          </a:p>
        </p:txBody>
      </p:sp>
      <p:sp>
        <p:nvSpPr>
          <p:cNvPr id="57" name="textruta 56"/>
          <p:cNvSpPr txBox="1"/>
          <p:nvPr/>
        </p:nvSpPr>
        <p:spPr>
          <a:xfrm>
            <a:off x="4982845" y="1848615"/>
            <a:ext cx="1727576" cy="230832"/>
          </a:xfrm>
          <a:prstGeom prst="rect">
            <a:avLst/>
          </a:prstGeom>
          <a:noFill/>
        </p:spPr>
        <p:txBody>
          <a:bodyPr wrap="square" rtlCol="0">
            <a:spAutoFit/>
          </a:bodyPr>
          <a:lstStyle/>
          <a:p>
            <a:r>
              <a:rPr lang="sv-SE" sz="900" dirty="0" err="1" smtClean="0">
                <a:solidFill>
                  <a:srgbClr val="0000FF"/>
                </a:solidFill>
                <a:latin typeface="Courier New"/>
                <a:cs typeface="Courier New"/>
              </a:rPr>
              <a:t>DiscontinueMedication</a:t>
            </a:r>
            <a:endParaRPr lang="sv-SE" sz="900" b="1" i="1" dirty="0">
              <a:solidFill>
                <a:srgbClr val="0000FF"/>
              </a:solidFill>
            </a:endParaRPr>
          </a:p>
        </p:txBody>
      </p:sp>
    </p:spTree>
    <p:extLst>
      <p:ext uri="{BB962C8B-B14F-4D97-AF65-F5344CB8AC3E}">
        <p14:creationId xmlns:p14="http://schemas.microsoft.com/office/powerpoint/2010/main" val="979144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ruta 16"/>
          <p:cNvSpPr txBox="1"/>
          <p:nvPr/>
        </p:nvSpPr>
        <p:spPr>
          <a:xfrm>
            <a:off x="5558676" y="1912529"/>
            <a:ext cx="1057160" cy="1408757"/>
          </a:xfrm>
          <a:prstGeom prst="rect">
            <a:avLst/>
          </a:prstGeom>
          <a:noFill/>
          <a:ln/>
        </p:spPr>
        <p:style>
          <a:lnRef idx="2">
            <a:schemeClr val="accent3">
              <a:shade val="50000"/>
            </a:schemeClr>
          </a:lnRef>
          <a:fillRef idx="1">
            <a:schemeClr val="accent3"/>
          </a:fillRef>
          <a:effectRef idx="0">
            <a:schemeClr val="accent3"/>
          </a:effectRef>
          <a:fontRef idx="minor">
            <a:schemeClr val="lt1"/>
          </a:fontRef>
        </p:style>
        <p:txBody>
          <a:bodyPr wrap="square" rtlCol="0">
            <a:noAutofit/>
          </a:bodyPr>
          <a:lstStyle/>
          <a:p>
            <a:endParaRPr lang="sv-SE" sz="1050" b="1" dirty="0">
              <a:solidFill>
                <a:srgbClr val="382819"/>
              </a:solidFill>
              <a:latin typeface="Arial"/>
            </a:endParaRPr>
          </a:p>
        </p:txBody>
      </p:sp>
      <p:sp>
        <p:nvSpPr>
          <p:cNvPr id="2" name="Rubrik 1"/>
          <p:cNvSpPr>
            <a:spLocks noGrp="1"/>
          </p:cNvSpPr>
          <p:nvPr>
            <p:ph type="title"/>
          </p:nvPr>
        </p:nvSpPr>
        <p:spPr>
          <a:xfrm>
            <a:off x="1371876" y="365674"/>
            <a:ext cx="6792913" cy="658793"/>
          </a:xfrm>
        </p:spPr>
        <p:txBody>
          <a:bodyPr/>
          <a:lstStyle/>
          <a:p>
            <a:r>
              <a:rPr lang="sv-SE" sz="2000" dirty="0" smtClean="0"/>
              <a:t>Mer om expedieringsunderlag (”recept”) i NOD</a:t>
            </a:r>
            <a:endParaRPr lang="sv-SE" sz="20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47</a:t>
            </a:fld>
            <a:endParaRPr lang="sv-SE"/>
          </a:p>
        </p:txBody>
      </p:sp>
      <p:sp>
        <p:nvSpPr>
          <p:cNvPr id="4" name="textruta 3"/>
          <p:cNvSpPr txBox="1"/>
          <p:nvPr/>
        </p:nvSpPr>
        <p:spPr>
          <a:xfrm>
            <a:off x="1379080" y="4190691"/>
            <a:ext cx="3106991" cy="1384995"/>
          </a:xfrm>
          <a:prstGeom prst="rect">
            <a:avLst/>
          </a:prstGeom>
          <a:noFill/>
          <a:ln>
            <a:solidFill>
              <a:schemeClr val="bg1">
                <a:lumMod val="50000"/>
              </a:schemeClr>
            </a:solidFill>
          </a:ln>
        </p:spPr>
        <p:txBody>
          <a:bodyPr wrap="square" rtlCol="0">
            <a:spAutoFit/>
          </a:bodyPr>
          <a:lstStyle/>
          <a:p>
            <a:pPr lvl="0"/>
            <a:r>
              <a:rPr lang="sv-SE" sz="1050" dirty="0" smtClean="0"/>
              <a:t>O</a:t>
            </a:r>
            <a:r>
              <a:rPr lang="sv-SE" sz="1050" baseline="-25000" dirty="0" smtClean="0"/>
              <a:t>x</a:t>
            </a:r>
            <a:r>
              <a:rPr lang="sv-SE" sz="1050" dirty="0" smtClean="0"/>
              <a:t> = Ordination</a:t>
            </a:r>
          </a:p>
          <a:p>
            <a:pPr lvl="0"/>
            <a:r>
              <a:rPr lang="sv-SE" sz="1050" dirty="0" smtClean="0"/>
              <a:t>E</a:t>
            </a:r>
            <a:r>
              <a:rPr lang="sv-SE" sz="1050" baseline="-25000" dirty="0" smtClean="0"/>
              <a:t>x</a:t>
            </a:r>
            <a:r>
              <a:rPr lang="sv-SE" sz="1050" dirty="0" smtClean="0">
                <a:solidFill>
                  <a:srgbClr val="382819"/>
                </a:solidFill>
              </a:rPr>
              <a:t>= Expedieringsunderlag</a:t>
            </a:r>
          </a:p>
          <a:p>
            <a:pPr lvl="0"/>
            <a:r>
              <a:rPr lang="sv-SE" sz="1050" dirty="0" smtClean="0">
                <a:solidFill>
                  <a:srgbClr val="382819"/>
                </a:solidFill>
              </a:rPr>
              <a:t>L</a:t>
            </a:r>
            <a:r>
              <a:rPr lang="sv-SE" sz="1050" baseline="-25000" dirty="0">
                <a:solidFill>
                  <a:srgbClr val="382819"/>
                </a:solidFill>
              </a:rPr>
              <a:t>x</a:t>
            </a:r>
            <a:r>
              <a:rPr lang="sv-SE" sz="1050" baseline="-25000" dirty="0" smtClean="0">
                <a:solidFill>
                  <a:srgbClr val="382819"/>
                </a:solidFill>
              </a:rPr>
              <a:t> </a:t>
            </a:r>
            <a:r>
              <a:rPr lang="sv-SE" sz="1050" dirty="0" smtClean="0">
                <a:solidFill>
                  <a:srgbClr val="382819"/>
                </a:solidFill>
              </a:rPr>
              <a:t>= Läkemedel</a:t>
            </a:r>
          </a:p>
          <a:p>
            <a:r>
              <a:rPr lang="sv-SE" sz="1050" dirty="0">
                <a:solidFill>
                  <a:srgbClr val="382819"/>
                </a:solidFill>
              </a:rPr>
              <a:t>F = </a:t>
            </a:r>
            <a:r>
              <a:rPr lang="sv-SE" sz="1050" dirty="0" smtClean="0">
                <a:solidFill>
                  <a:srgbClr val="382819"/>
                </a:solidFill>
              </a:rPr>
              <a:t>Förskrivare</a:t>
            </a:r>
          </a:p>
          <a:p>
            <a:endParaRPr lang="sv-SE" sz="1050" dirty="0" smtClean="0">
              <a:solidFill>
                <a:srgbClr val="382819"/>
              </a:solidFill>
            </a:endParaRPr>
          </a:p>
          <a:p>
            <a:pPr lvl="0"/>
            <a:r>
              <a:rPr lang="sv-SE" sz="1050" dirty="0" smtClean="0">
                <a:solidFill>
                  <a:srgbClr val="382819"/>
                </a:solidFill>
              </a:rPr>
              <a:t>1x3 i 7d =  ”1 tablett 3ggr dagligen i 7 dagar”</a:t>
            </a:r>
          </a:p>
          <a:p>
            <a:r>
              <a:rPr lang="sv-SE" sz="1050" dirty="0">
                <a:solidFill>
                  <a:srgbClr val="382819"/>
                </a:solidFill>
              </a:rPr>
              <a:t>1-3vb = </a:t>
            </a:r>
            <a:r>
              <a:rPr lang="sv-SE" sz="1050" dirty="0" smtClean="0">
                <a:solidFill>
                  <a:srgbClr val="382819"/>
                </a:solidFill>
              </a:rPr>
              <a:t> ”</a:t>
            </a:r>
            <a:r>
              <a:rPr lang="sv-SE" sz="1050" dirty="0">
                <a:solidFill>
                  <a:srgbClr val="382819"/>
                </a:solidFill>
              </a:rPr>
              <a:t>1-3 tabletter vid behov”</a:t>
            </a:r>
          </a:p>
          <a:p>
            <a:pPr lvl="0"/>
            <a:endParaRPr lang="sv-SE" sz="1050" dirty="0" smtClean="0">
              <a:solidFill>
                <a:srgbClr val="382819"/>
              </a:solidFill>
            </a:endParaRPr>
          </a:p>
        </p:txBody>
      </p:sp>
      <p:sp>
        <p:nvSpPr>
          <p:cNvPr id="5" name="textruta 4"/>
          <p:cNvSpPr txBox="1"/>
          <p:nvPr/>
        </p:nvSpPr>
        <p:spPr>
          <a:xfrm>
            <a:off x="1379080" y="2019030"/>
            <a:ext cx="516467" cy="361637"/>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dirty="0" smtClean="0"/>
              <a:t>E</a:t>
            </a:r>
            <a:r>
              <a:rPr lang="sv-SE" sz="1050" baseline="-25000" dirty="0" smtClean="0"/>
              <a:t>x</a:t>
            </a:r>
          </a:p>
          <a:p>
            <a:endParaRPr lang="sv-SE" sz="1050" baseline="-25000" dirty="0"/>
          </a:p>
        </p:txBody>
      </p:sp>
      <p:sp>
        <p:nvSpPr>
          <p:cNvPr id="6" name="textruta 5"/>
          <p:cNvSpPr txBox="1"/>
          <p:nvPr/>
        </p:nvSpPr>
        <p:spPr>
          <a:xfrm>
            <a:off x="1871837" y="1998688"/>
            <a:ext cx="2412296" cy="415498"/>
          </a:xfrm>
          <a:prstGeom prst="rect">
            <a:avLst/>
          </a:prstGeom>
          <a:noFill/>
          <a:ln>
            <a:noFill/>
          </a:ln>
        </p:spPr>
        <p:txBody>
          <a:bodyPr wrap="square" rtlCol="0">
            <a:spAutoFit/>
          </a:bodyPr>
          <a:lstStyle/>
          <a:p>
            <a:pPr lvl="0"/>
            <a:r>
              <a:rPr lang="sv-SE" sz="1050" dirty="0" smtClean="0">
                <a:solidFill>
                  <a:srgbClr val="382819"/>
                </a:solidFill>
              </a:rPr>
              <a:t>Aktuellt* expedieringsunderlag av typ helförpackning</a:t>
            </a:r>
          </a:p>
        </p:txBody>
      </p:sp>
      <p:sp>
        <p:nvSpPr>
          <p:cNvPr id="7" name="textruta 6"/>
          <p:cNvSpPr txBox="1"/>
          <p:nvPr/>
        </p:nvSpPr>
        <p:spPr>
          <a:xfrm>
            <a:off x="1375689" y="2959649"/>
            <a:ext cx="516467" cy="361637"/>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smtClean="0"/>
              <a:t>E</a:t>
            </a:r>
            <a:r>
              <a:rPr lang="sv-SE" baseline="-25000" dirty="0" smtClean="0"/>
              <a:t>y</a:t>
            </a:r>
            <a:endParaRPr lang="sv-SE" dirty="0"/>
          </a:p>
          <a:p>
            <a:endParaRPr lang="sv-SE" baseline="-25000" dirty="0"/>
          </a:p>
        </p:txBody>
      </p:sp>
      <p:sp>
        <p:nvSpPr>
          <p:cNvPr id="8" name="textruta 7"/>
          <p:cNvSpPr txBox="1"/>
          <p:nvPr/>
        </p:nvSpPr>
        <p:spPr>
          <a:xfrm>
            <a:off x="1868445" y="2939306"/>
            <a:ext cx="2415687" cy="415498"/>
          </a:xfrm>
          <a:prstGeom prst="rect">
            <a:avLst/>
          </a:prstGeom>
          <a:noFill/>
          <a:ln>
            <a:noFill/>
          </a:ln>
        </p:spPr>
        <p:txBody>
          <a:bodyPr wrap="square" rtlCol="0">
            <a:spAutoFit/>
          </a:bodyPr>
          <a:lstStyle/>
          <a:p>
            <a:pPr lvl="0"/>
            <a:r>
              <a:rPr lang="sv-SE" sz="1050" dirty="0" smtClean="0">
                <a:solidFill>
                  <a:srgbClr val="382819"/>
                </a:solidFill>
              </a:rPr>
              <a:t>Aktuellt expedieringsunderlag av typ dosdispenserat</a:t>
            </a:r>
          </a:p>
        </p:txBody>
      </p:sp>
      <p:sp>
        <p:nvSpPr>
          <p:cNvPr id="9" name="textruta 8"/>
          <p:cNvSpPr txBox="1"/>
          <p:nvPr/>
        </p:nvSpPr>
        <p:spPr>
          <a:xfrm>
            <a:off x="1321073" y="1489033"/>
            <a:ext cx="1820057" cy="415498"/>
          </a:xfrm>
          <a:prstGeom prst="rect">
            <a:avLst/>
          </a:prstGeom>
          <a:noFill/>
        </p:spPr>
        <p:txBody>
          <a:bodyPr wrap="square" rtlCol="0">
            <a:spAutoFit/>
          </a:bodyPr>
          <a:lstStyle/>
          <a:p>
            <a:r>
              <a:rPr lang="sv-SE" sz="1050" b="1" i="1" dirty="0" smtClean="0"/>
              <a:t>Använda tecken och symboler:</a:t>
            </a:r>
            <a:endParaRPr lang="sv-SE" sz="1050" b="1" i="1" dirty="0"/>
          </a:p>
        </p:txBody>
      </p:sp>
      <p:sp>
        <p:nvSpPr>
          <p:cNvPr id="11" name="textruta 10"/>
          <p:cNvSpPr txBox="1"/>
          <p:nvPr/>
        </p:nvSpPr>
        <p:spPr>
          <a:xfrm>
            <a:off x="1379080" y="2496778"/>
            <a:ext cx="516467" cy="361637"/>
          </a:xfrm>
          <a:prstGeom prst="rect">
            <a:avLst/>
          </a:prstGeom>
          <a:pattFill prst="wdUpDiag">
            <a:fgClr>
              <a:schemeClr val="bg1">
                <a:lumMod val="75000"/>
              </a:schemeClr>
            </a:fgClr>
            <a:bgClr>
              <a:prstClr val="white"/>
            </a:bgClr>
          </a:pattFill>
          <a:ln/>
        </p:spPr>
        <p:style>
          <a:lnRef idx="1">
            <a:schemeClr val="dk1"/>
          </a:lnRef>
          <a:fillRef idx="2">
            <a:schemeClr val="dk1"/>
          </a:fillRef>
          <a:effectRef idx="1">
            <a:schemeClr val="dk1"/>
          </a:effectRef>
          <a:fontRef idx="minor">
            <a:schemeClr val="dk1"/>
          </a:fontRef>
        </p:style>
        <p:txBody>
          <a:bodyPr wrap="square" rtlCol="0">
            <a:spAutoFit/>
          </a:bodyPr>
          <a:lstStyle>
            <a:defPPr>
              <a:defRPr lang="sv-SE"/>
            </a:defPPr>
            <a:lvl1pPr>
              <a:defRPr sz="1050"/>
            </a:lvl1pPr>
          </a:lstStyle>
          <a:p>
            <a:r>
              <a:rPr lang="sv-SE" dirty="0" smtClean="0"/>
              <a:t>E</a:t>
            </a:r>
            <a:r>
              <a:rPr lang="sv-SE" baseline="-25000" dirty="0" smtClean="0"/>
              <a:t>x</a:t>
            </a:r>
          </a:p>
          <a:p>
            <a:endParaRPr lang="sv-SE" baseline="-25000" dirty="0"/>
          </a:p>
        </p:txBody>
      </p:sp>
      <p:sp>
        <p:nvSpPr>
          <p:cNvPr id="12" name="textruta 11"/>
          <p:cNvSpPr txBox="1"/>
          <p:nvPr/>
        </p:nvSpPr>
        <p:spPr>
          <a:xfrm>
            <a:off x="1871830" y="2460405"/>
            <a:ext cx="2496969" cy="415498"/>
          </a:xfrm>
          <a:prstGeom prst="rect">
            <a:avLst/>
          </a:prstGeom>
          <a:noFill/>
          <a:ln>
            <a:noFill/>
          </a:ln>
        </p:spPr>
        <p:txBody>
          <a:bodyPr wrap="square" rtlCol="0">
            <a:spAutoFit/>
          </a:bodyPr>
          <a:lstStyle/>
          <a:p>
            <a:pPr lvl="0"/>
            <a:r>
              <a:rPr lang="sv-SE" sz="1050" dirty="0" smtClean="0">
                <a:solidFill>
                  <a:srgbClr val="382819"/>
                </a:solidFill>
              </a:rPr>
              <a:t>Icke aktuellt expedieringsunderlag av typ helförpackning</a:t>
            </a:r>
          </a:p>
        </p:txBody>
      </p:sp>
      <p:sp>
        <p:nvSpPr>
          <p:cNvPr id="13" name="Rektangel 12"/>
          <p:cNvSpPr/>
          <p:nvPr/>
        </p:nvSpPr>
        <p:spPr>
          <a:xfrm>
            <a:off x="1321073" y="3388965"/>
            <a:ext cx="4156860" cy="707886"/>
          </a:xfrm>
          <a:prstGeom prst="rect">
            <a:avLst/>
          </a:prstGeom>
          <a:noFill/>
          <a:ln>
            <a:noFill/>
          </a:ln>
        </p:spPr>
        <p:txBody>
          <a:bodyPr wrap="square" rtlCol="0">
            <a:spAutoFit/>
          </a:bodyPr>
          <a:lstStyle/>
          <a:p>
            <a:r>
              <a:rPr lang="sv-SE" sz="1000" dirty="0" smtClean="0">
                <a:solidFill>
                  <a:srgbClr val="382819"/>
                </a:solidFill>
              </a:rPr>
              <a:t>* För </a:t>
            </a:r>
            <a:r>
              <a:rPr lang="sv-SE" sz="1000" dirty="0">
                <a:solidFill>
                  <a:srgbClr val="382819"/>
                </a:solidFill>
              </a:rPr>
              <a:t>att vara aktuellt måste det finnas uttag kvar och </a:t>
            </a:r>
            <a:r>
              <a:rPr lang="sv-SE" sz="1000" i="1" dirty="0">
                <a:solidFill>
                  <a:srgbClr val="382819"/>
                </a:solidFill>
              </a:rPr>
              <a:t>sista giltighetsdag </a:t>
            </a:r>
            <a:r>
              <a:rPr lang="sv-SE" sz="1000" dirty="0">
                <a:solidFill>
                  <a:srgbClr val="382819"/>
                </a:solidFill>
              </a:rPr>
              <a:t>får inte vara passerad. Det får heller inte vara makulerat, utsatt (endast dosdispenserat</a:t>
            </a:r>
            <a:r>
              <a:rPr lang="sv-SE" sz="1000" dirty="0" smtClean="0">
                <a:solidFill>
                  <a:srgbClr val="382819"/>
                </a:solidFill>
              </a:rPr>
              <a:t>) eller </a:t>
            </a:r>
            <a:r>
              <a:rPr lang="sv-SE" sz="1000" dirty="0">
                <a:solidFill>
                  <a:srgbClr val="382819"/>
                </a:solidFill>
              </a:rPr>
              <a:t>omvandlat till pappersrecept (utskrivet). </a:t>
            </a:r>
          </a:p>
        </p:txBody>
      </p:sp>
      <p:sp>
        <p:nvSpPr>
          <p:cNvPr id="14" name="textruta 13"/>
          <p:cNvSpPr txBox="1"/>
          <p:nvPr/>
        </p:nvSpPr>
        <p:spPr>
          <a:xfrm>
            <a:off x="5697235" y="2031374"/>
            <a:ext cx="822098" cy="361637"/>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b="1" dirty="0"/>
              <a:t>E</a:t>
            </a:r>
            <a:r>
              <a:rPr lang="sv-SE" sz="1050" b="1" baseline="-25000" dirty="0" smtClean="0"/>
              <a:t>1 </a:t>
            </a:r>
          </a:p>
          <a:p>
            <a:r>
              <a:rPr lang="sv-SE" sz="1050" b="1" baseline="-25000" dirty="0" smtClean="0"/>
              <a:t>  </a:t>
            </a:r>
          </a:p>
        </p:txBody>
      </p:sp>
      <p:sp>
        <p:nvSpPr>
          <p:cNvPr id="15" name="textruta 14"/>
          <p:cNvSpPr txBox="1"/>
          <p:nvPr/>
        </p:nvSpPr>
        <p:spPr>
          <a:xfrm>
            <a:off x="5695102" y="2399224"/>
            <a:ext cx="824231" cy="230832"/>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900" dirty="0" smtClean="0"/>
              <a:t>Status</a:t>
            </a:r>
            <a:endParaRPr lang="sv-SE" sz="900" baseline="-25000" dirty="0"/>
          </a:p>
        </p:txBody>
      </p:sp>
      <p:sp>
        <p:nvSpPr>
          <p:cNvPr id="16" name="textruta 15"/>
          <p:cNvSpPr txBox="1"/>
          <p:nvPr/>
        </p:nvSpPr>
        <p:spPr>
          <a:xfrm>
            <a:off x="5695102" y="2630056"/>
            <a:ext cx="824231" cy="230832"/>
          </a:xfrm>
          <a:prstGeom prst="rect">
            <a:avLst/>
          </a:prstGeom>
          <a:ln>
            <a:prstDash val="dash"/>
          </a:ln>
        </p:spPr>
        <p:style>
          <a:lnRef idx="1">
            <a:schemeClr val="dk1"/>
          </a:lnRef>
          <a:fillRef idx="2">
            <a:schemeClr val="dk1"/>
          </a:fillRef>
          <a:effectRef idx="1">
            <a:schemeClr val="dk1"/>
          </a:effectRef>
          <a:fontRef idx="minor">
            <a:schemeClr val="dk1"/>
          </a:fontRef>
        </p:style>
        <p:txBody>
          <a:bodyPr wrap="square" rtlCol="0">
            <a:spAutoFit/>
          </a:bodyPr>
          <a:lstStyle/>
          <a:p>
            <a:r>
              <a:rPr lang="sv-SE" sz="900" dirty="0"/>
              <a:t>M</a:t>
            </a:r>
            <a:r>
              <a:rPr lang="sv-SE" sz="900" dirty="0" smtClean="0"/>
              <a:t>akulering</a:t>
            </a:r>
            <a:endParaRPr lang="sv-SE" sz="900" baseline="-25000" dirty="0"/>
          </a:p>
        </p:txBody>
      </p:sp>
      <p:sp>
        <p:nvSpPr>
          <p:cNvPr id="19" name="textruta 18"/>
          <p:cNvSpPr txBox="1"/>
          <p:nvPr/>
        </p:nvSpPr>
        <p:spPr>
          <a:xfrm>
            <a:off x="6581968" y="1871776"/>
            <a:ext cx="1165031" cy="415498"/>
          </a:xfrm>
          <a:prstGeom prst="rect">
            <a:avLst/>
          </a:prstGeom>
          <a:noFill/>
        </p:spPr>
        <p:txBody>
          <a:bodyPr wrap="square" rtlCol="0">
            <a:spAutoFit/>
          </a:bodyPr>
          <a:lstStyle/>
          <a:p>
            <a:r>
              <a:rPr lang="sv-SE" sz="1050" i="1" dirty="0" smtClean="0"/>
              <a:t>Expedierings-</a:t>
            </a:r>
            <a:br>
              <a:rPr lang="sv-SE" sz="1050" i="1" dirty="0" smtClean="0"/>
            </a:br>
            <a:r>
              <a:rPr lang="sv-SE" sz="1050" i="1" dirty="0" smtClean="0"/>
              <a:t>ärende</a:t>
            </a:r>
            <a:endParaRPr lang="sv-SE" sz="1050" i="1" dirty="0"/>
          </a:p>
        </p:txBody>
      </p:sp>
      <p:sp>
        <p:nvSpPr>
          <p:cNvPr id="20" name="textruta 19"/>
          <p:cNvSpPr txBox="1"/>
          <p:nvPr/>
        </p:nvSpPr>
        <p:spPr>
          <a:xfrm>
            <a:off x="5695102" y="2868549"/>
            <a:ext cx="824231" cy="230832"/>
          </a:xfrm>
          <a:prstGeom prst="rect">
            <a:avLst/>
          </a:prstGeom>
          <a:ln>
            <a:prstDash val="dash"/>
          </a:ln>
        </p:spPr>
        <p:style>
          <a:lnRef idx="1">
            <a:schemeClr val="dk1"/>
          </a:lnRef>
          <a:fillRef idx="2">
            <a:schemeClr val="dk1"/>
          </a:fillRef>
          <a:effectRef idx="1">
            <a:schemeClr val="dk1"/>
          </a:effectRef>
          <a:fontRef idx="minor">
            <a:schemeClr val="dk1"/>
          </a:fontRef>
        </p:style>
        <p:txBody>
          <a:bodyPr wrap="square" rtlCol="0">
            <a:spAutoFit/>
          </a:bodyPr>
          <a:lstStyle/>
          <a:p>
            <a:r>
              <a:rPr lang="sv-SE" sz="900" dirty="0"/>
              <a:t>E</a:t>
            </a:r>
            <a:r>
              <a:rPr lang="sv-SE" sz="900" dirty="0" smtClean="0"/>
              <a:t>xpediering</a:t>
            </a:r>
            <a:endParaRPr lang="sv-SE" sz="900" baseline="-25000" dirty="0"/>
          </a:p>
        </p:txBody>
      </p:sp>
    </p:spTree>
    <p:extLst>
      <p:ext uri="{BB962C8B-B14F-4D97-AF65-F5344CB8AC3E}">
        <p14:creationId xmlns:p14="http://schemas.microsoft.com/office/powerpoint/2010/main" val="1285874705"/>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noAutofit/>
          </a:bodyPr>
          <a:lstStyle/>
          <a:p>
            <a:r>
              <a:rPr lang="sv-SE" sz="2400" dirty="0" smtClean="0"/>
              <a:t>Expedieringsunderlag ”utlagd”</a:t>
            </a:r>
            <a:br>
              <a:rPr lang="sv-SE" sz="2400" dirty="0" smtClean="0"/>
            </a:br>
            <a:r>
              <a:rPr lang="sv-SE" sz="2400" dirty="0" smtClean="0"/>
              <a:t>på tidsaxeln</a:t>
            </a:r>
            <a:endParaRPr lang="sv-SE" sz="2400"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48</a:t>
            </a:fld>
            <a:endParaRPr lang="sv-SE"/>
          </a:p>
        </p:txBody>
      </p:sp>
      <p:sp>
        <p:nvSpPr>
          <p:cNvPr id="5" name="textruta 4"/>
          <p:cNvSpPr txBox="1"/>
          <p:nvPr/>
        </p:nvSpPr>
        <p:spPr>
          <a:xfrm>
            <a:off x="1530271" y="4622210"/>
            <a:ext cx="2083527" cy="276999"/>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endParaRPr lang="sv-SE" sz="1200" dirty="0" smtClean="0"/>
          </a:p>
        </p:txBody>
      </p:sp>
      <p:cxnSp>
        <p:nvCxnSpPr>
          <p:cNvPr id="13" name="Rak 12"/>
          <p:cNvCxnSpPr/>
          <p:nvPr/>
        </p:nvCxnSpPr>
        <p:spPr bwMode="auto">
          <a:xfrm>
            <a:off x="728133" y="5013147"/>
            <a:ext cx="6811553"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ruta 13"/>
          <p:cNvSpPr txBox="1"/>
          <p:nvPr/>
        </p:nvSpPr>
        <p:spPr>
          <a:xfrm>
            <a:off x="7551329" y="4883714"/>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17" name="Rak 16"/>
          <p:cNvCxnSpPr/>
          <p:nvPr/>
        </p:nvCxnSpPr>
        <p:spPr bwMode="auto">
          <a:xfrm flipH="1">
            <a:off x="1530271" y="4517007"/>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Ellips 19"/>
          <p:cNvSpPr>
            <a:spLocks noChangeAspect="1"/>
          </p:cNvSpPr>
          <p:nvPr/>
        </p:nvSpPr>
        <p:spPr bwMode="auto">
          <a:xfrm>
            <a:off x="1412433" y="5171544"/>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r</a:t>
            </a:r>
            <a:endParaRPr kumimoji="0" lang="sv-SE" sz="1200" b="0" i="0" u="none" strike="noStrike" cap="none" normalizeH="0" baseline="0" dirty="0" smtClean="0">
              <a:ln>
                <a:noFill/>
              </a:ln>
              <a:solidFill>
                <a:srgbClr val="3366FF"/>
              </a:solidFill>
              <a:effectLst/>
              <a:latin typeface="Arial" charset="0"/>
            </a:endParaRPr>
          </a:p>
        </p:txBody>
      </p:sp>
      <p:sp>
        <p:nvSpPr>
          <p:cNvPr id="22" name="Ellips 21"/>
          <p:cNvSpPr>
            <a:spLocks noChangeAspect="1"/>
          </p:cNvSpPr>
          <p:nvPr/>
        </p:nvSpPr>
        <p:spPr bwMode="auto">
          <a:xfrm>
            <a:off x="1486986" y="1491546"/>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r</a:t>
            </a:r>
            <a:endParaRPr kumimoji="0" lang="sv-SE" sz="1200" b="0" i="0" u="none" strike="noStrike" cap="none" normalizeH="0" baseline="0" dirty="0" smtClean="0">
              <a:ln>
                <a:noFill/>
              </a:ln>
              <a:solidFill>
                <a:srgbClr val="3366FF"/>
              </a:solidFill>
              <a:effectLst/>
              <a:latin typeface="Arial" charset="0"/>
            </a:endParaRPr>
          </a:p>
        </p:txBody>
      </p:sp>
      <p:sp>
        <p:nvSpPr>
          <p:cNvPr id="23" name="Ellips 22"/>
          <p:cNvSpPr>
            <a:spLocks noChangeAspect="1"/>
          </p:cNvSpPr>
          <p:nvPr/>
        </p:nvSpPr>
        <p:spPr bwMode="auto">
          <a:xfrm>
            <a:off x="1488739" y="1855774"/>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24" name="Ellips 23"/>
          <p:cNvSpPr>
            <a:spLocks noChangeAspect="1"/>
          </p:cNvSpPr>
          <p:nvPr/>
        </p:nvSpPr>
        <p:spPr bwMode="auto">
          <a:xfrm>
            <a:off x="1495453" y="2578349"/>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sp>
        <p:nvSpPr>
          <p:cNvPr id="25" name="textruta 24"/>
          <p:cNvSpPr txBox="1"/>
          <p:nvPr/>
        </p:nvSpPr>
        <p:spPr>
          <a:xfrm>
            <a:off x="1744640" y="1438293"/>
            <a:ext cx="5344679" cy="2308324"/>
          </a:xfrm>
          <a:prstGeom prst="rect">
            <a:avLst/>
          </a:prstGeom>
          <a:noFill/>
        </p:spPr>
        <p:txBody>
          <a:bodyPr wrap="square" rtlCol="0">
            <a:spAutoFit/>
          </a:bodyPr>
          <a:lstStyle/>
          <a:p>
            <a:r>
              <a:rPr lang="sv-SE" sz="1200" dirty="0" smtClean="0"/>
              <a:t>Registrerad i NOD</a:t>
            </a:r>
          </a:p>
          <a:p>
            <a:endParaRPr lang="sv-SE" sz="1200" dirty="0"/>
          </a:p>
          <a:p>
            <a:r>
              <a:rPr lang="sv-SE" sz="1200" dirty="0" smtClean="0"/>
              <a:t>Insättningstidpunkt. Endast för dosdispenserade underlag. Tidpunkt varifrån </a:t>
            </a:r>
            <a:r>
              <a:rPr lang="sv-SE" sz="1200" dirty="0"/>
              <a:t>a</a:t>
            </a:r>
            <a:r>
              <a:rPr lang="sv-SE" sz="1200" dirty="0" smtClean="0"/>
              <a:t>ngiven doseringsschema räknas. Fylls i av NOD baserat på </a:t>
            </a:r>
            <a:r>
              <a:rPr lang="sv-SE" sz="1200" i="1" dirty="0" err="1" smtClean="0"/>
              <a:t>Läkemedelsordination.insättningstidpunkt</a:t>
            </a:r>
            <a:r>
              <a:rPr lang="sv-SE" sz="1200" dirty="0"/>
              <a:t>.</a:t>
            </a:r>
            <a:endParaRPr lang="sv-SE" sz="1200" dirty="0" smtClean="0"/>
          </a:p>
          <a:p>
            <a:endParaRPr lang="sv-SE" sz="1200" dirty="0"/>
          </a:p>
          <a:p>
            <a:r>
              <a:rPr lang="sv-SE" sz="1200" dirty="0" smtClean="0"/>
              <a:t>Utsättningstidpunkt (om applicerbart). Har endast betydelse för </a:t>
            </a:r>
            <a:r>
              <a:rPr lang="sv-SE" sz="1200" dirty="0"/>
              <a:t>dospatient</a:t>
            </a:r>
            <a:r>
              <a:rPr lang="sv-SE" sz="1200" dirty="0" smtClean="0"/>
              <a:t>. Efter denna tidpunkt ska ingen expediering ske på underlaget.</a:t>
            </a:r>
            <a:br>
              <a:rPr lang="sv-SE" sz="1200" dirty="0" smtClean="0"/>
            </a:br>
            <a:r>
              <a:rPr lang="sv-SE" sz="1200" dirty="0" smtClean="0"/>
              <a:t>Justeras </a:t>
            </a:r>
            <a:r>
              <a:rPr lang="sv-SE" sz="1200" dirty="0"/>
              <a:t>av NOD utgående från </a:t>
            </a:r>
            <a:r>
              <a:rPr lang="sv-SE" sz="1200" i="1" dirty="0" err="1"/>
              <a:t>Läkemedelsordination.utsättningstidpunkt</a:t>
            </a:r>
            <a:r>
              <a:rPr lang="sv-SE" sz="1200" dirty="0"/>
              <a:t>. Kan justeras av NOD vid ändring av behandling.</a:t>
            </a:r>
            <a:endParaRPr lang="sv-SE" sz="1200" dirty="0" smtClean="0"/>
          </a:p>
          <a:p>
            <a:endParaRPr lang="sv-SE" sz="1200" dirty="0"/>
          </a:p>
          <a:p>
            <a:r>
              <a:rPr lang="sv-SE" sz="1200" dirty="0" smtClean="0"/>
              <a:t>Sista giltighetsdatum</a:t>
            </a:r>
          </a:p>
        </p:txBody>
      </p:sp>
      <p:sp>
        <p:nvSpPr>
          <p:cNvPr id="27" name="Rektangel 26"/>
          <p:cNvSpPr/>
          <p:nvPr/>
        </p:nvSpPr>
        <p:spPr>
          <a:xfrm>
            <a:off x="771548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8" name="Ellips 27"/>
          <p:cNvSpPr>
            <a:spLocks noChangeAspect="1"/>
          </p:cNvSpPr>
          <p:nvPr/>
        </p:nvSpPr>
        <p:spPr bwMode="auto">
          <a:xfrm>
            <a:off x="1509016" y="3505989"/>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g</a:t>
            </a:r>
            <a:endParaRPr kumimoji="0" lang="sv-SE" sz="1200" b="0" i="0" u="none" strike="noStrike" cap="none" normalizeH="0" baseline="0" dirty="0" smtClean="0">
              <a:ln>
                <a:noFill/>
              </a:ln>
              <a:solidFill>
                <a:srgbClr val="3366FF"/>
              </a:solidFill>
              <a:effectLst/>
              <a:latin typeface="Arial" charset="0"/>
            </a:endParaRPr>
          </a:p>
        </p:txBody>
      </p:sp>
      <p:sp>
        <p:nvSpPr>
          <p:cNvPr id="29" name="Ellips 28"/>
          <p:cNvSpPr>
            <a:spLocks noChangeAspect="1"/>
          </p:cNvSpPr>
          <p:nvPr/>
        </p:nvSpPr>
        <p:spPr bwMode="auto">
          <a:xfrm>
            <a:off x="3511140" y="4353927"/>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g</a:t>
            </a:r>
            <a:endParaRPr kumimoji="0" lang="sv-SE" sz="1200" b="0" i="0" u="none" strike="noStrike" cap="none" normalizeH="0" baseline="0" dirty="0" smtClean="0">
              <a:ln>
                <a:noFill/>
              </a:ln>
              <a:solidFill>
                <a:srgbClr val="3366FF"/>
              </a:solidFill>
              <a:effectLst/>
              <a:latin typeface="Arial" charset="0"/>
            </a:endParaRPr>
          </a:p>
        </p:txBody>
      </p:sp>
      <p:sp>
        <p:nvSpPr>
          <p:cNvPr id="30" name="textruta 29"/>
          <p:cNvSpPr txBox="1"/>
          <p:nvPr/>
        </p:nvSpPr>
        <p:spPr>
          <a:xfrm>
            <a:off x="4903134" y="4622210"/>
            <a:ext cx="2083527" cy="253916"/>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endParaRPr lang="sv-SE" dirty="0"/>
          </a:p>
        </p:txBody>
      </p:sp>
      <p:sp>
        <p:nvSpPr>
          <p:cNvPr id="31" name="textruta 30"/>
          <p:cNvSpPr txBox="1"/>
          <p:nvPr/>
        </p:nvSpPr>
        <p:spPr>
          <a:xfrm>
            <a:off x="4491443" y="4622211"/>
            <a:ext cx="411692" cy="253916"/>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sv-SE" sz="1200" dirty="0" smtClean="0"/>
          </a:p>
        </p:txBody>
      </p:sp>
      <p:cxnSp>
        <p:nvCxnSpPr>
          <p:cNvPr id="32" name="Rak 31"/>
          <p:cNvCxnSpPr/>
          <p:nvPr/>
        </p:nvCxnSpPr>
        <p:spPr bwMode="auto">
          <a:xfrm flipH="1">
            <a:off x="4490384" y="4523357"/>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Ellips 32"/>
          <p:cNvSpPr>
            <a:spLocks noChangeAspect="1"/>
          </p:cNvSpPr>
          <p:nvPr/>
        </p:nvSpPr>
        <p:spPr bwMode="auto">
          <a:xfrm>
            <a:off x="4810424" y="4305046"/>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34" name="Ellips 33"/>
          <p:cNvSpPr>
            <a:spLocks noChangeAspect="1"/>
          </p:cNvSpPr>
          <p:nvPr/>
        </p:nvSpPr>
        <p:spPr bwMode="auto">
          <a:xfrm>
            <a:off x="5642274" y="4301212"/>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cxnSp>
        <p:nvCxnSpPr>
          <p:cNvPr id="35" name="Rak 34"/>
          <p:cNvCxnSpPr/>
          <p:nvPr/>
        </p:nvCxnSpPr>
        <p:spPr bwMode="auto">
          <a:xfrm flipH="1">
            <a:off x="4903134" y="4517007"/>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Rak 35"/>
          <p:cNvCxnSpPr/>
          <p:nvPr/>
        </p:nvCxnSpPr>
        <p:spPr bwMode="auto">
          <a:xfrm flipH="1">
            <a:off x="5754034" y="4523357"/>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Ellips 36"/>
          <p:cNvSpPr>
            <a:spLocks noChangeAspect="1"/>
          </p:cNvSpPr>
          <p:nvPr/>
        </p:nvSpPr>
        <p:spPr bwMode="auto">
          <a:xfrm>
            <a:off x="4393437" y="5171544"/>
            <a:ext cx="213783" cy="194049"/>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r</a:t>
            </a:r>
            <a:endParaRPr kumimoji="0" lang="sv-SE" sz="1200" b="0" i="0" u="none" strike="noStrike" cap="none" normalizeH="0" baseline="0" dirty="0" smtClean="0">
              <a:ln>
                <a:noFill/>
              </a:ln>
              <a:solidFill>
                <a:srgbClr val="3366FF"/>
              </a:solidFill>
              <a:effectLst/>
              <a:latin typeface="Arial" charset="0"/>
            </a:endParaRPr>
          </a:p>
        </p:txBody>
      </p:sp>
      <p:sp>
        <p:nvSpPr>
          <p:cNvPr id="38" name="Ellips 37"/>
          <p:cNvSpPr>
            <a:spLocks noChangeAspect="1"/>
          </p:cNvSpPr>
          <p:nvPr/>
        </p:nvSpPr>
        <p:spPr bwMode="auto">
          <a:xfrm>
            <a:off x="6884003" y="4353927"/>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g</a:t>
            </a:r>
            <a:endParaRPr kumimoji="0" lang="sv-SE" sz="1200" b="0" i="0" u="none" strike="noStrike" cap="none" normalizeH="0" baseline="0" dirty="0" smtClean="0">
              <a:ln>
                <a:noFill/>
              </a:ln>
              <a:solidFill>
                <a:srgbClr val="3366FF"/>
              </a:solidFill>
              <a:effectLst/>
              <a:latin typeface="Arial" charset="0"/>
            </a:endParaRPr>
          </a:p>
        </p:txBody>
      </p:sp>
      <p:sp>
        <p:nvSpPr>
          <p:cNvPr id="40" name="textruta 39"/>
          <p:cNvSpPr txBox="1"/>
          <p:nvPr/>
        </p:nvSpPr>
        <p:spPr>
          <a:xfrm>
            <a:off x="1810851" y="5365593"/>
            <a:ext cx="1546671" cy="738664"/>
          </a:xfrm>
          <a:prstGeom prst="rect">
            <a:avLst/>
          </a:prstGeom>
          <a:noFill/>
        </p:spPr>
        <p:txBody>
          <a:bodyPr wrap="square" rtlCol="0">
            <a:spAutoFit/>
          </a:bodyPr>
          <a:lstStyle/>
          <a:p>
            <a:r>
              <a:rPr lang="sv-SE" sz="1050" i="1" dirty="0"/>
              <a:t>Expedieringsunderlag av typ helförpackning </a:t>
            </a:r>
            <a:r>
              <a:rPr lang="sv-SE" sz="1050" i="1" dirty="0" smtClean="0"/>
              <a:t>”u” kan endast sättas för dospatient</a:t>
            </a:r>
            <a:endParaRPr lang="sv-SE" sz="1050" i="1" dirty="0"/>
          </a:p>
        </p:txBody>
      </p:sp>
      <p:sp>
        <p:nvSpPr>
          <p:cNvPr id="41" name="textruta 40"/>
          <p:cNvSpPr txBox="1"/>
          <p:nvPr/>
        </p:nvSpPr>
        <p:spPr>
          <a:xfrm>
            <a:off x="4904193" y="5365593"/>
            <a:ext cx="1546671" cy="415498"/>
          </a:xfrm>
          <a:prstGeom prst="rect">
            <a:avLst/>
          </a:prstGeom>
          <a:noFill/>
        </p:spPr>
        <p:txBody>
          <a:bodyPr wrap="square" rtlCol="0">
            <a:spAutoFit/>
          </a:bodyPr>
          <a:lstStyle/>
          <a:p>
            <a:r>
              <a:rPr lang="sv-SE" sz="1050" i="1" dirty="0"/>
              <a:t>Expedieringsunderlag av typ dosdispenserat</a:t>
            </a:r>
          </a:p>
        </p:txBody>
      </p:sp>
      <p:sp>
        <p:nvSpPr>
          <p:cNvPr id="42" name="Ellips 41"/>
          <p:cNvSpPr>
            <a:spLocks noChangeAspect="1"/>
          </p:cNvSpPr>
          <p:nvPr/>
        </p:nvSpPr>
        <p:spPr bwMode="auto">
          <a:xfrm>
            <a:off x="2772074" y="4360430"/>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cxnSp>
        <p:nvCxnSpPr>
          <p:cNvPr id="43" name="Rak 42"/>
          <p:cNvCxnSpPr/>
          <p:nvPr/>
        </p:nvCxnSpPr>
        <p:spPr bwMode="auto">
          <a:xfrm flipH="1">
            <a:off x="2883834" y="4582575"/>
            <a:ext cx="1059" cy="66505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01519950"/>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1800" i="1" dirty="0" smtClean="0"/>
              <a:t>Grundfall: Insättning av behandling, registrera ordination och expedieringsunderlag</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49</a:t>
            </a:fld>
            <a:endParaRPr lang="sv-SE"/>
          </a:p>
        </p:txBody>
      </p:sp>
      <p:sp>
        <p:nvSpPr>
          <p:cNvPr id="4" name="textruta 3"/>
          <p:cNvSpPr txBox="1"/>
          <p:nvPr/>
        </p:nvSpPr>
        <p:spPr>
          <a:xfrm>
            <a:off x="2104224" y="2503640"/>
            <a:ext cx="1502576" cy="253916"/>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1   </a:t>
            </a:r>
            <a:r>
              <a:rPr lang="sv-SE" sz="1050" dirty="0" smtClean="0"/>
              <a:t>1x3 i 7d </a:t>
            </a:r>
            <a:r>
              <a:rPr lang="sv-SE" sz="1050" dirty="0"/>
              <a:t>av </a:t>
            </a:r>
            <a:r>
              <a:rPr lang="sv-SE" sz="1050" dirty="0" smtClean="0"/>
              <a:t>L</a:t>
            </a:r>
            <a:r>
              <a:rPr lang="sv-SE" sz="1050" baseline="-25000" dirty="0" smtClean="0"/>
              <a:t>a</a:t>
            </a:r>
            <a:endParaRPr lang="sv-SE" sz="1050" baseline="-25000" dirty="0"/>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4097867" y="2335937"/>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2228427" cy="826347"/>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2" name="Ellips 31"/>
          <p:cNvSpPr/>
          <p:nvPr/>
        </p:nvSpPr>
        <p:spPr bwMode="auto">
          <a:xfrm>
            <a:off x="2064182" y="3099628"/>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56" name="textruta 55"/>
          <p:cNvSpPr txBox="1"/>
          <p:nvPr/>
        </p:nvSpPr>
        <p:spPr>
          <a:xfrm>
            <a:off x="2110332" y="3502687"/>
            <a:ext cx="1394868" cy="1223412"/>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dirty="0"/>
              <a:t>E</a:t>
            </a:r>
            <a:r>
              <a:rPr lang="sv-SE" sz="1050" baseline="-25000" dirty="0" smtClean="0"/>
              <a:t>1   </a:t>
            </a:r>
          </a:p>
          <a:p>
            <a:r>
              <a:rPr lang="sv-SE" sz="1050" dirty="0" smtClean="0"/>
              <a:t>Dosering: 1x3 i 7d </a:t>
            </a:r>
            <a:r>
              <a:rPr lang="sv-SE" sz="1050" dirty="0"/>
              <a:t/>
            </a:r>
            <a:br>
              <a:rPr lang="sv-SE" sz="1050" dirty="0"/>
            </a:br>
            <a:r>
              <a:rPr lang="sv-SE" sz="1050" dirty="0" smtClean="0"/>
              <a:t>Läkemedel: L</a:t>
            </a:r>
            <a:r>
              <a:rPr lang="sv-SE" sz="1050" baseline="-25000" dirty="0" smtClean="0"/>
              <a:t>a</a:t>
            </a:r>
          </a:p>
          <a:p>
            <a:r>
              <a:rPr lang="sv-SE" sz="1050" dirty="0" smtClean="0"/>
              <a:t>Förskrivare: Anna</a:t>
            </a:r>
          </a:p>
          <a:p>
            <a:r>
              <a:rPr lang="sv-SE" sz="1050" dirty="0" smtClean="0"/>
              <a:t>Uttagsregler</a:t>
            </a:r>
          </a:p>
          <a:p>
            <a:r>
              <a:rPr lang="sv-SE" sz="1050" dirty="0" smtClean="0"/>
              <a:t>Giltighetstid</a:t>
            </a:r>
          </a:p>
          <a:p>
            <a:r>
              <a:rPr lang="sv-SE" sz="1050" dirty="0" smtClean="0"/>
              <a:t>…</a:t>
            </a:r>
            <a:endParaRPr lang="sv-SE" sz="1050" dirty="0"/>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61" name="Rak 60"/>
          <p:cNvCxnSpPr>
            <a:stCxn id="56" idx="1"/>
            <a:endCxn id="32" idx="4"/>
          </p:cNvCxnSpPr>
          <p:nvPr/>
        </p:nvCxnSpPr>
        <p:spPr bwMode="auto">
          <a:xfrm flipH="1" flipV="1">
            <a:off x="2099107" y="3175828"/>
            <a:ext cx="11225" cy="93856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ruta 39"/>
          <p:cNvSpPr txBox="1"/>
          <p:nvPr/>
        </p:nvSpPr>
        <p:spPr>
          <a:xfrm>
            <a:off x="1359744" y="1372300"/>
            <a:ext cx="1528985" cy="415498"/>
          </a:xfrm>
          <a:prstGeom prst="rect">
            <a:avLst/>
          </a:prstGeom>
          <a:noFill/>
        </p:spPr>
        <p:txBody>
          <a:bodyPr wrap="square" rtlCol="0">
            <a:spAutoFit/>
          </a:bodyPr>
          <a:lstStyle/>
          <a:p>
            <a:r>
              <a:rPr lang="sv-SE" sz="1050" i="1" dirty="0" smtClean="0">
                <a:solidFill>
                  <a:srgbClr val="3366FF"/>
                </a:solidFill>
              </a:rPr>
              <a:t>Insättning av behandling</a:t>
            </a:r>
          </a:p>
        </p:txBody>
      </p:sp>
      <p:sp>
        <p:nvSpPr>
          <p:cNvPr id="42" name="textruta 41"/>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49" name="Rundad rektangulär 48"/>
          <p:cNvSpPr/>
          <p:nvPr/>
        </p:nvSpPr>
        <p:spPr bwMode="auto">
          <a:xfrm>
            <a:off x="3703320" y="3605603"/>
            <a:ext cx="2262294" cy="1126125"/>
          </a:xfrm>
          <a:prstGeom prst="wedgeRoundRectCallout">
            <a:avLst>
              <a:gd name="adj1" fmla="val -49012"/>
              <a:gd name="adj2" fmla="val -72620"/>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Expedieringsunderlagen blir kopplade till behandlingen.</a:t>
            </a:r>
            <a:br>
              <a:rPr lang="sv-SE" sz="1000" i="1" dirty="0" smtClean="0">
                <a:solidFill>
                  <a:srgbClr val="3366FF"/>
                </a:solidFill>
              </a:rPr>
            </a:br>
            <a:r>
              <a:rPr lang="sv-SE" sz="1000" i="1" dirty="0" smtClean="0">
                <a:solidFill>
                  <a:srgbClr val="3366FF"/>
                </a:solidFill>
              </a:rPr>
              <a:t>Not: Giltighetstid för expedieringsunderlag - normalt ett år - visas inte grafiskt i bilden av rittekniska skäl</a:t>
            </a:r>
            <a:endParaRPr lang="sv-SE" sz="1000" i="1" dirty="0">
              <a:solidFill>
                <a:srgbClr val="3366FF"/>
              </a:solidFill>
            </a:endParaRPr>
          </a:p>
        </p:txBody>
      </p:sp>
    </p:spTree>
    <p:extLst>
      <p:ext uri="{BB962C8B-B14F-4D97-AF65-F5344CB8AC3E}">
        <p14:creationId xmlns:p14="http://schemas.microsoft.com/office/powerpoint/2010/main" val="281235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1800" i="1" dirty="0" smtClean="0"/>
              <a:t>Exempel: Justerad behandling, </a:t>
            </a:r>
            <a:br>
              <a:rPr lang="sv-SE" sz="1800" i="1" dirty="0" smtClean="0"/>
            </a:br>
            <a:r>
              <a:rPr lang="sv-SE" sz="1800" i="1" dirty="0" smtClean="0"/>
              <a:t>nytt expedieringsunderlag (”recept”) ersätter tidigare</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50</a:t>
            </a:fld>
            <a:endParaRPr lang="sv-SE"/>
          </a:p>
        </p:txBody>
      </p:sp>
      <p:sp>
        <p:nvSpPr>
          <p:cNvPr id="4" name="textruta 3"/>
          <p:cNvSpPr txBox="1"/>
          <p:nvPr/>
        </p:nvSpPr>
        <p:spPr>
          <a:xfrm>
            <a:off x="2104224" y="2503640"/>
            <a:ext cx="1502576" cy="253916"/>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1   </a:t>
            </a:r>
            <a:r>
              <a:rPr lang="sv-SE" sz="1050" dirty="0" smtClean="0"/>
              <a:t>1x3 i 7d </a:t>
            </a:r>
            <a:r>
              <a:rPr lang="sv-SE" sz="1050" dirty="0"/>
              <a:t>av </a:t>
            </a:r>
            <a:r>
              <a:rPr lang="sv-SE" sz="1050" dirty="0" smtClean="0"/>
              <a:t>L</a:t>
            </a:r>
            <a:r>
              <a:rPr lang="sv-SE" sz="1050" baseline="-25000" dirty="0" smtClean="0"/>
              <a:t>a</a:t>
            </a:r>
            <a:endParaRPr lang="sv-SE" sz="1050" baseline="-25000" dirty="0"/>
          </a:p>
        </p:txBody>
      </p:sp>
      <p:sp>
        <p:nvSpPr>
          <p:cNvPr id="5" name="textruta 4"/>
          <p:cNvSpPr txBox="1"/>
          <p:nvPr/>
        </p:nvSpPr>
        <p:spPr>
          <a:xfrm>
            <a:off x="3292163" y="2922829"/>
            <a:ext cx="1229037" cy="253916"/>
          </a:xfrm>
          <a:prstGeom prst="rect">
            <a:avLst/>
          </a:prstGeom>
          <a:solidFill>
            <a:srgbClr val="AADEE2"/>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2</a:t>
            </a:r>
            <a:r>
              <a:rPr lang="sv-SE" sz="1050" dirty="0" smtClean="0"/>
              <a:t>: 2x3 i 5d av L</a:t>
            </a:r>
            <a:r>
              <a:rPr lang="sv-SE" sz="1050" baseline="-25000" dirty="0"/>
              <a:t>b</a:t>
            </a:r>
            <a:endParaRPr lang="sv-SE" sz="1050" baseline="-25000" dirty="0" smtClean="0"/>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flipH="1">
            <a:off x="3291274" y="1964031"/>
            <a:ext cx="889"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ruta 29"/>
          <p:cNvSpPr txBox="1"/>
          <p:nvPr/>
        </p:nvSpPr>
        <p:spPr>
          <a:xfrm>
            <a:off x="2972745" y="1345188"/>
            <a:ext cx="938901" cy="577081"/>
          </a:xfrm>
          <a:prstGeom prst="rect">
            <a:avLst/>
          </a:prstGeom>
          <a:noFill/>
        </p:spPr>
        <p:txBody>
          <a:bodyPr wrap="square" rtlCol="0">
            <a:spAutoFit/>
          </a:bodyPr>
          <a:lstStyle/>
          <a:p>
            <a:r>
              <a:rPr lang="sv-SE" sz="1050" i="1" dirty="0" smtClean="0">
                <a:solidFill>
                  <a:srgbClr val="3366FF"/>
                </a:solidFill>
              </a:rPr>
              <a:t>Justering av lkm, dos,</a:t>
            </a:r>
          </a:p>
          <a:p>
            <a:r>
              <a:rPr lang="sv-SE" sz="1050" i="1" dirty="0" smtClean="0">
                <a:solidFill>
                  <a:srgbClr val="3366FF"/>
                </a:solidFill>
              </a:rPr>
              <a:t>förlängning</a:t>
            </a:r>
            <a:endParaRPr lang="sv-SE" sz="1050" i="1" dirty="0">
              <a:solidFill>
                <a:srgbClr val="3366FF"/>
              </a:solidFill>
            </a:endParaRPr>
          </a:p>
        </p:txBody>
      </p:sp>
      <p:cxnSp>
        <p:nvCxnSpPr>
          <p:cNvPr id="38" name="Rak 37"/>
          <p:cNvCxnSpPr/>
          <p:nvPr/>
        </p:nvCxnSpPr>
        <p:spPr bwMode="auto">
          <a:xfrm>
            <a:off x="4521059" y="2576099"/>
            <a:ext cx="8605" cy="1217507"/>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5347547" y="18870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4387427" cy="132588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27" name="textruta 26"/>
          <p:cNvSpPr txBox="1"/>
          <p:nvPr/>
        </p:nvSpPr>
        <p:spPr>
          <a:xfrm>
            <a:off x="2070954" y="3418605"/>
            <a:ext cx="739979" cy="253916"/>
          </a:xfrm>
          <a:prstGeom prst="rect">
            <a:avLst/>
          </a:prstGeom>
          <a:noFill/>
        </p:spPr>
        <p:txBody>
          <a:bodyPr wrap="square" rtlCol="0">
            <a:spAutoFit/>
          </a:bodyPr>
          <a:lstStyle/>
          <a:p>
            <a:r>
              <a:rPr lang="sv-SE" sz="1050" dirty="0"/>
              <a:t>1x3 </a:t>
            </a:r>
            <a:r>
              <a:rPr lang="sv-SE" sz="1050" dirty="0" smtClean="0"/>
              <a:t>L</a:t>
            </a:r>
            <a:r>
              <a:rPr lang="sv-SE" sz="1050" baseline="-25000" dirty="0" smtClean="0"/>
              <a:t>a</a:t>
            </a:r>
            <a:endParaRPr lang="sv-SE" sz="1050" baseline="-25000" dirty="0"/>
          </a:p>
        </p:txBody>
      </p:sp>
      <p:sp>
        <p:nvSpPr>
          <p:cNvPr id="32" name="Ellips 31"/>
          <p:cNvSpPr/>
          <p:nvPr/>
        </p:nvSpPr>
        <p:spPr bwMode="auto">
          <a:xfrm>
            <a:off x="2064182" y="359071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4" name="Ellips 33"/>
          <p:cNvSpPr/>
          <p:nvPr/>
        </p:nvSpPr>
        <p:spPr bwMode="auto">
          <a:xfrm>
            <a:off x="3256349" y="3600239"/>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9" name="Ellips 38"/>
          <p:cNvSpPr/>
          <p:nvPr/>
        </p:nvSpPr>
        <p:spPr bwMode="auto">
          <a:xfrm>
            <a:off x="4494739" y="359706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41" name="textruta 40"/>
          <p:cNvSpPr txBox="1"/>
          <p:nvPr/>
        </p:nvSpPr>
        <p:spPr>
          <a:xfrm>
            <a:off x="3336545" y="3421465"/>
            <a:ext cx="710521" cy="253916"/>
          </a:xfrm>
          <a:prstGeom prst="rect">
            <a:avLst/>
          </a:prstGeom>
          <a:noFill/>
        </p:spPr>
        <p:txBody>
          <a:bodyPr wrap="square" rtlCol="0">
            <a:spAutoFit/>
          </a:bodyPr>
          <a:lstStyle/>
          <a:p>
            <a:r>
              <a:rPr lang="sv-SE" sz="1050" dirty="0" smtClean="0"/>
              <a:t>2x3 L</a:t>
            </a:r>
            <a:r>
              <a:rPr lang="sv-SE" sz="1050" baseline="-25000" dirty="0" smtClean="0"/>
              <a:t>b</a:t>
            </a:r>
            <a:endParaRPr lang="sv-SE" sz="1050" baseline="-25000" dirty="0"/>
          </a:p>
        </p:txBody>
      </p:sp>
      <p:sp>
        <p:nvSpPr>
          <p:cNvPr id="56" name="textruta 55"/>
          <p:cNvSpPr txBox="1"/>
          <p:nvPr/>
        </p:nvSpPr>
        <p:spPr>
          <a:xfrm>
            <a:off x="2110332" y="3993774"/>
            <a:ext cx="754735" cy="738664"/>
          </a:xfrm>
          <a:prstGeom prst="rect">
            <a:avLst/>
          </a:prstGeom>
          <a:pattFill prst="wdUpDiag">
            <a:fgClr>
              <a:schemeClr val="bg1">
                <a:lumMod val="75000"/>
              </a:schemeClr>
            </a:fgClr>
            <a:bgClr>
              <a:prstClr val="white"/>
            </a:bgClr>
          </a:pattFill>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dirty="0"/>
              <a:t>E</a:t>
            </a:r>
            <a:r>
              <a:rPr lang="sv-SE" sz="1050" baseline="-25000" dirty="0" smtClean="0"/>
              <a:t>1   </a:t>
            </a:r>
          </a:p>
          <a:p>
            <a:r>
              <a:rPr lang="sv-SE" sz="1050" dirty="0" smtClean="0"/>
              <a:t>1x3 i 7d </a:t>
            </a:r>
            <a:r>
              <a:rPr lang="sv-SE" sz="1050" dirty="0"/>
              <a:t/>
            </a:r>
            <a:br>
              <a:rPr lang="sv-SE" sz="1050" dirty="0"/>
            </a:br>
            <a:r>
              <a:rPr lang="sv-SE" sz="1050" dirty="0" smtClean="0"/>
              <a:t>L</a:t>
            </a:r>
            <a:r>
              <a:rPr lang="sv-SE" sz="1050" baseline="-25000" dirty="0" smtClean="0"/>
              <a:t>a</a:t>
            </a:r>
          </a:p>
          <a:p>
            <a:r>
              <a:rPr lang="sv-SE" sz="1050" dirty="0"/>
              <a:t>F: Anna</a:t>
            </a:r>
            <a:endParaRPr lang="sv-SE" sz="1050" baseline="-25000" dirty="0" smtClean="0"/>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15" name="Rak 14"/>
          <p:cNvCxnSpPr>
            <a:stCxn id="57" idx="1"/>
            <a:endCxn id="34" idx="4"/>
          </p:cNvCxnSpPr>
          <p:nvPr/>
        </p:nvCxnSpPr>
        <p:spPr bwMode="auto">
          <a:xfrm flipH="1" flipV="1">
            <a:off x="3291274" y="3676439"/>
            <a:ext cx="1057" cy="69683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ruta 56"/>
          <p:cNvSpPr txBox="1"/>
          <p:nvPr/>
        </p:nvSpPr>
        <p:spPr>
          <a:xfrm>
            <a:off x="3292331" y="4003944"/>
            <a:ext cx="754735" cy="738664"/>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dirty="0" smtClean="0"/>
              <a:t>E</a:t>
            </a:r>
            <a:r>
              <a:rPr lang="sv-SE" sz="1050" baseline="-25000" dirty="0"/>
              <a:t>2</a:t>
            </a:r>
            <a:r>
              <a:rPr lang="sv-SE" sz="1050" baseline="-25000" dirty="0" smtClean="0"/>
              <a:t> </a:t>
            </a:r>
            <a:br>
              <a:rPr lang="sv-SE" sz="1050" baseline="-25000" dirty="0" smtClean="0"/>
            </a:br>
            <a:r>
              <a:rPr lang="sv-SE" sz="1050" dirty="0" smtClean="0"/>
              <a:t>2x3 i 5d</a:t>
            </a:r>
            <a:r>
              <a:rPr lang="sv-SE" sz="1050" dirty="0"/>
              <a:t/>
            </a:r>
            <a:br>
              <a:rPr lang="sv-SE" sz="1050" dirty="0"/>
            </a:br>
            <a:r>
              <a:rPr lang="sv-SE" sz="1050" dirty="0" smtClean="0"/>
              <a:t>L</a:t>
            </a:r>
            <a:r>
              <a:rPr lang="sv-SE" sz="1050" baseline="-25000" dirty="0" smtClean="0"/>
              <a:t>b</a:t>
            </a:r>
          </a:p>
          <a:p>
            <a:r>
              <a:rPr lang="sv-SE" sz="1050" dirty="0"/>
              <a:t>F: </a:t>
            </a:r>
            <a:r>
              <a:rPr lang="sv-SE" sz="1050" dirty="0" smtClean="0"/>
              <a:t>Per</a:t>
            </a:r>
            <a:endParaRPr lang="sv-SE" sz="1050" baseline="-25000" dirty="0"/>
          </a:p>
        </p:txBody>
      </p:sp>
      <p:cxnSp>
        <p:nvCxnSpPr>
          <p:cNvPr id="61" name="Rak 60"/>
          <p:cNvCxnSpPr>
            <a:stCxn id="56" idx="1"/>
            <a:endCxn id="32" idx="4"/>
          </p:cNvCxnSpPr>
          <p:nvPr/>
        </p:nvCxnSpPr>
        <p:spPr bwMode="auto">
          <a:xfrm flipH="1" flipV="1">
            <a:off x="2099107" y="3666914"/>
            <a:ext cx="11225" cy="69619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0" name="Grupp 69"/>
          <p:cNvGrpSpPr/>
          <p:nvPr/>
        </p:nvGrpSpPr>
        <p:grpSpPr>
          <a:xfrm>
            <a:off x="2633565" y="2850166"/>
            <a:ext cx="548726" cy="378151"/>
            <a:chOff x="456399" y="3493354"/>
            <a:chExt cx="548726" cy="378151"/>
          </a:xfrm>
        </p:grpSpPr>
        <p:pic>
          <p:nvPicPr>
            <p:cNvPr id="71"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textruta 71"/>
            <p:cNvSpPr txBox="1"/>
            <p:nvPr/>
          </p:nvSpPr>
          <p:spPr>
            <a:xfrm>
              <a:off x="456399" y="3617589"/>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Per</a:t>
              </a:r>
              <a:endParaRPr lang="sv-SE" sz="1000" i="1" dirty="0">
                <a:solidFill>
                  <a:prstClr val="black"/>
                </a:solidFill>
                <a:latin typeface="Calibri"/>
                <a:cs typeface="Arial" pitchFamily="34" charset="0"/>
              </a:endParaRPr>
            </a:p>
          </p:txBody>
        </p:sp>
      </p:grpSp>
      <p:sp>
        <p:nvSpPr>
          <p:cNvPr id="37" name="textruta 36"/>
          <p:cNvSpPr txBox="1"/>
          <p:nvPr/>
        </p:nvSpPr>
        <p:spPr>
          <a:xfrm>
            <a:off x="2110332" y="4731728"/>
            <a:ext cx="754735" cy="230832"/>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900" dirty="0" smtClean="0"/>
              <a:t>Makulerad</a:t>
            </a:r>
            <a:endParaRPr lang="sv-SE" sz="900" baseline="-25000" dirty="0"/>
          </a:p>
        </p:txBody>
      </p:sp>
      <p:sp>
        <p:nvSpPr>
          <p:cNvPr id="40" name="textruta 39"/>
          <p:cNvSpPr txBox="1"/>
          <p:nvPr/>
        </p:nvSpPr>
        <p:spPr>
          <a:xfrm>
            <a:off x="1359744" y="1372300"/>
            <a:ext cx="1528985" cy="415498"/>
          </a:xfrm>
          <a:prstGeom prst="rect">
            <a:avLst/>
          </a:prstGeom>
          <a:noFill/>
        </p:spPr>
        <p:txBody>
          <a:bodyPr wrap="square" rtlCol="0">
            <a:spAutoFit/>
          </a:bodyPr>
          <a:lstStyle/>
          <a:p>
            <a:r>
              <a:rPr lang="sv-SE" sz="1050" i="1" dirty="0" smtClean="0">
                <a:solidFill>
                  <a:srgbClr val="3366FF"/>
                </a:solidFill>
              </a:rPr>
              <a:t>Insättning av behandling</a:t>
            </a:r>
          </a:p>
        </p:txBody>
      </p:sp>
      <p:sp>
        <p:nvSpPr>
          <p:cNvPr id="42" name="textruta 41"/>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43" name="textruta 42"/>
          <p:cNvSpPr txBox="1"/>
          <p:nvPr/>
        </p:nvSpPr>
        <p:spPr>
          <a:xfrm>
            <a:off x="2972310" y="1952231"/>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Tree>
    <p:extLst>
      <p:ext uri="{BB962C8B-B14F-4D97-AF65-F5344CB8AC3E}">
        <p14:creationId xmlns:p14="http://schemas.microsoft.com/office/powerpoint/2010/main" val="10919249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416476"/>
            <a:ext cx="6792913" cy="692150"/>
          </a:xfrm>
        </p:spPr>
        <p:txBody>
          <a:bodyPr/>
          <a:lstStyle/>
          <a:p>
            <a:r>
              <a:rPr lang="sv-SE" sz="2400" dirty="0" smtClean="0"/>
              <a:t/>
            </a:r>
            <a:br>
              <a:rPr lang="sv-SE" sz="2400" dirty="0" smtClean="0"/>
            </a:br>
            <a:r>
              <a:rPr lang="sv-SE" sz="1800" i="1" dirty="0"/>
              <a:t>Exempel: Förnya </a:t>
            </a:r>
            <a:r>
              <a:rPr lang="sv-SE" sz="1800" i="1" dirty="0" smtClean="0"/>
              <a:t>recept vid stående ordination</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51</a:t>
            </a:fld>
            <a:endParaRPr lang="sv-SE"/>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flipH="1">
            <a:off x="4121040" y="1964031"/>
            <a:ext cx="889"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359744" y="1372300"/>
            <a:ext cx="1471097" cy="415498"/>
          </a:xfrm>
          <a:prstGeom prst="rect">
            <a:avLst/>
          </a:prstGeom>
          <a:noFill/>
        </p:spPr>
        <p:txBody>
          <a:bodyPr wrap="square" rtlCol="0">
            <a:spAutoFit/>
          </a:bodyPr>
          <a:lstStyle/>
          <a:p>
            <a:r>
              <a:rPr lang="sv-SE" sz="1050" i="1" dirty="0" smtClean="0">
                <a:solidFill>
                  <a:srgbClr val="3366FF"/>
                </a:solidFill>
              </a:rPr>
              <a:t>Insättning av behandling tillsvidare</a:t>
            </a:r>
          </a:p>
        </p:txBody>
      </p:sp>
      <p:sp>
        <p:nvSpPr>
          <p:cNvPr id="30" name="textruta 29"/>
          <p:cNvSpPr txBox="1"/>
          <p:nvPr/>
        </p:nvSpPr>
        <p:spPr>
          <a:xfrm>
            <a:off x="3801153" y="1641610"/>
            <a:ext cx="1160313" cy="253916"/>
          </a:xfrm>
          <a:prstGeom prst="rect">
            <a:avLst/>
          </a:prstGeom>
          <a:noFill/>
        </p:spPr>
        <p:txBody>
          <a:bodyPr wrap="square" rtlCol="0">
            <a:spAutoFit/>
          </a:bodyPr>
          <a:lstStyle/>
          <a:p>
            <a:r>
              <a:rPr lang="sv-SE" sz="1050" i="1" dirty="0" smtClean="0">
                <a:solidFill>
                  <a:srgbClr val="3366FF"/>
                </a:solidFill>
              </a:rPr>
              <a:t>Förnya recept</a:t>
            </a:r>
          </a:p>
        </p:txBody>
      </p: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5347547" y="18870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4285827" cy="132588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2" name="Ellips 31"/>
          <p:cNvSpPr/>
          <p:nvPr/>
        </p:nvSpPr>
        <p:spPr bwMode="auto">
          <a:xfrm>
            <a:off x="2064182" y="359071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4" name="Ellips 33"/>
          <p:cNvSpPr/>
          <p:nvPr/>
        </p:nvSpPr>
        <p:spPr bwMode="auto">
          <a:xfrm>
            <a:off x="4086115" y="3600239"/>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50" name="textruta 49"/>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56" name="textruta 55"/>
          <p:cNvSpPr txBox="1"/>
          <p:nvPr/>
        </p:nvSpPr>
        <p:spPr>
          <a:xfrm>
            <a:off x="2110332" y="3993774"/>
            <a:ext cx="754735" cy="738664"/>
          </a:xfrm>
          <a:prstGeom prst="rect">
            <a:avLst/>
          </a:prstGeom>
          <a:pattFill prst="wdUpDiag">
            <a:fgClr>
              <a:schemeClr val="bg1">
                <a:lumMod val="75000"/>
              </a:schemeClr>
            </a:fgClr>
            <a:bgClr>
              <a:prstClr val="white"/>
            </a:bgClr>
          </a:pattFill>
          <a:ln/>
        </p:spPr>
        <p:style>
          <a:lnRef idx="1">
            <a:schemeClr val="dk1"/>
          </a:lnRef>
          <a:fillRef idx="2">
            <a:schemeClr val="dk1"/>
          </a:fillRef>
          <a:effectRef idx="1">
            <a:schemeClr val="dk1"/>
          </a:effectRef>
          <a:fontRef idx="minor">
            <a:schemeClr val="dk1"/>
          </a:fontRef>
        </p:style>
        <p:txBody>
          <a:bodyPr wrap="square" rtlCol="0">
            <a:spAutoFit/>
          </a:bodyPr>
          <a:lstStyle>
            <a:defPPr>
              <a:defRPr lang="sv-SE"/>
            </a:defPPr>
            <a:lvl1pPr>
              <a:defRPr sz="1050"/>
            </a:lvl1pPr>
          </a:lstStyle>
          <a:p>
            <a:r>
              <a:rPr lang="sv-SE" dirty="0"/>
              <a:t>E</a:t>
            </a:r>
            <a:r>
              <a:rPr lang="sv-SE" baseline="-25000" dirty="0"/>
              <a:t>1</a:t>
            </a:r>
            <a:r>
              <a:rPr lang="sv-SE" dirty="0"/>
              <a:t>   </a:t>
            </a:r>
          </a:p>
          <a:p>
            <a:r>
              <a:rPr lang="sv-SE" dirty="0"/>
              <a:t>1-3vb </a:t>
            </a:r>
            <a:br>
              <a:rPr lang="sv-SE" dirty="0"/>
            </a:br>
            <a:r>
              <a:rPr lang="sv-SE" dirty="0" smtClean="0"/>
              <a:t>L</a:t>
            </a:r>
            <a:r>
              <a:rPr lang="sv-SE" baseline="-25000" dirty="0" smtClean="0"/>
              <a:t>a</a:t>
            </a:r>
          </a:p>
          <a:p>
            <a:r>
              <a:rPr lang="sv-SE" dirty="0" smtClean="0"/>
              <a:t>F: Anna </a:t>
            </a:r>
            <a:endParaRPr lang="sv-SE" dirty="0"/>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15" name="Rak 14"/>
          <p:cNvCxnSpPr>
            <a:stCxn id="57" idx="1"/>
            <a:endCxn id="34" idx="4"/>
          </p:cNvCxnSpPr>
          <p:nvPr/>
        </p:nvCxnSpPr>
        <p:spPr bwMode="auto">
          <a:xfrm flipH="1" flipV="1">
            <a:off x="4121040" y="3676439"/>
            <a:ext cx="1057" cy="69683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ruta 56"/>
          <p:cNvSpPr txBox="1"/>
          <p:nvPr/>
        </p:nvSpPr>
        <p:spPr>
          <a:xfrm>
            <a:off x="4122097" y="4003944"/>
            <a:ext cx="754735" cy="738664"/>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dirty="0" smtClean="0"/>
              <a:t>E</a:t>
            </a:r>
            <a:r>
              <a:rPr lang="sv-SE" sz="1050" baseline="-25000" dirty="0"/>
              <a:t>2</a:t>
            </a:r>
            <a:r>
              <a:rPr lang="sv-SE" sz="1050" baseline="-25000" dirty="0" smtClean="0"/>
              <a:t> </a:t>
            </a:r>
            <a:br>
              <a:rPr lang="sv-SE" sz="1050" baseline="-25000" dirty="0" smtClean="0"/>
            </a:br>
            <a:r>
              <a:rPr lang="sv-SE" sz="1050" dirty="0" smtClean="0"/>
              <a:t>1-3vb</a:t>
            </a:r>
            <a:br>
              <a:rPr lang="sv-SE" sz="1050" dirty="0" smtClean="0"/>
            </a:br>
            <a:r>
              <a:rPr lang="sv-SE" sz="1050" dirty="0" smtClean="0"/>
              <a:t>L</a:t>
            </a:r>
            <a:r>
              <a:rPr lang="sv-SE" sz="1050" baseline="-25000" dirty="0" smtClean="0"/>
              <a:t>a</a:t>
            </a:r>
            <a:br>
              <a:rPr lang="sv-SE" sz="1050" baseline="-25000" dirty="0" smtClean="0"/>
            </a:br>
            <a:r>
              <a:rPr lang="sv-SE" sz="1050" dirty="0"/>
              <a:t>F: </a:t>
            </a:r>
            <a:r>
              <a:rPr lang="sv-SE" sz="1050" dirty="0" smtClean="0"/>
              <a:t>Anna</a:t>
            </a:r>
            <a:endParaRPr lang="sv-SE" sz="1050" dirty="0"/>
          </a:p>
        </p:txBody>
      </p:sp>
      <p:cxnSp>
        <p:nvCxnSpPr>
          <p:cNvPr id="61" name="Rak 60"/>
          <p:cNvCxnSpPr>
            <a:stCxn id="56" idx="1"/>
            <a:endCxn id="32" idx="4"/>
          </p:cNvCxnSpPr>
          <p:nvPr/>
        </p:nvCxnSpPr>
        <p:spPr bwMode="auto">
          <a:xfrm flipH="1" flipV="1">
            <a:off x="2099107" y="3666914"/>
            <a:ext cx="11225" cy="69619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0" name="Grupp 69"/>
          <p:cNvGrpSpPr/>
          <p:nvPr/>
        </p:nvGrpSpPr>
        <p:grpSpPr>
          <a:xfrm>
            <a:off x="3491186" y="3666914"/>
            <a:ext cx="548726" cy="378151"/>
            <a:chOff x="456399" y="3493354"/>
            <a:chExt cx="548726" cy="378151"/>
          </a:xfrm>
        </p:grpSpPr>
        <p:pic>
          <p:nvPicPr>
            <p:cNvPr id="71"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textruta 71"/>
            <p:cNvSpPr txBox="1"/>
            <p:nvPr/>
          </p:nvSpPr>
          <p:spPr>
            <a:xfrm>
              <a:off x="456399" y="3617589"/>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 </a:t>
              </a:r>
              <a:endParaRPr lang="sv-SE" sz="1000" i="1" dirty="0">
                <a:solidFill>
                  <a:prstClr val="black"/>
                </a:solidFill>
                <a:latin typeface="Calibri"/>
                <a:cs typeface="Arial" pitchFamily="34" charset="0"/>
              </a:endParaRPr>
            </a:p>
          </p:txBody>
        </p:sp>
      </p:grpSp>
      <p:sp>
        <p:nvSpPr>
          <p:cNvPr id="37" name="textruta 36"/>
          <p:cNvSpPr txBox="1"/>
          <p:nvPr/>
        </p:nvSpPr>
        <p:spPr>
          <a:xfrm>
            <a:off x="2110332" y="4731728"/>
            <a:ext cx="754735" cy="230832"/>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sv-SE" sz="900" dirty="0" smtClean="0"/>
              <a:t>Slutexped.</a:t>
            </a:r>
            <a:endParaRPr lang="sv-SE" sz="900" baseline="-25000" dirty="0"/>
          </a:p>
        </p:txBody>
      </p:sp>
      <p:sp>
        <p:nvSpPr>
          <p:cNvPr id="40" name="Höger 39"/>
          <p:cNvSpPr/>
          <p:nvPr/>
        </p:nvSpPr>
        <p:spPr bwMode="auto">
          <a:xfrm>
            <a:off x="2109304" y="2364828"/>
            <a:ext cx="3300896" cy="504393"/>
          </a:xfrm>
          <a:prstGeom prst="rightArrow">
            <a:avLst>
              <a:gd name="adj1" fmla="val 50000"/>
              <a:gd name="adj2" fmla="val 38766"/>
            </a:avLst>
          </a:prstGeom>
          <a:solidFill>
            <a:srgbClr val="AADEE2"/>
          </a:solidFill>
          <a:ln>
            <a:solidFill>
              <a:schemeClr val="tx2"/>
            </a:solidFill>
          </a:ln>
          <a:extLst/>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a:t>O</a:t>
            </a:r>
            <a:r>
              <a:rPr lang="sv-SE" sz="1050" baseline="-25000" dirty="0"/>
              <a:t>1   </a:t>
            </a:r>
            <a:r>
              <a:rPr lang="sv-SE" sz="1050" dirty="0"/>
              <a:t>1-</a:t>
            </a:r>
            <a:r>
              <a:rPr lang="sv-SE" sz="1050" dirty="0" smtClean="0"/>
              <a:t>3vb (vid behov) </a:t>
            </a:r>
            <a:r>
              <a:rPr lang="sv-SE" sz="1050" dirty="0"/>
              <a:t>av </a:t>
            </a:r>
            <a:r>
              <a:rPr lang="sv-SE" sz="1050" dirty="0" smtClean="0"/>
              <a:t>L</a:t>
            </a:r>
            <a:r>
              <a:rPr lang="sv-SE" sz="1050" baseline="-25000" dirty="0" smtClean="0"/>
              <a:t>a</a:t>
            </a:r>
            <a:endParaRPr lang="sv-SE" sz="1050" baseline="-25000" dirty="0"/>
          </a:p>
        </p:txBody>
      </p:sp>
      <p:sp>
        <p:nvSpPr>
          <p:cNvPr id="42" name="textruta 41"/>
          <p:cNvSpPr txBox="1"/>
          <p:nvPr/>
        </p:nvSpPr>
        <p:spPr>
          <a:xfrm>
            <a:off x="3798238" y="1819370"/>
            <a:ext cx="1433130" cy="507831"/>
          </a:xfrm>
          <a:prstGeom prst="rect">
            <a:avLst/>
          </a:prstGeom>
          <a:noFill/>
        </p:spPr>
        <p:txBody>
          <a:bodyPr wrap="square" rtlCol="0">
            <a:spAutoFit/>
          </a:bodyPr>
          <a:lstStyle/>
          <a:p>
            <a:pPr defTabSz="914400">
              <a:defRPr/>
            </a:pPr>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MedicationDispense</a:t>
            </a:r>
            <a:r>
              <a:rPr lang="sv-SE" sz="900" dirty="0">
                <a:solidFill>
                  <a:srgbClr val="0000FF"/>
                </a:solidFill>
                <a:latin typeface="Courier New"/>
                <a:cs typeface="Courier New"/>
              </a:rPr>
              <a:t/>
            </a:r>
            <a:br>
              <a:rPr lang="sv-SE" sz="900" dirty="0">
                <a:solidFill>
                  <a:srgbClr val="0000FF"/>
                </a:solidFill>
                <a:latin typeface="Courier New"/>
                <a:cs typeface="Courier New"/>
              </a:rPr>
            </a:br>
            <a:r>
              <a:rPr lang="sv-SE" sz="900" dirty="0">
                <a:solidFill>
                  <a:srgbClr val="0000FF"/>
                </a:solidFill>
                <a:latin typeface="Courier New"/>
                <a:cs typeface="Courier New"/>
              </a:rPr>
              <a:t>Authorization</a:t>
            </a:r>
          </a:p>
        </p:txBody>
      </p:sp>
      <p:sp>
        <p:nvSpPr>
          <p:cNvPr id="31" name="Rundad rektangulär 30"/>
          <p:cNvSpPr/>
          <p:nvPr/>
        </p:nvSpPr>
        <p:spPr bwMode="auto">
          <a:xfrm>
            <a:off x="3801153" y="5051170"/>
            <a:ext cx="1727140" cy="445088"/>
          </a:xfrm>
          <a:prstGeom prst="wedgeRoundRectCallout">
            <a:avLst>
              <a:gd name="adj1" fmla="val -28280"/>
              <a:gd name="adj2" fmla="val -81514"/>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Vid ett årskontroll förnyar Anna patientens recept</a:t>
            </a:r>
            <a:endParaRPr lang="sv-SE" sz="1000" i="1" dirty="0">
              <a:solidFill>
                <a:srgbClr val="3366FF"/>
              </a:solidFill>
            </a:endParaRPr>
          </a:p>
        </p:txBody>
      </p:sp>
      <p:cxnSp>
        <p:nvCxnSpPr>
          <p:cNvPr id="35" name="Rak 34"/>
          <p:cNvCxnSpPr/>
          <p:nvPr/>
        </p:nvCxnSpPr>
        <p:spPr bwMode="auto">
          <a:xfrm>
            <a:off x="4349578" y="2364828"/>
            <a:ext cx="0" cy="1156576"/>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Rektangel 5"/>
          <p:cNvSpPr/>
          <p:nvPr/>
        </p:nvSpPr>
        <p:spPr>
          <a:xfrm>
            <a:off x="4086115" y="2916765"/>
            <a:ext cx="911974" cy="369332"/>
          </a:xfrm>
          <a:prstGeom prst="rect">
            <a:avLst/>
          </a:prstGeom>
        </p:spPr>
        <p:txBody>
          <a:bodyPr wrap="none">
            <a:spAutoFit/>
          </a:bodyPr>
          <a:lstStyle/>
          <a:p>
            <a:r>
              <a:rPr lang="sv-SE" sz="900" i="1" dirty="0" smtClean="0"/>
              <a:t>Utvärderings-</a:t>
            </a:r>
            <a:br>
              <a:rPr lang="sv-SE" sz="900" i="1" dirty="0" smtClean="0"/>
            </a:br>
            <a:r>
              <a:rPr lang="sv-SE" sz="900" i="1" dirty="0" smtClean="0"/>
              <a:t>tidpunkt</a:t>
            </a:r>
            <a:endParaRPr lang="sv-SE" sz="900" dirty="0"/>
          </a:p>
        </p:txBody>
      </p:sp>
    </p:spTree>
    <p:extLst>
      <p:ext uri="{BB962C8B-B14F-4D97-AF65-F5344CB8AC3E}">
        <p14:creationId xmlns:p14="http://schemas.microsoft.com/office/powerpoint/2010/main" val="2696378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371876" y="323339"/>
            <a:ext cx="6333445" cy="718061"/>
          </a:xfrm>
        </p:spPr>
        <p:txBody>
          <a:bodyPr/>
          <a:lstStyle/>
          <a:p>
            <a:r>
              <a:rPr lang="sv-SE" sz="1800" i="1" dirty="0" smtClean="0"/>
              <a:t>Exempel</a:t>
            </a:r>
            <a:r>
              <a:rPr lang="sv-SE" sz="1800" i="1" dirty="0"/>
              <a:t>:  </a:t>
            </a:r>
            <a:r>
              <a:rPr lang="sv-SE" sz="1800" i="1" dirty="0" smtClean="0"/>
              <a:t>Förnya </a:t>
            </a:r>
            <a:r>
              <a:rPr lang="sv-SE" sz="1800" i="1" dirty="0"/>
              <a:t>recept, dosering vid behov (</a:t>
            </a:r>
            <a:r>
              <a:rPr lang="sv-SE" sz="1800" i="1" dirty="0" err="1"/>
              <a:t>vb</a:t>
            </a:r>
            <a:r>
              <a:rPr lang="sv-SE" sz="1800" i="1" dirty="0" smtClean="0"/>
              <a:t>)</a:t>
            </a:r>
            <a:br>
              <a:rPr lang="sv-SE" sz="1800" i="1" dirty="0" smtClean="0"/>
            </a:br>
            <a:r>
              <a:rPr lang="sv-SE" sz="1800" i="1" dirty="0" smtClean="0"/>
              <a:t>- flera aktörer</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52</a:t>
            </a:fld>
            <a:endParaRPr lang="sv-SE"/>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flipH="1">
            <a:off x="4121040" y="1964031"/>
            <a:ext cx="889"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ruta 28"/>
          <p:cNvSpPr txBox="1"/>
          <p:nvPr/>
        </p:nvSpPr>
        <p:spPr>
          <a:xfrm>
            <a:off x="1359744" y="1372300"/>
            <a:ext cx="1471097" cy="415498"/>
          </a:xfrm>
          <a:prstGeom prst="rect">
            <a:avLst/>
          </a:prstGeom>
          <a:noFill/>
        </p:spPr>
        <p:txBody>
          <a:bodyPr wrap="square" rtlCol="0">
            <a:spAutoFit/>
          </a:bodyPr>
          <a:lstStyle/>
          <a:p>
            <a:r>
              <a:rPr lang="sv-SE" sz="1050" i="1" dirty="0" smtClean="0">
                <a:solidFill>
                  <a:srgbClr val="3366FF"/>
                </a:solidFill>
              </a:rPr>
              <a:t>Insättning av behandling tillsvidare</a:t>
            </a:r>
          </a:p>
        </p:txBody>
      </p:sp>
      <p:sp>
        <p:nvSpPr>
          <p:cNvPr id="30" name="textruta 29"/>
          <p:cNvSpPr txBox="1"/>
          <p:nvPr/>
        </p:nvSpPr>
        <p:spPr>
          <a:xfrm>
            <a:off x="3801153" y="1641610"/>
            <a:ext cx="1160313" cy="253916"/>
          </a:xfrm>
          <a:prstGeom prst="rect">
            <a:avLst/>
          </a:prstGeom>
          <a:noFill/>
        </p:spPr>
        <p:txBody>
          <a:bodyPr wrap="square" rtlCol="0">
            <a:spAutoFit/>
          </a:bodyPr>
          <a:lstStyle/>
          <a:p>
            <a:r>
              <a:rPr lang="sv-SE" sz="1050" i="1" dirty="0" smtClean="0">
                <a:solidFill>
                  <a:srgbClr val="3366FF"/>
                </a:solidFill>
              </a:rPr>
              <a:t>Förnya recept</a:t>
            </a:r>
          </a:p>
        </p:txBody>
      </p: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5347547" y="18870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4285827" cy="132588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2" name="Ellips 31"/>
          <p:cNvSpPr/>
          <p:nvPr/>
        </p:nvSpPr>
        <p:spPr bwMode="auto">
          <a:xfrm>
            <a:off x="2064182" y="359071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4" name="Ellips 33"/>
          <p:cNvSpPr/>
          <p:nvPr/>
        </p:nvSpPr>
        <p:spPr bwMode="auto">
          <a:xfrm>
            <a:off x="4086115" y="3600239"/>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50" name="textruta 49"/>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56" name="textruta 55"/>
          <p:cNvSpPr txBox="1"/>
          <p:nvPr/>
        </p:nvSpPr>
        <p:spPr>
          <a:xfrm>
            <a:off x="2110332" y="3993774"/>
            <a:ext cx="754735" cy="738664"/>
          </a:xfrm>
          <a:prstGeom prst="rect">
            <a:avLst/>
          </a:prstGeom>
          <a:pattFill prst="wdUpDiag">
            <a:fgClr>
              <a:schemeClr val="bg1">
                <a:lumMod val="75000"/>
              </a:schemeClr>
            </a:fgClr>
            <a:bgClr>
              <a:prstClr val="white"/>
            </a:bgClr>
          </a:pattFill>
          <a:ln/>
        </p:spPr>
        <p:style>
          <a:lnRef idx="1">
            <a:schemeClr val="dk1"/>
          </a:lnRef>
          <a:fillRef idx="2">
            <a:schemeClr val="dk1"/>
          </a:fillRef>
          <a:effectRef idx="1">
            <a:schemeClr val="dk1"/>
          </a:effectRef>
          <a:fontRef idx="minor">
            <a:schemeClr val="dk1"/>
          </a:fontRef>
        </p:style>
        <p:txBody>
          <a:bodyPr wrap="square" rtlCol="0">
            <a:spAutoFit/>
          </a:bodyPr>
          <a:lstStyle>
            <a:defPPr>
              <a:defRPr lang="sv-SE"/>
            </a:defPPr>
            <a:lvl1pPr>
              <a:defRPr sz="1050"/>
            </a:lvl1pPr>
          </a:lstStyle>
          <a:p>
            <a:r>
              <a:rPr lang="sv-SE" dirty="0"/>
              <a:t>E</a:t>
            </a:r>
            <a:r>
              <a:rPr lang="sv-SE" baseline="-25000" dirty="0"/>
              <a:t>1</a:t>
            </a:r>
            <a:r>
              <a:rPr lang="sv-SE" dirty="0"/>
              <a:t>   </a:t>
            </a:r>
          </a:p>
          <a:p>
            <a:r>
              <a:rPr lang="sv-SE" dirty="0"/>
              <a:t>1-3vb </a:t>
            </a:r>
            <a:br>
              <a:rPr lang="sv-SE" dirty="0"/>
            </a:br>
            <a:r>
              <a:rPr lang="sv-SE" dirty="0" smtClean="0"/>
              <a:t>L</a:t>
            </a:r>
            <a:r>
              <a:rPr lang="sv-SE" baseline="-25000" dirty="0" smtClean="0"/>
              <a:t>a</a:t>
            </a:r>
          </a:p>
          <a:p>
            <a:r>
              <a:rPr lang="sv-SE" dirty="0" smtClean="0"/>
              <a:t>F: Anna </a:t>
            </a:r>
            <a:endParaRPr lang="sv-SE" dirty="0"/>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15" name="Rak 14"/>
          <p:cNvCxnSpPr>
            <a:stCxn id="57" idx="1"/>
            <a:endCxn id="34" idx="4"/>
          </p:cNvCxnSpPr>
          <p:nvPr/>
        </p:nvCxnSpPr>
        <p:spPr bwMode="auto">
          <a:xfrm flipH="1" flipV="1">
            <a:off x="4121040" y="3676439"/>
            <a:ext cx="1057" cy="69683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ruta 56"/>
          <p:cNvSpPr txBox="1"/>
          <p:nvPr/>
        </p:nvSpPr>
        <p:spPr>
          <a:xfrm>
            <a:off x="4122097" y="4003944"/>
            <a:ext cx="754735" cy="738664"/>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r>
              <a:rPr lang="sv-SE" sz="1050" dirty="0" smtClean="0"/>
              <a:t>E</a:t>
            </a:r>
            <a:r>
              <a:rPr lang="sv-SE" sz="1050" baseline="-25000" dirty="0"/>
              <a:t>2</a:t>
            </a:r>
            <a:r>
              <a:rPr lang="sv-SE" sz="1050" baseline="-25000" dirty="0" smtClean="0"/>
              <a:t> </a:t>
            </a:r>
            <a:br>
              <a:rPr lang="sv-SE" sz="1050" baseline="-25000" dirty="0" smtClean="0"/>
            </a:br>
            <a:r>
              <a:rPr lang="sv-SE" sz="1050" dirty="0" smtClean="0"/>
              <a:t>1-3vb</a:t>
            </a:r>
            <a:br>
              <a:rPr lang="sv-SE" sz="1050" dirty="0" smtClean="0"/>
            </a:br>
            <a:r>
              <a:rPr lang="sv-SE" sz="1050" dirty="0" smtClean="0"/>
              <a:t>L</a:t>
            </a:r>
            <a:r>
              <a:rPr lang="sv-SE" sz="1050" baseline="-25000" dirty="0" smtClean="0"/>
              <a:t>a</a:t>
            </a:r>
            <a:br>
              <a:rPr lang="sv-SE" sz="1050" baseline="-25000" dirty="0" smtClean="0"/>
            </a:br>
            <a:r>
              <a:rPr lang="sv-SE" sz="1050" dirty="0"/>
              <a:t>F: </a:t>
            </a:r>
            <a:r>
              <a:rPr lang="sv-SE" sz="1050" dirty="0" smtClean="0"/>
              <a:t>Lars</a:t>
            </a:r>
            <a:endParaRPr lang="sv-SE" sz="1050" dirty="0"/>
          </a:p>
        </p:txBody>
      </p:sp>
      <p:cxnSp>
        <p:nvCxnSpPr>
          <p:cNvPr id="61" name="Rak 60"/>
          <p:cNvCxnSpPr>
            <a:stCxn id="56" idx="1"/>
            <a:endCxn id="32" idx="4"/>
          </p:cNvCxnSpPr>
          <p:nvPr/>
        </p:nvCxnSpPr>
        <p:spPr bwMode="auto">
          <a:xfrm flipH="1" flipV="1">
            <a:off x="2099107" y="3666914"/>
            <a:ext cx="11225" cy="69619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0" name="Grupp 69"/>
          <p:cNvGrpSpPr/>
          <p:nvPr/>
        </p:nvGrpSpPr>
        <p:grpSpPr>
          <a:xfrm>
            <a:off x="3491186" y="3666914"/>
            <a:ext cx="548726" cy="378151"/>
            <a:chOff x="456399" y="3493354"/>
            <a:chExt cx="548726" cy="378151"/>
          </a:xfrm>
        </p:grpSpPr>
        <p:pic>
          <p:nvPicPr>
            <p:cNvPr id="71"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textruta 71"/>
            <p:cNvSpPr txBox="1"/>
            <p:nvPr/>
          </p:nvSpPr>
          <p:spPr>
            <a:xfrm>
              <a:off x="456399" y="3617589"/>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Lars</a:t>
              </a:r>
              <a:endParaRPr lang="sv-SE" sz="1000" i="1" dirty="0">
                <a:solidFill>
                  <a:prstClr val="black"/>
                </a:solidFill>
                <a:latin typeface="Calibri"/>
                <a:cs typeface="Arial" pitchFamily="34" charset="0"/>
              </a:endParaRPr>
            </a:p>
          </p:txBody>
        </p:sp>
      </p:grpSp>
      <p:sp>
        <p:nvSpPr>
          <p:cNvPr id="37" name="textruta 36"/>
          <p:cNvSpPr txBox="1"/>
          <p:nvPr/>
        </p:nvSpPr>
        <p:spPr>
          <a:xfrm>
            <a:off x="2110332" y="4731728"/>
            <a:ext cx="754735" cy="230832"/>
          </a:xfrm>
          <a:prstGeom prst="rect">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sv-SE" sz="900" dirty="0" smtClean="0"/>
              <a:t>Slutexped.</a:t>
            </a:r>
            <a:endParaRPr lang="sv-SE" sz="900" baseline="-25000" dirty="0"/>
          </a:p>
        </p:txBody>
      </p:sp>
      <p:sp>
        <p:nvSpPr>
          <p:cNvPr id="40" name="Höger 39"/>
          <p:cNvSpPr/>
          <p:nvPr/>
        </p:nvSpPr>
        <p:spPr bwMode="auto">
          <a:xfrm>
            <a:off x="2109304" y="2364828"/>
            <a:ext cx="3300896" cy="504393"/>
          </a:xfrm>
          <a:prstGeom prst="rightArrow">
            <a:avLst>
              <a:gd name="adj1" fmla="val 50000"/>
              <a:gd name="adj2" fmla="val 38766"/>
            </a:avLst>
          </a:prstGeom>
          <a:solidFill>
            <a:srgbClr val="AADEE2"/>
          </a:solidFill>
          <a:ln>
            <a:solidFill>
              <a:schemeClr val="tx2"/>
            </a:solidFill>
          </a:ln>
          <a:extLst/>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a:t>O</a:t>
            </a:r>
            <a:r>
              <a:rPr lang="sv-SE" sz="1050" baseline="-25000" dirty="0"/>
              <a:t>1   </a:t>
            </a:r>
            <a:r>
              <a:rPr lang="sv-SE" sz="1050" dirty="0"/>
              <a:t>1-3vb av </a:t>
            </a:r>
            <a:r>
              <a:rPr lang="sv-SE" sz="1050" dirty="0" smtClean="0"/>
              <a:t>L</a:t>
            </a:r>
            <a:r>
              <a:rPr lang="sv-SE" sz="1050" baseline="-25000" dirty="0" smtClean="0"/>
              <a:t>a</a:t>
            </a:r>
            <a:endParaRPr lang="sv-SE" sz="1050" baseline="-25000" dirty="0"/>
          </a:p>
        </p:txBody>
      </p:sp>
      <p:sp>
        <p:nvSpPr>
          <p:cNvPr id="42" name="textruta 41"/>
          <p:cNvSpPr txBox="1"/>
          <p:nvPr/>
        </p:nvSpPr>
        <p:spPr>
          <a:xfrm>
            <a:off x="3798238" y="1819370"/>
            <a:ext cx="1433130" cy="507831"/>
          </a:xfrm>
          <a:prstGeom prst="rect">
            <a:avLst/>
          </a:prstGeom>
          <a:noFill/>
        </p:spPr>
        <p:txBody>
          <a:bodyPr wrap="square" rtlCol="0">
            <a:spAutoFit/>
          </a:bodyPr>
          <a:lstStyle/>
          <a:p>
            <a:pPr defTabSz="914400">
              <a:defRPr/>
            </a:pPr>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MedicationDispense</a:t>
            </a:r>
            <a:r>
              <a:rPr lang="sv-SE" sz="900" dirty="0">
                <a:solidFill>
                  <a:srgbClr val="0000FF"/>
                </a:solidFill>
                <a:latin typeface="Courier New"/>
                <a:cs typeface="Courier New"/>
              </a:rPr>
              <a:t/>
            </a:r>
            <a:br>
              <a:rPr lang="sv-SE" sz="900" dirty="0">
                <a:solidFill>
                  <a:srgbClr val="0000FF"/>
                </a:solidFill>
                <a:latin typeface="Courier New"/>
                <a:cs typeface="Courier New"/>
              </a:rPr>
            </a:br>
            <a:r>
              <a:rPr lang="sv-SE" sz="900" dirty="0">
                <a:solidFill>
                  <a:srgbClr val="0000FF"/>
                </a:solidFill>
                <a:latin typeface="Courier New"/>
                <a:cs typeface="Courier New"/>
              </a:rPr>
              <a:t>Authorization</a:t>
            </a:r>
          </a:p>
        </p:txBody>
      </p:sp>
      <p:sp>
        <p:nvSpPr>
          <p:cNvPr id="31" name="Rundad rektangulär 30"/>
          <p:cNvSpPr/>
          <p:nvPr/>
        </p:nvSpPr>
        <p:spPr bwMode="auto">
          <a:xfrm>
            <a:off x="3801153" y="5051170"/>
            <a:ext cx="1727140" cy="445088"/>
          </a:xfrm>
          <a:prstGeom prst="wedgeRoundRectCallout">
            <a:avLst>
              <a:gd name="adj1" fmla="val -28280"/>
              <a:gd name="adj2" fmla="val -81514"/>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Vid ett årskontroll förnyar Lars patientens recept</a:t>
            </a:r>
            <a:endParaRPr lang="sv-SE" sz="1000" i="1" dirty="0">
              <a:solidFill>
                <a:srgbClr val="3366FF"/>
              </a:solidFill>
            </a:endParaRPr>
          </a:p>
        </p:txBody>
      </p:sp>
      <p:cxnSp>
        <p:nvCxnSpPr>
          <p:cNvPr id="35" name="Rak 34"/>
          <p:cNvCxnSpPr/>
          <p:nvPr/>
        </p:nvCxnSpPr>
        <p:spPr bwMode="auto">
          <a:xfrm>
            <a:off x="4349578" y="2364828"/>
            <a:ext cx="0" cy="1156576"/>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Rektangel 5"/>
          <p:cNvSpPr/>
          <p:nvPr/>
        </p:nvSpPr>
        <p:spPr>
          <a:xfrm>
            <a:off x="4086115" y="2916765"/>
            <a:ext cx="911974" cy="369332"/>
          </a:xfrm>
          <a:prstGeom prst="rect">
            <a:avLst/>
          </a:prstGeom>
        </p:spPr>
        <p:txBody>
          <a:bodyPr wrap="none">
            <a:spAutoFit/>
          </a:bodyPr>
          <a:lstStyle/>
          <a:p>
            <a:r>
              <a:rPr lang="sv-SE" sz="900" i="1" dirty="0" smtClean="0"/>
              <a:t>Utvärderings-</a:t>
            </a:r>
            <a:br>
              <a:rPr lang="sv-SE" sz="900" i="1" dirty="0" smtClean="0"/>
            </a:br>
            <a:r>
              <a:rPr lang="sv-SE" sz="900" i="1" dirty="0" smtClean="0"/>
              <a:t>tidpunkt</a:t>
            </a:r>
            <a:endParaRPr lang="sv-SE" sz="900" dirty="0"/>
          </a:p>
        </p:txBody>
      </p:sp>
    </p:spTree>
    <p:extLst>
      <p:ext uri="{BB962C8B-B14F-4D97-AF65-F5344CB8AC3E}">
        <p14:creationId xmlns:p14="http://schemas.microsoft.com/office/powerpoint/2010/main" val="29212810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1800" dirty="0" smtClean="0"/>
              <a:t>Exempel: </a:t>
            </a:r>
            <a:r>
              <a:rPr lang="sv-SE" sz="1800" dirty="0"/>
              <a:t>L</a:t>
            </a:r>
            <a:r>
              <a:rPr lang="sv-SE" sz="1800" dirty="0" smtClean="0"/>
              <a:t>äkemedelsbehandling</a:t>
            </a:r>
            <a:r>
              <a:rPr lang="sv-SE" sz="2400" dirty="0" smtClean="0"/>
              <a:t/>
            </a:r>
            <a:br>
              <a:rPr lang="sv-SE" sz="2400" dirty="0" smtClean="0"/>
            </a:br>
            <a:r>
              <a:rPr lang="sv-SE" sz="1800" i="1" dirty="0" smtClean="0"/>
              <a:t>med dosdispenserat läkemedel</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53</a:t>
            </a:fld>
            <a:endParaRPr lang="sv-SE"/>
          </a:p>
        </p:txBody>
      </p:sp>
      <p:sp>
        <p:nvSpPr>
          <p:cNvPr id="4" name="textruta 3"/>
          <p:cNvSpPr txBox="1"/>
          <p:nvPr/>
        </p:nvSpPr>
        <p:spPr>
          <a:xfrm>
            <a:off x="2104224" y="2503640"/>
            <a:ext cx="1502576" cy="253916"/>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1   </a:t>
            </a:r>
            <a:r>
              <a:rPr lang="sv-SE" sz="1050" dirty="0" smtClean="0"/>
              <a:t>1x3 i 15d </a:t>
            </a:r>
            <a:r>
              <a:rPr lang="sv-SE" sz="1050" dirty="0"/>
              <a:t>av </a:t>
            </a:r>
            <a:r>
              <a:rPr lang="sv-SE" sz="1050" dirty="0" smtClean="0"/>
              <a:t>L</a:t>
            </a:r>
            <a:r>
              <a:rPr lang="sv-SE" sz="1050" baseline="-25000" dirty="0" smtClean="0"/>
              <a:t>a</a:t>
            </a:r>
            <a:endParaRPr lang="sv-SE" sz="1050" baseline="-25000" dirty="0"/>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Rak 37"/>
          <p:cNvCxnSpPr/>
          <p:nvPr/>
        </p:nvCxnSpPr>
        <p:spPr bwMode="auto">
          <a:xfrm>
            <a:off x="3606521" y="2503640"/>
            <a:ext cx="8605" cy="1217507"/>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5347547" y="18870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4387427" cy="132588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27" name="textruta 26"/>
          <p:cNvSpPr txBox="1"/>
          <p:nvPr/>
        </p:nvSpPr>
        <p:spPr>
          <a:xfrm>
            <a:off x="2070954" y="3418605"/>
            <a:ext cx="739979" cy="253916"/>
          </a:xfrm>
          <a:prstGeom prst="rect">
            <a:avLst/>
          </a:prstGeom>
          <a:noFill/>
        </p:spPr>
        <p:txBody>
          <a:bodyPr wrap="square" rtlCol="0">
            <a:spAutoFit/>
          </a:bodyPr>
          <a:lstStyle/>
          <a:p>
            <a:r>
              <a:rPr lang="sv-SE" sz="1050" dirty="0"/>
              <a:t>1x3 </a:t>
            </a:r>
            <a:r>
              <a:rPr lang="sv-SE" sz="1050" dirty="0" smtClean="0"/>
              <a:t>L</a:t>
            </a:r>
            <a:r>
              <a:rPr lang="sv-SE" sz="1050" baseline="-25000" dirty="0" smtClean="0"/>
              <a:t>a</a:t>
            </a:r>
            <a:endParaRPr lang="sv-SE" sz="1050" baseline="-25000" dirty="0"/>
          </a:p>
        </p:txBody>
      </p:sp>
      <p:sp>
        <p:nvSpPr>
          <p:cNvPr id="32" name="Ellips 31"/>
          <p:cNvSpPr/>
          <p:nvPr/>
        </p:nvSpPr>
        <p:spPr bwMode="auto">
          <a:xfrm>
            <a:off x="2064182" y="359071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9" name="Ellips 38"/>
          <p:cNvSpPr/>
          <p:nvPr/>
        </p:nvSpPr>
        <p:spPr bwMode="auto">
          <a:xfrm>
            <a:off x="3581120" y="3600747"/>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61" name="Rak 60"/>
          <p:cNvCxnSpPr>
            <a:stCxn id="56" idx="1"/>
            <a:endCxn id="32" idx="4"/>
          </p:cNvCxnSpPr>
          <p:nvPr/>
        </p:nvCxnSpPr>
        <p:spPr bwMode="auto">
          <a:xfrm flipH="1" flipV="1">
            <a:off x="2099107" y="3666914"/>
            <a:ext cx="11225" cy="39629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ruta 39"/>
          <p:cNvSpPr txBox="1"/>
          <p:nvPr/>
        </p:nvSpPr>
        <p:spPr>
          <a:xfrm>
            <a:off x="1359744" y="1372300"/>
            <a:ext cx="1528985" cy="415498"/>
          </a:xfrm>
          <a:prstGeom prst="rect">
            <a:avLst/>
          </a:prstGeom>
          <a:noFill/>
        </p:spPr>
        <p:txBody>
          <a:bodyPr wrap="square" rtlCol="0">
            <a:spAutoFit/>
          </a:bodyPr>
          <a:lstStyle/>
          <a:p>
            <a:r>
              <a:rPr lang="sv-SE" sz="1050" i="1" dirty="0" smtClean="0">
                <a:solidFill>
                  <a:srgbClr val="3366FF"/>
                </a:solidFill>
              </a:rPr>
              <a:t>Insättning av behandling</a:t>
            </a:r>
          </a:p>
        </p:txBody>
      </p:sp>
      <p:sp>
        <p:nvSpPr>
          <p:cNvPr id="42" name="textruta 41"/>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56" name="textruta 55"/>
          <p:cNvSpPr txBox="1"/>
          <p:nvPr/>
        </p:nvSpPr>
        <p:spPr>
          <a:xfrm>
            <a:off x="2110332" y="3693881"/>
            <a:ext cx="1496468" cy="738664"/>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a:t>E</a:t>
            </a:r>
            <a:r>
              <a:rPr lang="sv-SE" baseline="-25000" dirty="0"/>
              <a:t>1</a:t>
            </a:r>
            <a:r>
              <a:rPr lang="sv-SE" dirty="0"/>
              <a:t>   </a:t>
            </a:r>
          </a:p>
          <a:p>
            <a:r>
              <a:rPr lang="sv-SE" dirty="0"/>
              <a:t>1x3 i </a:t>
            </a:r>
            <a:r>
              <a:rPr lang="sv-SE" dirty="0" smtClean="0"/>
              <a:t>15d </a:t>
            </a:r>
            <a:r>
              <a:rPr lang="sv-SE" dirty="0"/>
              <a:t/>
            </a:r>
            <a:br>
              <a:rPr lang="sv-SE" dirty="0"/>
            </a:br>
            <a:r>
              <a:rPr lang="sv-SE" dirty="0"/>
              <a:t>L</a:t>
            </a:r>
            <a:r>
              <a:rPr lang="sv-SE" baseline="-25000" dirty="0"/>
              <a:t>a</a:t>
            </a:r>
          </a:p>
          <a:p>
            <a:endParaRPr lang="sv-SE" dirty="0"/>
          </a:p>
        </p:txBody>
      </p:sp>
      <p:grpSp>
        <p:nvGrpSpPr>
          <p:cNvPr id="55" name="Grupp 54"/>
          <p:cNvGrpSpPr/>
          <p:nvPr/>
        </p:nvGrpSpPr>
        <p:grpSpPr>
          <a:xfrm>
            <a:off x="2698929" y="1333890"/>
            <a:ext cx="708423" cy="4444188"/>
            <a:chOff x="4041377" y="1538358"/>
            <a:chExt cx="708423" cy="4444188"/>
          </a:xfrm>
        </p:grpSpPr>
        <p:cxnSp>
          <p:nvCxnSpPr>
            <p:cNvPr id="60" name="Rak 59"/>
            <p:cNvCxnSpPr/>
            <p:nvPr/>
          </p:nvCxnSpPr>
          <p:spPr bwMode="auto">
            <a:xfrm>
              <a:off x="4316524" y="2033079"/>
              <a:ext cx="0" cy="3949467"/>
            </a:xfrm>
            <a:prstGeom prst="line">
              <a:avLst/>
            </a:prstGeom>
            <a:noFill/>
            <a:ln w="12700" cap="flat" cmpd="sng" algn="ctr">
              <a:solidFill>
                <a:srgbClr val="008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Rundad rektangulär 61"/>
            <p:cNvSpPr/>
            <p:nvPr/>
          </p:nvSpPr>
          <p:spPr bwMode="auto">
            <a:xfrm>
              <a:off x="4041377" y="1538358"/>
              <a:ext cx="708423" cy="291854"/>
            </a:xfrm>
            <a:prstGeom prst="wedgeRoundRectCallout">
              <a:avLst>
                <a:gd name="adj1" fmla="val -14336"/>
                <a:gd name="adj2" fmla="val 98907"/>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100" i="1" dirty="0" smtClean="0">
                  <a:solidFill>
                    <a:srgbClr val="008000"/>
                  </a:solidFill>
                </a:rPr>
                <a:t>Nulinje</a:t>
              </a:r>
              <a:endParaRPr lang="sv-SE" sz="1100" i="1" dirty="0">
                <a:solidFill>
                  <a:srgbClr val="008000"/>
                </a:solidFill>
              </a:endParaRPr>
            </a:p>
          </p:txBody>
        </p:sp>
      </p:grpSp>
      <p:sp>
        <p:nvSpPr>
          <p:cNvPr id="28" name="Ellips 27"/>
          <p:cNvSpPr>
            <a:spLocks noChangeAspect="1"/>
          </p:cNvSpPr>
          <p:nvPr/>
        </p:nvSpPr>
        <p:spPr bwMode="auto">
          <a:xfrm>
            <a:off x="2025812" y="2286347"/>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29" name="Ellips 28"/>
          <p:cNvSpPr>
            <a:spLocks noChangeAspect="1"/>
          </p:cNvSpPr>
          <p:nvPr/>
        </p:nvSpPr>
        <p:spPr bwMode="auto">
          <a:xfrm>
            <a:off x="3503863" y="2286347"/>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sp>
        <p:nvSpPr>
          <p:cNvPr id="30" name="Ellips 29"/>
          <p:cNvSpPr>
            <a:spLocks noChangeAspect="1"/>
          </p:cNvSpPr>
          <p:nvPr/>
        </p:nvSpPr>
        <p:spPr bwMode="auto">
          <a:xfrm>
            <a:off x="2007674" y="4504613"/>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31" name="Ellips 30"/>
          <p:cNvSpPr>
            <a:spLocks noChangeAspect="1"/>
          </p:cNvSpPr>
          <p:nvPr/>
        </p:nvSpPr>
        <p:spPr bwMode="auto">
          <a:xfrm>
            <a:off x="3478462" y="4493653"/>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spTree>
    <p:extLst>
      <p:ext uri="{BB962C8B-B14F-4D97-AF65-F5344CB8AC3E}">
        <p14:creationId xmlns:p14="http://schemas.microsoft.com/office/powerpoint/2010/main" val="2038552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1800" dirty="0" smtClean="0"/>
              <a:t>Exempel: </a:t>
            </a:r>
            <a:r>
              <a:rPr lang="sv-SE" sz="1800" i="1" dirty="0" smtClean="0"/>
              <a:t>Uppdelning i flera doseringsscheman/underlag för </a:t>
            </a:r>
            <a:r>
              <a:rPr lang="sv-SE" sz="1800" i="1" dirty="0"/>
              <a:t>dosdispenserat </a:t>
            </a:r>
            <a:r>
              <a:rPr lang="sv-SE" sz="1800" i="1" dirty="0" smtClean="0"/>
              <a:t>läkemedel</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54</a:t>
            </a:fld>
            <a:endParaRPr lang="sv-SE"/>
          </a:p>
        </p:txBody>
      </p:sp>
      <p:sp>
        <p:nvSpPr>
          <p:cNvPr id="4" name="textruta 3"/>
          <p:cNvSpPr txBox="1"/>
          <p:nvPr/>
        </p:nvSpPr>
        <p:spPr>
          <a:xfrm>
            <a:off x="2104224" y="2503640"/>
            <a:ext cx="1502576" cy="415498"/>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1  </a:t>
            </a:r>
            <a:r>
              <a:rPr lang="sv-SE" sz="1050" dirty="0" smtClean="0"/>
              <a:t>Upptrappning till 11x1 under 30 dagar</a:t>
            </a:r>
            <a:endParaRPr lang="sv-SE" sz="1050" baseline="-25000" dirty="0"/>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Rak 37"/>
          <p:cNvCxnSpPr/>
          <p:nvPr/>
        </p:nvCxnSpPr>
        <p:spPr bwMode="auto">
          <a:xfrm>
            <a:off x="3606521" y="2503640"/>
            <a:ext cx="8605" cy="1217507"/>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5347547" y="18870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4387427" cy="132588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2" name="Ellips 31"/>
          <p:cNvSpPr/>
          <p:nvPr/>
        </p:nvSpPr>
        <p:spPr bwMode="auto">
          <a:xfrm>
            <a:off x="2064182" y="359071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9" name="Ellips 38"/>
          <p:cNvSpPr/>
          <p:nvPr/>
        </p:nvSpPr>
        <p:spPr bwMode="auto">
          <a:xfrm>
            <a:off x="3581120" y="3600747"/>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61" name="Rak 60"/>
          <p:cNvCxnSpPr>
            <a:stCxn id="56" idx="1"/>
            <a:endCxn id="32" idx="4"/>
          </p:cNvCxnSpPr>
          <p:nvPr/>
        </p:nvCxnSpPr>
        <p:spPr bwMode="auto">
          <a:xfrm flipH="1" flipV="1">
            <a:off x="2099107" y="3666914"/>
            <a:ext cx="11224" cy="37706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ruta 39"/>
          <p:cNvSpPr txBox="1"/>
          <p:nvPr/>
        </p:nvSpPr>
        <p:spPr>
          <a:xfrm>
            <a:off x="1359744" y="1372300"/>
            <a:ext cx="1528985" cy="415498"/>
          </a:xfrm>
          <a:prstGeom prst="rect">
            <a:avLst/>
          </a:prstGeom>
          <a:noFill/>
        </p:spPr>
        <p:txBody>
          <a:bodyPr wrap="square" rtlCol="0">
            <a:spAutoFit/>
          </a:bodyPr>
          <a:lstStyle/>
          <a:p>
            <a:r>
              <a:rPr lang="sv-SE" sz="1050" i="1" dirty="0" smtClean="0">
                <a:solidFill>
                  <a:srgbClr val="3366FF"/>
                </a:solidFill>
              </a:rPr>
              <a:t>Insättning av behandling</a:t>
            </a:r>
          </a:p>
        </p:txBody>
      </p:sp>
      <p:sp>
        <p:nvSpPr>
          <p:cNvPr id="42" name="textruta 41"/>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56" name="textruta 55"/>
          <p:cNvSpPr txBox="1"/>
          <p:nvPr/>
        </p:nvSpPr>
        <p:spPr>
          <a:xfrm>
            <a:off x="2110331" y="3693881"/>
            <a:ext cx="1090069" cy="700192"/>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a:t>E</a:t>
            </a:r>
            <a:r>
              <a:rPr lang="sv-SE" baseline="-25000" dirty="0"/>
              <a:t>1</a:t>
            </a:r>
            <a:r>
              <a:rPr lang="sv-SE" dirty="0"/>
              <a:t>   </a:t>
            </a:r>
          </a:p>
          <a:p>
            <a:r>
              <a:rPr lang="sv-SE" dirty="0" smtClean="0"/>
              <a:t>28d</a:t>
            </a:r>
            <a:r>
              <a:rPr lang="sv-SE" dirty="0"/>
              <a:t/>
            </a:r>
            <a:br>
              <a:rPr lang="sv-SE" dirty="0"/>
            </a:br>
            <a:r>
              <a:rPr lang="sv-SE" sz="800" dirty="0">
                <a:solidFill>
                  <a:srgbClr val="382819"/>
                </a:solidFill>
              </a:rPr>
              <a:t>ramp</a:t>
            </a:r>
            <a:endParaRPr lang="sv-SE" baseline="-25000" dirty="0"/>
          </a:p>
          <a:p>
            <a:endParaRPr lang="sv-SE" dirty="0"/>
          </a:p>
        </p:txBody>
      </p:sp>
      <p:sp>
        <p:nvSpPr>
          <p:cNvPr id="28" name="Ellips 27"/>
          <p:cNvSpPr>
            <a:spLocks noChangeAspect="1"/>
          </p:cNvSpPr>
          <p:nvPr/>
        </p:nvSpPr>
        <p:spPr bwMode="auto">
          <a:xfrm>
            <a:off x="2025812" y="2286347"/>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29" name="Ellips 28"/>
          <p:cNvSpPr>
            <a:spLocks noChangeAspect="1"/>
          </p:cNvSpPr>
          <p:nvPr/>
        </p:nvSpPr>
        <p:spPr bwMode="auto">
          <a:xfrm>
            <a:off x="4988307" y="2278276"/>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sp>
        <p:nvSpPr>
          <p:cNvPr id="30" name="Ellips 29"/>
          <p:cNvSpPr>
            <a:spLocks noChangeAspect="1"/>
          </p:cNvSpPr>
          <p:nvPr/>
        </p:nvSpPr>
        <p:spPr bwMode="auto">
          <a:xfrm>
            <a:off x="2007674" y="4504613"/>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smtClean="0">
                <a:solidFill>
                  <a:srgbClr val="3366FF"/>
                </a:solidFill>
                <a:latin typeface="Arial" charset="0"/>
              </a:rPr>
              <a:t>i</a:t>
            </a:r>
            <a:endParaRPr kumimoji="0" lang="sv-SE" sz="1200" b="0" i="0" u="none" strike="noStrike" cap="none" normalizeH="0" baseline="0" dirty="0" smtClean="0">
              <a:ln>
                <a:noFill/>
              </a:ln>
              <a:solidFill>
                <a:srgbClr val="3366FF"/>
              </a:solidFill>
              <a:effectLst/>
              <a:latin typeface="Arial" charset="0"/>
            </a:endParaRPr>
          </a:p>
        </p:txBody>
      </p:sp>
      <p:sp>
        <p:nvSpPr>
          <p:cNvPr id="34" name="textruta 33"/>
          <p:cNvSpPr txBox="1"/>
          <p:nvPr/>
        </p:nvSpPr>
        <p:spPr>
          <a:xfrm>
            <a:off x="3200400" y="3693881"/>
            <a:ext cx="414726" cy="700192"/>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smtClean="0"/>
              <a:t>E</a:t>
            </a:r>
            <a:r>
              <a:rPr lang="sv-SE" baseline="-25000" dirty="0"/>
              <a:t>2</a:t>
            </a:r>
            <a:r>
              <a:rPr lang="sv-SE" dirty="0" smtClean="0"/>
              <a:t>   </a:t>
            </a:r>
            <a:endParaRPr lang="sv-SE" dirty="0"/>
          </a:p>
          <a:p>
            <a:r>
              <a:rPr lang="sv-SE" dirty="0" smtClean="0"/>
              <a:t>2d</a:t>
            </a:r>
            <a:r>
              <a:rPr lang="sv-SE" dirty="0"/>
              <a:t/>
            </a:r>
            <a:br>
              <a:rPr lang="sv-SE" dirty="0"/>
            </a:br>
            <a:r>
              <a:rPr lang="sv-SE" sz="800" dirty="0" smtClean="0"/>
              <a:t>ramp</a:t>
            </a:r>
            <a:endParaRPr lang="sv-SE" baseline="-25000" dirty="0" smtClean="0"/>
          </a:p>
          <a:p>
            <a:endParaRPr lang="sv-SE" dirty="0"/>
          </a:p>
        </p:txBody>
      </p:sp>
      <p:sp>
        <p:nvSpPr>
          <p:cNvPr id="35" name="textruta 34"/>
          <p:cNvSpPr txBox="1"/>
          <p:nvPr/>
        </p:nvSpPr>
        <p:spPr>
          <a:xfrm>
            <a:off x="3606659" y="2503764"/>
            <a:ext cx="1502576" cy="415498"/>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Därefter 11x1 i 25d</a:t>
            </a:r>
          </a:p>
          <a:p>
            <a:endParaRPr lang="sv-SE" sz="1050" dirty="0"/>
          </a:p>
        </p:txBody>
      </p:sp>
      <p:sp>
        <p:nvSpPr>
          <p:cNvPr id="36" name="textruta 35"/>
          <p:cNvSpPr txBox="1"/>
          <p:nvPr/>
        </p:nvSpPr>
        <p:spPr>
          <a:xfrm>
            <a:off x="3623171" y="3695746"/>
            <a:ext cx="1486064" cy="700192"/>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smtClean="0"/>
              <a:t>E</a:t>
            </a:r>
            <a:r>
              <a:rPr lang="sv-SE" baseline="-25000" dirty="0"/>
              <a:t>3</a:t>
            </a:r>
            <a:r>
              <a:rPr lang="sv-SE" dirty="0" smtClean="0"/>
              <a:t>  </a:t>
            </a:r>
            <a:endParaRPr lang="sv-SE" dirty="0"/>
          </a:p>
          <a:p>
            <a:r>
              <a:rPr lang="sv-SE" dirty="0" smtClean="0"/>
              <a:t>11x1 </a:t>
            </a:r>
            <a:r>
              <a:rPr lang="sv-SE" dirty="0"/>
              <a:t>i 25d </a:t>
            </a:r>
            <a:br>
              <a:rPr lang="sv-SE" dirty="0"/>
            </a:br>
            <a:r>
              <a:rPr lang="sv-SE" sz="800" dirty="0" smtClean="0"/>
              <a:t>rak</a:t>
            </a:r>
            <a:endParaRPr lang="sv-SE" sz="800" baseline="-25000" dirty="0" smtClean="0"/>
          </a:p>
          <a:p>
            <a:endParaRPr lang="sv-SE" dirty="0"/>
          </a:p>
        </p:txBody>
      </p:sp>
      <p:sp>
        <p:nvSpPr>
          <p:cNvPr id="11" name="Rätvinklig triangel 10"/>
          <p:cNvSpPr/>
          <p:nvPr/>
        </p:nvSpPr>
        <p:spPr bwMode="auto">
          <a:xfrm flipH="1">
            <a:off x="2110330" y="4572000"/>
            <a:ext cx="1511400" cy="414867"/>
          </a:xfrm>
          <a:prstGeom prst="rtTriangl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14" name="Rektangel 13"/>
          <p:cNvSpPr/>
          <p:nvPr/>
        </p:nvSpPr>
        <p:spPr bwMode="auto">
          <a:xfrm>
            <a:off x="3623171" y="4572000"/>
            <a:ext cx="1486064" cy="414867"/>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1" name="Ellips 30"/>
          <p:cNvSpPr>
            <a:spLocks noChangeAspect="1"/>
          </p:cNvSpPr>
          <p:nvPr/>
        </p:nvSpPr>
        <p:spPr bwMode="auto">
          <a:xfrm>
            <a:off x="5006577" y="4493653"/>
            <a:ext cx="205316" cy="186364"/>
          </a:xfrm>
          <a:prstGeom prst="ellipse">
            <a:avLst/>
          </a:prstGeom>
          <a:solidFill>
            <a:srgbClr val="FFFFFF"/>
          </a:solidFill>
          <a:ln w="9525" cap="flat" cmpd="sng" algn="ctr">
            <a:solidFill>
              <a:schemeClr val="tx1"/>
            </a:solid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indent="0" algn="ctr" defTabSz="957263" rtl="0" eaLnBrk="1" fontAlgn="base" latinLnBrk="0" hangingPunct="1">
              <a:lnSpc>
                <a:spcPct val="100000"/>
              </a:lnSpc>
              <a:spcBef>
                <a:spcPct val="0"/>
              </a:spcBef>
              <a:spcAft>
                <a:spcPct val="0"/>
              </a:spcAft>
              <a:buClrTx/>
              <a:buSzTx/>
              <a:buFontTx/>
              <a:buNone/>
              <a:tabLst/>
            </a:pPr>
            <a:r>
              <a:rPr lang="sv-SE" sz="1200" dirty="0">
                <a:solidFill>
                  <a:srgbClr val="3366FF"/>
                </a:solidFill>
                <a:latin typeface="Arial" charset="0"/>
              </a:rPr>
              <a:t>u</a:t>
            </a:r>
            <a:endParaRPr kumimoji="0" lang="sv-SE" sz="1200" b="0" i="0" u="none" strike="noStrike" cap="none" normalizeH="0" baseline="0" dirty="0" smtClean="0">
              <a:ln>
                <a:noFill/>
              </a:ln>
              <a:solidFill>
                <a:srgbClr val="3366FF"/>
              </a:solidFill>
              <a:effectLst/>
              <a:latin typeface="Arial" charset="0"/>
            </a:endParaRPr>
          </a:p>
        </p:txBody>
      </p:sp>
      <p:sp>
        <p:nvSpPr>
          <p:cNvPr id="43" name="textruta 42"/>
          <p:cNvSpPr txBox="1"/>
          <p:nvPr/>
        </p:nvSpPr>
        <p:spPr>
          <a:xfrm>
            <a:off x="5251027" y="4572000"/>
            <a:ext cx="1586653" cy="430887"/>
          </a:xfrm>
          <a:prstGeom prst="rect">
            <a:avLst/>
          </a:prstGeom>
          <a:noFill/>
        </p:spPr>
        <p:txBody>
          <a:bodyPr wrap="square" rtlCol="0">
            <a:spAutoFit/>
          </a:bodyPr>
          <a:lstStyle/>
          <a:p>
            <a:r>
              <a:rPr lang="sv-SE" sz="1100" i="1" dirty="0" smtClean="0"/>
              <a:t>Dosering med långsam upptrappning</a:t>
            </a:r>
          </a:p>
        </p:txBody>
      </p:sp>
      <p:sp>
        <p:nvSpPr>
          <p:cNvPr id="46" name="Rundad rektangulär 45"/>
          <p:cNvSpPr/>
          <p:nvPr/>
        </p:nvSpPr>
        <p:spPr bwMode="auto">
          <a:xfrm>
            <a:off x="5691113" y="3738081"/>
            <a:ext cx="2014208" cy="808867"/>
          </a:xfrm>
          <a:prstGeom prst="wedgeRoundRectCallout">
            <a:avLst>
              <a:gd name="adj1" fmla="val -77301"/>
              <a:gd name="adj2" fmla="val -10651"/>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E</a:t>
            </a:r>
            <a:r>
              <a:rPr lang="sv-SE" sz="1000" i="1" baseline="-25000" dirty="0" smtClean="0">
                <a:solidFill>
                  <a:srgbClr val="3366FF"/>
                </a:solidFill>
              </a:rPr>
              <a:t>1</a:t>
            </a:r>
            <a:r>
              <a:rPr lang="sv-SE" sz="1000" i="1" dirty="0" smtClean="0">
                <a:solidFill>
                  <a:srgbClr val="3366FF"/>
                </a:solidFill>
              </a:rPr>
              <a:t> – E</a:t>
            </a:r>
            <a:r>
              <a:rPr lang="sv-SE" sz="1000" i="1" baseline="-25000" dirty="0" smtClean="0">
                <a:solidFill>
                  <a:srgbClr val="3366FF"/>
                </a:solidFill>
              </a:rPr>
              <a:t>3</a:t>
            </a:r>
            <a:r>
              <a:rPr lang="sv-SE" sz="1000" i="1" dirty="0" smtClean="0">
                <a:solidFill>
                  <a:srgbClr val="3366FF"/>
                </a:solidFill>
              </a:rPr>
              <a:t> skapas automatiskt med rätt längd av NOD tjänsteproducent motsvarande angiven dosering</a:t>
            </a:r>
            <a:endParaRPr lang="sv-SE" sz="1000" i="1" dirty="0">
              <a:solidFill>
                <a:srgbClr val="3366FF"/>
              </a:solidFill>
            </a:endParaRPr>
          </a:p>
        </p:txBody>
      </p:sp>
    </p:spTree>
    <p:extLst>
      <p:ext uri="{BB962C8B-B14F-4D97-AF65-F5344CB8AC3E}">
        <p14:creationId xmlns:p14="http://schemas.microsoft.com/office/powerpoint/2010/main" val="28867775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z="1800" dirty="0"/>
              <a:t>Exempel: </a:t>
            </a:r>
            <a:r>
              <a:rPr lang="sv-SE" sz="1800" dirty="0" smtClean="0"/>
              <a:t>Ändring av läkemedelsbehandling</a:t>
            </a:r>
            <a:r>
              <a:rPr lang="sv-SE" sz="2400" dirty="0" smtClean="0"/>
              <a:t/>
            </a:r>
            <a:br>
              <a:rPr lang="sv-SE" sz="2400" dirty="0" smtClean="0"/>
            </a:br>
            <a:r>
              <a:rPr lang="sv-SE" sz="1800" i="1" dirty="0" smtClean="0"/>
              <a:t>med dosdispenserat läkemedel</a:t>
            </a:r>
            <a:endParaRPr lang="sv-SE" sz="2400" i="1" dirty="0"/>
          </a:p>
        </p:txBody>
      </p:sp>
      <p:sp>
        <p:nvSpPr>
          <p:cNvPr id="3" name="Platshållare för bildnummer 2"/>
          <p:cNvSpPr>
            <a:spLocks noGrp="1"/>
          </p:cNvSpPr>
          <p:nvPr>
            <p:ph type="sldNum" sz="quarter" idx="10"/>
          </p:nvPr>
        </p:nvSpPr>
        <p:spPr/>
        <p:txBody>
          <a:bodyPr/>
          <a:lstStyle/>
          <a:p>
            <a:fld id="{6EE46765-18A6-4212-A407-C65E2DCE0A05}" type="slidenum">
              <a:rPr lang="sv-SE" smtClean="0"/>
              <a:pPr/>
              <a:t>55</a:t>
            </a:fld>
            <a:endParaRPr lang="sv-SE"/>
          </a:p>
        </p:txBody>
      </p:sp>
      <p:sp>
        <p:nvSpPr>
          <p:cNvPr id="4" name="textruta 3"/>
          <p:cNvSpPr txBox="1"/>
          <p:nvPr/>
        </p:nvSpPr>
        <p:spPr>
          <a:xfrm>
            <a:off x="2104224" y="2503640"/>
            <a:ext cx="1502576" cy="253916"/>
          </a:xfrm>
          <a:prstGeom prst="rect">
            <a:avLst/>
          </a:prstGeom>
          <a:solidFill>
            <a:schemeClr val="accent1"/>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1   </a:t>
            </a:r>
            <a:r>
              <a:rPr lang="sv-SE" sz="1050" dirty="0" smtClean="0"/>
              <a:t>1x3 i 15d </a:t>
            </a:r>
            <a:r>
              <a:rPr lang="sv-SE" sz="1050" dirty="0"/>
              <a:t>av </a:t>
            </a:r>
            <a:r>
              <a:rPr lang="sv-SE" sz="1050" dirty="0" smtClean="0"/>
              <a:t>L</a:t>
            </a:r>
            <a:r>
              <a:rPr lang="sv-SE" sz="1050" baseline="-25000" dirty="0" smtClean="0"/>
              <a:t>a</a:t>
            </a:r>
            <a:endParaRPr lang="sv-SE" sz="1050" baseline="-25000" dirty="0"/>
          </a:p>
        </p:txBody>
      </p:sp>
      <p:sp>
        <p:nvSpPr>
          <p:cNvPr id="5" name="textruta 4"/>
          <p:cNvSpPr txBox="1"/>
          <p:nvPr/>
        </p:nvSpPr>
        <p:spPr>
          <a:xfrm>
            <a:off x="3292163" y="2922829"/>
            <a:ext cx="1272426" cy="415498"/>
          </a:xfrm>
          <a:prstGeom prst="rect">
            <a:avLst/>
          </a:prstGeom>
          <a:solidFill>
            <a:srgbClr val="AADEE2"/>
          </a:solidFill>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sv-SE" sz="1050" dirty="0" smtClean="0"/>
              <a:t>O</a:t>
            </a:r>
            <a:r>
              <a:rPr lang="sv-SE" sz="1050" baseline="-25000" dirty="0" smtClean="0"/>
              <a:t>2</a:t>
            </a:r>
            <a:r>
              <a:rPr lang="sv-SE" sz="1050" dirty="0" smtClean="0"/>
              <a:t>: 2x3 i 11d av L</a:t>
            </a:r>
            <a:r>
              <a:rPr lang="sv-SE" sz="1050" baseline="-25000" dirty="0" smtClean="0"/>
              <a:t>a</a:t>
            </a:r>
          </a:p>
        </p:txBody>
      </p:sp>
      <p:cxnSp>
        <p:nvCxnSpPr>
          <p:cNvPr id="7" name="Rak 6"/>
          <p:cNvCxnSpPr/>
          <p:nvPr/>
        </p:nvCxnSpPr>
        <p:spPr bwMode="auto">
          <a:xfrm>
            <a:off x="2109304" y="1985666"/>
            <a:ext cx="0"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Rak 9"/>
          <p:cNvCxnSpPr/>
          <p:nvPr/>
        </p:nvCxnSpPr>
        <p:spPr bwMode="auto">
          <a:xfrm>
            <a:off x="1382036" y="5943600"/>
            <a:ext cx="5201644" cy="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Rak 17"/>
          <p:cNvCxnSpPr/>
          <p:nvPr/>
        </p:nvCxnSpPr>
        <p:spPr bwMode="auto">
          <a:xfrm flipH="1">
            <a:off x="2969528" y="1964031"/>
            <a:ext cx="889" cy="1832801"/>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ruta 29"/>
          <p:cNvSpPr txBox="1"/>
          <p:nvPr/>
        </p:nvSpPr>
        <p:spPr>
          <a:xfrm>
            <a:off x="2608229" y="1471553"/>
            <a:ext cx="1040465" cy="415498"/>
          </a:xfrm>
          <a:prstGeom prst="rect">
            <a:avLst/>
          </a:prstGeom>
          <a:noFill/>
        </p:spPr>
        <p:txBody>
          <a:bodyPr wrap="square" rtlCol="0">
            <a:spAutoFit/>
          </a:bodyPr>
          <a:lstStyle/>
          <a:p>
            <a:r>
              <a:rPr lang="sv-SE" sz="1050" i="1" dirty="0">
                <a:solidFill>
                  <a:srgbClr val="3366FF"/>
                </a:solidFill>
              </a:rPr>
              <a:t>D</a:t>
            </a:r>
            <a:r>
              <a:rPr lang="sv-SE" sz="1050" i="1" dirty="0" smtClean="0">
                <a:solidFill>
                  <a:srgbClr val="3366FF"/>
                </a:solidFill>
              </a:rPr>
              <a:t>osjustering, förlängning</a:t>
            </a:r>
            <a:endParaRPr lang="sv-SE" sz="1050" i="1" dirty="0">
              <a:solidFill>
                <a:srgbClr val="3366FF"/>
              </a:solidFill>
            </a:endParaRPr>
          </a:p>
        </p:txBody>
      </p:sp>
      <p:cxnSp>
        <p:nvCxnSpPr>
          <p:cNvPr id="38" name="Rak 37"/>
          <p:cNvCxnSpPr/>
          <p:nvPr/>
        </p:nvCxnSpPr>
        <p:spPr bwMode="auto">
          <a:xfrm>
            <a:off x="4563394" y="2576099"/>
            <a:ext cx="8605" cy="1217507"/>
          </a:xfrm>
          <a:prstGeom prst="line">
            <a:avLst/>
          </a:prstGeom>
          <a:noFill/>
          <a:ln w="9525" cap="flat" cmpd="sng" algn="ctr">
            <a:solidFill>
              <a:srgbClr val="382819"/>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ruta 43"/>
          <p:cNvSpPr txBox="1"/>
          <p:nvPr/>
        </p:nvSpPr>
        <p:spPr>
          <a:xfrm>
            <a:off x="6554683" y="5804007"/>
            <a:ext cx="282997" cy="253916"/>
          </a:xfrm>
          <a:prstGeom prst="rect">
            <a:avLst/>
          </a:prstGeom>
          <a:noFill/>
        </p:spPr>
        <p:txBody>
          <a:bodyPr wrap="square" rtlCol="0">
            <a:spAutoFit/>
          </a:bodyPr>
          <a:lstStyle/>
          <a:p>
            <a:r>
              <a:rPr lang="sv-SE" sz="1050" i="1" dirty="0" smtClean="0"/>
              <a:t>t</a:t>
            </a:r>
            <a:endParaRPr lang="sv-SE" sz="1050" i="1" dirty="0"/>
          </a:p>
        </p:txBody>
      </p:sp>
      <p:cxnSp>
        <p:nvCxnSpPr>
          <p:cNvPr id="45" name="Rak 44"/>
          <p:cNvCxnSpPr/>
          <p:nvPr/>
        </p:nvCxnSpPr>
        <p:spPr bwMode="auto">
          <a:xfrm flipV="1">
            <a:off x="1381760" y="2245360"/>
            <a:ext cx="0" cy="3698240"/>
          </a:xfrm>
          <a:prstGeom prst="line">
            <a:avLst/>
          </a:prstGeom>
          <a:noFill/>
          <a:ln w="9525" cap="flat"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ruta 46"/>
          <p:cNvSpPr txBox="1"/>
          <p:nvPr/>
        </p:nvSpPr>
        <p:spPr>
          <a:xfrm>
            <a:off x="536787" y="1964031"/>
            <a:ext cx="916094" cy="415498"/>
          </a:xfrm>
          <a:prstGeom prst="rect">
            <a:avLst/>
          </a:prstGeom>
          <a:noFill/>
        </p:spPr>
        <p:txBody>
          <a:bodyPr wrap="square" rtlCol="0">
            <a:spAutoFit/>
          </a:bodyPr>
          <a:lstStyle/>
          <a:p>
            <a:r>
              <a:rPr lang="sv-SE" sz="1050" i="1" dirty="0" smtClean="0"/>
              <a:t>Tidigare ordinationer </a:t>
            </a:r>
            <a:endParaRPr lang="sv-SE" sz="1050" i="1" dirty="0"/>
          </a:p>
        </p:txBody>
      </p:sp>
      <p:sp>
        <p:nvSpPr>
          <p:cNvPr id="52" name="textruta 51"/>
          <p:cNvSpPr txBox="1"/>
          <p:nvPr/>
        </p:nvSpPr>
        <p:spPr>
          <a:xfrm>
            <a:off x="5347547" y="1887051"/>
            <a:ext cx="1332653" cy="430887"/>
          </a:xfrm>
          <a:prstGeom prst="rect">
            <a:avLst/>
          </a:prstGeom>
          <a:noFill/>
        </p:spPr>
        <p:txBody>
          <a:bodyPr wrap="square" rtlCol="0">
            <a:spAutoFit/>
          </a:bodyPr>
          <a:lstStyle/>
          <a:p>
            <a:r>
              <a:rPr lang="sv-SE" sz="1100" i="1" dirty="0" smtClean="0"/>
              <a:t>Läkemedels-</a:t>
            </a:r>
            <a:br>
              <a:rPr lang="sv-SE" sz="1100" i="1" dirty="0" smtClean="0"/>
            </a:br>
            <a:r>
              <a:rPr lang="sv-SE" sz="1100" i="1" dirty="0" smtClean="0"/>
              <a:t>behandling</a:t>
            </a:r>
          </a:p>
        </p:txBody>
      </p:sp>
      <p:sp>
        <p:nvSpPr>
          <p:cNvPr id="54" name="Rektangel 53"/>
          <p:cNvSpPr/>
          <p:nvPr/>
        </p:nvSpPr>
        <p:spPr>
          <a:xfrm>
            <a:off x="7705321" y="253390"/>
            <a:ext cx="1164359" cy="5232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a:t>
            </a:r>
            <a:r>
              <a:rPr lang="sv-SE"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sv-SE"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3" name="Rektangel 32"/>
          <p:cNvSpPr/>
          <p:nvPr/>
        </p:nvSpPr>
        <p:spPr bwMode="auto">
          <a:xfrm>
            <a:off x="1869440" y="2306320"/>
            <a:ext cx="4387427" cy="1325880"/>
          </a:xfrm>
          <a:prstGeom prst="rect">
            <a:avLst/>
          </a:prstGeom>
          <a:noFill/>
          <a:ln w="9525"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27" name="textruta 26"/>
          <p:cNvSpPr txBox="1"/>
          <p:nvPr/>
        </p:nvSpPr>
        <p:spPr>
          <a:xfrm>
            <a:off x="2070954" y="3418605"/>
            <a:ext cx="739979" cy="253916"/>
          </a:xfrm>
          <a:prstGeom prst="rect">
            <a:avLst/>
          </a:prstGeom>
          <a:noFill/>
        </p:spPr>
        <p:txBody>
          <a:bodyPr wrap="square" rtlCol="0">
            <a:spAutoFit/>
          </a:bodyPr>
          <a:lstStyle/>
          <a:p>
            <a:r>
              <a:rPr lang="sv-SE" sz="1050" dirty="0"/>
              <a:t>1x3 </a:t>
            </a:r>
            <a:r>
              <a:rPr lang="sv-SE" sz="1050" dirty="0" smtClean="0"/>
              <a:t>L</a:t>
            </a:r>
            <a:r>
              <a:rPr lang="sv-SE" sz="1050" baseline="-25000" dirty="0" smtClean="0"/>
              <a:t>a</a:t>
            </a:r>
            <a:endParaRPr lang="sv-SE" sz="1050" baseline="-25000" dirty="0"/>
          </a:p>
        </p:txBody>
      </p:sp>
      <p:sp>
        <p:nvSpPr>
          <p:cNvPr id="32" name="Ellips 31"/>
          <p:cNvSpPr/>
          <p:nvPr/>
        </p:nvSpPr>
        <p:spPr bwMode="auto">
          <a:xfrm>
            <a:off x="2064182" y="359071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4" name="Ellips 33"/>
          <p:cNvSpPr/>
          <p:nvPr/>
        </p:nvSpPr>
        <p:spPr bwMode="auto">
          <a:xfrm>
            <a:off x="3256349" y="3600239"/>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39" name="Ellips 38"/>
          <p:cNvSpPr/>
          <p:nvPr/>
        </p:nvSpPr>
        <p:spPr bwMode="auto">
          <a:xfrm>
            <a:off x="4528607" y="3597064"/>
            <a:ext cx="69850" cy="76200"/>
          </a:xfrm>
          <a:prstGeom prst="ellipse">
            <a:avLst/>
          </a:prstGeom>
          <a:solidFill>
            <a:srgbClr val="F1822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sv-SE" sz="1900" b="0" i="0" u="none" strike="noStrike" cap="none" normalizeH="0" baseline="0" smtClean="0">
              <a:ln>
                <a:noFill/>
              </a:ln>
              <a:solidFill>
                <a:schemeClr val="tx1"/>
              </a:solidFill>
              <a:effectLst/>
              <a:latin typeface="Arial" charset="0"/>
            </a:endParaRPr>
          </a:p>
        </p:txBody>
      </p:sp>
      <p:sp>
        <p:nvSpPr>
          <p:cNvPr id="41" name="textruta 40"/>
          <p:cNvSpPr txBox="1"/>
          <p:nvPr/>
        </p:nvSpPr>
        <p:spPr>
          <a:xfrm>
            <a:off x="3336545" y="3421465"/>
            <a:ext cx="710521" cy="253916"/>
          </a:xfrm>
          <a:prstGeom prst="rect">
            <a:avLst/>
          </a:prstGeom>
          <a:noFill/>
        </p:spPr>
        <p:txBody>
          <a:bodyPr wrap="square" rtlCol="0">
            <a:spAutoFit/>
          </a:bodyPr>
          <a:lstStyle/>
          <a:p>
            <a:r>
              <a:rPr lang="sv-SE" sz="1050" dirty="0" smtClean="0"/>
              <a:t>2x3 L</a:t>
            </a:r>
            <a:r>
              <a:rPr lang="sv-SE" sz="1050" baseline="-25000" dirty="0" smtClean="0"/>
              <a:t>b</a:t>
            </a:r>
            <a:endParaRPr lang="sv-SE" sz="1050" baseline="-25000" dirty="0"/>
          </a:p>
        </p:txBody>
      </p:sp>
      <p:grpSp>
        <p:nvGrpSpPr>
          <p:cNvPr id="69" name="Grupp 68"/>
          <p:cNvGrpSpPr/>
          <p:nvPr/>
        </p:nvGrpSpPr>
        <p:grpSpPr>
          <a:xfrm>
            <a:off x="1371876" y="2379529"/>
            <a:ext cx="661329" cy="378151"/>
            <a:chOff x="343796" y="3493354"/>
            <a:chExt cx="661329" cy="378151"/>
          </a:xfrm>
        </p:grpSpPr>
        <p:pic>
          <p:nvPicPr>
            <p:cNvPr id="58"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ruta 58"/>
            <p:cNvSpPr txBox="1"/>
            <p:nvPr/>
          </p:nvSpPr>
          <p:spPr>
            <a:xfrm>
              <a:off x="343796" y="3602738"/>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Anna</a:t>
              </a:r>
              <a:endParaRPr lang="sv-SE" sz="1000" i="1" dirty="0">
                <a:solidFill>
                  <a:prstClr val="black"/>
                </a:solidFill>
                <a:latin typeface="Calibri"/>
                <a:cs typeface="Arial" pitchFamily="34" charset="0"/>
              </a:endParaRPr>
            </a:p>
          </p:txBody>
        </p:sp>
      </p:grpSp>
      <p:cxnSp>
        <p:nvCxnSpPr>
          <p:cNvPr id="15" name="Rak 14"/>
          <p:cNvCxnSpPr>
            <a:stCxn id="57" idx="1"/>
            <a:endCxn id="34" idx="4"/>
          </p:cNvCxnSpPr>
          <p:nvPr/>
        </p:nvCxnSpPr>
        <p:spPr bwMode="auto">
          <a:xfrm flipH="1" flipV="1">
            <a:off x="3291274" y="3676439"/>
            <a:ext cx="1057" cy="38598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ruta 56"/>
          <p:cNvSpPr txBox="1"/>
          <p:nvPr/>
        </p:nvSpPr>
        <p:spPr>
          <a:xfrm>
            <a:off x="3292331" y="3693091"/>
            <a:ext cx="1279668" cy="738664"/>
          </a:xfrm>
          <a:prstGeom prst="rect">
            <a:avLst/>
          </a:prstGeom>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a:t>E</a:t>
            </a:r>
            <a:r>
              <a:rPr lang="sv-SE" baseline="-25000" dirty="0"/>
              <a:t>2</a:t>
            </a:r>
            <a:r>
              <a:rPr lang="sv-SE" dirty="0"/>
              <a:t> </a:t>
            </a:r>
            <a:br>
              <a:rPr lang="sv-SE" dirty="0"/>
            </a:br>
            <a:r>
              <a:rPr lang="sv-SE" dirty="0"/>
              <a:t>2x3 i </a:t>
            </a:r>
            <a:r>
              <a:rPr lang="sv-SE" dirty="0" smtClean="0"/>
              <a:t>11d</a:t>
            </a:r>
            <a:r>
              <a:rPr lang="sv-SE" dirty="0"/>
              <a:t/>
            </a:r>
            <a:br>
              <a:rPr lang="sv-SE" dirty="0"/>
            </a:br>
            <a:r>
              <a:rPr lang="sv-SE" dirty="0" smtClean="0"/>
              <a:t>L</a:t>
            </a:r>
            <a:r>
              <a:rPr lang="sv-SE" baseline="-25000" dirty="0" smtClean="0"/>
              <a:t>a</a:t>
            </a:r>
            <a:endParaRPr lang="sv-SE" baseline="-25000" dirty="0"/>
          </a:p>
          <a:p>
            <a:r>
              <a:rPr lang="sv-SE" dirty="0"/>
              <a:t>F: Per</a:t>
            </a:r>
          </a:p>
        </p:txBody>
      </p:sp>
      <p:cxnSp>
        <p:nvCxnSpPr>
          <p:cNvPr id="61" name="Rak 60"/>
          <p:cNvCxnSpPr>
            <a:stCxn id="56" idx="1"/>
            <a:endCxn id="32" idx="4"/>
          </p:cNvCxnSpPr>
          <p:nvPr/>
        </p:nvCxnSpPr>
        <p:spPr bwMode="auto">
          <a:xfrm flipH="1" flipV="1">
            <a:off x="2099107" y="3666914"/>
            <a:ext cx="11225" cy="39629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0" name="Grupp 69"/>
          <p:cNvGrpSpPr/>
          <p:nvPr/>
        </p:nvGrpSpPr>
        <p:grpSpPr>
          <a:xfrm>
            <a:off x="2397772" y="2903510"/>
            <a:ext cx="548726" cy="378151"/>
            <a:chOff x="456399" y="3493354"/>
            <a:chExt cx="548726" cy="378151"/>
          </a:xfrm>
        </p:grpSpPr>
        <p:pic>
          <p:nvPicPr>
            <p:cNvPr id="71" name="Picture 19" descr="person.tors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1156" y="3493354"/>
              <a:ext cx="193969" cy="37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textruta 71"/>
            <p:cNvSpPr txBox="1"/>
            <p:nvPr/>
          </p:nvSpPr>
          <p:spPr>
            <a:xfrm>
              <a:off x="456399" y="3617589"/>
              <a:ext cx="467360" cy="246221"/>
            </a:xfrm>
            <a:prstGeom prst="rect">
              <a:avLst/>
            </a:prstGeom>
            <a:noFill/>
          </p:spPr>
          <p:txBody>
            <a:bodyPr wrap="square" rtlCol="0">
              <a:spAutoFit/>
            </a:bodyPr>
            <a:lstStyle/>
            <a:p>
              <a:pPr defTabSz="457200" fontAlgn="auto">
                <a:spcBef>
                  <a:spcPts val="0"/>
                </a:spcBef>
                <a:spcAft>
                  <a:spcPts val="0"/>
                </a:spcAft>
              </a:pPr>
              <a:r>
                <a:rPr lang="sv-SE" sz="1000" i="1" dirty="0" smtClean="0">
                  <a:solidFill>
                    <a:prstClr val="black"/>
                  </a:solidFill>
                  <a:latin typeface="Calibri"/>
                  <a:cs typeface="Arial" pitchFamily="34" charset="0"/>
                </a:rPr>
                <a:t>Per</a:t>
              </a:r>
              <a:endParaRPr lang="sv-SE" sz="1000" i="1" dirty="0">
                <a:solidFill>
                  <a:prstClr val="black"/>
                </a:solidFill>
                <a:latin typeface="Calibri"/>
                <a:cs typeface="Arial" pitchFamily="34" charset="0"/>
              </a:endParaRPr>
            </a:p>
          </p:txBody>
        </p:sp>
      </p:grpSp>
      <p:sp>
        <p:nvSpPr>
          <p:cNvPr id="40" name="textruta 39"/>
          <p:cNvSpPr txBox="1"/>
          <p:nvPr/>
        </p:nvSpPr>
        <p:spPr>
          <a:xfrm>
            <a:off x="1359744" y="1372300"/>
            <a:ext cx="1528985" cy="415498"/>
          </a:xfrm>
          <a:prstGeom prst="rect">
            <a:avLst/>
          </a:prstGeom>
          <a:noFill/>
        </p:spPr>
        <p:txBody>
          <a:bodyPr wrap="square" rtlCol="0">
            <a:spAutoFit/>
          </a:bodyPr>
          <a:lstStyle/>
          <a:p>
            <a:r>
              <a:rPr lang="sv-SE" sz="1050" i="1" dirty="0" smtClean="0">
                <a:solidFill>
                  <a:srgbClr val="3366FF"/>
                </a:solidFill>
              </a:rPr>
              <a:t>Insättning av behandling</a:t>
            </a:r>
          </a:p>
        </p:txBody>
      </p:sp>
      <p:sp>
        <p:nvSpPr>
          <p:cNvPr id="42" name="textruta 41"/>
          <p:cNvSpPr txBox="1"/>
          <p:nvPr/>
        </p:nvSpPr>
        <p:spPr>
          <a:xfrm>
            <a:off x="1350966" y="1701562"/>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43" name="textruta 42"/>
          <p:cNvSpPr txBox="1"/>
          <p:nvPr/>
        </p:nvSpPr>
        <p:spPr>
          <a:xfrm>
            <a:off x="2608229" y="1952231"/>
            <a:ext cx="1727576" cy="369332"/>
          </a:xfrm>
          <a:prstGeom prst="rect">
            <a:avLst/>
          </a:prstGeom>
          <a:noFill/>
        </p:spPr>
        <p:txBody>
          <a:bodyPr wrap="square" rtlCol="0">
            <a:spAutoFit/>
          </a:bodyPr>
          <a:lstStyle/>
          <a:p>
            <a:r>
              <a:rPr lang="sv-SE" sz="900" dirty="0" smtClean="0">
                <a:solidFill>
                  <a:srgbClr val="0000FF"/>
                </a:solidFill>
                <a:latin typeface="Courier New"/>
                <a:cs typeface="Courier New"/>
              </a:rPr>
              <a:t>Register</a:t>
            </a:r>
            <a:br>
              <a:rPr lang="sv-SE" sz="900" dirty="0" smtClean="0">
                <a:solidFill>
                  <a:srgbClr val="0000FF"/>
                </a:solidFill>
                <a:latin typeface="Courier New"/>
                <a:cs typeface="Courier New"/>
              </a:rPr>
            </a:br>
            <a:r>
              <a:rPr lang="sv-SE" sz="900" dirty="0" smtClean="0">
                <a:solidFill>
                  <a:srgbClr val="0000FF"/>
                </a:solidFill>
                <a:latin typeface="Courier New"/>
                <a:cs typeface="Courier New"/>
              </a:rPr>
              <a:t>MedicationPrescription</a:t>
            </a:r>
            <a:endParaRPr lang="sv-SE" sz="900" b="1" i="1" dirty="0">
              <a:solidFill>
                <a:srgbClr val="0000FF"/>
              </a:solidFill>
            </a:endParaRPr>
          </a:p>
        </p:txBody>
      </p:sp>
      <p:sp>
        <p:nvSpPr>
          <p:cNvPr id="56" name="textruta 55"/>
          <p:cNvSpPr txBox="1"/>
          <p:nvPr/>
        </p:nvSpPr>
        <p:spPr>
          <a:xfrm>
            <a:off x="2110332" y="3693881"/>
            <a:ext cx="1180942" cy="738664"/>
          </a:xfrm>
          <a:prstGeom prst="rect">
            <a:avLst/>
          </a:prstGeom>
          <a:pattFill prst="wdUpDiag">
            <a:fgClr>
              <a:schemeClr val="accent1"/>
            </a:fgClr>
            <a:bgClr>
              <a:prstClr val="white"/>
            </a:bgClr>
          </a:pattFill>
          <a:ln>
            <a:solidFill>
              <a:schemeClr val="tx2"/>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defPPr>
              <a:defRPr lang="sv-SE"/>
            </a:defPPr>
            <a:lvl1pPr>
              <a:defRPr sz="1050"/>
            </a:lvl1pPr>
          </a:lstStyle>
          <a:p>
            <a:r>
              <a:rPr lang="sv-SE" dirty="0"/>
              <a:t>E</a:t>
            </a:r>
            <a:r>
              <a:rPr lang="sv-SE" baseline="-25000" dirty="0"/>
              <a:t>1</a:t>
            </a:r>
            <a:r>
              <a:rPr lang="sv-SE" dirty="0"/>
              <a:t>   </a:t>
            </a:r>
          </a:p>
          <a:p>
            <a:r>
              <a:rPr lang="sv-SE" dirty="0"/>
              <a:t>1x3 i </a:t>
            </a:r>
            <a:r>
              <a:rPr lang="sv-SE" dirty="0" smtClean="0"/>
              <a:t>15d </a:t>
            </a:r>
            <a:r>
              <a:rPr lang="sv-SE" dirty="0"/>
              <a:t/>
            </a:r>
            <a:br>
              <a:rPr lang="sv-SE" dirty="0"/>
            </a:br>
            <a:r>
              <a:rPr lang="sv-SE" dirty="0"/>
              <a:t>L</a:t>
            </a:r>
            <a:r>
              <a:rPr lang="sv-SE" baseline="-25000" dirty="0"/>
              <a:t>a</a:t>
            </a:r>
          </a:p>
          <a:p>
            <a:r>
              <a:rPr lang="sv-SE" dirty="0"/>
              <a:t>F: Anna</a:t>
            </a:r>
          </a:p>
        </p:txBody>
      </p:sp>
      <p:sp>
        <p:nvSpPr>
          <p:cNvPr id="36" name="Rundad rektangulär 35"/>
          <p:cNvSpPr/>
          <p:nvPr/>
        </p:nvSpPr>
        <p:spPr bwMode="auto">
          <a:xfrm>
            <a:off x="2910804" y="4715839"/>
            <a:ext cx="1727140" cy="785606"/>
          </a:xfrm>
          <a:prstGeom prst="wedgeRoundRectCallout">
            <a:avLst>
              <a:gd name="adj1" fmla="val -28280"/>
              <a:gd name="adj2" fmla="val -81514"/>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E</a:t>
            </a:r>
            <a:r>
              <a:rPr lang="sv-SE" sz="1000" i="1" baseline="-25000" dirty="0" smtClean="0">
                <a:solidFill>
                  <a:srgbClr val="3366FF"/>
                </a:solidFill>
              </a:rPr>
              <a:t>1</a:t>
            </a:r>
            <a:r>
              <a:rPr lang="sv-SE" sz="1000" i="1" dirty="0" smtClean="0">
                <a:solidFill>
                  <a:srgbClr val="3366FF"/>
                </a:solidFill>
              </a:rPr>
              <a:t> förkortas automatiskt av NOD tjänsteproducent så att medicineringen inte överlappar</a:t>
            </a:r>
            <a:endParaRPr lang="sv-SE" sz="1000" i="1" dirty="0">
              <a:solidFill>
                <a:srgbClr val="3366FF"/>
              </a:solidFill>
            </a:endParaRPr>
          </a:p>
        </p:txBody>
      </p:sp>
      <p:sp>
        <p:nvSpPr>
          <p:cNvPr id="53" name="textruta 52"/>
          <p:cNvSpPr txBox="1"/>
          <p:nvPr/>
        </p:nvSpPr>
        <p:spPr>
          <a:xfrm>
            <a:off x="2972309" y="2921252"/>
            <a:ext cx="320021" cy="417075"/>
          </a:xfrm>
          <a:prstGeom prst="rect">
            <a:avLst/>
          </a:prstGeom>
          <a:ln>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sv-SE" sz="1050" dirty="0" smtClean="0"/>
          </a:p>
        </p:txBody>
      </p:sp>
      <p:cxnSp>
        <p:nvCxnSpPr>
          <p:cNvPr id="63" name="Rak 62"/>
          <p:cNvCxnSpPr/>
          <p:nvPr/>
        </p:nvCxnSpPr>
        <p:spPr bwMode="auto">
          <a:xfrm>
            <a:off x="3291274" y="2836333"/>
            <a:ext cx="666" cy="932264"/>
          </a:xfrm>
          <a:prstGeom prst="line">
            <a:avLst/>
          </a:prstGeom>
          <a:noFill/>
          <a:ln w="9525" cap="flat" cmpd="sng" algn="ctr">
            <a:solidFill>
              <a:srgbClr val="3366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Rundad rektangulär 63"/>
          <p:cNvSpPr/>
          <p:nvPr/>
        </p:nvSpPr>
        <p:spPr bwMode="auto">
          <a:xfrm>
            <a:off x="4242858" y="1309865"/>
            <a:ext cx="1727140" cy="1126125"/>
          </a:xfrm>
          <a:prstGeom prst="wedgeRoundRectCallout">
            <a:avLst>
              <a:gd name="adj1" fmla="val -85144"/>
              <a:gd name="adj2" fmla="val 91446"/>
              <a:gd name="adj3" fmla="val 16667"/>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vert="horz" wrap="square" lIns="90000" tIns="46800" rIns="90000" bIns="46800" numCol="1" rtlCol="0" anchor="t" anchorCtr="0" compatLnSpc="1">
            <a:prstTxWarp prst="textNoShape">
              <a:avLst/>
            </a:prstTxWarp>
            <a:spAutoFit/>
          </a:bodyPr>
          <a:lstStyle/>
          <a:p>
            <a:r>
              <a:rPr lang="sv-SE" sz="1000" i="1" dirty="0" smtClean="0">
                <a:solidFill>
                  <a:srgbClr val="3366FF"/>
                </a:solidFill>
              </a:rPr>
              <a:t>Per justerar dos och förlänger behandlingen. Per sätter insättningstidpunkt = dosperiodens start </a:t>
            </a:r>
            <a:br>
              <a:rPr lang="sv-SE" sz="1000" i="1" dirty="0" smtClean="0">
                <a:solidFill>
                  <a:srgbClr val="3366FF"/>
                </a:solidFill>
              </a:rPr>
            </a:br>
            <a:r>
              <a:rPr lang="sv-SE" sz="1000" i="1" dirty="0" smtClean="0">
                <a:solidFill>
                  <a:srgbClr val="3366FF"/>
                </a:solidFill>
              </a:rPr>
              <a:t>(ej akut produktion)</a:t>
            </a:r>
            <a:endParaRPr lang="sv-SE" sz="1000" i="1" dirty="0">
              <a:solidFill>
                <a:srgbClr val="3366FF"/>
              </a:solidFill>
            </a:endParaRPr>
          </a:p>
        </p:txBody>
      </p:sp>
    </p:spTree>
    <p:extLst>
      <p:ext uri="{BB962C8B-B14F-4D97-AF65-F5344CB8AC3E}">
        <p14:creationId xmlns:p14="http://schemas.microsoft.com/office/powerpoint/2010/main" val="42042408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Inera-PPTmall-2010">
  <a:themeElements>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fontScheme name="Inera-PPTmall-201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t" anchorCtr="0" compatLnSpc="1">
        <a:prstTxWarp prst="textNoShape">
          <a:avLst/>
        </a:prstTxWarp>
        <a:spAutoFit/>
      </a:bodyPr>
      <a:lstStyle>
        <a:defPPr marL="0" marR="0" indent="0" algn="l" defTabSz="957263" rtl="0" eaLnBrk="1" fontAlgn="base" latinLnBrk="0" hangingPunct="1">
          <a:lnSpc>
            <a:spcPct val="100000"/>
          </a:lnSpc>
          <a:spcBef>
            <a:spcPct val="0"/>
          </a:spcBef>
          <a:spcAft>
            <a:spcPct val="0"/>
          </a:spcAft>
          <a:buClrTx/>
          <a:buSzTx/>
          <a:buFontTx/>
          <a:buNone/>
          <a:tabLst/>
          <a:defRPr kumimoji="0" sz="1900" b="0" i="0" u="none" strike="noStrike" cap="none" normalizeH="0" baseline="0" smtClean="0">
            <a:ln>
              <a:noFill/>
            </a:ln>
            <a:solidFill>
              <a:schemeClr val="tx1"/>
            </a:solidFill>
            <a:effectLst/>
            <a:latin typeface="Arial" charset="0"/>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small">
  <a:themeElements>
    <a:clrScheme name="Inera-färgschema-2012">
      <a:dk1>
        <a:srgbClr val="382819"/>
      </a:dk1>
      <a:lt1>
        <a:srgbClr val="FFFFFF"/>
      </a:lt1>
      <a:dk2>
        <a:srgbClr val="6F5D4C"/>
      </a:dk2>
      <a:lt2>
        <a:srgbClr val="FFFFFF"/>
      </a:lt2>
      <a:accent1>
        <a:srgbClr val="00A9A7"/>
      </a:accent1>
      <a:accent2>
        <a:srgbClr val="F18221"/>
      </a:accent2>
      <a:accent3>
        <a:srgbClr val="6F5D4C"/>
      </a:accent3>
      <a:accent4>
        <a:srgbClr val="B8DFE3"/>
      </a:accent4>
      <a:accent5>
        <a:srgbClr val="F2A700"/>
      </a:accent5>
      <a:accent6>
        <a:srgbClr val="FFFFFF"/>
      </a:accent6>
      <a:hlink>
        <a:srgbClr val="F18221"/>
      </a:hlink>
      <a:folHlink>
        <a:srgbClr val="382819"/>
      </a:folHlink>
    </a:clrScheme>
    <a:fontScheme name="Inera-PPTmall-201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cap="flat" cmpd="sng" algn="ctr">
          <a:solidFill>
            <a:srgbClr val="00A9A7"/>
          </a:solidFill>
          <a:prstDash val="solid"/>
          <a:round/>
          <a:headEnd type="none" w="med" len="med"/>
          <a:tailEnd type="none" w="med" len="med"/>
        </a:ln>
        <a:effectLst/>
      </a:spPr>
      <a:bodyPr vert="horz" wrap="square" lIns="90000" tIns="46800" rIns="90000" bIns="46800" numCol="1" rtlCol="0" anchor="t" anchorCtr="0" compatLnSpc="1">
        <a:prstTxWarp prst="textNoShape">
          <a:avLst/>
        </a:prstTxWarp>
        <a:noAutofit/>
      </a:bodyPr>
      <a:lstStyle>
        <a:defPPr marL="0" marR="0" indent="0" algn="l" defTabSz="957263" rtl="0" eaLnBrk="1" fontAlgn="base" latinLnBrk="0" hangingPunct="1">
          <a:lnSpc>
            <a:spcPct val="100000"/>
          </a:lnSpc>
          <a:spcBef>
            <a:spcPct val="0"/>
          </a:spcBef>
          <a:spcAft>
            <a:spcPct val="0"/>
          </a:spcAft>
          <a:buClrTx/>
          <a:buSzTx/>
          <a:buFontTx/>
          <a:buNone/>
          <a:tabLst/>
          <a:defRPr kumimoji="0"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0" algn="l" defTabSz="957263" rtl="0" eaLnBrk="1" fontAlgn="base" latinLnBrk="0" hangingPunct="1">
          <a:lnSpc>
            <a:spcPct val="100000"/>
          </a:lnSpc>
          <a:spcBef>
            <a:spcPct val="0"/>
          </a:spcBef>
          <a:spcAft>
            <a:spcPct val="0"/>
          </a:spcAft>
          <a:buClrTx/>
          <a:buSzTx/>
          <a:buFontTx/>
          <a:buNone/>
          <a:tabLst/>
          <a:defRPr kumimoji="0" lang="sv-SE" sz="1900" b="0" i="0" u="none" strike="noStrike" cap="none" normalizeH="0" baseline="0" smtClean="0">
            <a:ln>
              <a:noFill/>
            </a:ln>
            <a:solidFill>
              <a:schemeClr val="tx1"/>
            </a:solidFill>
            <a:effectLst/>
            <a:latin typeface="Arial" charset="0"/>
          </a:defRPr>
        </a:defPPr>
      </a:lstStyle>
    </a:lnDef>
    <a:txDef>
      <a:spPr>
        <a:solidFill>
          <a:schemeClr val="bg1"/>
        </a:solidFill>
        <a:ln w="19050">
          <a:solidFill>
            <a:srgbClr val="00A9A7"/>
          </a:solidFill>
        </a:ln>
      </a:spPr>
      <a:bodyPr wrap="square" rtlCol="0">
        <a:spAutoFit/>
      </a:bodyPr>
      <a:lstStyle>
        <a:defPPr>
          <a:defRPr sz="1500" dirty="0" err="1" smtClean="0">
            <a:solidFill>
              <a:srgbClr val="000000"/>
            </a:solidFill>
          </a:defRPr>
        </a:defPPr>
      </a:lstStyle>
    </a:txDef>
  </a:objectDefaults>
  <a:extraClrSchemeLst>
    <a:extraClrScheme>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Inera-PPTmall-2010">
  <a:themeElements>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fontScheme name="Inera-PPTmall-201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8575" cap="flat" cmpd="sng" algn="ctr">
          <a:solidFill>
            <a:srgbClr val="00A9A7"/>
          </a:solidFill>
          <a:prstDash val="solid"/>
          <a:round/>
          <a:headEnd type="none" w="med" len="med"/>
          <a:tailEnd type="none" w="med" len="med"/>
        </a:ln>
        <a:effectLst/>
        <a:extLst/>
      </a:spPr>
      <a:bodyPr vert="horz" wrap="square" lIns="90000" tIns="46800" rIns="90000" bIns="46800" numCol="1" rtlCol="0" anchor="t" anchorCtr="0" compatLnSpc="1">
        <a:prstTxWarp prst="textNoShape">
          <a:avLst/>
        </a:prstTxWarp>
        <a:spAutoFit/>
      </a:bodyPr>
      <a:lstStyle>
        <a:defPPr marL="0" marR="0" indent="0" algn="l" defTabSz="957263" rtl="0" eaLnBrk="1" fontAlgn="base" latinLnBrk="0" hangingPunct="1">
          <a:lnSpc>
            <a:spcPct val="100000"/>
          </a:lnSpc>
          <a:spcBef>
            <a:spcPct val="0"/>
          </a:spcBef>
          <a:spcAft>
            <a:spcPct val="0"/>
          </a:spcAft>
          <a:buClrTx/>
          <a:buSzTx/>
          <a:buFontTx/>
          <a:buNone/>
          <a:tabLst/>
          <a:defRPr kumimoji="0"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0" algn="l" defTabSz="957263" rtl="0" eaLnBrk="1" fontAlgn="base" latinLnBrk="0" hangingPunct="1">
          <a:lnSpc>
            <a:spcPct val="100000"/>
          </a:lnSpc>
          <a:spcBef>
            <a:spcPct val="0"/>
          </a:spcBef>
          <a:spcAft>
            <a:spcPct val="0"/>
          </a:spcAft>
          <a:buClrTx/>
          <a:buSzTx/>
          <a:buFontTx/>
          <a:buNone/>
          <a:tabLst/>
          <a:defRPr kumimoji="0" lang="sv-SE" sz="1900" b="0" i="0" u="none" strike="noStrike" cap="none" normalizeH="0" baseline="0" smtClean="0">
            <a:ln>
              <a:noFill/>
            </a:ln>
            <a:solidFill>
              <a:schemeClr val="tx1"/>
            </a:solidFill>
            <a:effectLst/>
            <a:latin typeface="Arial" charset="0"/>
          </a:defRPr>
        </a:defPPr>
      </a:lstStyle>
    </a:lnDef>
  </a:objectDefaults>
  <a:extraClrSchemeLst>
    <a:extraClrScheme>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Inera-PPTmall-2010">
  <a:themeElements>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fontScheme name="Inera-PPTmall-201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t" anchorCtr="0" compatLnSpc="1">
        <a:prstTxWarp prst="textNoShape">
          <a:avLst/>
        </a:prstTxWarp>
        <a:spAutoFit/>
      </a:bodyPr>
      <a:lstStyle>
        <a:defPPr marL="0" marR="0" indent="0" algn="l" defTabSz="957263" rtl="0" eaLnBrk="1" fontAlgn="base" latinLnBrk="0" hangingPunct="1">
          <a:lnSpc>
            <a:spcPct val="100000"/>
          </a:lnSpc>
          <a:spcBef>
            <a:spcPct val="0"/>
          </a:spcBef>
          <a:spcAft>
            <a:spcPct val="0"/>
          </a:spcAft>
          <a:buClrTx/>
          <a:buSzTx/>
          <a:buFontTx/>
          <a:buNone/>
          <a:tabLst/>
          <a:defRPr kumimoji="0" sz="1900" b="0" i="0" u="none" strike="noStrike" cap="none" normalizeH="0" baseline="0" smtClean="0">
            <a:ln>
              <a:noFill/>
            </a:ln>
            <a:solidFill>
              <a:schemeClr val="tx1"/>
            </a:solidFill>
            <a:effectLst/>
            <a:latin typeface="Arial" charset="0"/>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Inera-PPTmall-2010">
  <a:themeElements>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fontScheme name="Inera-PPTmall-201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t" anchorCtr="0" compatLnSpc="1">
        <a:prstTxWarp prst="textNoShape">
          <a:avLst/>
        </a:prstTxWarp>
        <a:spAutoFit/>
      </a:bodyPr>
      <a:lstStyle>
        <a:defPPr marL="0" marR="0" indent="0" algn="l" defTabSz="957263" rtl="0" eaLnBrk="1" fontAlgn="base" latinLnBrk="0" hangingPunct="1">
          <a:lnSpc>
            <a:spcPct val="100000"/>
          </a:lnSpc>
          <a:spcBef>
            <a:spcPct val="0"/>
          </a:spcBef>
          <a:spcAft>
            <a:spcPct val="0"/>
          </a:spcAft>
          <a:buClrTx/>
          <a:buSzTx/>
          <a:buFontTx/>
          <a:buNone/>
          <a:tabLst/>
          <a:defRPr kumimoji="0" sz="1900" b="0" i="0" u="none" strike="noStrike" cap="none" normalizeH="0" baseline="0" smtClean="0">
            <a:ln>
              <a:noFill/>
            </a:ln>
            <a:solidFill>
              <a:schemeClr val="tx1"/>
            </a:solidFill>
            <a:effectLst/>
            <a:latin typeface="Arial" charset="0"/>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Inera-PPTmall-2010 1">
        <a:dk1>
          <a:srgbClr val="382819"/>
        </a:dk1>
        <a:lt1>
          <a:srgbClr val="FFFFFF"/>
        </a:lt1>
        <a:dk2>
          <a:srgbClr val="00A9A7"/>
        </a:dk2>
        <a:lt2>
          <a:srgbClr val="6F5D4C"/>
        </a:lt2>
        <a:accent1>
          <a:srgbClr val="AADEE2"/>
        </a:accent1>
        <a:accent2>
          <a:srgbClr val="F18221"/>
        </a:accent2>
        <a:accent3>
          <a:srgbClr val="FFFFFF"/>
        </a:accent3>
        <a:accent4>
          <a:srgbClr val="2E2114"/>
        </a:accent4>
        <a:accent5>
          <a:srgbClr val="D2ECEE"/>
        </a:accent5>
        <a:accent6>
          <a:srgbClr val="DA751D"/>
        </a:accent6>
        <a:hlink>
          <a:srgbClr val="CE5028"/>
        </a:hlink>
        <a:folHlink>
          <a:srgbClr val="52443A"/>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52504</TotalTime>
  <Words>3841</Words>
  <Application>Microsoft Macintosh PowerPoint</Application>
  <PresentationFormat>Bildspel på skärmen (4:3)</PresentationFormat>
  <Paragraphs>1330</Paragraphs>
  <Slides>55</Slides>
  <Notes>37</Notes>
  <HiddenSlides>0</HiddenSlides>
  <MMClips>0</MMClips>
  <ScaleCrop>false</ScaleCrop>
  <HeadingPairs>
    <vt:vector size="4" baseType="variant">
      <vt:variant>
        <vt:lpstr>Tema</vt:lpstr>
      </vt:variant>
      <vt:variant>
        <vt:i4>5</vt:i4>
      </vt:variant>
      <vt:variant>
        <vt:lpstr>Bildrubriker</vt:lpstr>
      </vt:variant>
      <vt:variant>
        <vt:i4>55</vt:i4>
      </vt:variant>
    </vt:vector>
  </HeadingPairs>
  <TitlesOfParts>
    <vt:vector size="60" baseType="lpstr">
      <vt:lpstr>Inera-PPTmall-2010</vt:lpstr>
      <vt:lpstr>Presentationsmall</vt:lpstr>
      <vt:lpstr>1_Inera-PPTmall-2010</vt:lpstr>
      <vt:lpstr>2_Inera-PPTmall-2010</vt:lpstr>
      <vt:lpstr>3_Inera-PPTmall-2010</vt:lpstr>
      <vt:lpstr>PowerPoint-presentation</vt:lpstr>
      <vt:lpstr>Tjänstekontrakt för  Samlad läkemedelslista - en introduktion   Denna bildserie kan se som ett komplement till övriga dokument inom tjänstedomänen. </vt:lpstr>
      <vt:lpstr>Innehåll</vt:lpstr>
      <vt:lpstr>En gemensam samlad läkemedelslista för patienten</vt:lpstr>
      <vt:lpstr>Översikt – Samlad läkemedelslista</vt:lpstr>
      <vt:lpstr>Arbetet med tjänstedomän  vård- och omsorg kärnprocess:hantera aktiviteter:ordination  v2.0</vt:lpstr>
      <vt:lpstr>Funktionalitet – Samlad läkemedelslista - tjänstedomän vård- och omsorg kärnprocess: hantera aktiviteter:ordination</vt:lpstr>
      <vt:lpstr>Funktionalitet – Kompletterande - relaterade tjänstedomäner</vt:lpstr>
      <vt:lpstr>Samlad läkemedelslista</vt:lpstr>
      <vt:lpstr>Samlad läkemedelslista</vt:lpstr>
      <vt:lpstr>Förberedande steg : Implementera tjänstekontrakten för att skicka och makulera förskrivningar via NOD</vt:lpstr>
      <vt:lpstr>Anslutning för ”läs” respektive ”läs &amp; skriv” </vt:lpstr>
      <vt:lpstr>Samlad läkemedelslista / NOD   Översikt &amp; nyheter i tjänstedomänen revision 2.0  </vt:lpstr>
      <vt:lpstr>Exempel på nyheter i v2.0       1(3)</vt:lpstr>
      <vt:lpstr>Exempel på nyheter i v2.0       2(3)</vt:lpstr>
      <vt:lpstr>Exempel på nyheter i v2.0       3(3)</vt:lpstr>
      <vt:lpstr>Samlad läkemedelslista / NOD   Informationsmodellen  </vt:lpstr>
      <vt:lpstr>Informationsmodell för NOD</vt:lpstr>
      <vt:lpstr>Läkemedelsbehandling och Läkemedelsordination</vt:lpstr>
      <vt:lpstr>Läkemedelsbehandling och Expedieringsärende</vt:lpstr>
      <vt:lpstr>Tjänstekontrakt v2.0 - översikt</vt:lpstr>
      <vt:lpstr>Tjänstekontrakt v2.0 - översikt</vt:lpstr>
      <vt:lpstr>Tjänstekontrakt v2.0 - översikt</vt:lpstr>
      <vt:lpstr>Modell v1.0 (gamla modellen)</vt:lpstr>
      <vt:lpstr>Modell v1.0 (gamla modellen)</vt:lpstr>
      <vt:lpstr>Reviderad modell  – men med några gamla grundprinciper</vt:lpstr>
      <vt:lpstr>Ändring av läkemedelsbehandling i v2.0</vt:lpstr>
      <vt:lpstr>Reviderad modell – nyheter (1)</vt:lpstr>
      <vt:lpstr>Reviderad modell – nyheter (2)</vt:lpstr>
      <vt:lpstr>Patientens samlade läkemedelslista</vt:lpstr>
      <vt:lpstr>Exempel: En genomgång av Kalles läkemedelslista…</vt:lpstr>
      <vt:lpstr>Stödtjänster  för att signalera status för patientens läkemedelslista i NOD</vt:lpstr>
      <vt:lpstr>Stödtjänster  för att signalera status för patientens läkemedelslista i NOD</vt:lpstr>
      <vt:lpstr>Samlad läkemedelslista / NOD   Regelverk &amp; säkerhetskrav   Behörighetsstyrning - roller Inloggning &amp; Kommunikationssäkerhet Spärr &amp; Samtycke  </vt:lpstr>
      <vt:lpstr>Ansvarsroller &amp; behörighet vs den samlade läkemedelslistan</vt:lpstr>
      <vt:lpstr>Regelverk för Spärr &amp; Samtycke</vt:lpstr>
      <vt:lpstr>Regelverk för Spärr &amp; Samtycke</vt:lpstr>
      <vt:lpstr>Tekniska integrationsmönster  för samlad läkemedelslista</vt:lpstr>
      <vt:lpstr>Teknisk säkerhetslösning</vt:lpstr>
      <vt:lpstr>Teknisk säkerhetslösning</vt:lpstr>
      <vt:lpstr>Samlad läkemedelslista / NOD   Exempel på användningsfall  Olika typer av ändringar i behandlingen Hantering av expedieringsunderlag  </vt:lpstr>
      <vt:lpstr>Läkemedelsordination ”utlagd” på tidsaxeln</vt:lpstr>
      <vt:lpstr>Ändring av läkemedelsbehandling Justering av behandlingstid och dosering</vt:lpstr>
      <vt:lpstr>Ändring av läkemedelsbehandling Exempel: Fördröjt byte av läkemedel, övergång till dosdispenserat </vt:lpstr>
      <vt:lpstr> </vt:lpstr>
      <vt:lpstr>Ändring av läkemedelsbehandling Återinsättning och momentan utsättning</vt:lpstr>
      <vt:lpstr>Mer om expedieringsunderlag (”recept”) i NOD</vt:lpstr>
      <vt:lpstr>Expedieringsunderlag ”utlagd” på tidsaxeln</vt:lpstr>
      <vt:lpstr>Grundfall: Insättning av behandling, registrera ordination och expedieringsunderlag</vt:lpstr>
      <vt:lpstr>Exempel: Justerad behandling,  nytt expedieringsunderlag (”recept”) ersätter tidigare</vt:lpstr>
      <vt:lpstr> Exempel: Förnya recept vid stående ordination</vt:lpstr>
      <vt:lpstr>Exempel:  Förnya recept, dosering vid behov (vb) - flera aktörer</vt:lpstr>
      <vt:lpstr>Exempel: Läkemedelsbehandling med dosdispenserat läkemedel</vt:lpstr>
      <vt:lpstr>Exempel: Uppdelning i flera doseringsscheman/underlag för dosdispenserat läkemedel</vt:lpstr>
      <vt:lpstr>Exempel: Ändring av läkemedelsbehandling med dosdispenserat läkemedel</vt:lpstr>
    </vt:vector>
  </TitlesOfParts>
  <Manager/>
  <Company>Alcesys AB</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Ordination, förskrivning och recept</dc:title>
  <dc:subject/>
  <dc:creator>Per Mützell</dc:creator>
  <cp:keywords/>
  <dc:description/>
  <cp:lastModifiedBy>Per Mützell</cp:lastModifiedBy>
  <cp:revision>435</cp:revision>
  <dcterms:created xsi:type="dcterms:W3CDTF">2014-11-18T07:00:36Z</dcterms:created>
  <dcterms:modified xsi:type="dcterms:W3CDTF">2015-07-02T17:21:34Z</dcterms:modified>
  <cp:category/>
</cp:coreProperties>
</file>